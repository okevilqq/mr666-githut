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好。今天向大家汇报链邦赋商通品牌战略总案。链邦赋商通是一个面向社区商业的数字经营平台，核心理念是商户独立经营、生态会员互通、消费权益流转、真实交易激励。这份总案是我们历时二十二轮战略推导的成果，覆盖品牌定位、商业模型、执行路线和合规框架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份总案分为五卷。卷一回答"我们是谁"——从生态位分析到品牌价值体系搭建；卷二回答"我怎么运转"——两大体系和V3.2服务费结算模型；卷三回答"我怎么做"——三段式执行路线图和预算框架；卷四划定"什么不能做"——三条红线和合规框架；卷五是附录，记录完整的推导过程和方法论溯源。总共五十三页，大约四十五分钟讲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链邦赋商通的使命只有一句话：让每一家认真经营的小店，不再从零开始经营每一天。我们不是另一个美团。美团优化交易效率，我们创造关系价值。我们不替代商家，不控制流量，不碰资金——我们只做一件事，就是帮商家建立属于自己的经营关系。三大目标：帮助商家提升复购率，帮助用户获得持续消费权益，帮助社区形成可持续商业循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就是卷一的内容——我们的品牌身份。从生态位锁定到C+四层定位，从使命愿景价值观到品牌人格和视觉方向，所有模块通过一致性交叉检验全部通过。唯一的缺口是品牌故事，需要创始人确认那个"必须做"的真实瞬间。接下来进入卷二，看这个品牌身份如何翻译成商业模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卷的核心问题：我怎么运转？商业模型的底层原则是"交易即服务费结算"——平台仅在实际交易发生时获取服务费，零固定费用、零预充值、零资金占用。本卷涵盖两大体系、三种业态分账比例、三元营销参数和盈亏平衡分析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卷进入执行层面：我怎么做？在进入具体路线图之前，先说一个核心诊断。我们目前的状态是"战略资产过剩，组织资产归零"。这不是坏事——意味着没有错误路径的沉没成本，但执行端几乎一切要从零开始。本卷从信息补全开始，经过验证飞轮和复制验证，最后启动品类传教士，全程贯穿"先开一枪、再开一炮、最后范弗里特弹药量"的华为原则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卷划定边界。三条红线——积分不可兑现、不可形成资金池、不可承诺收益——任何一条被突破，项目生存权归零。本卷还包括十六组合规术语强制替换、消费金五不原则、以及完整的信息黑洞清单和风险矩阵。语言即合规，每一个对外材料都必须经过合规术语扫描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条红线：第一，积分不可兑现——积分只能用于平台内消费抵扣，一旦可兑现就构成金融产品，需要支付牌照。第二，不可形成资金池——所有资金经汇付直清，不经过平台自有账户，无支付牌照形成资金池就是非法集资风险。第三，不可承诺收益——任何对外材料不得出现"稳赚""躺赚""保底收益"等表述，这直接触碰金融监管红线。这三条不是建议，是生存条件。每条红线的背后都有具体的法律法规，合规不是成本，是护城河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链邦赋商通，让每一家认真经营的小店，不再从零开始经营每一天。感谢各位的时间。这份总案由我——企业宣传策划专员梁君衡完成，广东链邦科技有限公司，二零二六年六月十八日。战略文件的终点不是漂亮的PPT，而是决策和行动。下一步清单已经在附录F中列明，期待各位的反馈和确认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67E22">
                  <a:alpha val="10000"/>
                </a:srgbClr>
              </a:gs>
              <a:gs pos="40000">
                <a:srgbClr val="FAFAF5">
                  <a:alpha val="0"/>
                </a:srgbClr>
              </a:gs>
              <a:gs pos="100000">
                <a:srgbClr val="1A5276">
                  <a:alpha val="12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286000" y="-952500"/>
            <a:ext cx="7620000" cy="7620000"/>
          </a:xfrm>
          <a:prstGeom prst="ellipse">
            <a:avLst/>
          </a:prstGeom>
          <a:gradFill>
            <a:gsLst>
              <a:gs pos="0">
                <a:srgbClr val="E67E22">
                  <a:alpha val="6000"/>
                </a:srgbClr>
              </a:gs>
              <a:gs pos="100000">
                <a:srgbClr val="FAFAF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143500" y="2190750"/>
            <a:ext cx="1905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67E22"/>
              </a:gs>
              <a:gs pos="100000">
                <a:srgbClr val="1A5276"/>
              </a:gs>
            </a:gsLst>
            <a:lin ang="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2568288" y="2369820"/>
            <a:ext cx="7055425" cy="1097280"/>
            <a:chOff x="2568288" y="2369820"/>
            <a:chExt cx="7055425" cy="1097280"/>
          </a:xfrm>
        </p:grpSpPr>
        <p:sp>
          <p:nvSpPr>
            <p:cNvPr id="6" name="TextBox 6"/>
            <p:cNvSpPr txBox="1"/>
            <p:nvPr/>
          </p:nvSpPr>
          <p:spPr>
            <a:xfrm>
              <a:off x="2568288" y="2369820"/>
              <a:ext cx="7055425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rgbClr val="2C2C2C"/>
                  </a:solidFill>
                  <a:latin typeface="Georgia"/>
                  <a:ea typeface="KaiTi"/>
                  <a:cs typeface="Georgia"/>
                </a:rPr>
                <a:t>链邦赋商通 · 链生活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252133" y="3313748"/>
            <a:ext cx="1687735" cy="396240"/>
            <a:chOff x="5252133" y="3313748"/>
            <a:chExt cx="1687735" cy="396240"/>
          </a:xfrm>
        </p:grpSpPr>
        <p:sp>
          <p:nvSpPr>
            <p:cNvPr id="8" name="TextBox 8"/>
            <p:cNvSpPr txBox="1"/>
            <p:nvPr/>
          </p:nvSpPr>
          <p:spPr>
            <a:xfrm>
              <a:off x="5252133" y="331374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E67E22"/>
                  </a:solidFill>
                  <a:latin typeface="Arial"/>
                  <a:ea typeface="Microsoft YaHei"/>
                  <a:cs typeface="Arial"/>
                </a:rPr>
                <a:t>品牌战略总案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908709" y="3854768"/>
            <a:ext cx="2374582" cy="274320"/>
            <a:chOff x="4908709" y="3854768"/>
            <a:chExt cx="2374582" cy="274320"/>
          </a:xfrm>
        </p:grpSpPr>
        <p:sp>
          <p:nvSpPr>
            <p:cNvPr id="10" name="TextBox 10"/>
            <p:cNvSpPr txBox="1"/>
            <p:nvPr/>
          </p:nvSpPr>
          <p:spPr>
            <a:xfrm>
              <a:off x="4908709" y="3854768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面向社区商业的数字经营平台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62125" y="4429125"/>
            <a:ext cx="8334375" cy="342900"/>
            <a:chOff x="1762125" y="4429125"/>
            <a:chExt cx="8334375" cy="342900"/>
          </a:xfrm>
        </p:grpSpPr>
        <p:sp>
          <p:nvSpPr>
            <p:cNvPr id="12" name="Rectangle 12"/>
            <p:cNvSpPr/>
            <p:nvPr/>
          </p:nvSpPr>
          <p:spPr>
            <a:xfrm>
              <a:off x="1762125" y="4429125"/>
              <a:ext cx="1905000" cy="342900"/>
            </a:xfrm>
            <a:prstGeom prst="roundRect">
              <a:avLst>
                <a:gd name="adj" fmla="val 50000"/>
              </a:avLst>
            </a:prstGeom>
            <a:solidFill>
              <a:srgbClr val="F0EDE8">
                <a:alpha val="80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250281" y="452675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商户独立经营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905250" y="4429125"/>
              <a:ext cx="1905000" cy="342900"/>
            </a:xfrm>
            <a:prstGeom prst="roundRect">
              <a:avLst>
                <a:gd name="adj" fmla="val 50000"/>
              </a:avLst>
            </a:prstGeom>
            <a:solidFill>
              <a:srgbClr val="F0EDE8">
                <a:alpha val="80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393406" y="452675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生态会员互通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48375" y="4429125"/>
              <a:ext cx="1905000" cy="342900"/>
            </a:xfrm>
            <a:prstGeom prst="roundRect">
              <a:avLst>
                <a:gd name="adj" fmla="val 50000"/>
              </a:avLst>
            </a:prstGeom>
            <a:solidFill>
              <a:srgbClr val="F0EDE8">
                <a:alpha val="80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36531" y="452675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消费权益流转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191500" y="4429125"/>
              <a:ext cx="1905000" cy="342900"/>
            </a:xfrm>
            <a:prstGeom prst="roundRect">
              <a:avLst>
                <a:gd name="adj" fmla="val 50000"/>
              </a:avLst>
            </a:prstGeom>
            <a:solidFill>
              <a:srgbClr val="F0EDE8">
                <a:alpha val="80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79656" y="452675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真实交易激励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238500" y="6048375"/>
            <a:ext cx="5715000" cy="616744"/>
            <a:chOff x="3238500" y="6048375"/>
            <a:chExt cx="5715000" cy="616744"/>
          </a:xfrm>
        </p:grpSpPr>
        <p:sp>
          <p:nvSpPr>
            <p:cNvPr id="21" name="Line 21"/>
            <p:cNvSpPr/>
            <p:nvPr/>
          </p:nvSpPr>
          <p:spPr>
            <a:xfrm>
              <a:off x="3238500" y="6048375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D4A57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997529" y="6220778"/>
              <a:ext cx="21969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0A0A0"/>
                  </a:solidFill>
                  <a:latin typeface="Arial"/>
                  <a:ea typeface="Microsoft YaHei"/>
                  <a:cs typeface="Arial"/>
                </a:rPr>
                <a:t>V1.0 | 2026-06-18 | 内部战略文件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33536" y="646699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A0A0A0"/>
                  </a:solidFill>
                  <a:latin typeface="Arial"/>
                  <a:ea typeface="Microsoft YaHei"/>
                  <a:cs typeface="Arial"/>
                </a:rPr>
                <a:t>广东链邦科技有限公司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5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38150"/>
            <a:ext cx="3297794" cy="716756"/>
            <a:chOff x="571500" y="438150"/>
            <a:chExt cx="3297794" cy="716756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E67E2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1525" y="438150"/>
              <a:ext cx="91630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C2C2C"/>
                  </a:solidFill>
                  <a:latin typeface="Georgia"/>
                  <a:ea typeface="KaiTi"/>
                  <a:cs typeface="Georgia"/>
                </a:rPr>
                <a:t>目录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95338" y="926306"/>
              <a:ext cx="30739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五卷结构化呈现——定位→模型→执行→合规→附录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62000" y="1476375"/>
            <a:ext cx="10668000" cy="3238500"/>
            <a:chOff x="762000" y="1476375"/>
            <a:chExt cx="10668000" cy="3238500"/>
          </a:xfrm>
        </p:grpSpPr>
        <p:grpSp>
          <p:nvGrpSpPr>
            <p:cNvPr id="12" name="Group 12"/>
            <p:cNvGrpSpPr/>
            <p:nvPr/>
          </p:nvGrpSpPr>
          <p:grpSpPr>
            <a:xfrm>
              <a:off x="762000" y="1476375"/>
              <a:ext cx="5143500" cy="952500"/>
              <a:chOff x="762000" y="1476375"/>
              <a:chExt cx="5143500" cy="952500"/>
            </a:xfrm>
            <a:effectLst>
              <a:outerShdw blurRad="76200" dist="19050" dir="5400000" algn="ctr" rotWithShape="0">
                <a:srgbClr val="2C2C2C">
                  <a:alpha val="4500"/>
                </a:srgbClr>
              </a:outerShdw>
            </a:effectLst>
          </p:grpSpPr>
          <p:sp>
            <p:nvSpPr>
              <p:cNvPr id="7" name="Rectangle 7"/>
              <p:cNvSpPr/>
              <p:nvPr/>
            </p:nvSpPr>
            <p:spPr>
              <a:xfrm>
                <a:off x="762000" y="1476375"/>
                <a:ext cx="5143500" cy="952500"/>
              </a:xfrm>
              <a:prstGeom prst="roundRect">
                <a:avLst>
                  <a:gd name="adj" fmla="val 14000"/>
                </a:avLst>
              </a:prstGeom>
              <a:solidFill>
                <a:srgbClr val="FFFFFF"/>
              </a:solidFill>
              <a:ln w="14288">
                <a:solidFill>
                  <a:srgbClr val="F0EDE8"/>
                </a:solidFill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</p:sp>
          <p:sp>
            <p:nvSpPr>
              <p:cNvPr id="8" name="Rectangle 8"/>
              <p:cNvSpPr/>
              <p:nvPr/>
            </p:nvSpPr>
            <p:spPr>
              <a:xfrm>
                <a:off x="762000" y="1476375"/>
                <a:ext cx="57150" cy="952500"/>
              </a:xfrm>
              <a:prstGeom prst="roundRect">
                <a:avLst>
                  <a:gd name="adj" fmla="val 50000"/>
                </a:avLst>
              </a:prstGeom>
              <a:solidFill>
                <a:srgbClr val="E67E22"/>
              </a:solidFill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116330" y="1630680"/>
                <a:ext cx="2155703" cy="4267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2C2C2C"/>
                    </a:solidFill>
                    <a:latin typeface="Georgia"/>
                    <a:ea typeface="KaiTi"/>
                    <a:cs typeface="Georgia"/>
                  </a:rPr>
                  <a:t>卷一 · 战略定位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128712" y="2021681"/>
                <a:ext cx="465665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7F8C8D"/>
                    </a:solidFill>
                    <a:latin typeface="Arial"/>
                    <a:ea typeface="Microsoft YaHei"/>
                    <a:cs typeface="Arial"/>
                  </a:rPr>
                  <a:t>品牌身份——我是谁 | 使命·愿景·价值观·人格·故事·视觉·广告语·命名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972098" y="1886902"/>
                <a:ext cx="565737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A0A0A0"/>
                    </a:solidFill>
                    <a:latin typeface="Arial"/>
                    <a:ea typeface="Microsoft YaHei"/>
                    <a:cs typeface="Arial"/>
                  </a:rPr>
                  <a:t>P01-P20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6286500" y="1476375"/>
              <a:ext cx="5143500" cy="952500"/>
              <a:chOff x="6286500" y="1476375"/>
              <a:chExt cx="5143500" cy="952500"/>
            </a:xfrm>
            <a:effectLst>
              <a:outerShdw blurRad="76200" dist="19050" dir="5400000" algn="ctr" rotWithShape="0">
                <a:srgbClr val="2C2C2C">
                  <a:alpha val="4500"/>
                </a:srgbClr>
              </a:outerShdw>
            </a:effectLst>
          </p:grpSpPr>
          <p:sp>
            <p:nvSpPr>
              <p:cNvPr id="13" name="Rectangle 13"/>
              <p:cNvSpPr/>
              <p:nvPr/>
            </p:nvSpPr>
            <p:spPr>
              <a:xfrm>
                <a:off x="6286500" y="1476375"/>
                <a:ext cx="5143500" cy="952500"/>
              </a:xfrm>
              <a:prstGeom prst="roundRect">
                <a:avLst>
                  <a:gd name="adj" fmla="val 14000"/>
                </a:avLst>
              </a:prstGeom>
              <a:solidFill>
                <a:srgbClr val="FFFFFF"/>
              </a:solidFill>
              <a:ln w="14288">
                <a:solidFill>
                  <a:srgbClr val="F0EDE8"/>
                </a:solidFill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286500" y="1476375"/>
                <a:ext cx="57150" cy="952500"/>
              </a:xfrm>
              <a:prstGeom prst="roundRect">
                <a:avLst>
                  <a:gd name="adj" fmla="val 50000"/>
                </a:avLst>
              </a:prstGeom>
              <a:solidFill>
                <a:srgbClr val="E67E22"/>
              </a:solidFill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6640830" y="1630680"/>
                <a:ext cx="2155703" cy="4267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2C2C2C"/>
                    </a:solidFill>
                    <a:latin typeface="Georgia"/>
                    <a:ea typeface="KaiTi"/>
                    <a:cs typeface="Georgia"/>
                  </a:rPr>
                  <a:t>卷二 · 商业模型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653212" y="2021681"/>
                <a:ext cx="4244102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7F8C8D"/>
                    </a:solidFill>
                    <a:latin typeface="Arial"/>
                    <a:ea typeface="Microsoft YaHei"/>
                    <a:cs typeface="Arial"/>
                  </a:rPr>
                  <a:t>我怎么运转 | 两大体系·分账比例·三元营销·盈亏平衡·千面千店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496598" y="1886902"/>
                <a:ext cx="565737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A0A0A0"/>
                    </a:solidFill>
                    <a:latin typeface="Arial"/>
                    <a:ea typeface="Microsoft YaHei"/>
                    <a:cs typeface="Arial"/>
                  </a:rPr>
                  <a:t>P21-P29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762000" y="2619375"/>
              <a:ext cx="5143500" cy="952500"/>
              <a:chOff x="762000" y="2619375"/>
              <a:chExt cx="5143500" cy="952500"/>
            </a:xfrm>
            <a:effectLst>
              <a:outerShdw blurRad="76200" dist="19050" dir="5400000" algn="ctr" rotWithShape="0">
                <a:srgbClr val="2C2C2C">
                  <a:alpha val="4500"/>
                </a:srgbClr>
              </a:outerShdw>
            </a:effectLst>
          </p:grpSpPr>
          <p:sp>
            <p:nvSpPr>
              <p:cNvPr id="19" name="Rectangle 19"/>
              <p:cNvSpPr/>
              <p:nvPr/>
            </p:nvSpPr>
            <p:spPr>
              <a:xfrm>
                <a:off x="762000" y="2619375"/>
                <a:ext cx="5143500" cy="952500"/>
              </a:xfrm>
              <a:prstGeom prst="roundRect">
                <a:avLst>
                  <a:gd name="adj" fmla="val 14000"/>
                </a:avLst>
              </a:prstGeom>
              <a:solidFill>
                <a:srgbClr val="FFFFFF"/>
              </a:solidFill>
              <a:ln w="14288">
                <a:solidFill>
                  <a:srgbClr val="F0EDE8"/>
                </a:solidFill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762000" y="2619375"/>
                <a:ext cx="57150" cy="9525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116330" y="2773680"/>
                <a:ext cx="2449740" cy="4267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2C2C2C"/>
                    </a:solidFill>
                    <a:latin typeface="Georgia"/>
                    <a:ea typeface="KaiTi"/>
                    <a:cs typeface="Georgia"/>
                  </a:rPr>
                  <a:t>卷三 · 执行路线图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128712" y="3164681"/>
                <a:ext cx="409408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7F8C8D"/>
                    </a:solidFill>
                    <a:latin typeface="Arial"/>
                    <a:ea typeface="Microsoft YaHei"/>
                    <a:cs typeface="Arial"/>
                  </a:rPr>
                  <a:t>我怎么做 | 三段序列·信息补全·验证飞轮·复制验证·预算框架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972098" y="3029902"/>
                <a:ext cx="565737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A0A0A0"/>
                    </a:solidFill>
                    <a:latin typeface="Arial"/>
                    <a:ea typeface="Microsoft YaHei"/>
                    <a:cs typeface="Arial"/>
                  </a:rPr>
                  <a:t>P30-P38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286500" y="2619375"/>
              <a:ext cx="5143500" cy="952500"/>
              <a:chOff x="6286500" y="2619375"/>
              <a:chExt cx="5143500" cy="952500"/>
            </a:xfrm>
            <a:effectLst>
              <a:outerShdw blurRad="76200" dist="19050" dir="5400000" algn="ctr" rotWithShape="0">
                <a:srgbClr val="2C2C2C">
                  <a:alpha val="4500"/>
                </a:srgbClr>
              </a:outerShdw>
            </a:effectLst>
          </p:grpSpPr>
          <p:sp>
            <p:nvSpPr>
              <p:cNvPr id="25" name="Rectangle 25"/>
              <p:cNvSpPr/>
              <p:nvPr/>
            </p:nvSpPr>
            <p:spPr>
              <a:xfrm>
                <a:off x="6286500" y="2619375"/>
                <a:ext cx="5143500" cy="952500"/>
              </a:xfrm>
              <a:prstGeom prst="roundRect">
                <a:avLst>
                  <a:gd name="adj" fmla="val 14000"/>
                </a:avLst>
              </a:prstGeom>
              <a:solidFill>
                <a:srgbClr val="FFFFFF"/>
              </a:solidFill>
              <a:ln w="14288">
                <a:solidFill>
                  <a:srgbClr val="F0EDE8"/>
                </a:solidFill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6286500" y="2619375"/>
                <a:ext cx="57150" cy="952500"/>
              </a:xfrm>
              <a:prstGeom prst="roundRect">
                <a:avLst>
                  <a:gd name="adj" fmla="val 50000"/>
                </a:avLst>
              </a:prstGeom>
              <a:solidFill>
                <a:srgbClr val="C0392B"/>
              </a:solidFill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640830" y="2773680"/>
                <a:ext cx="2449740" cy="4267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2C2C2C"/>
                    </a:solidFill>
                    <a:latin typeface="Georgia"/>
                    <a:ea typeface="KaiTi"/>
                    <a:cs typeface="Georgia"/>
                  </a:rPr>
                  <a:t>卷四 · 风险与合规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653212" y="3164681"/>
                <a:ext cx="4394121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7F8C8D"/>
                    </a:solidFill>
                    <a:latin typeface="Arial"/>
                    <a:ea typeface="Microsoft YaHei"/>
                    <a:cs typeface="Arial"/>
                  </a:rPr>
                  <a:t>什么不能做 | 三条红线·合规术语·信息黑洞·待验证假设·风险矩阵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496598" y="3029902"/>
                <a:ext cx="565737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A0A0A0"/>
                    </a:solidFill>
                    <a:latin typeface="Arial"/>
                    <a:ea typeface="Microsoft YaHei"/>
                    <a:cs typeface="Arial"/>
                  </a:rPr>
                  <a:t>P39-P46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62000" y="3762375"/>
              <a:ext cx="10668000" cy="952500"/>
              <a:chOff x="762000" y="3762375"/>
              <a:chExt cx="10668000" cy="952500"/>
            </a:xfrm>
            <a:effectLst>
              <a:outerShdw blurRad="76200" dist="19050" dir="5400000" algn="ctr" rotWithShape="0">
                <a:srgbClr val="2C2C2C">
                  <a:alpha val="4500"/>
                </a:srgbClr>
              </a:outerShdw>
            </a:effectLst>
          </p:grpSpPr>
          <p:sp>
            <p:nvSpPr>
              <p:cNvPr id="31" name="Rectangle 31"/>
              <p:cNvSpPr/>
              <p:nvPr/>
            </p:nvSpPr>
            <p:spPr>
              <a:xfrm>
                <a:off x="762000" y="3762375"/>
                <a:ext cx="10668000" cy="952500"/>
              </a:xfrm>
              <a:prstGeom prst="roundRect">
                <a:avLst>
                  <a:gd name="adj" fmla="val 14000"/>
                </a:avLst>
              </a:prstGeom>
              <a:solidFill>
                <a:srgbClr val="FFFFFF"/>
              </a:solidFill>
              <a:ln w="14288">
                <a:solidFill>
                  <a:srgbClr val="F0EDE8"/>
                </a:solidFill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762000" y="3762375"/>
                <a:ext cx="57150" cy="952500"/>
              </a:xfrm>
              <a:prstGeom prst="roundRect">
                <a:avLst>
                  <a:gd name="adj" fmla="val 50000"/>
                </a:avLst>
              </a:prstGeom>
              <a:solidFill>
                <a:srgbClr val="A0A0A0"/>
              </a:solidFill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116330" y="3916680"/>
                <a:ext cx="1567629" cy="4267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2C2C2C"/>
                    </a:solidFill>
                    <a:latin typeface="Georgia"/>
                    <a:ea typeface="KaiTi"/>
                    <a:cs typeface="Georgia"/>
                  </a:rPr>
                  <a:t>卷五 · 附录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128712" y="4307681"/>
                <a:ext cx="4956691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7F8C8D"/>
                    </a:solidFill>
                    <a:latin typeface="Arial"/>
                    <a:ea typeface="Microsoft YaHei"/>
                    <a:cs typeface="Arial"/>
                  </a:rPr>
                  <a:t>22轮推导摘要·竞品分析·方法论溯源·决策记录·内容资产清单·下一步行动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0496598" y="4172902"/>
                <a:ext cx="565737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A0A0A0"/>
                    </a:solidFill>
                    <a:latin typeface="Arial"/>
                    <a:ea typeface="Microsoft YaHei"/>
                    <a:cs typeface="Arial"/>
                  </a:rPr>
                  <a:t>P47-P53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560070" y="6522720"/>
            <a:ext cx="11071861" cy="182880"/>
            <a:chOff x="560070" y="6522720"/>
            <a:chExt cx="11071861" cy="182880"/>
          </a:xfrm>
        </p:grpSpPr>
        <p:sp>
          <p:nvSpPr>
            <p:cNvPr id="38" name="TextBox 38"/>
            <p:cNvSpPr txBox="1"/>
            <p:nvPr/>
          </p:nvSpPr>
          <p:spPr>
            <a:xfrm>
              <a:off x="560070" y="6522720"/>
              <a:ext cx="22491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0A0"/>
                  </a:solidFill>
                  <a:latin typeface="Arial"/>
                  <a:ea typeface="Microsoft YaHei"/>
                  <a:cs typeface="Arial"/>
                </a:rPr>
                <a:t>链邦赋商通 · 链生活 | 品牌战略总案 V1.0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477054" y="6522720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0A0A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67E22">
                  <a:alpha val="8000"/>
                </a:srgbClr>
              </a:gs>
              <a:gs pos="100000">
                <a:srgbClr val="1A5276">
                  <a:alpha val="6000"/>
                </a:srgbClr>
              </a:gs>
            </a:gsLst>
            <a:lin ang="270000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389120" y="1771650"/>
            <a:ext cx="3413760" cy="1666875"/>
            <a:chOff x="4389120" y="1771650"/>
            <a:chExt cx="3413760" cy="1666875"/>
          </a:xfrm>
        </p:grpSpPr>
        <p:sp>
          <p:nvSpPr>
            <p:cNvPr id="4" name="TextBox 4"/>
            <p:cNvSpPr txBox="1"/>
            <p:nvPr/>
          </p:nvSpPr>
          <p:spPr>
            <a:xfrm>
              <a:off x="5007769" y="1771650"/>
              <a:ext cx="217646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2C2C2C"/>
                  </a:solidFill>
                  <a:latin typeface="Georgia"/>
                  <a:ea typeface="KaiTi"/>
                  <a:cs typeface="Georgia"/>
                </a:rPr>
                <a:t>链邦赋商通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389120" y="2535555"/>
              <a:ext cx="341376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E67E22"/>
                  </a:solidFill>
                  <a:latin typeface="Arial"/>
                  <a:ea typeface="Microsoft YaHei"/>
                  <a:cs typeface="Arial"/>
                </a:rPr>
                <a:t>让每一家认真经营的小店，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389120" y="3011805"/>
              <a:ext cx="341376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E67E22"/>
                  </a:solidFill>
                  <a:latin typeface="Arial"/>
                  <a:ea typeface="Microsoft YaHei"/>
                  <a:cs typeface="Arial"/>
                </a:rPr>
                <a:t>不再从零开始经营每一天。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4191000" y="371475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19050">
            <a:solidFill>
              <a:srgbClr val="D4A574"/>
            </a:solidFill>
          </a:ln>
        </p:spPr>
      </p:sp>
      <p:grpSp>
        <p:nvGrpSpPr>
          <p:cNvPr id="11" name="Group 11"/>
          <p:cNvGrpSpPr/>
          <p:nvPr/>
        </p:nvGrpSpPr>
        <p:grpSpPr>
          <a:xfrm>
            <a:off x="4368641" y="4045268"/>
            <a:ext cx="3454718" cy="607694"/>
            <a:chOff x="4368641" y="4045268"/>
            <a:chExt cx="3454718" cy="607694"/>
          </a:xfrm>
        </p:grpSpPr>
        <p:sp>
          <p:nvSpPr>
            <p:cNvPr id="9" name="TextBox 9"/>
            <p:cNvSpPr txBox="1"/>
            <p:nvPr/>
          </p:nvSpPr>
          <p:spPr>
            <a:xfrm>
              <a:off x="4368641" y="404526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我们不替代商家，不控制流量，不碰资金。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48664" y="4378642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我们帮商家建立属于自己的经营关系。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47750" y="5143500"/>
            <a:ext cx="11025187" cy="666750"/>
            <a:chOff x="1047750" y="5143500"/>
            <a:chExt cx="11025187" cy="666750"/>
          </a:xfrm>
        </p:grpSpPr>
        <p:grpSp>
          <p:nvGrpSpPr>
            <p:cNvPr id="15" name="Group 15"/>
            <p:cNvGrpSpPr/>
            <p:nvPr/>
          </p:nvGrpSpPr>
          <p:grpSpPr>
            <a:xfrm>
              <a:off x="1047750" y="5143500"/>
              <a:ext cx="3447097" cy="666750"/>
              <a:chOff x="1047750" y="5143500"/>
              <a:chExt cx="3447097" cy="6667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1047750" y="5143500"/>
                <a:ext cx="3238500" cy="66675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F0EDE8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600349" y="5331142"/>
                <a:ext cx="1333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E67E22"/>
                    </a:solidFill>
                    <a:latin typeface="Arial"/>
                    <a:ea typeface="Microsoft YaHei"/>
                    <a:cs typeface="Arial"/>
                  </a:rPr>
                  <a:t>①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840355" y="5331142"/>
                <a:ext cx="165449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帮助商家提升复购率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4476750" y="5143500"/>
              <a:ext cx="3987165" cy="666750"/>
              <a:chOff x="4476750" y="5143500"/>
              <a:chExt cx="3987165" cy="6667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4476750" y="5143500"/>
                <a:ext cx="3238500" cy="66675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F0EDE8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029349" y="5331142"/>
                <a:ext cx="1333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E67E22"/>
                    </a:solidFill>
                    <a:latin typeface="Arial"/>
                    <a:ea typeface="Microsoft YaHei"/>
                    <a:cs typeface="Arial"/>
                  </a:rPr>
                  <a:t>②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269355" y="5331142"/>
                <a:ext cx="219456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帮助用户获得持续消费权益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905750" y="5143500"/>
              <a:ext cx="4167187" cy="666750"/>
              <a:chOff x="7905750" y="5143500"/>
              <a:chExt cx="4167187" cy="6667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7905750" y="5143500"/>
                <a:ext cx="3238500" cy="66675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F0EDE8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458349" y="5331142"/>
                <a:ext cx="1333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E67E22"/>
                    </a:solidFill>
                    <a:latin typeface="Arial"/>
                    <a:ea typeface="Microsoft YaHei"/>
                    <a:cs typeface="Arial"/>
                  </a:rPr>
                  <a:t>③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698355" y="5331142"/>
                <a:ext cx="237458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帮助社区形成可持续商业循环</a:t>
                </a: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2762250" y="6096000"/>
            <a:ext cx="6667500" cy="342900"/>
            <a:chOff x="2762250" y="6096000"/>
            <a:chExt cx="6667500" cy="342900"/>
          </a:xfrm>
        </p:grpSpPr>
        <p:sp>
          <p:nvSpPr>
            <p:cNvPr id="25" name="Rectangle 25"/>
            <p:cNvSpPr/>
            <p:nvPr/>
          </p:nvSpPr>
          <p:spPr>
            <a:xfrm>
              <a:off x="2762250" y="6096000"/>
              <a:ext cx="6667500" cy="342900"/>
            </a:xfrm>
            <a:prstGeom prst="roundRect">
              <a:avLst>
                <a:gd name="adj" fmla="val 50000"/>
              </a:avLst>
            </a:prstGeom>
            <a:solidFill>
              <a:srgbClr val="1A5276">
                <a:alpha val="8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192399" y="6185535"/>
              <a:ext cx="58072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5276"/>
                  </a:solidFill>
                  <a:latin typeface="Arial"/>
                  <a:ea typeface="Microsoft YaHei"/>
                  <a:cs typeface="Arial"/>
                </a:rPr>
                <a:t>核心差异化：不是「更好的美团」——美团优化交易效率，链邦赋商通创造关系价值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60070" y="6522720"/>
            <a:ext cx="22491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链邦赋商通 · 链生活 | 品牌战略总案 V1.0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77054" y="652272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24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4762500" cy="6858000"/>
          </a:xfrm>
          <a:prstGeom prst="rect">
            <a:avLst/>
          </a:prstGeom>
          <a:gradFill>
            <a:gsLst>
              <a:gs pos="0">
                <a:srgbClr val="E67E22">
                  <a:alpha val="12000"/>
                </a:srgbClr>
              </a:gs>
              <a:gs pos="100000">
                <a:srgbClr val="FAFAF5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861060" y="1889760"/>
            <a:ext cx="485318" cy="1463040"/>
            <a:chOff x="861060" y="1889760"/>
            <a:chExt cx="485318" cy="1463040"/>
          </a:xfrm>
        </p:grpSpPr>
        <p:sp>
          <p:nvSpPr>
            <p:cNvPr id="4" name="TextBox 4"/>
            <p:cNvSpPr txBox="1"/>
            <p:nvPr/>
          </p:nvSpPr>
          <p:spPr>
            <a:xfrm>
              <a:off x="861060" y="1889760"/>
              <a:ext cx="485318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rgbClr val="E67E22">
                      <a:alphaMod val="30000"/>
                    </a:srgbClr>
                  </a:solidFill>
                  <a:latin typeface="Georgia"/>
                  <a:ea typeface="KaiTi"/>
                  <a:cs typeface="Georgia"/>
                </a:rPr>
                <a:t>I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06780" y="3230880"/>
            <a:ext cx="2107692" cy="1022032"/>
            <a:chOff x="906780" y="3230880"/>
            <a:chExt cx="2107692" cy="1022032"/>
          </a:xfrm>
        </p:grpSpPr>
        <p:sp>
          <p:nvSpPr>
            <p:cNvPr id="6" name="TextBox 6"/>
            <p:cNvSpPr txBox="1"/>
            <p:nvPr/>
          </p:nvSpPr>
          <p:spPr>
            <a:xfrm>
              <a:off x="906780" y="3230880"/>
              <a:ext cx="2107692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2C2C2C"/>
                  </a:solidFill>
                  <a:latin typeface="Georgia"/>
                  <a:ea typeface="KaiTi"/>
                  <a:cs typeface="Georgia"/>
                </a:rPr>
                <a:t>战略定位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31545" y="3917632"/>
              <a:ext cx="7019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我是谁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172200" y="1783556"/>
            <a:ext cx="5188744" cy="1073944"/>
            <a:chOff x="6172200" y="1783556"/>
            <a:chExt cx="5188744" cy="1073944"/>
          </a:xfrm>
        </p:grpSpPr>
        <p:sp>
          <p:nvSpPr>
            <p:cNvPr id="9" name="TextBox 9"/>
            <p:cNvSpPr txBox="1"/>
            <p:nvPr/>
          </p:nvSpPr>
          <p:spPr>
            <a:xfrm>
              <a:off x="6176962" y="178355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本卷内容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172200" y="2219325"/>
              <a:ext cx="478869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执行摘要 · 生态位 · 四层定位 · 使命 · 愿景 · 价值观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172200" y="2552700"/>
              <a:ext cx="51887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品牌人格 · 故事 · 视觉方向 · 广告语 · 命名 · 一致性检验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60070" y="6522720"/>
            <a:ext cx="22491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链邦赋商通 · 链生活 | 品牌战略总案 V1.0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77054" y="652272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4762500" cy="6858000"/>
          </a:xfrm>
          <a:prstGeom prst="rect">
            <a:avLst/>
          </a:prstGeom>
          <a:gradFill>
            <a:gsLst>
              <a:gs pos="0">
                <a:srgbClr val="E67E22">
                  <a:alpha val="12000"/>
                </a:srgbClr>
              </a:gs>
              <a:gs pos="100000">
                <a:srgbClr val="FAFAF5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61060" y="1889760"/>
            <a:ext cx="787756" cy="1463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0" b="1" dirty="0">
                <a:solidFill>
                  <a:srgbClr val="E67E22">
                    <a:alphaMod val="30000"/>
                  </a:srgbClr>
                </a:solidFill>
                <a:latin typeface="Georgia"/>
                <a:ea typeface="KaiTi"/>
                <a:cs typeface="Georgia"/>
              </a:rPr>
              <a:t>II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6780" y="3230880"/>
            <a:ext cx="21076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2C2C2C"/>
                </a:solidFill>
                <a:latin typeface="Georgia"/>
                <a:ea typeface="KaiTi"/>
                <a:cs typeface="Georgia"/>
              </a:rPr>
              <a:t>商业模型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1545" y="3917632"/>
            <a:ext cx="11420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我怎么运转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76962" y="178355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本卷内容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172200" y="2219325"/>
            <a:ext cx="456866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C2C2C"/>
                </a:solidFill>
                <a:latin typeface="Arial"/>
                <a:ea typeface="Microsoft YaHei"/>
                <a:cs typeface="Arial"/>
              </a:rPr>
              <a:t>两大体系 · V3.2结算模型 · 三业态分账 · 三元营销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172200" y="2552700"/>
            <a:ext cx="39285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C2C2C"/>
                </a:solidFill>
                <a:latin typeface="Arial"/>
                <a:ea typeface="Microsoft YaHei"/>
                <a:cs typeface="Arial"/>
              </a:rPr>
              <a:t>盈亏平衡 · 千面千店 · 三级管理 · 关键数字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0" y="4000500"/>
            <a:ext cx="5905500" cy="57150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9525">
            <a:solidFill>
              <a:srgbClr val="F0ED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5914263" y="4216718"/>
            <a:ext cx="55069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1A5276"/>
                </a:solidFill>
                <a:latin typeface="Arial"/>
                <a:ea typeface="Microsoft YaHei"/>
                <a:cs typeface="Arial"/>
              </a:rPr>
              <a:t>核心原则：交易即服务费结算——零固定费用 · 零预充值 · 零资金占用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0070" y="6522720"/>
            <a:ext cx="22491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链邦赋商通 · 链生活 | 品牌战略总案 V1.0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77054" y="652272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4762500" cy="6858000"/>
          </a:xfrm>
          <a:prstGeom prst="rect">
            <a:avLst/>
          </a:prstGeom>
          <a:gradFill>
            <a:gsLst>
              <a:gs pos="0">
                <a:srgbClr val="1A5276">
                  <a:alpha val="12000"/>
                </a:srgbClr>
              </a:gs>
              <a:gs pos="100000">
                <a:srgbClr val="FAFAF5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61060" y="1889760"/>
            <a:ext cx="1090193" cy="1463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0" b="1" dirty="0">
                <a:solidFill>
                  <a:srgbClr val="1A5276">
                    <a:alphaMod val="25000"/>
                  </a:srgbClr>
                </a:solidFill>
                <a:latin typeface="Georgia"/>
                <a:ea typeface="KaiTi"/>
                <a:cs typeface="Georgia"/>
              </a:rPr>
              <a:t>III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6780" y="3230880"/>
            <a:ext cx="261175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2C2C2C"/>
                </a:solidFill>
                <a:latin typeface="Georgia"/>
                <a:ea typeface="KaiTi"/>
                <a:cs typeface="Georgia"/>
              </a:rPr>
              <a:t>执行路线图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1545" y="3917632"/>
            <a:ext cx="92202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我怎么做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76962" y="178355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本卷内容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172200" y="2219325"/>
            <a:ext cx="409860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C2C2C"/>
                </a:solidFill>
                <a:latin typeface="Arial"/>
                <a:ea typeface="Microsoft YaHei"/>
                <a:cs typeface="Arial"/>
              </a:rPr>
              <a:t>瓶颈全景 · 第〇段信息补全 · 第一段验证飞轮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172200" y="2552700"/>
            <a:ext cx="51287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C2C2C"/>
                </a:solidFill>
                <a:latin typeface="Arial"/>
                <a:ea typeface="Microsoft YaHei"/>
                <a:cs typeface="Arial"/>
              </a:rPr>
              <a:t>第二段复制验证 · 第三段品类传教士 · 预算框架 · 三不投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0" y="4000500"/>
            <a:ext cx="5905500" cy="57150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9525">
            <a:solidFill>
              <a:srgbClr val="F0ED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5941266" y="4216718"/>
            <a:ext cx="54529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1A5276"/>
                </a:solidFill>
                <a:latin typeface="Arial"/>
                <a:ea typeface="Microsoft YaHei"/>
                <a:cs typeface="Arial"/>
              </a:rPr>
              <a:t>核心诊断：战略资产过剩，组织资产归零——没有错误路径的沉没成本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0070" y="6522720"/>
            <a:ext cx="22491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链邦赋商通 · 链生活 | 品牌战略总案 V1.0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77054" y="652272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4762500" cy="6858000"/>
          </a:xfrm>
          <a:prstGeom prst="rect">
            <a:avLst/>
          </a:prstGeom>
          <a:gradFill>
            <a:gsLst>
              <a:gs pos="0">
                <a:srgbClr val="C0392B">
                  <a:alpha val="12000"/>
                </a:srgbClr>
              </a:gs>
              <a:gs pos="100000">
                <a:srgbClr val="FAFAF5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61060" y="1889760"/>
            <a:ext cx="1039787" cy="1463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0" b="1" dirty="0">
                <a:solidFill>
                  <a:srgbClr val="C0392B">
                    <a:alphaMod val="20000"/>
                  </a:srgbClr>
                </a:solidFill>
                <a:latin typeface="Georgia"/>
                <a:ea typeface="KaiTi"/>
                <a:cs typeface="Georgia"/>
              </a:rPr>
              <a:t>IV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6780" y="3230880"/>
            <a:ext cx="261175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2C2C2C"/>
                </a:solidFill>
                <a:latin typeface="Georgia"/>
                <a:ea typeface="KaiTi"/>
                <a:cs typeface="Georgia"/>
              </a:rPr>
              <a:t>风险与合规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1545" y="3917632"/>
            <a:ext cx="11420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什么不能做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76962" y="178355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本卷内容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172200" y="2219325"/>
            <a:ext cx="34985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C2C2C"/>
                </a:solidFill>
                <a:latin typeface="Arial"/>
                <a:ea typeface="Microsoft YaHei"/>
                <a:cs typeface="Arial"/>
              </a:rPr>
              <a:t>三条红线 · 合规术语映射 · 消费金五不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172200" y="2552700"/>
            <a:ext cx="34985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C2C2C"/>
                </a:solidFill>
                <a:latin typeface="Arial"/>
                <a:ea typeface="Microsoft YaHei"/>
                <a:cs typeface="Arial"/>
              </a:rPr>
              <a:t>信息黑洞清单 · 待验证假设 · 风险矩阵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0" y="4000500"/>
            <a:ext cx="5905500" cy="57150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9525">
            <a:solidFill>
              <a:srgbClr val="C0392B">
                <a:alpha val="30000"/>
              </a:srgbClr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481334" y="4216718"/>
            <a:ext cx="43728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0392B"/>
                </a:solidFill>
                <a:latin typeface="Arial"/>
                <a:ea typeface="Microsoft YaHei"/>
                <a:cs typeface="Arial"/>
              </a:rPr>
              <a:t>三条红线不可触碰——任何一条被突破，项目生存权归零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0070" y="6522720"/>
            <a:ext cx="22491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链邦赋商通 · 链生活 | 品牌战略总案 V1.0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77054" y="652272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476250"/>
            <a:ext cx="57150" cy="3810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71525" y="438150"/>
            <a:ext cx="175641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C2C2C"/>
                </a:solidFill>
                <a:latin typeface="Georgia"/>
                <a:ea typeface="KaiTi"/>
                <a:cs typeface="Georgia"/>
              </a:rPr>
              <a:t>三条红线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5338" y="926306"/>
            <a:ext cx="30439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C0392B"/>
                </a:solidFill>
                <a:latin typeface="Arial"/>
                <a:ea typeface="Microsoft YaHei"/>
                <a:cs typeface="Arial"/>
              </a:rPr>
              <a:t>不可触碰——任何一条被突破，项目生存权归零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762000" y="1524000"/>
            <a:ext cx="10668000" cy="4572000"/>
            <a:chOff x="762000" y="1524000"/>
            <a:chExt cx="10668000" cy="4572000"/>
          </a:xfrm>
        </p:grpSpPr>
        <p:grpSp>
          <p:nvGrpSpPr>
            <p:cNvPr id="15" name="Group 15"/>
            <p:cNvGrpSpPr/>
            <p:nvPr/>
          </p:nvGrpSpPr>
          <p:grpSpPr>
            <a:xfrm>
              <a:off x="762000" y="1524000"/>
              <a:ext cx="3429000" cy="4572000"/>
              <a:chOff x="762000" y="1524000"/>
              <a:chExt cx="3429000" cy="4572000"/>
            </a:xfrm>
            <a:effectLst>
              <a:outerShdw blurRad="76200" dist="19050" dir="5400000" algn="ctr" rotWithShape="0">
                <a:srgbClr val="2C2C2C">
                  <a:alpha val="4500"/>
                </a:srgbClr>
              </a:outerShdw>
            </a:effectLst>
          </p:grpSpPr>
          <p:sp>
            <p:nvSpPr>
              <p:cNvPr id="6" name="Rectangle 6"/>
              <p:cNvSpPr/>
              <p:nvPr/>
            </p:nvSpPr>
            <p:spPr>
              <a:xfrm>
                <a:off x="762000" y="1524000"/>
                <a:ext cx="3429000" cy="4572000"/>
              </a:xfrm>
              <a:prstGeom prst="roundRect">
                <a:avLst>
                  <a:gd name="adj" fmla="val 3889"/>
                </a:avLst>
              </a:prstGeom>
              <a:solidFill>
                <a:srgbClr val="FFFFFF"/>
              </a:solidFill>
              <a:ln w="9525">
                <a:solidFill>
                  <a:srgbClr val="F0EDE8"/>
                </a:solidFill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</p:sp>
          <p:sp>
            <p:nvSpPr>
              <p:cNvPr id="7" name="Rectangle 7"/>
              <p:cNvSpPr/>
              <p:nvPr/>
            </p:nvSpPr>
            <p:spPr>
              <a:xfrm>
                <a:off x="762000" y="1524000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C0392B"/>
              </a:solidFill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567720" y="2440305"/>
                <a:ext cx="1817561" cy="4267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C0392B"/>
                    </a:solidFill>
                    <a:latin typeface="Georgia"/>
                    <a:ea typeface="KaiTi"/>
                    <a:cs typeface="Georgia"/>
                  </a:rPr>
                  <a:t>积分不可兑现</a:t>
                </a:r>
              </a:p>
            </p:txBody>
          </p:sp>
          <p:sp>
            <p:nvSpPr>
              <p:cNvPr id="9" name="Line 9"/>
              <p:cNvSpPr/>
              <p:nvPr/>
            </p:nvSpPr>
            <p:spPr>
              <a:xfrm>
                <a:off x="1047750" y="295275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rgbClr val="E8E3DC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31558" y="3243739"/>
                <a:ext cx="1732598" cy="2590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积分不能转换为现金，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31558" y="3529489"/>
                <a:ext cx="1902619" cy="2590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只能用于平台内消费抵扣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1047750" y="4048125"/>
                <a:ext cx="2857500" cy="476250"/>
              </a:xfrm>
              <a:prstGeom prst="roundRect">
                <a:avLst>
                  <a:gd name="adj" fmla="val 20000"/>
                </a:avLst>
              </a:prstGeom>
              <a:solidFill>
                <a:srgbClr val="C0392B">
                  <a:alpha val="6000"/>
                </a:srgbClr>
              </a:solidFill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752576" y="4220528"/>
                <a:ext cx="1447848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C0392B"/>
                    </a:solidFill>
                    <a:latin typeface="Arial"/>
                    <a:ea typeface="Microsoft YaHei"/>
                    <a:cs typeface="Arial"/>
                  </a:rPr>
                  <a:t>一旦可兑现 = 金融产品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113121" y="4411028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C0392B"/>
                    </a:solidFill>
                    <a:latin typeface="Arial"/>
                    <a:ea typeface="Microsoft YaHei"/>
                    <a:cs typeface="Arial"/>
                  </a:rPr>
                  <a:t>需支付牌照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381500" y="1524000"/>
              <a:ext cx="3429000" cy="4572000"/>
              <a:chOff x="4381500" y="1524000"/>
              <a:chExt cx="3429000" cy="4572000"/>
            </a:xfrm>
            <a:effectLst>
              <a:outerShdw blurRad="76200" dist="19050" dir="5400000" algn="ctr" rotWithShape="0">
                <a:srgbClr val="2C2C2C">
                  <a:alpha val="4500"/>
                </a:srgbClr>
              </a:outerShdw>
            </a:effectLst>
          </p:grpSpPr>
          <p:sp>
            <p:nvSpPr>
              <p:cNvPr id="16" name="Rectangle 16"/>
              <p:cNvSpPr/>
              <p:nvPr/>
            </p:nvSpPr>
            <p:spPr>
              <a:xfrm>
                <a:off x="4381500" y="1524000"/>
                <a:ext cx="3429000" cy="4572000"/>
              </a:xfrm>
              <a:prstGeom prst="roundRect">
                <a:avLst>
                  <a:gd name="adj" fmla="val 3889"/>
                </a:avLst>
              </a:prstGeom>
              <a:solidFill>
                <a:srgbClr val="FFFFFF"/>
              </a:solidFill>
              <a:ln w="9525">
                <a:solidFill>
                  <a:srgbClr val="F0EDE8"/>
                </a:solidFill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4381500" y="1524000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C0392B"/>
              </a:solidFill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040201" y="2440305"/>
                <a:ext cx="2111597" cy="4267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C0392B"/>
                    </a:solidFill>
                    <a:latin typeface="Georgia"/>
                    <a:ea typeface="KaiTi"/>
                    <a:cs typeface="Georgia"/>
                  </a:rPr>
                  <a:t>不可形成资金池</a:t>
                </a:r>
              </a:p>
            </p:txBody>
          </p:sp>
          <p:sp>
            <p:nvSpPr>
              <p:cNvPr id="19" name="Line 19"/>
              <p:cNvSpPr/>
              <p:nvPr/>
            </p:nvSpPr>
            <p:spPr>
              <a:xfrm>
                <a:off x="4667250" y="295275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rgbClr val="E8E3DC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651058" y="3243739"/>
                <a:ext cx="1732598" cy="2590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所有资金经汇付直清，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651058" y="3529489"/>
                <a:ext cx="1562576" cy="2590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不经过平台自有账户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4667250" y="4048125"/>
                <a:ext cx="2857500" cy="476250"/>
              </a:xfrm>
              <a:prstGeom prst="roundRect">
                <a:avLst>
                  <a:gd name="adj" fmla="val 20000"/>
                </a:avLst>
              </a:prstGeom>
              <a:solidFill>
                <a:srgbClr val="C0392B">
                  <a:alpha val="6000"/>
                </a:srgbClr>
              </a:solidFill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382578" y="4220528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C0392B"/>
                    </a:solidFill>
                    <a:latin typeface="Arial"/>
                    <a:ea typeface="Microsoft YaHei"/>
                    <a:cs typeface="Arial"/>
                  </a:rPr>
                  <a:t>无支付牌照形成资金池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603105" y="4411028"/>
                <a:ext cx="985790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C0392B"/>
                    </a:solidFill>
                    <a:latin typeface="Arial"/>
                    <a:ea typeface="Microsoft YaHei"/>
                    <a:cs typeface="Arial"/>
                  </a:rPr>
                  <a:t>= 非法集资风险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8001000" y="1524000"/>
              <a:ext cx="3429000" cy="4572000"/>
              <a:chOff x="8001000" y="1524000"/>
              <a:chExt cx="3429000" cy="4572000"/>
            </a:xfrm>
            <a:effectLst>
              <a:outerShdw blurRad="76200" dist="19050" dir="5400000" algn="ctr" rotWithShape="0">
                <a:srgbClr val="2C2C2C">
                  <a:alpha val="4500"/>
                </a:srgbClr>
              </a:outerShdw>
            </a:effectLst>
          </p:grpSpPr>
          <p:sp>
            <p:nvSpPr>
              <p:cNvPr id="26" name="Rectangle 26"/>
              <p:cNvSpPr/>
              <p:nvPr/>
            </p:nvSpPr>
            <p:spPr>
              <a:xfrm>
                <a:off x="8001000" y="1524000"/>
                <a:ext cx="3429000" cy="4572000"/>
              </a:xfrm>
              <a:prstGeom prst="roundRect">
                <a:avLst>
                  <a:gd name="adj" fmla="val 3889"/>
                </a:avLst>
              </a:prstGeom>
              <a:solidFill>
                <a:srgbClr val="FFFFFF"/>
              </a:solidFill>
              <a:ln w="9525">
                <a:solidFill>
                  <a:srgbClr val="F0EDE8"/>
                </a:solidFill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8001000" y="1524000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C0392B"/>
              </a:solidFill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806720" y="2440305"/>
                <a:ext cx="1817561" cy="4267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C0392B"/>
                    </a:solidFill>
                    <a:latin typeface="Georgia"/>
                    <a:ea typeface="KaiTi"/>
                    <a:cs typeface="Georgia"/>
                  </a:rPr>
                  <a:t>不可承诺收益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8286750" y="295275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rgbClr val="E8E3DC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270558" y="3243739"/>
                <a:ext cx="1732598" cy="2590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任何对外材料不得出现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270558" y="3529489"/>
                <a:ext cx="2072640" cy="2590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「稳赚」「躺赚」「保底」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8286750" y="4048125"/>
                <a:ext cx="2857500" cy="476250"/>
              </a:xfrm>
              <a:prstGeom prst="roundRect">
                <a:avLst>
                  <a:gd name="adj" fmla="val 20000"/>
                </a:avLst>
              </a:prstGeom>
              <a:solidFill>
                <a:srgbClr val="C0392B">
                  <a:alpha val="6000"/>
                </a:srgbClr>
              </a:solidFill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9422130" y="4220528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C0392B"/>
                    </a:solidFill>
                    <a:latin typeface="Arial"/>
                    <a:ea typeface="Microsoft YaHei"/>
                    <a:cs typeface="Arial"/>
                  </a:rPr>
                  <a:t>承诺收益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222605" y="4411028"/>
                <a:ext cx="985790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C2C2C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C0392B"/>
                    </a:solidFill>
                    <a:latin typeface="Arial"/>
                    <a:ea typeface="Microsoft YaHei"/>
                    <a:cs typeface="Arial"/>
                  </a:rPr>
                  <a:t>= 金融监管红线</a:t>
                </a:r>
              </a:p>
            </p:txBody>
          </p:sp>
        </p:grpSp>
      </p:grpSp>
      <p:sp>
        <p:nvSpPr>
          <p:cNvPr id="37" name="Rectangle 37"/>
          <p:cNvSpPr/>
          <p:nvPr/>
        </p:nvSpPr>
        <p:spPr>
          <a:xfrm>
            <a:off x="2857500" y="6286500"/>
            <a:ext cx="6477000" cy="342900"/>
          </a:xfrm>
          <a:prstGeom prst="roundRect">
            <a:avLst>
              <a:gd name="adj" fmla="val 50000"/>
            </a:avLst>
          </a:prstGeom>
          <a:solidFill>
            <a:srgbClr val="C0392B">
              <a:alpha val="6000"/>
            </a:srgbClr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4048958" y="6384131"/>
            <a:ext cx="40940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C0392B"/>
                </a:solidFill>
                <a:latin typeface="Arial"/>
                <a:ea typeface="Microsoft YaHei"/>
                <a:cs typeface="Arial"/>
              </a:rPr>
              <a:t>每条红线背后是具体的法律法规——不是「建议」，是生存条件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0070" y="6284595"/>
            <a:ext cx="22491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链邦赋商通 · 链生活 | 品牌战略总案 V1.0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477054" y="62845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5276">
                  <a:alpha val="10000"/>
                </a:srgbClr>
              </a:gs>
              <a:gs pos="50000">
                <a:srgbClr val="FAFAF5">
                  <a:alpha val="0"/>
                </a:srgbClr>
              </a:gs>
              <a:gs pos="100000">
                <a:srgbClr val="E67E22">
                  <a:alpha val="8000"/>
                </a:srgbClr>
              </a:gs>
            </a:gsLst>
            <a:lin ang="270000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3352224" y="2023110"/>
            <a:ext cx="5487553" cy="853440"/>
            <a:chOff x="3352224" y="2023110"/>
            <a:chExt cx="5487553" cy="853440"/>
          </a:xfrm>
        </p:grpSpPr>
        <p:sp>
          <p:nvSpPr>
            <p:cNvPr id="4" name="TextBox 4"/>
            <p:cNvSpPr txBox="1"/>
            <p:nvPr/>
          </p:nvSpPr>
          <p:spPr>
            <a:xfrm>
              <a:off x="3352224" y="2023110"/>
              <a:ext cx="5487553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2C2C2C"/>
                  </a:solidFill>
                  <a:latin typeface="Georgia"/>
                  <a:ea typeface="KaiTi"/>
                  <a:cs typeface="Georgia"/>
                </a:rPr>
                <a:t>链邦赋商通 · 链生活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4667250" y="2762250"/>
              <a:ext cx="28575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67E22"/>
                </a:gs>
                <a:gs pos="100000">
                  <a:srgbClr val="1A5276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145280" y="3360420"/>
            <a:ext cx="3901440" cy="963930"/>
            <a:chOff x="4145280" y="3360420"/>
            <a:chExt cx="3901440" cy="963930"/>
          </a:xfrm>
        </p:grpSpPr>
        <p:sp>
          <p:nvSpPr>
            <p:cNvPr id="7" name="TextBox 7"/>
            <p:cNvSpPr txBox="1"/>
            <p:nvPr/>
          </p:nvSpPr>
          <p:spPr>
            <a:xfrm>
              <a:off x="4145280" y="3360420"/>
              <a:ext cx="390144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E67E22"/>
                  </a:solidFill>
                  <a:latin typeface="Georgia"/>
                  <a:ea typeface="KaiTi"/>
                  <a:cs typeface="Georgia"/>
                </a:rPr>
                <a:t>让每一家认真经营的小店，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145280" y="3836670"/>
              <a:ext cx="390144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E67E22"/>
                  </a:solidFill>
                  <a:latin typeface="Georgia"/>
                  <a:ea typeface="KaiTi"/>
                  <a:cs typeface="Georgia"/>
                </a:rPr>
                <a:t>不再从零开始经营每一天。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191000" y="5143500"/>
            <a:ext cx="3810000" cy="1147762"/>
            <a:chOff x="4191000" y="5143500"/>
            <a:chExt cx="3810000" cy="1147762"/>
          </a:xfrm>
        </p:grpSpPr>
        <p:sp>
          <p:nvSpPr>
            <p:cNvPr id="10" name="Line 10"/>
            <p:cNvSpPr/>
            <p:nvPr/>
          </p:nvSpPr>
          <p:spPr>
            <a:xfrm>
              <a:off x="4191000" y="51435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D4A57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108638" y="5394960"/>
              <a:ext cx="19747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梁君衡 · 企业宣传策划专员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331619" y="568880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A0A0A0"/>
                  </a:solidFill>
                  <a:latin typeface="Arial"/>
                  <a:ea typeface="Microsoft YaHei"/>
                  <a:cs typeface="Arial"/>
                </a:rPr>
                <a:t>广东链邦科技有限公司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62525" y="6077902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0A0A0"/>
                  </a:solidFill>
                  <a:latin typeface="Arial"/>
                  <a:ea typeface="Microsoft YaHei"/>
                  <a:cs typeface="Arial"/>
                </a:rPr>
                <a:t>2026-06-18 · V1.0 · 内部战略文件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477054" y="652272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2026-06-18T09:05:05Z</dcterms:created>
  <dcterms:modified xsi:type="dcterms:W3CDTF">2026-06-18T09:05:05Z</dcterms:modified>
  <cp:category/>
  <cp:contentStatus/>
</cp:coreProperties>
</file>