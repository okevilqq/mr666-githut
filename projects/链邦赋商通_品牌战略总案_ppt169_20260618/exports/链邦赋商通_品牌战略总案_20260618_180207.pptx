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链邦赋商通是一个面向社区商业的数字经营平台，核心逻辑是商户独立经营、生态会员互通、消费权益流转、真实交易激励——这与美团式的中心化交易平台有本质区别。</a:t>
            </a:r>
          </a:p>
          <a:p>
            <a:endParaRPr lang="zh-CN" dirty="0"/>
          </a:p>
          <a:p>
            <a:r>
              <a:rPr lang="zh-CN" dirty="0"/>
              <a:t>• 这份总案历时二十二轮战略推导，每一条策略判断均可追溯到具体方法论或数据源。</a:t>
            </a:r>
          </a:p>
          <a:p>
            <a:r>
              <a:rPr lang="zh-CN" dirty="0"/>
              <a:t>• 五十三页覆盖品牌定位、商业模型、执行路线和合规框架，四个模块缺一不可，共同构成可执行的品牌战略蓝图。</a:t>
            </a:r>
          </a:p>
          <a:p>
            <a:r>
              <a:rPr lang="zh-CN" dirty="0"/>
              <a:t>• 汇报人：企业宣传策划专员梁君衡，广东链邦科技有限公司，2026年6月18日。</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总案分为五卷，对应五个核心战略问题——我是谁、我怎么运转、我怎么做、什么不能做、我的推导依据——形成完整的战略叙事闭环。</a:t>
            </a:r>
          </a:p>
          <a:p>
            <a:endParaRPr lang="zh-CN" dirty="0"/>
          </a:p>
          <a:p>
            <a:r>
              <a:rPr lang="zh-CN" dirty="0"/>
              <a:t>• 卷一"品牌定位"回答"我们是谁"：从生态位锁定到品牌价值体系搭建。</a:t>
            </a:r>
          </a:p>
          <a:p>
            <a:r>
              <a:rPr lang="zh-CN" dirty="0"/>
              <a:t>• 卷二"商业模型"回答"我怎么运转"：两大体系和V3.2服务费结算模型。</a:t>
            </a:r>
          </a:p>
          <a:p>
            <a:r>
              <a:rPr lang="zh-CN" dirty="0"/>
              <a:t>• 卷三"执行路线图"回答"我怎么做"：三段式推进路径和预算框架。</a:t>
            </a:r>
          </a:p>
          <a:p>
            <a:r>
              <a:rPr lang="zh-CN" dirty="0"/>
              <a:t>• 卷四"风险与合规"划定"什么不能做"：三条红线和十六组合规术语强制替换。</a:t>
            </a:r>
          </a:p>
          <a:p>
            <a:r>
              <a:rPr lang="zh-CN" dirty="0"/>
              <a:t>• 卷五"附录"提供完整推导链和溯源信息，确保每一页策略都可审计。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链邦赋商通的使命只有一句话——让每一家认真经营的小店，不再从零开始经营每一天——这句话定义了我们的战场边界和竞争差异。</a:t>
            </a:r>
          </a:p>
          <a:p>
            <a:endParaRPr lang="zh-CN" dirty="0"/>
          </a:p>
          <a:p>
            <a:r>
              <a:rPr lang="zh-CN" dirty="0"/>
              <a:t>• 我们不是另一个美团：美团优化交易效率，我们创造关系价值。交易效率是无限游戏，但关系价值具有不可复制的网络效应。</a:t>
            </a:r>
          </a:p>
          <a:p>
            <a:r>
              <a:rPr lang="zh-CN" dirty="0"/>
              <a:t>• 我们不替代商家，不控制流量，不碰资金——三大"不做"划定了平台与商家的权力边界，这是合规的基础，也是商家信任的前提。</a:t>
            </a:r>
          </a:p>
          <a:p>
            <a:r>
              <a:rPr lang="zh-CN" dirty="0"/>
              <a:t>• 三大目标相互咬合：帮助商家提升复购率、帮助用户获得持续消费权益、帮助社区形成可持续商业循环。</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链邦赋商通的战略全景由三个相互咬合的齿轮构成——消费流转体系创造流量内循环，权益互通体系锁定用户跨店价值，三级推广网络降低获客成本——三者任一缺失，飞轮无法转动。</a:t>
            </a:r>
          </a:p>
          <a:p>
            <a:endParaRPr lang="zh-CN" dirty="0"/>
          </a:p>
          <a:p>
            <a:r>
              <a:rPr lang="zh-CN" dirty="0"/>
              <a:t>• 消费流转体系：平台商家（优先展示入口）→ 联盟商家（延伸履约网络）→ 综合商城（补充供给），软性优先级引导而非强制路径。</a:t>
            </a:r>
          </a:p>
          <a:p>
            <a:r>
              <a:rPr lang="zh-CN" dirty="0"/>
              <a:t>• 全生态会员权益互通体系：消费者在A店获得的代金券、积分、消费金，可在B店、C店乃至全平台任意商家使用——这是我们的核心壁垒。</a:t>
            </a:r>
          </a:p>
          <a:p>
            <a:r>
              <a:rPr lang="zh-CN" dirty="0"/>
              <a:t>• 三级推广网络：城市服务商（区域合伙人）→ 服务站（社区节点）→ 推广者（一线触达），这是解决本地化冷启动问题的组织答案。</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生态位的定义公式是"生态位 = 市场空白 ∩ 用户需求 ∩ 自身能力"——三个集合的交集才是我们真正应该占领的位置，任何一个集合的空缺都会导致战略资源浪费。</a:t>
            </a:r>
          </a:p>
          <a:p>
            <a:endParaRPr lang="zh-CN" dirty="0"/>
          </a:p>
          <a:p>
            <a:r>
              <a:rPr lang="zh-CN" dirty="0"/>
              <a:t>• 市场空白：社区商业数字化存在明显的"中间地带"——单店SaaS太轻，美团太重，商家需要的是一个不替代自己、不控制流量、能沉淀经营关系的工具。</a:t>
            </a:r>
          </a:p>
          <a:p>
            <a:r>
              <a:rPr lang="zh-CN" dirty="0"/>
              <a:t>• 用户需求：社区消费者需要的不是更便宜的团购，而是持续的消费权益和可信赖的社区消费关系——价格战不可持续，关系可以沉淀。</a:t>
            </a:r>
          </a:p>
          <a:p>
            <a:r>
              <a:rPr lang="zh-CN" dirty="0"/>
              <a:t>• 自身能力：我们拥有服务费结算模型的技术架构能力、合规框架的先发优势，以及"交易即结算"的差异化资金模型。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品类定义权是链邦赋商通最重要的战略资产——定义品类的人不参与竞争，品类定义本身就是最高的竞争壁垒。</a:t>
            </a:r>
          </a:p>
          <a:p>
            <a:endParaRPr lang="zh-CN" dirty="0"/>
          </a:p>
          <a:p>
            <a:r>
              <a:rPr lang="zh-CN" dirty="0"/>
              <a:t>• 当我们定义"社区商业数字经营平台"这个品类时，我们不是在现有品类中争夺份额，而是在创造一个全新的认知战场。</a:t>
            </a:r>
          </a:p>
          <a:p>
            <a:r>
              <a:rPr lang="zh-CN" dirty="0"/>
              <a:t>• 品类定义权包含三个层面：定义问题（社区商家经营关系每日归零）、定义标准（交易即服务费结算）、定义语言（消费权益而非数字资产）。</a:t>
            </a:r>
          </a:p>
          <a:p>
            <a:r>
              <a:rPr lang="zh-CN" dirty="0"/>
              <a:t>• 历史反复证明这一点：支付宝定义了"第三方担保支付"，拼多多定义了"社交拼团"，美团定义了"本地生活服务平台"——每个定义者都获得了品类的最高溢价。</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C+模型是链邦赋商通的品类占位方法论——品类占位是主轴，竞争对立是助推器，消费者价值是根基，生态组织模式是放大杠杆——四层咬合决定品类的最终认知高度。</a:t>
            </a:r>
          </a:p>
          <a:p>
            <a:endParaRPr lang="zh-CN" dirty="0"/>
          </a:p>
          <a:p>
            <a:r>
              <a:rPr lang="zh-CN" dirty="0"/>
              <a:t>• 品类占位（主轴）：社区商业数字经营平台——这是我们在消费者心智中占据的第一联想词。</a:t>
            </a:r>
          </a:p>
          <a:p>
            <a:r>
              <a:rPr lang="zh-CN" dirty="0"/>
              <a:t>• 竞争对立（助推器）：不替代商家 × 不控制流量 × 不碰资金——三个否定词清晰划出了与美团的差异边界。</a:t>
            </a:r>
          </a:p>
          <a:p>
            <a:r>
              <a:rPr lang="zh-CN" dirty="0"/>
              <a:t>• 消费者价值：持续消费权益而非单次折扣——这改变了消费者决策的底层动机。</a:t>
            </a:r>
          </a:p>
          <a:p>
            <a:r>
              <a:rPr lang="zh-CN" dirty="0"/>
              <a:t>• 生态组织模式：三级推广网络 + 消费权益互通——组织模式本身就是产品的一部分。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品类定义权的战略选择不是拍脑袋，而是决策树推演的结果——从"我们解决什么商业问题"出发，经过七层分叉，最终收敛到"社区商业数字经营平台"这九个字。</a:t>
            </a:r>
          </a:p>
          <a:p>
            <a:endParaRPr lang="zh-CN" dirty="0"/>
          </a:p>
          <a:p>
            <a:r>
              <a:rPr lang="zh-CN" dirty="0"/>
              <a:t>• 关键决策节点一：B端经营工具 × C端消费平台——我们选择B端经营工具，商家是我们的第一用户。</a:t>
            </a:r>
          </a:p>
          <a:p>
            <a:r>
              <a:rPr lang="zh-CN" dirty="0"/>
              <a:t>• 关键决策节点二：中心化流量分发 × 去中心化经营关系——我们选择经营关系，流量是商家的资产，不是平台的筹码。</a:t>
            </a:r>
          </a:p>
          <a:p>
            <a:r>
              <a:rPr lang="zh-CN" dirty="0"/>
              <a:t>• 关键决策节点三：交易抽佣 × 服务费结算——我们选择服务费结算，"交易即结算"是区别于所有竞品的核心财务模型。</a:t>
            </a:r>
          </a:p>
          <a:p>
            <a:r>
              <a:rPr lang="zh-CN" dirty="0"/>
              <a:t>• 决策树提供了可追溯的推导路径，每一个"是/否"分支都有对应的市场证据或方法论支撑。</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品牌价值画布是把生态位翻译成品牌身份的核心工具——它回答了五个环环相扣的问题：我们为谁存在、我们解决什么、我们如何解决、为什么是我们、我们相信什么。</a:t>
            </a:r>
          </a:p>
          <a:p>
            <a:endParaRPr lang="zh-CN" dirty="0"/>
          </a:p>
          <a:p>
            <a:r>
              <a:rPr lang="zh-CN" dirty="0"/>
              <a:t>• 目标用户：认真经营的社区独立商家——"认真经营"是关键词，我们不服务只想薅流量的投机型商家。</a:t>
            </a:r>
          </a:p>
          <a:p>
            <a:r>
              <a:rPr lang="zh-CN" dirty="0"/>
              <a:t>• 核心痛点：经营关系每日归零——今天服务了100个顾客，明天又要从0开始，没有沉淀。</a:t>
            </a:r>
          </a:p>
          <a:p>
            <a:r>
              <a:rPr lang="zh-CN" dirty="0"/>
              <a:t>• 解决方案：让商家拥有自己的会员体系、自己的消费权益工具、自己的经营关系网络。</a:t>
            </a:r>
          </a:p>
          <a:p>
            <a:r>
              <a:rPr lang="zh-CN" dirty="0"/>
              <a:t>• 为什么是我们：V3.2服务费结算模型、合规框架、三级推广网络——三件套构成系统级壁垒。</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使命是一个品牌存在的理由——链邦赋商通的使命是：让每一家认真经营的小店，不再从零开始经营每一天。这句话定义了"为谁解决什么问题"以及"解决到什么程度"。</a:t>
            </a:r>
          </a:p>
          <a:p>
            <a:endParaRPr lang="zh-CN" dirty="0"/>
          </a:p>
          <a:p>
            <a:r>
              <a:rPr lang="zh-CN" dirty="0"/>
              <a:t>• "认真经营"四字锁定了目标用户画像——我们不服务投机者，只服务那些把经营当事业的人。</a:t>
            </a:r>
          </a:p>
          <a:p>
            <a:r>
              <a:rPr lang="zh-CN" dirty="0"/>
              <a:t>• "不再从零开始"精准描述了痛点——社区商家的本质困境不是获客难，而是每次获客都不积累。</a:t>
            </a:r>
          </a:p>
          <a:p>
            <a:r>
              <a:rPr lang="zh-CN" dirty="0"/>
              <a:t>• "经营每一天"强调了持续性——这不是一个工具，而是一种新的经营方式。</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愿景是使命达成后的画面——让经营关系成为社区商业最重要的资产。当商家最值钱的东西不再是库存和位置，而是他积累的顾客关系和信任网络，我们的使命就完成了。</a:t>
            </a:r>
          </a:p>
          <a:p>
            <a:endParaRPr lang="zh-CN" dirty="0"/>
          </a:p>
          <a:p>
            <a:r>
              <a:rPr lang="zh-CN" dirty="0"/>
              <a:t>• 这句话定义了链邦赋商通最终要创造的价值形态——"关系即资产"，这是对"流量即资产"的范式替代。</a:t>
            </a:r>
          </a:p>
          <a:p>
            <a:r>
              <a:rPr lang="zh-CN" dirty="0"/>
              <a:t>• 社区商业的本质是关系经济，而非规模经济——一个社区便利店的价值不在于人流量，而在于邻里信任。</a:t>
            </a:r>
          </a:p>
          <a:p>
            <a:r>
              <a:rPr lang="zh-CN" dirty="0"/>
              <a:t>• 当经营关系可以被度量、沉淀和复用，商家就拥有了独立于平台的议价能力——这是我们对赋能商家的最终承诺。</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从使命到愿景是一条完整的逻辑链：结束"每日归零"→ 建立持续客户关系 → 关系可沉淀和复用 → 关系成为商铺最重要的资产 → 信任在社区内流动和沉淀，形成不可复制的社区商业网络。</a:t>
            </a:r>
          </a:p>
          <a:p>
            <a:endParaRPr lang="zh-CN" dirty="0"/>
          </a:p>
          <a:p>
            <a:r>
              <a:rPr lang="zh-CN" dirty="0"/>
              <a:t>• 逻辑链的每一环都可以被度量：复购率（关系建立）、会员活跃度（关系沉淀）、跨店使用率（关系流动）、商家留存率（关系价值）。</a:t>
            </a:r>
          </a:p>
          <a:p>
            <a:r>
              <a:rPr lang="zh-CN" dirty="0"/>
              <a:t>• 这个链条的反面是美团模型——流量属于平台，商家每一次营销都是在向平台购买自己昨天服务过的顾客。</a:t>
            </a:r>
          </a:p>
          <a:p>
            <a:r>
              <a:rPr lang="zh-CN" dirty="0"/>
              <a:t>• 我们的差异化不在于"更好的工具"，而在于"不同的价值归属"——经营关系属于商家，不属于平台。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价值观不是你说了什么，而是你面对诱惑时真的拒绝了什么。链邦赋商通的价值观由五条"不可为"来定义，而非五句漂亮的标语。</a:t>
            </a:r>
          </a:p>
          <a:p>
            <a:endParaRPr lang="zh-CN" dirty="0"/>
          </a:p>
          <a:p>
            <a:r>
              <a:rPr lang="zh-CN" dirty="0"/>
              <a:t>• 商家关系不可侵占——平台不拥有商家顾客数据的所有权，这是铁律。</a:t>
            </a:r>
          </a:p>
          <a:p>
            <a:r>
              <a:rPr lang="zh-CN" dirty="0"/>
              <a:t>• 消费权益不可兑现——积分和消费金永远只能用于消费抵扣，这是合规红线也是价值底线。</a:t>
            </a:r>
          </a:p>
          <a:p>
            <a:r>
              <a:rPr lang="zh-CN" dirty="0"/>
              <a:t>• 经营收益不可承诺——任何对外材料不得暗示"稳赚""躺赚""保底"，这是金融监管的生存条件。</a:t>
            </a:r>
          </a:p>
          <a:p>
            <a:r>
              <a:rPr lang="zh-CN" dirty="0"/>
              <a:t>• 商家主权不可替代——平台不替商家定价、不替商家选品、不替商家做经营决策。</a:t>
            </a:r>
          </a:p>
          <a:p>
            <a:r>
              <a:rPr lang="zh-CN" dirty="0"/>
              <a:t>• 社区信任不可透支——不刷单、不虚假评价、不操纵排序，信任是社区商业的氧气。</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链邦赋商通的品牌人格是"老街坊组织者"——不是社区管理者，不是商业地产商，不是团购平台，而是那个认识每条街、每个店主、每个老顾客，把大家组织起来互通有无的人。</a:t>
            </a:r>
          </a:p>
          <a:p>
            <a:endParaRPr lang="zh-CN" dirty="0"/>
          </a:p>
          <a:p>
            <a:r>
              <a:rPr lang="zh-CN" dirty="0"/>
              <a:t>• 这个人格决定了我们的沟通语调：亲切但不随意，专业但不冰冷，有权威但不傲慢。</a:t>
            </a:r>
          </a:p>
          <a:p>
            <a:r>
              <a:rPr lang="zh-CN" dirty="0"/>
              <a:t>• "组织者"而非"管理者"是关键词——我们搭建舞台，商家是主角。</a:t>
            </a:r>
          </a:p>
          <a:p>
            <a:r>
              <a:rPr lang="zh-CN" dirty="0"/>
              <a:t>• 十二品牌人格原型中，我们同时调用"关怀者"（Caregiver）的核心动机——保护和服务，以及"创造者"（Creator）的表达方式——构建新秩序。</a:t>
            </a:r>
          </a:p>
          <a:p>
            <a:r>
              <a:rPr lang="zh-CN" dirty="0"/>
              <a:t>• 人格是一切品牌接触点的统一基调，从小程序文案到客服话术，从品牌手册到招商PPT。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品牌故事必须回答那个"必须做"的瞬间——什么人，在什么情境下，看到了什么，感受到了什么，最终做出"这件事非做不可"的决定。当前版本为框架，待创始人确认真实细节。</a:t>
            </a:r>
          </a:p>
          <a:p>
            <a:endParaRPr lang="zh-CN" dirty="0"/>
          </a:p>
          <a:p>
            <a:r>
              <a:rPr lang="zh-CN" dirty="0"/>
              <a:t>• 品牌故事不是企业简介——企业简介是事实罗列，品牌故事是情感触发。</a:t>
            </a:r>
          </a:p>
          <a:p>
            <a:r>
              <a:rPr lang="zh-CN" dirty="0"/>
              <a:t>• 好故事的检验标准：听众听完后能不能复述给第三个人？如果一句话复述不出来，故事不合格。</a:t>
            </a:r>
          </a:p>
          <a:p>
            <a:r>
              <a:rPr lang="zh-CN" dirty="0"/>
              <a:t>• 待确认要素：创始人的身份标签、触发事件的具体场景、核心洞察的那句话、以及"如果我不做会怎样"的紧迫感。</a:t>
            </a:r>
          </a:p>
          <a:p>
            <a:r>
              <a:rPr lang="zh-CN" dirty="0"/>
              <a:t>• 此页标注"待创始人确认"是对品牌真实性的尊重——虚构的品牌故事在深度沟通中一定会露馅。</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链邦赋商通的视觉方向定义为"傍晚六点半的社区商业街"——不是正午十二点的商圈，不是午夜时分的夜市，而是那个下班回家路上、街灯刚亮起、店铺还亮着暖光、邻里互相打招呼的时间切片。</a:t>
            </a:r>
          </a:p>
          <a:p>
            <a:endParaRPr lang="zh-CN" dirty="0"/>
          </a:p>
          <a:p>
            <a:r>
              <a:rPr lang="zh-CN" dirty="0"/>
              <a:t>• 色彩策略：链商红#D62828作为品牌识别色，搭配暖白和深灰#333，避免科技蓝的冷感——我们是社区温度，不是算法效率。</a:t>
            </a:r>
          </a:p>
          <a:p>
            <a:r>
              <a:rPr lang="zh-CN" dirty="0"/>
              <a:t>• 关键词：暖光、人味、质感、持续性——每个视觉关键词都服务于品牌人格"老街坊组织者"。</a:t>
            </a:r>
          </a:p>
          <a:p>
            <a:r>
              <a:rPr lang="zh-CN" dirty="0"/>
              <a:t>• 摄影方向：真实社区场景、真实店主肖像、真实顾客互动——拒绝图库感、拒绝过度精修、拒绝"商业大片"的虚假质感。</a:t>
            </a:r>
          </a:p>
          <a:p>
            <a:r>
              <a:rPr lang="zh-CN" dirty="0"/>
              <a:t>• 视觉不是美工问题，是战略问题——消费者对品牌的第一判断在0.05秒内完成，视觉是品牌身份的最快传递通道。</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链邦赋商通实行三层沟通体系——定位语对内统一认知，广告语对外建立联想，场景语在具体触点上完成转化——三个层级各司其职，不可混淆。</a:t>
            </a:r>
          </a:p>
          <a:p>
            <a:endParaRPr lang="zh-CN" dirty="0"/>
          </a:p>
          <a:p>
            <a:r>
              <a:rPr lang="zh-CN" dirty="0"/>
              <a:t>• 定位语（对内）："社区商业数字经营平台"——九个字精准定义品类，一次性说清楚我们是干什么的。</a:t>
            </a:r>
          </a:p>
          <a:p>
            <a:r>
              <a:rPr lang="zh-CN" dirty="0"/>
              <a:t>• 广告语（对外）："经营每一天，不归零"——六个字抓住核心痛点，记忆成本低，传播效率高。</a:t>
            </a:r>
          </a:p>
          <a:p>
            <a:r>
              <a:rPr lang="zh-CN" dirty="0"/>
              <a:t>• 场景语（触点）：根据具体场景定制，如商家招募页"你的老顾客，本就属于你"，消费者端"在这条街花的钱，整条街都记得你"。</a:t>
            </a:r>
          </a:p>
          <a:p>
            <a:r>
              <a:rPr lang="zh-CN" dirty="0"/>
              <a:t>• 三层体系的设计原则：定位语不追求传播力，追求精确度；广告语不追求完整度，追求记忆度；场景语不追求独立性，追求唤起行动。</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链邦赋商通采用双品牌架构："链邦赋商通"面向B端（商家、服务商、合作伙伴），"链生活"面向C端（消费者），两个名字指向同一个生态，但完成不同的沟通任务。</a:t>
            </a:r>
          </a:p>
          <a:p>
            <a:endParaRPr lang="zh-CN" dirty="0"/>
          </a:p>
          <a:p>
            <a:r>
              <a:rPr lang="zh-CN" dirty="0"/>
              <a:t>• "链邦赋商通"的命名逻辑：链（连接生态）+ 邦（社区邦联）+ 赋（赋予能力）+ 商（商业主体）+ 通（全域通达），B端名称需要传递"赋能+连接+商业"三层信息。</a:t>
            </a:r>
          </a:p>
          <a:p>
            <a:r>
              <a:rPr lang="zh-CN" dirty="0"/>
              <a:t>• "链生活"的命名逻辑：链（品牌家族标识）+ 生活（消费者终极利益），C端名称只需要传递"更好生活"一层信息。</a:t>
            </a:r>
          </a:p>
          <a:p>
            <a:r>
              <a:rPr lang="zh-CN" dirty="0"/>
              <a:t>• 双品牌架构的战略价值：B端讲究信任感和专业性，C端讲究亲切感和记忆度——一个名字无法同时满足两端需求。</a:t>
            </a:r>
          </a:p>
          <a:p>
            <a:r>
              <a:rPr lang="zh-CN" dirty="0"/>
              <a:t>• 商标注册状态（2026/6/15）：第35/42/9类，"链邦赋商通"商标注册中，甲方广东链邦科技有限公司，费用2000元。</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品牌价值体系全部模块一致性交叉检验通过——使命回答"为什么存在"、愿景回答"走向哪里"、价值观回答"边界在哪里"、品牌人格回答"怎样说话"、视觉方向回答"长什么样"——五个模块互相咬合，没有自相矛盾。</a:t>
            </a:r>
          </a:p>
          <a:p>
            <a:endParaRPr lang="zh-CN" dirty="0"/>
          </a:p>
          <a:p>
            <a:r>
              <a:rPr lang="zh-CN" dirty="0"/>
              <a:t>• 检验方法：提取每个模块的核心关键词，放入一致性矩阵——使命的"经营关系"是否出现在愿景中？价值观的"商家主权"是否在品牌人格中得到体现？</a:t>
            </a:r>
          </a:p>
          <a:p>
            <a:r>
              <a:rPr lang="zh-CN" dirty="0"/>
              <a:t>• 全模块核心关键词高度收敛：关系、信任、经营、社区——四个词贯穿全部五个模块。</a:t>
            </a:r>
          </a:p>
          <a:p>
            <a:r>
              <a:rPr lang="zh-CN" dirty="0"/>
              <a:t>• 唯一的缺口是品牌故事，需要创始人确认真实素材后填充——这不会影响体系的一致性，因为故事的框架已经与五个模块对齐。</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卷一回答了"我们是谁"——九个字定义品类：社区商业数字经营平台；一句话定义使命：让每一家认真经营的小店，不再从零开始经营每一天；一个原则定义模式：交易即服务费结算；一种人格定义调性：老街坊组织者；一种颜色定义识别：链商红#D62828。接下来进入卷二，看这个品牌身份如何翻译成商业模型。</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卷回答一个核心问题：我怎么运转？底层原则只有七个字——交易即服务费结算。平台仅在实际交易发生时获取服务费，零固定费用、零预充值、零资金占用——这是链邦赋商通区别于所有竞品的基础商业逻辑。</a:t>
            </a:r>
          </a:p>
          <a:p>
            <a:endParaRPr lang="zh-CN" dirty="0"/>
          </a:p>
          <a:p>
            <a:r>
              <a:rPr lang="zh-CN" dirty="0"/>
              <a:t>• 本卷涵盖四大内容：两大体系（消费流转 + 权益互通）、三种业态分账比例（平台/联盟/电商）、三元营销参数（代金券/积分/消费金全平台通用）、盈亏平衡分析（40,500笔/月，净利率0.89%）。</a:t>
            </a:r>
          </a:p>
          <a:p>
            <a:r>
              <a:rPr lang="zh-CN" dirty="0"/>
              <a:t>• 所有商业参数均来自V3.2服务费结算模型，每一项都经过合规审查和财务模拟验证。</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链邦赋商通的商业模型由两大体系驱动：消费流转体系创造流量内循环，全生态会员权益互通体系锁定用户跨店价值——两套体系相互咬合，任一缺失，飞轮停转。</a:t>
            </a:r>
          </a:p>
          <a:p>
            <a:endParaRPr lang="zh-CN" dirty="0"/>
          </a:p>
          <a:p>
            <a:r>
              <a:rPr lang="zh-CN" dirty="0"/>
              <a:t>• 消费流转体系：平台商家 → 联盟商家 → 综合商城，软性优先级引导（搜索权重+2/0/-2），消费者可自由浏览所有商家，非强制路径。</a:t>
            </a:r>
          </a:p>
          <a:p>
            <a:r>
              <a:rPr lang="zh-CN" dirty="0"/>
              <a:t>• 权益互通体系：消费者在任一商家获得的代金券、积分、消费金，均可在全平台任意商家使用——"在A店获得、在B店使用"是核心壁垒。</a:t>
            </a:r>
          </a:p>
          <a:p>
            <a:r>
              <a:rPr lang="zh-CN" dirty="0"/>
              <a:t>• 两大体系的协同效应：消费流转为权益互通提供使用场景，权益互通为消费流转提供跨店驱动力——两者不是加法关系而是乘法关系。</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3.2服务费结算模型建立在六大核心原则之上——交易即结算、资金不落地、渠道成本先行扣除、剩余部分按比例分配、消费金不可兑现、跨店通兑不构成二清——六条原则共同构成了100%去金融中心化的资金闭环。</a:t>
            </a:r>
          </a:p>
          <a:p>
            <a:endParaRPr lang="zh-CN" dirty="0"/>
          </a:p>
          <a:p>
            <a:r>
              <a:rPr lang="zh-CN" dirty="0"/>
              <a:t>• 原则一"交易即结算"：只有真实交易发生时才产生服务费，这是从头开始的合规设计。</a:t>
            </a:r>
          </a:p>
          <a:p>
            <a:r>
              <a:rPr lang="zh-CN" dirty="0"/>
              <a:t>• 原则二"资金不落地"：所有资金经汇付直清，不经过平台自有账户——无资金池结构、无"类金融"风险。</a:t>
            </a:r>
          </a:p>
          <a:p>
            <a:r>
              <a:rPr lang="zh-CN" dirty="0"/>
              <a:t>• 原则三"渠道成本先行扣除"：汇付收单0.6%从交易额中优先扣除，剩余部分进入分账——平台不与渠道争利。</a:t>
            </a:r>
          </a:p>
          <a:p>
            <a:r>
              <a:rPr lang="zh-CN" dirty="0"/>
              <a:t>• 原则五"消费金不可兑现"：三条红线之一固化到模型参数中——任何情况下消费金只能用于消费抵扣。</a:t>
            </a:r>
          </a:p>
          <a:p>
            <a:r>
              <a:rPr lang="zh-CN" dirty="0"/>
              <a:t>• 原则六"跨店通兑不构成二清"：消费者在A店获得权益在B店使用，资金仍由汇付直清——无"二次清算"法律风险。</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三种业态对应三套分账比例——平台商家商家得75.4%，联盟商家商家得71.4%，综合商城商家得77.9%——商家的每一笔交易拿回绝大多数，平台的每一分收入都来自实际发生的交易服务费。</a:t>
            </a:r>
          </a:p>
          <a:p>
            <a:endParaRPr lang="zh-CN" dirty="0"/>
          </a:p>
          <a:p>
            <a:r>
              <a:rPr lang="zh-CN" dirty="0"/>
              <a:t>• 平台商家分账（汇付收单）：渠道0.6% + 商家75.4% + 平台5% + 服务站+推广者9% + 城市服务商1% + 消费金3% + 营销池4% + 风控备用金2% = 100%。</a:t>
            </a:r>
          </a:p>
          <a:p>
            <a:r>
              <a:rPr lang="zh-CN" dirty="0"/>
              <a:t>• 联盟商家分账：渠道0.6% + 商家71.4% + 平台渠道费4.5% + 平台5% + 服务站+推广者10% + 城市服务商1% + 消费金2% + 营销池3.5% + 风控备用金2% = 100%。</a:t>
            </a:r>
          </a:p>
          <a:p>
            <a:r>
              <a:rPr lang="zh-CN" dirty="0"/>
              <a:t>• 综合商城分账：渠道0.6% + 商家77.9% + 平台6% + 服务站+推广者6% + 城市服务商1% + 消费金3% + 营销池3.5% + 风控备用金2% = 100%。</a:t>
            </a:r>
          </a:p>
          <a:p>
            <a:r>
              <a:rPr lang="zh-CN" dirty="0"/>
              <a:t>• 三套比例的差异有精确的商业逻辑：联盟商家平台让利4.5%（渠道费），换取流量导入；综合商城商家拿得最高（77.9%），因为平台自营无外部推广分成。</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链邦赋商通的三元营销体系是"代金券 + 积分 + 消费金"——三者均实现全平台通用，由营销池统一结算——这是消费者跨店消费的动力引擎，也是商家最核心的经营工具。</a:t>
            </a:r>
          </a:p>
          <a:p>
            <a:endParaRPr lang="zh-CN" dirty="0"/>
          </a:p>
          <a:p>
            <a:r>
              <a:rPr lang="zh-CN" dirty="0"/>
              <a:t>• 代金券：5%发放率，30%抵扣上限，90天有效期，全平台通用——消费者在A店领的券，可以在B店使用，营销池统一核销。</a:t>
            </a:r>
          </a:p>
          <a:p>
            <a:r>
              <a:rPr lang="zh-CN" dirty="0"/>
              <a:t>• 积分：1:100兑换率（1元=100积分），20%抵扣上限，2年有效期，全平台通用——积分是商家回馈忠诚顾客的基础工具。</a:t>
            </a:r>
          </a:p>
          <a:p>
            <a:r>
              <a:rPr lang="zh-CN" dirty="0"/>
              <a:t>• 消费金：30%核销上限，12个月有效期，全平台通用——消费金来自平台营销活动和商家营销投入，不可充值、不可提现、不可转让。</a:t>
            </a:r>
          </a:p>
          <a:p>
            <a:r>
              <a:rPr lang="zh-CN" dirty="0"/>
              <a:t>• 全平台通用是三元营销的战略差异点——美团的优惠券只能在发券商家使用，我们的权益可以在全平台流转，这直接放大了消费权益的感知价值。</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链邦赋商通的盈亏平衡点为月交易40,500笔，对应净利率0.89%——这不是一个"暴利"的生意，这是一个"可持续"的生意，低利润率本身是竞争壁垒。</a:t>
            </a:r>
          </a:p>
          <a:p>
            <a:endParaRPr lang="zh-CN" dirty="0"/>
          </a:p>
          <a:p>
            <a:r>
              <a:rPr lang="zh-CN" dirty="0"/>
              <a:t>• 盈亏平衡计算基于V3.2模型参数：平台平均单笔服务费收入约X元，减去固定成本（技术运维、基础团队、合规风控）后，40,500笔/月达到盈亏平衡。</a:t>
            </a:r>
          </a:p>
          <a:p>
            <a:r>
              <a:rPr lang="zh-CN" dirty="0"/>
              <a:t>• 0.89%的净利率有两个战略含义：第一，我们不是来"割韭菜"的——低利润率意味着商家拿走了绝大部分价值；第二，低利润率让模仿者无利可图——没有规模优势的竞争者无法在这个利差下生存。</a:t>
            </a:r>
          </a:p>
          <a:p>
            <a:r>
              <a:rPr lang="zh-CN" dirty="0"/>
              <a:t>• 盈亏平衡后的利润弹性：交易量从40,500笔增长到100,000笔时，净利率从0.89%提升到约3.5%——规模效应显著。</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千面千店不是强制路径，而是软性优先级引导——消费者可以自由浏览所有商家，默认排序有优先级，但筛选、搜索、分类、地图可以找到任何商家——"引导"而非"控制"是千面千店的底层哲学。</a:t>
            </a:r>
          </a:p>
          <a:p>
            <a:endParaRPr lang="zh-CN" dirty="0"/>
          </a:p>
          <a:p>
            <a:r>
              <a:rPr lang="zh-CN" dirty="0"/>
              <a:t>• 平台商家：Premium布局，高信息密度，搜索加权+2，品牌认证蓝标——深度自定义（品牌色/故事/视频/相册）。</a:t>
            </a:r>
          </a:p>
          <a:p>
            <a:r>
              <a:rPr lang="zh-CN" dirty="0"/>
              <a:t>• 联盟商家：Standard布局，标准信息密度，搜索基准位，社区好店绿标——6套模板+轻定制（品牌色/横幅）。</a:t>
            </a:r>
          </a:p>
          <a:p>
            <a:r>
              <a:rPr lang="zh-CN" dirty="0"/>
              <a:t>• 综合商城：Minimal布局，极简密度，搜索加权-2，平台自营灰标——标准化模板，不可自定义。</a:t>
            </a:r>
          </a:p>
          <a:p>
            <a:r>
              <a:rPr lang="zh-CN" dirty="0"/>
              <a:t>• 软性优先级的设计逻辑：平台商家交更多服务费，理应获得更好的展示位置——这是公平的。但消费者权益不受限——这是底线。</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三级管理体系是链邦赋商通的组织答案——城市服务商（区域合伙人）管一城，服务站（社区节点）管一片，推广者（一线触达）管一街——每一级都有明确的利益分配和职责边界。</a:t>
            </a:r>
          </a:p>
          <a:p>
            <a:endParaRPr lang="zh-CN" dirty="0"/>
          </a:p>
          <a:p>
            <a:r>
              <a:rPr lang="zh-CN" dirty="0"/>
              <a:t>• 城市服务商：以城市为单位，获得1%交易额分成，负责区域策略、服务站招募和管理——区域合伙人是"老板"，不是"打工的"。</a:t>
            </a:r>
          </a:p>
          <a:p>
            <a:r>
              <a:rPr lang="zh-CN" dirty="0"/>
              <a:t>• 服务站：以社区为单位，与推广者共享9-10%佣金池（服务站35% : 推广者65%内部分配），负责社区运营和推广者管理。</a:t>
            </a:r>
          </a:p>
          <a:p>
            <a:r>
              <a:rPr lang="zh-CN" dirty="0"/>
              <a:t>• 推广者：以个体为单位，获得佣金池中65%的份额，负责一线商家拓展和消费者触达。</a:t>
            </a:r>
          </a:p>
          <a:p>
            <a:r>
              <a:rPr lang="zh-CN" dirty="0"/>
              <a:t>• 三级体系的战略价值：解决了本地化冷启动的"信任问题"——社区商家更信任住在社区里的人，而不是平台派来的"BD"。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卷二的关键数字一句话总结：两大体系驱动飞轮，六条原则保障合规，三种业态对应三套分账比例，商家平均拿回75%以上交易额，三元营销全平台通用，盈亏平衡40,500笔/月，净利率0.89%，三级管理解决本地信任问题，千面千店实现软性优先级引导。</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第三卷回答"我怎么做"——但在进入路线图之前，先说一个核心诊断：我们目前的状态是"战略资产过剩，组织资产归零"。这不是坏事——意味着没有错误路径的沉没成本，但执行端几乎一切要从零开始。</a:t>
            </a:r>
          </a:p>
          <a:p>
            <a:endParaRPr lang="zh-CN" dirty="0"/>
          </a:p>
          <a:p>
            <a:r>
              <a:rPr lang="zh-CN" dirty="0"/>
              <a:t>• 战略资产过剩：V3.2模型、合规框架、品牌价值体系、22轮推导——策略层面的储备远超同阶段创业公司。</a:t>
            </a:r>
          </a:p>
          <a:p>
            <a:r>
              <a:rPr lang="zh-CN" dirty="0"/>
              <a:t>• 组织资产归零：无团队、无试点、无运营SOP、无商家案例、无消费者数据——执行端的五个"零"。</a:t>
            </a:r>
          </a:p>
          <a:p>
            <a:r>
              <a:rPr lang="zh-CN" dirty="0"/>
              <a:t>• 卷三的任务只有一个：把战略资产转化为组织资产——从纸面上的正确，变成市场上的正确。</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在执行任何动作之前，必须先用五天时间填满信息黑洞——十二个关键问题涉及商家、消费者、推广者、竞品、社区五个维度——不知道答案就行动，等于蒙着眼睛跑百米。</a:t>
            </a:r>
          </a:p>
          <a:p>
            <a:endParaRPr lang="zh-CN" dirty="0"/>
          </a:p>
          <a:p>
            <a:r>
              <a:rPr lang="zh-CN" dirty="0"/>
              <a:t>• 十二个问题包括但不限于：试点社区商家最关心的三个问题是什么？他们的月均交易量和复购率是多少？消费者的社区消费半径是多大？他们为什么要离开美团来用我们？</a:t>
            </a:r>
          </a:p>
          <a:p>
            <a:r>
              <a:rPr lang="zh-CN" dirty="0"/>
              <a:t>• "填满信息黑洞"被列为"第〇段"而非"第一段"，是对常识的尊重——信息不对称是战略失败的第一原因。</a:t>
            </a:r>
          </a:p>
          <a:p>
            <a:r>
              <a:rPr lang="zh-CN" dirty="0"/>
              <a:t>• 五天时间不是拍脑袋：一天社区走访，一天商家访谈，一天消费者调研，一天竞品实地体验，一天数据整理和假设更新。</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第一段的目标不是"跑通商业模式"，而是"在一个试点社区内让飞轮转动一圈"——验证最小的那个闭环：一个商家用上了、一个消费者回来了、一次跨店权益使用了——三件事都发生，第一段才算完成。</a:t>
            </a:r>
          </a:p>
          <a:p>
            <a:endParaRPr lang="zh-CN" dirty="0"/>
          </a:p>
          <a:p>
            <a:r>
              <a:rPr lang="zh-CN" dirty="0"/>
              <a:t>• 试点社区选择标准：社区密度 &gt; 城市规模 &gt; 消费能力——密度保证了飞轮的转动频率，规模保证可复制性，消费能力反而是次要因素。</a:t>
            </a:r>
          </a:p>
          <a:p>
            <a:r>
              <a:rPr lang="zh-CN" dirty="0"/>
              <a:t>• 第一段不追求单量和GMV，追求的是"飞轮逻辑的现场验证"——工具好用吗？消费者愿意回来吗？权益真的跨店使用了吗？</a:t>
            </a:r>
          </a:p>
          <a:p>
            <a:r>
              <a:rPr lang="zh-CN" dirty="0"/>
              <a:t>• 第一段的预期产出：一份试点复盘报告，包含商家和消费者的真实反馈、飞轮各环节的转化率数据、以及进入第二段的Go/No-Go判断。</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第二段的核心是从"创始人亲自谈"切换到"推广者复制"——创始人可以攻下第一个商家，但攻不下第十个社区——推广者能否独立完成商家拓展，是第二段唯一的校验指标。</a:t>
            </a:r>
          </a:p>
          <a:p>
            <a:endParaRPr lang="zh-CN" dirty="0"/>
          </a:p>
          <a:p>
            <a:r>
              <a:rPr lang="zh-CN" dirty="0"/>
              <a:t>• 检验标准：推广者在没有创始人陪同的情况下，独立完成"拜访 → 说服 → 入驻 → 培训 → 首单"全流程，且商家满意度不低于创始人亲自谈的水平。</a:t>
            </a:r>
          </a:p>
          <a:p>
            <a:r>
              <a:rPr lang="zh-CN" dirty="0"/>
              <a:t>• 第二段需要产出的不是销售话术，而是一套可复制的方法论——包括商家筛选标准、标准拜访流程、常见异议处理库、入驻培训SOP。</a:t>
            </a:r>
          </a:p>
          <a:p>
            <a:r>
              <a:rPr lang="zh-CN" dirty="0"/>
              <a:t>• 第二段失败的第一原因：创始人放不了手——如果所有商家都是创始人签的，推广者永远长不大。</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第三段不投广告，做认知播种——品类传教士战略。花钱买流量是第三段最不应该做的事。品类是新的，教育市场的方式应该是"一个商家说服另一个商家"，而不是"一个广告说服一万个陌生人"。</a:t>
            </a:r>
          </a:p>
          <a:p>
            <a:endParaRPr lang="zh-CN" dirty="0"/>
          </a:p>
          <a:p>
            <a:r>
              <a:rPr lang="zh-CN" dirty="0"/>
              <a:t>• 品类传教士的三个动作：打造标杆商家案例（让商家自己说"用了之后复购率提高了多少"）、举办社区商家沙龙（面对面建立信任）、培育推广者成为品类布道者。</a:t>
            </a:r>
          </a:p>
          <a:p>
            <a:r>
              <a:rPr lang="zh-CN" dirty="0"/>
              <a:t>• 为什么不做广告？品类教育阶段，广告的ROI极低——消费者看到广告也无法理解"社区商业数字经营平台"是什么。但一个商家朋友的推荐，理解成本降为零。</a:t>
            </a:r>
          </a:p>
          <a:p>
            <a:r>
              <a:rPr lang="zh-CN" dirty="0"/>
              <a:t>• 第三段的度量指标不是曝光量，而是"自发转介绍率"——一个商家主动向另一个商家推荐链邦赋商通的比例。</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段序列的总原则是华为的"先开一枪，再开一炮，最后范弗里特弹药量"——第一段验证假设（枪），第二段验证可复制（炮），第三段验证可规模化（弹药量）——次序不可颠倒，跳过任何一段的直接结果就是"用炮打蚊子"或"用枪打阵地战"。</a:t>
            </a:r>
          </a:p>
          <a:p>
            <a:endParaRPr lang="zh-CN" dirty="0"/>
          </a:p>
          <a:p>
            <a:r>
              <a:rPr lang="zh-CN" dirty="0"/>
              <a:t>• "先开一枪"：最小成本、最小范围、最快验证——一个社区、一个商家、一次跨店使用。</a:t>
            </a:r>
          </a:p>
          <a:p>
            <a:r>
              <a:rPr lang="zh-CN" dirty="0"/>
              <a:t>• "再开一炮"：推广者复制验证——不是一个社区，是三到五个不同条件的社区，验证推广者方法的可迁移性。</a:t>
            </a:r>
          </a:p>
          <a:p>
            <a:r>
              <a:rPr lang="zh-CN" dirty="0"/>
              <a:t>• "范弗里特弹药量"：品类传教士 + 城市复制模型 + 规模化推广者招募和培训——资源饱和投入。</a:t>
            </a:r>
          </a:p>
          <a:p>
            <a:r>
              <a:rPr lang="zh-CN" dirty="0"/>
              <a:t>• 三段之间设明确的Go/No-Go决策节点——第一段飞轮没转起来，不进第二段；第二段推广者复制率不达标，不进第三段。</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预算顺序比预算金额更重要——公测期预算按三段分配：P1（验证）35%、P2（复制）40%、P3（播种）25%——钱不在多，在于花在正确的阶段做正确的事。</a:t>
            </a:r>
          </a:p>
          <a:p>
            <a:endParaRPr lang="zh-CN" dirty="0"/>
          </a:p>
          <a:p>
            <a:r>
              <a:rPr lang="zh-CN" dirty="0"/>
              <a:t>• P1阶段35%：大部分花在"人"上——试点运营人员、商家培训、消费者调研——验证阶段不需要物料，需要人。</a:t>
            </a:r>
          </a:p>
          <a:p>
            <a:r>
              <a:rPr lang="zh-CN" dirty="0"/>
              <a:t>• P2阶段40%：推广者招募和培训是最大支出——从一个人能复制，到十个人能复制，中间需要投入的是培训体系和激励机制。</a:t>
            </a:r>
          </a:p>
          <a:p>
            <a:r>
              <a:rPr lang="zh-CN" dirty="0"/>
              <a:t>• P3阶段25%：品类传教士的"武器"——标杆案例的制作和传播、社区沙龙的组织、推广者工具包的完善。</a:t>
            </a:r>
          </a:p>
          <a:p>
            <a:r>
              <a:rPr lang="zh-CN" dirty="0"/>
              <a:t>• 预算为什么不是倒三角形（P3最多）？因为品类教育阶段不需要广告——口碑和案例是最好的传播。广告是成熟品类的工具，不是新品类的工具。</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试点社区的选择三原则：社区密度大于城市规模大于消费能力——一个每平方公里有50家小店的城中村，比一个人均消费很高的别墅区更适合试点。</a:t>
            </a:r>
          </a:p>
          <a:p>
            <a:endParaRPr lang="zh-CN" dirty="0"/>
          </a:p>
          <a:p>
            <a:r>
              <a:rPr lang="zh-CN" dirty="0"/>
              <a:t>• 商业密度是飞轮转动频率的保证——小店越密集，跨店消费越容易发生，权益互通越有落地场景。</a:t>
            </a:r>
          </a:p>
          <a:p>
            <a:r>
              <a:rPr lang="zh-CN" dirty="0"/>
              <a:t>• 大城市的城中村、老城区、大学周边——同时满足高密度、高复购频率、强社区关系三个条件的区域是最优试点。</a:t>
            </a:r>
          </a:p>
          <a:p>
            <a:r>
              <a:rPr lang="zh-CN" dirty="0"/>
              <a:t>• 一个反直觉的洞察：高消费能力社区反而不适合试点——消费选择太多，对单一平台的依赖度低，飞轮更难验证。</a:t>
            </a:r>
          </a:p>
          <a:p>
            <a:r>
              <a:rPr lang="zh-CN" dirty="0"/>
              <a:t>• 试点社区的选择本身就是第一段的第一个关键决策——选错了试点，好的模型也会得出"验证失败"的错误结论。</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卷三的执行优先级一页纸：第〇段先填信息黑洞（5天），第一段验证飞轮（一个社区），第二段验证可复制（推广者独立拓店），第三段品类传教士（商家说服商家）——三段之间有Go/No-Go决策节点，预算按35:40:25分配，试点选高密度社区。</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四卷划定"什么不能做"——三条红线是生存条件，十六组合规术语是语言防线，消费金五不是操作底线，信息和假设清单是决策护栏——合规不是成本，是链邦赋商通的护城河。打破任何一条红线，项目生存权归零。</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三条红线不是建议，是生存条件——积分不可兑现、不可形成资金池、不可承诺收益——任何一条被突破，不是"被罚款"的问题，是"项目能否继续存在"的问题。</a:t>
            </a:r>
          </a:p>
          <a:p>
            <a:endParaRPr lang="zh-CN" dirty="0"/>
          </a:p>
          <a:p>
            <a:r>
              <a:rPr lang="zh-CN" dirty="0"/>
              <a:t>• 红线一"积分不可兑现"：积分只能用于平台内消费抵扣。一旦可兑现（哪怕是变相兑现），在法律上就构成金融产品，需要支付牌照。</a:t>
            </a:r>
          </a:p>
          <a:p>
            <a:r>
              <a:rPr lang="zh-CN" dirty="0"/>
              <a:t>• 红线二"不可形成资金池"：所有资金经汇付直清，不经过平台自有账户。无支付牌照形成资金池，直接触发非法集资风险。</a:t>
            </a:r>
          </a:p>
          <a:p>
            <a:r>
              <a:rPr lang="zh-CN" dirty="0"/>
              <a:t>• 红线三"不可承诺收益"：任何对外材料（网页、合同、宣传册、客服话术）不得出现"稳赚""躺赚""保底收益""月入X万"等表述。</a:t>
            </a:r>
          </a:p>
          <a:p>
            <a:r>
              <a:rPr lang="zh-CN" dirty="0"/>
              <a:t>• 三条红线的背后是具体的法律法规——《非银行支付机构监督管理条例》《防范和处置非法集资条例》《广告法》——每一条法律后果都明确可查，不存在灰色地带。</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语言即合规——十六组合规术语强制替换是链邦赋商通所有对外材料的语言编码规则，不是"建议"，是"强制"——用错一个词不是文笔问题，是合规事件。</a:t>
            </a:r>
          </a:p>
          <a:p>
            <a:endParaRPr lang="zh-CN" dirty="0"/>
          </a:p>
          <a:p>
            <a:r>
              <a:rPr lang="zh-CN" dirty="0"/>
              <a:t>• 核心替换："数字资产"→"消费权益"、"数字信用债券"→"商家营销额度"、"资产增值"→"权益升级"、"消费信用分"→"消费活跃度指数"。</a:t>
            </a:r>
          </a:p>
          <a:p>
            <a:r>
              <a:rPr lang="zh-CN" dirty="0"/>
              <a:t>• 金融敏感词杜绝："分润算法优化引擎"→"商家服务费计算规则"、"收益/盈利"→"服务费/增收"、"红利/增值回报"→"权益升级/消费权益"。</a:t>
            </a:r>
          </a:p>
          <a:p>
            <a:r>
              <a:rPr lang="zh-CN" dirty="0"/>
              <a:t>• 资本化词汇禁止："资本(化)"→"资源/产业"、"变现"→"转化"、"创业"→"参与/开展推广"。</a:t>
            </a:r>
          </a:p>
          <a:p>
            <a:r>
              <a:rPr lang="zh-CN" dirty="0"/>
              <a:t>• 区块链/加密货币相关词零容忍："币""Token""通证""数字资产交易"——这些词汇出现在任何对外材料中，将直接触发监管关注。</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消费金执行五不原则——不可充值、不可提现、不可转让、不可买卖、不可兑现——五不是消费金的法律安全边界，也是它与"预付卡""数字货币"的本质区别。</a:t>
            </a:r>
          </a:p>
          <a:p>
            <a:endParaRPr lang="zh-CN" dirty="0"/>
          </a:p>
          <a:p>
            <a:r>
              <a:rPr lang="zh-CN" dirty="0"/>
              <a:t>• "不可充值"是关键——消费金的唯一来源是平台营销活动和商家营销投入，消费者不能主动"存钱进去"，这就从根本上切断了资金池形成的可能。</a:t>
            </a:r>
          </a:p>
          <a:p>
            <a:r>
              <a:rPr lang="zh-CN" dirty="0"/>
              <a:t>• "不可提现"意味着消费金只能以消费抵扣的方式"消耗"——这是它与现金的根本区别，也是它不构成支付工具的法律依据。</a:t>
            </a:r>
          </a:p>
          <a:p>
            <a:r>
              <a:rPr lang="zh-CN" dirty="0"/>
              <a:t>• "不可转让/买卖"切断了消费金的二级市场可能——消费金绑定的不是"账户"，是"消费行为"，一旦可以交易就变成了类金融产品。</a:t>
            </a:r>
          </a:p>
          <a:p>
            <a:r>
              <a:rPr lang="zh-CN" dirty="0"/>
              <a:t>• 五不原则不是限制消费金的营销价值，而是划定它的法律身份——只要守住五不，消费金在法律上就是"营销赠品"而非"支付工具"。</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十三个信息黑洞代表十三个"不知道就会犯错"的盲区——每一条都标注了信息类型、关键程度和获取难度，团队在行动前必须逐条打勾确认。</a:t>
            </a:r>
          </a:p>
          <a:p>
            <a:endParaRPr lang="zh-CN" dirty="0"/>
          </a:p>
          <a:p>
            <a:r>
              <a:rPr lang="zh-CN" dirty="0"/>
              <a:t>• 信息黑洞覆盖四个维度：监管政策不确定性（如支付牌照具体适用范围）、竞品动态（如美团/抖音本地生活最新动作）、消费者行为（如社区消费决策的真实驱动因素）、合作伙伴信誉（如汇付合作的稳定性评估）。</a:t>
            </a:r>
          </a:p>
          <a:p>
            <a:r>
              <a:rPr lang="zh-CN" dirty="0"/>
              <a:t>• 每个信息黑洞都有明确的责任人和预期获取时间——信息不确认不进下一阶段。</a:t>
            </a:r>
          </a:p>
          <a:p>
            <a:r>
              <a:rPr lang="zh-CN" dirty="0"/>
              <a:t>• "不知道"不是问题，"不知道自己不知道"才是问题——十三黑的重要价值在于把隐性无知变为显性待确认项，降低"无知之错"的概率。</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链邦赋商通的商业模型建立在七个关键假设之上——每一个假设都标注了验证方法和Plan B——假设验证失败不等于项目失败，没有Plan B的假设才是真正的风险。</a:t>
            </a:r>
          </a:p>
          <a:p>
            <a:endParaRPr lang="zh-CN" dirty="0"/>
          </a:p>
          <a:p>
            <a:r>
              <a:rPr lang="zh-CN" dirty="0"/>
              <a:t>• 七个假设涵盖：消费者跨店使用率、商家对"不控制流量"的真实意愿、推广者招募难度和留存率、社区密度的复制可行性、三元营销的实际使用率、汇付合作的稳定性和费率、监管政策的友好度。</a:t>
            </a:r>
          </a:p>
          <a:p>
            <a:r>
              <a:rPr lang="zh-CN" dirty="0"/>
              <a:t>• 每个假设都有明确的验证标准——在什么数据下假设"成立"，什么数据下假设"不成立"，什么数据下需要"修正模型后再验证"。</a:t>
            </a:r>
          </a:p>
          <a:p>
            <a:r>
              <a:rPr lang="zh-CN" dirty="0"/>
              <a:t>• Plan B的设计原则：不改变核心定位（社区商业数字经营平台），但可以调整执行参数（如调整推广者佣金比例、调整试点社区类型、调整广告语侧重点）。</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风险矩阵识别了八项已识别风险——每一项都有风险等级（高/中/低）、发生概率、影响程度和已配对的缓解措施——全景无遗漏，每一项都有明确的应对方案。</a:t>
            </a:r>
          </a:p>
          <a:p>
            <a:endParaRPr lang="zh-CN" dirty="0"/>
          </a:p>
          <a:p>
            <a:r>
              <a:rPr lang="zh-CN" dirty="0"/>
              <a:t>• 高风险项集中在合规领域：监管政策突变（如支付牌照规则收紧）和资金模型被误读为"二清"——这两个风险的发生概率不高，但影响是毁灭性的，必须有预案。</a:t>
            </a:r>
          </a:p>
          <a:p>
            <a:r>
              <a:rPr lang="zh-CN" dirty="0"/>
              <a:t>• 中风险项集中在执行领域：推广者招募不及预期、商家入驻意愿低于假设、试点社区选择失误——这些风险有调整空间，不会摧毁项目。</a:t>
            </a:r>
          </a:p>
          <a:p>
            <a:r>
              <a:rPr lang="zh-CN" dirty="0"/>
              <a:t>• 风险矩阵不是"做出来就完了"的文件——它是活文档，每两周更新一次，每次试点复盘同步刷新概率评估和应对措施。</a:t>
            </a:r>
          </a:p>
          <a:p>
            <a:r>
              <a:rPr lang="zh-CN" dirty="0"/>
              <a:t>• 一个已识别且有预案的风险，不是风险——是不可预见的黑天鹅才是真正的威胁。</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卷四的合规底线一页纸：三条红线（积分不兑现/无资金池/不承诺收益）是生存前提，十六组合规术语是语言防线，消费金五不（不可充值·提现·转让·买卖·兑现）是操作底线，十三黑加七假设是决策护栏——用错一个词就是合规事件，碰一条红线项目归零。</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二十二轮战略推导是链邦赋商通品牌战略的完整推导链——从"社区商业存在什么空白"到"链邦赋商通·链生活双品牌架构"——每一个关键判断都可以回溯到具体轮次中的具体讨论，推导过程完整可审计。</a:t>
            </a:r>
          </a:p>
          <a:p>
            <a:endParaRPr lang="zh-CN" dirty="0"/>
          </a:p>
          <a:p>
            <a:r>
              <a:rPr lang="zh-CN" dirty="0"/>
              <a:t>• 推导链的核心节点包括：生态位锁定（第1-4轮）、品类定义权（第5-8轮）、品牌价值体系搭建（第9-14轮）、商业模型设计（第15-18轮）、执行路线图（第19-21轮）、合规框架（第22轮）。</a:t>
            </a:r>
          </a:p>
          <a:p>
            <a:r>
              <a:rPr lang="zh-CN" dirty="0"/>
              <a:t>• 二十二轮不是线性的——中间有多次回退和修正，例如品牌命名从V2推倒重来到V3再到V4再到"赋商"方案，最终落地"链邦赋商通"。</a:t>
            </a:r>
          </a:p>
          <a:p>
            <a:r>
              <a:rPr lang="zh-CN" dirty="0"/>
              <a:t>• 这份附录的战略价值在于：对内，团队理解"为什么是这个结论"；对外，投资人和合作伙伴可以审视推导逻辑的严密性。</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八家竞品分析的核心结论：没有直接竞品。美团/饿了么是交易效率平台，有赞/微盟是SaaS工具，抖音本地生活是内容流量平台，社区团购是供应链效率模型——没有一家在做"帮商家沉淀经营关系"这件事。</a:t>
            </a:r>
          </a:p>
          <a:p>
            <a:endParaRPr lang="zh-CN" dirty="0"/>
          </a:p>
          <a:p>
            <a:r>
              <a:rPr lang="zh-CN" dirty="0"/>
              <a:t>• 八家竞品：美团、饿了么、抖音本地生活、有赞、微盟、兴盛优选（社区团购代表）、京东到家、口碑——覆盖本地生活、SaaS、内容流量、供应链四大品类。</a:t>
            </a:r>
          </a:p>
          <a:p>
            <a:r>
              <a:rPr lang="zh-CN" dirty="0"/>
              <a:t>• 竞品雷达图对比维度：交易效率、商家自主权、消费者权益持续性、跨店互通性、关系沉淀能力、合规框架——链邦赋商通在"关系沉淀"和"跨店互通"两个维度上遥遥领先，但在"交易效率"上弱于美团。</a:t>
            </a:r>
          </a:p>
          <a:p>
            <a:r>
              <a:rPr lang="zh-CN" dirty="0"/>
              <a:t>• "没有直接竞品"既是机会也是风险：机会在于蓝海定位，风险在于市场需要品类教育——没人做过的事，消费者和商家都不会主动找你。</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每一个策略判断都能溯源到具体方法论——包括波特五力、SWOT分析、《新品牌命名核心元素》（品牌命名方法论）、C+品类占位模型、《本地生活平台的命名逻辑》、华为"先开一枪"原则、《品牌全案策略指南2.0》等——方法论溯源让策略判断不再是"我觉得"，而是"按照这个框架推导出来"。</a:t>
            </a:r>
          </a:p>
          <a:p>
            <a:endParaRPr lang="zh-CN" dirty="0"/>
          </a:p>
          <a:p>
            <a:r>
              <a:rPr lang="zh-CN" dirty="0"/>
              <a:t>• 方法论溯源的核心价值在于"可证伪性"——如果你不同意结论，你可以顺着方法论往回追，找到分歧的具体节点。</a:t>
            </a:r>
          </a:p>
          <a:p>
            <a:r>
              <a:rPr lang="zh-CN" dirty="0"/>
              <a:t>• 使用的核心方法论包括：品类定义权理论（定位学派）、品牌价值画布（品牌识别学派）、华为三段式验证方法论（执行学派）、以及链邦赋商通自研的C+四层品类占位模型。</a:t>
            </a:r>
          </a:p>
          <a:p>
            <a:r>
              <a:rPr lang="zh-CN" dirty="0"/>
              <a:t>• 自研的C+模型在附录中有完整说明——它不仅适用于链邦赋商通，也可作为其他B2B平台型品牌的品类占位工具。</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八个关键决策的决策记录——每个决策都包含"决策内容""决策依据""替代方案""为什么没选替代方案""决策日期""决策人"六个字段——这是链邦赋商通品牌的决策审计日志。</a:t>
            </a:r>
          </a:p>
          <a:p>
            <a:endParaRPr lang="zh-CN" dirty="0"/>
          </a:p>
          <a:p>
            <a:r>
              <a:rPr lang="zh-CN" dirty="0"/>
              <a:t>• 八大关键决策包括：品牌定位确定为B端经营工具而非C端消费平台、品牌名称选定"链邦赋商通"、服务费结算模型采用"交易即结算"原则、品类定义选择"社区商业数字经营平台"、视觉方向确定"傍晚六点半的社区商业街"、品牌人格确定为"老街坊组织者"、执行路线采用三段式验证序列、合规框架设定三条红线。</a:t>
            </a:r>
          </a:p>
          <a:p>
            <a:r>
              <a:rPr lang="zh-CN" dirty="0"/>
              <a:t>• 每个决策都附替代方案：例如，如果品牌定位选C端消费平台，替代方案是"链生活·社区消费会员平台"——为什么没选？因为C端定位意味着和美团正面竞争，而我们没有流量优势。</a:t>
            </a:r>
          </a:p>
          <a:p>
            <a:r>
              <a:rPr lang="zh-CN" dirty="0"/>
              <a:t>• 决策审计日志的存在本身就是一种公司治理能力——它证明了品牌决策不是创始人拍脑袋，而是有据可查的方法论驱动过程。</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截至2026年6月18日，链邦赋商通已完成十二项内容资产——覆盖品牌策略、商业模型、营销方案、执行计划和合规框架——这些资产是"战略资产过剩"的具体体现，也是进入执行阶段的弹药库。</a:t>
            </a:r>
          </a:p>
          <a:p>
            <a:endParaRPr lang="zh-CN" dirty="0"/>
          </a:p>
          <a:p>
            <a:r>
              <a:rPr lang="zh-CN" dirty="0"/>
              <a:t>• 十二项资产包括：品牌全案工作计划表、22轮推导记录、V3.2服务费结算模型文档、三元营销策略方案、商业模型可视化（思维导图+动态指标）、XMind思维导图、企业形象画册策划简报（V3.0 40页版）、品牌执行手册、品牌命名方案（V4.0）、修正脚本（宣传册合规审查）、多角色评估报告、以及这份品牌战略总案本身。</a:t>
            </a:r>
          </a:p>
          <a:p>
            <a:r>
              <a:rPr lang="zh-CN" dirty="0"/>
              <a:t>• 每项资产都有明确的文件名和输出路径，附录E提供了完整的索引——任何团队成员都可以按图索骥，找到需要的具体文档。</a:t>
            </a:r>
          </a:p>
          <a:p>
            <a:r>
              <a:rPr lang="zh-CN" dirty="0"/>
              <a:t>• 十二项资产的价值不在于数量，而在于它们共同构成了一套完整的品牌知识库——新人入职的学习材料、投资人尽调的支持文件、合作伙伴的合作依据，都可以在知识库中找到。</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七项下一步行动——从总案审阅和反馈收集开始，到知识库同步和后续任务规划结束——每一项都有明确的责任人、截止时间和交付标准。</a:t>
            </a:r>
          </a:p>
          <a:p>
            <a:endParaRPr lang="zh-CN" dirty="0"/>
          </a:p>
          <a:p>
            <a:r>
              <a:rPr lang="zh-CN" dirty="0"/>
              <a:t>• 行动一：创始人及核心团队审阅本总案，标注所有需要修正、补充或确认的内容（特别是P15品牌故事的真实素材）。</a:t>
            </a:r>
          </a:p>
          <a:p>
            <a:r>
              <a:rPr lang="zh-CN" dirty="0"/>
              <a:t>• 行动二：确认试点社区选择，启动第〇段信息补全（12个问题，5天）。</a:t>
            </a:r>
          </a:p>
          <a:p>
            <a:r>
              <a:rPr lang="zh-CN" dirty="0"/>
              <a:t>• 行动三：商标注册进度跟进——"链邦赋商通"第35/42/9类审批状态、费用支付确认。</a:t>
            </a:r>
          </a:p>
          <a:p>
            <a:r>
              <a:rPr lang="zh-CN" dirty="0"/>
              <a:t>• 行动四：知识库同步——将本总案的核心内容同步到CLAUDE.md和Memory系统，确保后续对话自动加载关键参数。</a:t>
            </a:r>
          </a:p>
          <a:p>
            <a:r>
              <a:rPr lang="zh-CN" dirty="0"/>
              <a:t>• 行动五：准备公测期的最小可用版本（MVP）功能清单和技术排期。</a:t>
            </a:r>
          </a:p>
          <a:p>
            <a:r>
              <a:rPr lang="zh-CN" dirty="0"/>
              <a:t>• 行动六：招募试点社区的首批推广者（目标3-5人）。</a:t>
            </a:r>
          </a:p>
          <a:p>
            <a:r>
              <a:rPr lang="zh-CN" dirty="0"/>
              <a:t>• 行动七：确定公测启动日期和第一段完成时间表。</a:t>
            </a:r>
          </a:p>
          <a:p>
            <a:r>
              <a:rPr lang="zh-CN" dirty="0"/>
              <a:t>• 七项行动的共同特征：每一项都有明确的可验证产出，"做了"就是"做了"，不存在"差不多做了"的灰色地带。</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链邦赋商通，让每一家认真经营的小店，不再从零开始经营每一天。战略文件的终点不是漂亮的PPT，而是决策和行动。感谢各位的时间。</a:t>
            </a:r>
          </a:p>
          <a:p>
            <a:endParaRPr lang="zh-CN" dirty="0"/>
          </a:p>
          <a:p>
            <a:r>
              <a:rPr lang="zh-CN" dirty="0"/>
              <a:t>• 这份总案由企业宣传策划专员梁君衡完成，广东链邦科技有限公司，2026年6月18日。</a:t>
            </a:r>
          </a:p>
          <a:p>
            <a:r>
              <a:rPr lang="zh-CN" dirty="0"/>
              <a:t>• 下一步清单已在附录F中列明——期待各位的反馈和确认。</a:t>
            </a:r>
          </a:p>
          <a:p>
            <a:r>
              <a:rPr lang="zh-CN" dirty="0"/>
              <a:t>• 让我们开始行动。</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12192000" cy="6858000"/>
          </a:xfrm>
          <a:prstGeom prst="rect">
            <a:avLst/>
          </a:prstGeom>
          <a:gradFill>
            <a:gsLst>
              <a:gs pos="0">
                <a:srgbClr val="E67E22">
                  <a:alpha val="10000"/>
                </a:srgbClr>
              </a:gs>
              <a:gs pos="40000">
                <a:srgbClr val="FAFAF5">
                  <a:alpha val="0"/>
                </a:srgbClr>
              </a:gs>
              <a:gs pos="100000">
                <a:srgbClr val="1A5276">
                  <a:alpha val="12000"/>
                </a:srgbClr>
              </a:gs>
            </a:gsLst>
            <a:lin ang="2700000" scaled="1"/>
          </a:gradFill>
          <a:ln>
            <a:noFill/>
          </a:ln>
        </p:spPr>
      </p:sp>
      <p:sp>
        <p:nvSpPr>
          <p:cNvPr id="4" name="Ellipse 4"/>
          <p:cNvSpPr/>
          <p:nvPr/>
        </p:nvSpPr>
        <p:spPr>
          <a:xfrm>
            <a:off x="2286000" y="-952500"/>
            <a:ext cx="7620000" cy="7620000"/>
          </a:xfrm>
          <a:prstGeom prst="ellipse">
            <a:avLst/>
          </a:prstGeom>
          <a:gradFill>
            <a:gsLst>
              <a:gs pos="0">
                <a:srgbClr val="E67E22">
                  <a:alpha val="6000"/>
                </a:srgbClr>
              </a:gs>
              <a:gs pos="100000">
                <a:srgbClr val="FAFAF5">
                  <a:alpha val="0"/>
                </a:srgbClr>
              </a:gs>
            </a:gsLst>
            <a:path path="circle">
              <a:fillToRect l="50000" t="50000" r="50000" b="50000"/>
            </a:path>
          </a:gradFill>
          <a:ln>
            <a:noFill/>
          </a:ln>
        </p:spPr>
      </p:sp>
      <p:sp>
        <p:nvSpPr>
          <p:cNvPr id="5" name="Rectangle 5"/>
          <p:cNvSpPr/>
          <p:nvPr/>
        </p:nvSpPr>
        <p:spPr>
          <a:xfrm>
            <a:off x="5143500" y="2190750"/>
            <a:ext cx="1905000" cy="38100"/>
          </a:xfrm>
          <a:prstGeom prst="roundRect">
            <a:avLst>
              <a:gd name="adj" fmla="val 50000"/>
            </a:avLst>
          </a:prstGeom>
          <a:gradFill>
            <a:gsLst>
              <a:gs pos="0">
                <a:srgbClr val="E67E22"/>
              </a:gs>
              <a:gs pos="100000">
                <a:srgbClr val="1A5276"/>
              </a:gs>
            </a:gsLst>
            <a:lin ang="0" scaled="1"/>
          </a:gradFill>
          <a:ln>
            <a:noFill/>
          </a:ln>
        </p:spPr>
      </p:sp>
      <p:grpSp>
        <p:nvGrpSpPr>
          <p:cNvPr id="7" name="Group 7"/>
          <p:cNvGrpSpPr/>
          <p:nvPr/>
        </p:nvGrpSpPr>
        <p:grpSpPr>
          <a:xfrm>
            <a:off x="2568288" y="2369820"/>
            <a:ext cx="7055425" cy="1097280"/>
            <a:chOff x="2568288" y="2369820"/>
            <a:chExt cx="7055425" cy="1097280"/>
          </a:xfrm>
        </p:grpSpPr>
        <p:sp>
          <p:nvSpPr>
            <p:cNvPr id="6" name="TextBox 6"/>
            <p:cNvSpPr txBox="1"/>
            <p:nvPr/>
          </p:nvSpPr>
          <p:spPr>
            <a:xfrm>
              <a:off x="2568288" y="2369820"/>
              <a:ext cx="7055425" cy="1097280"/>
            </a:xfrm>
            <a:prstGeom prst="rect">
              <a:avLst/>
            </a:prstGeom>
            <a:noFill/>
            <a:ln>
              <a:noFill/>
            </a:ln>
          </p:spPr>
          <p:txBody>
            <a:bodyPr wrap="none" lIns="0" tIns="0" rIns="0" bIns="0" anchor="t" anchorCtr="0">
              <a:spAutoFit/>
            </a:bodyPr>
            <a:lstStyle/>
            <a:p>
              <a:pPr algn="ctr"/>
              <a:r>
                <a:rPr lang="zh-CN" sz="5400" b="1" dirty="0">
                  <a:solidFill>
                    <a:srgbClr val="2C2C2C"/>
                  </a:solidFill>
                  <a:latin typeface="Georgia"/>
                  <a:ea typeface="KaiTi"/>
                  <a:cs typeface="Georgia"/>
                </a:rPr>
                <a:t>链邦赋商通 · 链生活</a:t>
              </a:r>
            </a:p>
          </p:txBody>
        </p:sp>
      </p:grpSp>
      <p:grpSp>
        <p:nvGrpSpPr>
          <p:cNvPr id="9" name="Group 9"/>
          <p:cNvGrpSpPr/>
          <p:nvPr/>
        </p:nvGrpSpPr>
        <p:grpSpPr>
          <a:xfrm>
            <a:off x="5252133" y="3313748"/>
            <a:ext cx="1687735" cy="396240"/>
            <a:chOff x="5252133" y="3313748"/>
            <a:chExt cx="1687735" cy="396240"/>
          </a:xfrm>
        </p:grpSpPr>
        <p:sp>
          <p:nvSpPr>
            <p:cNvPr id="8" name="TextBox 8"/>
            <p:cNvSpPr txBox="1"/>
            <p:nvPr/>
          </p:nvSpPr>
          <p:spPr>
            <a:xfrm>
              <a:off x="5252133" y="3313748"/>
              <a:ext cx="1687735" cy="396240"/>
            </a:xfrm>
            <a:prstGeom prst="rect">
              <a:avLst/>
            </a:prstGeom>
            <a:noFill/>
            <a:ln>
              <a:noFill/>
            </a:ln>
          </p:spPr>
          <p:txBody>
            <a:bodyPr wrap="none" lIns="0" tIns="0" rIns="0" bIns="0" anchor="t" anchorCtr="0">
              <a:spAutoFit/>
            </a:bodyPr>
            <a:lstStyle/>
            <a:p>
              <a:pPr algn="ctr"/>
              <a:r>
                <a:rPr lang="zh-CN" sz="1950" b="1" dirty="0">
                  <a:solidFill>
                    <a:srgbClr val="E67E22"/>
                  </a:solidFill>
                  <a:latin typeface="Arial"/>
                  <a:ea typeface="Microsoft YaHei"/>
                  <a:cs typeface="Arial"/>
                </a:rPr>
                <a:t>品牌战略总案</a:t>
              </a:r>
            </a:p>
          </p:txBody>
        </p:sp>
      </p:grpSp>
      <p:grpSp>
        <p:nvGrpSpPr>
          <p:cNvPr id="11" name="Group 11"/>
          <p:cNvGrpSpPr/>
          <p:nvPr/>
        </p:nvGrpSpPr>
        <p:grpSpPr>
          <a:xfrm>
            <a:off x="4908709" y="3854768"/>
            <a:ext cx="2374582" cy="274320"/>
            <a:chOff x="4908709" y="3854768"/>
            <a:chExt cx="2374582" cy="274320"/>
          </a:xfrm>
        </p:grpSpPr>
        <p:sp>
          <p:nvSpPr>
            <p:cNvPr id="10" name="TextBox 10"/>
            <p:cNvSpPr txBox="1"/>
            <p:nvPr/>
          </p:nvSpPr>
          <p:spPr>
            <a:xfrm>
              <a:off x="4908709" y="3854768"/>
              <a:ext cx="2374582"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a:ea typeface="Microsoft YaHei"/>
                  <a:cs typeface="Arial"/>
                </a:rPr>
                <a:t>面向社区商业的数字经营平台</a:t>
              </a:r>
            </a:p>
          </p:txBody>
        </p:sp>
      </p:grpSp>
      <p:grpSp>
        <p:nvGrpSpPr>
          <p:cNvPr id="20" name="Group 20"/>
          <p:cNvGrpSpPr/>
          <p:nvPr/>
        </p:nvGrpSpPr>
        <p:grpSpPr>
          <a:xfrm>
            <a:off x="1762125" y="4429125"/>
            <a:ext cx="8334375" cy="342900"/>
            <a:chOff x="1762125" y="4429125"/>
            <a:chExt cx="8334375" cy="342900"/>
          </a:xfrm>
        </p:grpSpPr>
        <p:sp>
          <p:nvSpPr>
            <p:cNvPr id="12" name="Rectangle 12"/>
            <p:cNvSpPr/>
            <p:nvPr/>
          </p:nvSpPr>
          <p:spPr>
            <a:xfrm>
              <a:off x="1762125" y="4429125"/>
              <a:ext cx="1905000" cy="342900"/>
            </a:xfrm>
            <a:prstGeom prst="roundRect">
              <a:avLst>
                <a:gd name="adj" fmla="val 50000"/>
              </a:avLst>
            </a:prstGeom>
            <a:solidFill>
              <a:srgbClr val="F0EDE8">
                <a:alpha val="80000"/>
              </a:srgbClr>
            </a:solidFill>
            <a:ln>
              <a:noFill/>
            </a:ln>
          </p:spPr>
        </p:sp>
        <p:sp>
          <p:nvSpPr>
            <p:cNvPr id="13" name="TextBox 13"/>
            <p:cNvSpPr txBox="1"/>
            <p:nvPr/>
          </p:nvSpPr>
          <p:spPr>
            <a:xfrm>
              <a:off x="2250281" y="4526756"/>
              <a:ext cx="928688"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商户独立经营</a:t>
              </a:r>
            </a:p>
          </p:txBody>
        </p:sp>
        <p:sp>
          <p:nvSpPr>
            <p:cNvPr id="14" name="Rectangle 14"/>
            <p:cNvSpPr/>
            <p:nvPr/>
          </p:nvSpPr>
          <p:spPr>
            <a:xfrm>
              <a:off x="3905250" y="4429125"/>
              <a:ext cx="1905000" cy="342900"/>
            </a:xfrm>
            <a:prstGeom prst="roundRect">
              <a:avLst>
                <a:gd name="adj" fmla="val 50000"/>
              </a:avLst>
            </a:prstGeom>
            <a:solidFill>
              <a:srgbClr val="F0EDE8">
                <a:alpha val="80000"/>
              </a:srgbClr>
            </a:solidFill>
            <a:ln>
              <a:noFill/>
            </a:ln>
          </p:spPr>
        </p:sp>
        <p:sp>
          <p:nvSpPr>
            <p:cNvPr id="15" name="TextBox 15"/>
            <p:cNvSpPr txBox="1"/>
            <p:nvPr/>
          </p:nvSpPr>
          <p:spPr>
            <a:xfrm>
              <a:off x="4393406" y="4526756"/>
              <a:ext cx="928688"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生态会员互通</a:t>
              </a:r>
            </a:p>
          </p:txBody>
        </p:sp>
        <p:sp>
          <p:nvSpPr>
            <p:cNvPr id="16" name="Rectangle 16"/>
            <p:cNvSpPr/>
            <p:nvPr/>
          </p:nvSpPr>
          <p:spPr>
            <a:xfrm>
              <a:off x="6048375" y="4429125"/>
              <a:ext cx="1905000" cy="342900"/>
            </a:xfrm>
            <a:prstGeom prst="roundRect">
              <a:avLst>
                <a:gd name="adj" fmla="val 50000"/>
              </a:avLst>
            </a:prstGeom>
            <a:solidFill>
              <a:srgbClr val="F0EDE8">
                <a:alpha val="80000"/>
              </a:srgbClr>
            </a:solidFill>
            <a:ln>
              <a:noFill/>
            </a:ln>
          </p:spPr>
        </p:sp>
        <p:sp>
          <p:nvSpPr>
            <p:cNvPr id="17" name="TextBox 17"/>
            <p:cNvSpPr txBox="1"/>
            <p:nvPr/>
          </p:nvSpPr>
          <p:spPr>
            <a:xfrm>
              <a:off x="6536531" y="4526756"/>
              <a:ext cx="928688"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消费权益流转</a:t>
              </a:r>
            </a:p>
          </p:txBody>
        </p:sp>
        <p:sp>
          <p:nvSpPr>
            <p:cNvPr id="18" name="Rectangle 18"/>
            <p:cNvSpPr/>
            <p:nvPr/>
          </p:nvSpPr>
          <p:spPr>
            <a:xfrm>
              <a:off x="8191500" y="4429125"/>
              <a:ext cx="1905000" cy="342900"/>
            </a:xfrm>
            <a:prstGeom prst="roundRect">
              <a:avLst>
                <a:gd name="adj" fmla="val 50000"/>
              </a:avLst>
            </a:prstGeom>
            <a:solidFill>
              <a:srgbClr val="F0EDE8">
                <a:alpha val="80000"/>
              </a:srgbClr>
            </a:solidFill>
            <a:ln>
              <a:noFill/>
            </a:ln>
          </p:spPr>
        </p:sp>
        <p:sp>
          <p:nvSpPr>
            <p:cNvPr id="19" name="TextBox 19"/>
            <p:cNvSpPr txBox="1"/>
            <p:nvPr/>
          </p:nvSpPr>
          <p:spPr>
            <a:xfrm>
              <a:off x="8679656" y="4526756"/>
              <a:ext cx="928688"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真实交易激励</a:t>
              </a:r>
            </a:p>
          </p:txBody>
        </p:sp>
      </p:grpSp>
      <p:grpSp>
        <p:nvGrpSpPr>
          <p:cNvPr id="24" name="Group 24"/>
          <p:cNvGrpSpPr/>
          <p:nvPr/>
        </p:nvGrpSpPr>
        <p:grpSpPr>
          <a:xfrm>
            <a:off x="3238500" y="6048375"/>
            <a:ext cx="5715000" cy="616744"/>
            <a:chOff x="3238500" y="6048375"/>
            <a:chExt cx="5715000" cy="616744"/>
          </a:xfrm>
        </p:grpSpPr>
        <p:sp>
          <p:nvSpPr>
            <p:cNvPr id="21" name="Line 21"/>
            <p:cNvSpPr/>
            <p:nvPr/>
          </p:nvSpPr>
          <p:spPr>
            <a:xfrm>
              <a:off x="3238500" y="6048375"/>
              <a:ext cx="5715000" cy="9525"/>
            </a:xfrm>
            <a:custGeom>
              <a:avLst/>
              <a:gdLst/>
              <a:ahLst/>
              <a:cxnLst/>
              <a:rect l="l" t="t" r="r" b="b"/>
              <a:pathLst>
                <a:path w="5715000" h="9525">
                  <a:moveTo>
                    <a:pt x="0" y="0"/>
                  </a:moveTo>
                  <a:lnTo>
                    <a:pt x="5715000" y="0"/>
                  </a:lnTo>
                </a:path>
              </a:pathLst>
            </a:custGeom>
            <a:noFill/>
            <a:ln w="9525">
              <a:solidFill>
                <a:srgbClr val="D4A574"/>
              </a:solidFill>
            </a:ln>
          </p:spPr>
        </p:sp>
        <p:sp>
          <p:nvSpPr>
            <p:cNvPr id="22" name="TextBox 22"/>
            <p:cNvSpPr txBox="1"/>
            <p:nvPr/>
          </p:nvSpPr>
          <p:spPr>
            <a:xfrm>
              <a:off x="4997529" y="6220778"/>
              <a:ext cx="2196941" cy="213360"/>
            </a:xfrm>
            <a:prstGeom prst="rect">
              <a:avLst/>
            </a:prstGeom>
            <a:noFill/>
            <a:ln>
              <a:noFill/>
            </a:ln>
          </p:spPr>
          <p:txBody>
            <a:bodyPr wrap="none" lIns="0" tIns="0" rIns="0" bIns="0" anchor="t" anchorCtr="0">
              <a:spAutoFit/>
            </a:bodyPr>
            <a:lstStyle/>
            <a:p>
              <a:pPr algn="ctr"/>
              <a:r>
                <a:rPr lang="zh-CN" sz="1050" dirty="0">
                  <a:solidFill>
                    <a:srgbClr val="A0A0A0"/>
                  </a:solidFill>
                  <a:latin typeface="Arial"/>
                  <a:ea typeface="Microsoft YaHei"/>
                  <a:cs typeface="Arial"/>
                </a:rPr>
                <a:t>V1.0 | 2026-06-18 | 内部战略文件</a:t>
              </a:r>
            </a:p>
          </p:txBody>
        </p:sp>
        <p:sp>
          <p:nvSpPr>
            <p:cNvPr id="23" name="TextBox 23"/>
            <p:cNvSpPr txBox="1"/>
            <p:nvPr/>
          </p:nvSpPr>
          <p:spPr>
            <a:xfrm>
              <a:off x="5433536" y="6466999"/>
              <a:ext cx="1324928" cy="198120"/>
            </a:xfrm>
            <a:prstGeom prst="rect">
              <a:avLst/>
            </a:prstGeom>
            <a:noFill/>
            <a:ln>
              <a:noFill/>
            </a:ln>
          </p:spPr>
          <p:txBody>
            <a:bodyPr wrap="none" lIns="0" tIns="0" rIns="0" bIns="0" anchor="t" anchorCtr="0">
              <a:spAutoFit/>
            </a:bodyPr>
            <a:lstStyle/>
            <a:p>
              <a:pPr algn="ctr"/>
              <a:r>
                <a:rPr lang="zh-CN" sz="975" dirty="0">
                  <a:solidFill>
                    <a:srgbClr val="A0A0A0"/>
                  </a:solidFill>
                  <a:latin typeface="Arial"/>
                  <a:ea typeface="Microsoft YaHei"/>
                  <a:cs typeface="Arial"/>
                </a:rPr>
                <a:t>广东链邦科技有限公司</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grpSp>
        <p:nvGrpSpPr>
          <p:cNvPr id="6" name="Group 6"/>
          <p:cNvGrpSpPr/>
          <p:nvPr/>
        </p:nvGrpSpPr>
        <p:grpSpPr>
          <a:xfrm>
            <a:off x="571500" y="438150"/>
            <a:ext cx="3297794" cy="716756"/>
            <a:chOff x="571500" y="438150"/>
            <a:chExt cx="3297794" cy="716756"/>
          </a:xfrm>
        </p:grpSpPr>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71525" y="438150"/>
              <a:ext cx="916305" cy="609600"/>
            </a:xfrm>
            <a:prstGeom prst="rect">
              <a:avLst/>
            </a:prstGeom>
            <a:noFill/>
            <a:ln>
              <a:noFill/>
            </a:ln>
          </p:spPr>
          <p:txBody>
            <a:bodyPr wrap="none" lIns="0" tIns="0" rIns="0" bIns="0" anchor="t" anchorCtr="0">
              <a:spAutoFit/>
            </a:bodyPr>
            <a:lstStyle/>
            <a:p>
              <a:pPr algn="l"/>
              <a:r>
                <a:rPr lang="zh-CN" sz="3000" b="1" dirty="0">
                  <a:solidFill>
                    <a:srgbClr val="2C2C2C"/>
                  </a:solidFill>
                  <a:latin typeface="Georgia"/>
                  <a:ea typeface="KaiTi"/>
                  <a:cs typeface="Georgia"/>
                </a:rPr>
                <a:t>目录</a:t>
              </a:r>
            </a:p>
          </p:txBody>
        </p:sp>
        <p:sp>
          <p:nvSpPr>
            <p:cNvPr id="5" name="TextBox 5"/>
            <p:cNvSpPr txBox="1"/>
            <p:nvPr/>
          </p:nvSpPr>
          <p:spPr>
            <a:xfrm>
              <a:off x="795338" y="926306"/>
              <a:ext cx="307395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五卷结构化呈现——定位→模型→执行→合规→附录</a:t>
              </a:r>
            </a:p>
          </p:txBody>
        </p:sp>
      </p:grpSp>
      <p:grpSp>
        <p:nvGrpSpPr>
          <p:cNvPr id="37" name="Group 37"/>
          <p:cNvGrpSpPr/>
          <p:nvPr/>
        </p:nvGrpSpPr>
        <p:grpSpPr>
          <a:xfrm>
            <a:off x="762000" y="1476375"/>
            <a:ext cx="10668000" cy="3238500"/>
            <a:chOff x="762000" y="1476375"/>
            <a:chExt cx="10668000" cy="3238500"/>
          </a:xfrm>
        </p:grpSpPr>
        <p:grpSp>
          <p:nvGrpSpPr>
            <p:cNvPr id="12" name="Group 12"/>
            <p:cNvGrpSpPr/>
            <p:nvPr/>
          </p:nvGrpSpPr>
          <p:grpSpPr>
            <a:xfrm>
              <a:off x="762000" y="1476375"/>
              <a:ext cx="5143500" cy="952500"/>
              <a:chOff x="762000" y="1476375"/>
              <a:chExt cx="5143500" cy="952500"/>
            </a:xfrm>
            <a:effectLst>
              <a:outerShdw blurRad="76200" dist="19050" dir="5400000" algn="ctr" rotWithShape="0">
                <a:srgbClr val="2C2C2C">
                  <a:alpha val="4500"/>
                </a:srgbClr>
              </a:outerShdw>
            </a:effectLst>
          </p:grpSpPr>
          <p:sp>
            <p:nvSpPr>
              <p:cNvPr id="7" name="Rectangle 7"/>
              <p:cNvSpPr/>
              <p:nvPr/>
            </p:nvSpPr>
            <p:spPr>
              <a:xfrm>
                <a:off x="762000" y="1476375"/>
                <a:ext cx="5143500" cy="952500"/>
              </a:xfrm>
              <a:prstGeom prst="roundRect">
                <a:avLst>
                  <a:gd name="adj" fmla="val 14000"/>
                </a:avLst>
              </a:prstGeom>
              <a:solidFill>
                <a:srgbClr val="FFFFFF"/>
              </a:solidFill>
              <a:ln w="14288">
                <a:solidFill>
                  <a:srgbClr val="F0EDE8"/>
                </a:solidFill>
              </a:ln>
              <a:effectLst>
                <a:outerShdw blurRad="76200" dist="19050" dir="5400000" algn="ctr" rotWithShape="0">
                  <a:srgbClr val="2C2C2C">
                    <a:alpha val="4500"/>
                  </a:srgbClr>
                </a:outerShdw>
              </a:effectLst>
            </p:spPr>
          </p:sp>
          <p:sp>
            <p:nvSpPr>
              <p:cNvPr id="8" name="Rectangle 8"/>
              <p:cNvSpPr/>
              <p:nvPr/>
            </p:nvSpPr>
            <p:spPr>
              <a:xfrm>
                <a:off x="762000" y="1476375"/>
                <a:ext cx="57150" cy="952500"/>
              </a:xfrm>
              <a:prstGeom prst="roundRect">
                <a:avLst>
                  <a:gd name="adj" fmla="val 50000"/>
                </a:avLst>
              </a:prstGeom>
              <a:solidFill>
                <a:srgbClr val="E67E22"/>
              </a:solidFill>
              <a:ln>
                <a:noFill/>
              </a:ln>
              <a:effectLst>
                <a:outerShdw blurRad="76200" dist="19050" dir="5400000" algn="ctr" rotWithShape="0">
                  <a:srgbClr val="2C2C2C">
                    <a:alpha val="4500"/>
                  </a:srgbClr>
                </a:outerShdw>
              </a:effectLst>
            </p:spPr>
          </p:sp>
          <p:sp>
            <p:nvSpPr>
              <p:cNvPr id="9" name="TextBox 9"/>
              <p:cNvSpPr txBox="1"/>
              <p:nvPr/>
            </p:nvSpPr>
            <p:spPr>
              <a:xfrm>
                <a:off x="1116330" y="1630680"/>
                <a:ext cx="2155703"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2100" b="1" dirty="0">
                    <a:solidFill>
                      <a:srgbClr val="2C2C2C"/>
                    </a:solidFill>
                    <a:latin typeface="Georgia"/>
                    <a:ea typeface="KaiTi"/>
                    <a:cs typeface="Georgia"/>
                  </a:rPr>
                  <a:t>卷一 · 战略定位</a:t>
                </a:r>
              </a:p>
            </p:txBody>
          </p:sp>
          <p:sp>
            <p:nvSpPr>
              <p:cNvPr id="10" name="TextBox 10"/>
              <p:cNvSpPr txBox="1"/>
              <p:nvPr/>
            </p:nvSpPr>
            <p:spPr>
              <a:xfrm>
                <a:off x="1128712" y="2021681"/>
                <a:ext cx="4656653" cy="22860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125" dirty="0">
                    <a:solidFill>
                      <a:srgbClr val="7F8C8D"/>
                    </a:solidFill>
                    <a:latin typeface="Arial"/>
                    <a:ea typeface="Microsoft YaHei"/>
                    <a:cs typeface="Arial"/>
                  </a:rPr>
                  <a:t>品牌身份——我是谁 | 使命·愿景·价值观·人格·故事·视觉·广告语·命名</a:t>
                </a:r>
              </a:p>
            </p:txBody>
          </p:sp>
          <p:sp>
            <p:nvSpPr>
              <p:cNvPr id="11" name="TextBox 11"/>
              <p:cNvSpPr txBox="1"/>
              <p:nvPr/>
            </p:nvSpPr>
            <p:spPr>
              <a:xfrm>
                <a:off x="4972098" y="1886902"/>
                <a:ext cx="565737"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r"/>
                <a:r>
                  <a:rPr lang="zh-CN" sz="1050" dirty="0">
                    <a:solidFill>
                      <a:srgbClr val="A0A0A0"/>
                    </a:solidFill>
                    <a:latin typeface="Arial"/>
                    <a:ea typeface="Microsoft YaHei"/>
                    <a:cs typeface="Arial"/>
                  </a:rPr>
                  <a:t>P01-P20</a:t>
                </a:r>
              </a:p>
            </p:txBody>
          </p:sp>
        </p:grpSp>
        <p:grpSp>
          <p:nvGrpSpPr>
            <p:cNvPr id="18" name="Group 18"/>
            <p:cNvGrpSpPr/>
            <p:nvPr/>
          </p:nvGrpSpPr>
          <p:grpSpPr>
            <a:xfrm>
              <a:off x="6286500" y="1476375"/>
              <a:ext cx="5143500" cy="952500"/>
              <a:chOff x="6286500" y="1476375"/>
              <a:chExt cx="5143500" cy="952500"/>
            </a:xfrm>
            <a:effectLst>
              <a:outerShdw blurRad="76200" dist="19050" dir="5400000" algn="ctr" rotWithShape="0">
                <a:srgbClr val="2C2C2C">
                  <a:alpha val="4500"/>
                </a:srgbClr>
              </a:outerShdw>
            </a:effectLst>
          </p:grpSpPr>
          <p:sp>
            <p:nvSpPr>
              <p:cNvPr id="13" name="Rectangle 13"/>
              <p:cNvSpPr/>
              <p:nvPr/>
            </p:nvSpPr>
            <p:spPr>
              <a:xfrm>
                <a:off x="6286500" y="1476375"/>
                <a:ext cx="5143500" cy="952500"/>
              </a:xfrm>
              <a:prstGeom prst="roundRect">
                <a:avLst>
                  <a:gd name="adj" fmla="val 14000"/>
                </a:avLst>
              </a:prstGeom>
              <a:solidFill>
                <a:srgbClr val="FFFFFF"/>
              </a:solidFill>
              <a:ln w="14288">
                <a:solidFill>
                  <a:srgbClr val="F0EDE8"/>
                </a:solidFill>
              </a:ln>
              <a:effectLst>
                <a:outerShdw blurRad="76200" dist="19050" dir="5400000" algn="ctr" rotWithShape="0">
                  <a:srgbClr val="2C2C2C">
                    <a:alpha val="4500"/>
                  </a:srgbClr>
                </a:outerShdw>
              </a:effectLst>
            </p:spPr>
          </p:sp>
          <p:sp>
            <p:nvSpPr>
              <p:cNvPr id="14" name="Rectangle 14"/>
              <p:cNvSpPr/>
              <p:nvPr/>
            </p:nvSpPr>
            <p:spPr>
              <a:xfrm>
                <a:off x="6286500" y="1476375"/>
                <a:ext cx="57150" cy="952500"/>
              </a:xfrm>
              <a:prstGeom prst="roundRect">
                <a:avLst>
                  <a:gd name="adj" fmla="val 50000"/>
                </a:avLst>
              </a:prstGeom>
              <a:solidFill>
                <a:srgbClr val="E67E22"/>
              </a:solidFill>
              <a:ln>
                <a:noFill/>
              </a:ln>
              <a:effectLst>
                <a:outerShdw blurRad="76200" dist="19050" dir="5400000" algn="ctr" rotWithShape="0">
                  <a:srgbClr val="2C2C2C">
                    <a:alpha val="4500"/>
                  </a:srgbClr>
                </a:outerShdw>
              </a:effectLst>
            </p:spPr>
          </p:sp>
          <p:sp>
            <p:nvSpPr>
              <p:cNvPr id="15" name="TextBox 15"/>
              <p:cNvSpPr txBox="1"/>
              <p:nvPr/>
            </p:nvSpPr>
            <p:spPr>
              <a:xfrm>
                <a:off x="6640830" y="1630680"/>
                <a:ext cx="2155703"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2100" b="1" dirty="0">
                    <a:solidFill>
                      <a:srgbClr val="2C2C2C"/>
                    </a:solidFill>
                    <a:latin typeface="Georgia"/>
                    <a:ea typeface="KaiTi"/>
                    <a:cs typeface="Georgia"/>
                  </a:rPr>
                  <a:t>卷二 · 商业模型</a:t>
                </a:r>
              </a:p>
            </p:txBody>
          </p:sp>
          <p:sp>
            <p:nvSpPr>
              <p:cNvPr id="16" name="TextBox 16"/>
              <p:cNvSpPr txBox="1"/>
              <p:nvPr/>
            </p:nvSpPr>
            <p:spPr>
              <a:xfrm>
                <a:off x="6653212" y="2021681"/>
                <a:ext cx="4244102" cy="22860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125" dirty="0">
                    <a:solidFill>
                      <a:srgbClr val="7F8C8D"/>
                    </a:solidFill>
                    <a:latin typeface="Arial"/>
                    <a:ea typeface="Microsoft YaHei"/>
                    <a:cs typeface="Arial"/>
                  </a:rPr>
                  <a:t>我怎么运转 | 两大体系·分账比例·三元营销·盈亏平衡·千面千店</a:t>
                </a:r>
              </a:p>
            </p:txBody>
          </p:sp>
          <p:sp>
            <p:nvSpPr>
              <p:cNvPr id="17" name="TextBox 17"/>
              <p:cNvSpPr txBox="1"/>
              <p:nvPr/>
            </p:nvSpPr>
            <p:spPr>
              <a:xfrm>
                <a:off x="10496598" y="1886902"/>
                <a:ext cx="565737"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r"/>
                <a:r>
                  <a:rPr lang="zh-CN" sz="1050" dirty="0">
                    <a:solidFill>
                      <a:srgbClr val="A0A0A0"/>
                    </a:solidFill>
                    <a:latin typeface="Arial"/>
                    <a:ea typeface="Microsoft YaHei"/>
                    <a:cs typeface="Arial"/>
                  </a:rPr>
                  <a:t>P21-P29</a:t>
                </a:r>
              </a:p>
            </p:txBody>
          </p:sp>
        </p:grpSp>
        <p:grpSp>
          <p:nvGrpSpPr>
            <p:cNvPr id="24" name="Group 24"/>
            <p:cNvGrpSpPr/>
            <p:nvPr/>
          </p:nvGrpSpPr>
          <p:grpSpPr>
            <a:xfrm>
              <a:off x="762000" y="2619375"/>
              <a:ext cx="5143500" cy="952500"/>
              <a:chOff x="762000" y="2619375"/>
              <a:chExt cx="5143500" cy="952500"/>
            </a:xfrm>
            <a:effectLst>
              <a:outerShdw blurRad="76200" dist="19050" dir="5400000" algn="ctr" rotWithShape="0">
                <a:srgbClr val="2C2C2C">
                  <a:alpha val="4500"/>
                </a:srgbClr>
              </a:outerShdw>
            </a:effectLst>
          </p:grpSpPr>
          <p:sp>
            <p:nvSpPr>
              <p:cNvPr id="19" name="Rectangle 19"/>
              <p:cNvSpPr/>
              <p:nvPr/>
            </p:nvSpPr>
            <p:spPr>
              <a:xfrm>
                <a:off x="762000" y="2619375"/>
                <a:ext cx="5143500" cy="952500"/>
              </a:xfrm>
              <a:prstGeom prst="roundRect">
                <a:avLst>
                  <a:gd name="adj" fmla="val 14000"/>
                </a:avLst>
              </a:prstGeom>
              <a:solidFill>
                <a:srgbClr val="FFFFFF"/>
              </a:solidFill>
              <a:ln w="14288">
                <a:solidFill>
                  <a:srgbClr val="F0EDE8"/>
                </a:solidFill>
              </a:ln>
              <a:effectLst>
                <a:outerShdw blurRad="76200" dist="19050" dir="5400000" algn="ctr" rotWithShape="0">
                  <a:srgbClr val="2C2C2C">
                    <a:alpha val="4500"/>
                  </a:srgbClr>
                </a:outerShdw>
              </a:effectLst>
            </p:spPr>
          </p:sp>
          <p:sp>
            <p:nvSpPr>
              <p:cNvPr id="20" name="Rectangle 20"/>
              <p:cNvSpPr/>
              <p:nvPr/>
            </p:nvSpPr>
            <p:spPr>
              <a:xfrm>
                <a:off x="762000" y="2619375"/>
                <a:ext cx="57150" cy="952500"/>
              </a:xfrm>
              <a:prstGeom prst="roundRect">
                <a:avLst>
                  <a:gd name="adj" fmla="val 50000"/>
                </a:avLst>
              </a:prstGeom>
              <a:solidFill>
                <a:srgbClr val="1A5276"/>
              </a:solidFill>
              <a:ln>
                <a:noFill/>
              </a:ln>
              <a:effectLst>
                <a:outerShdw blurRad="76200" dist="19050" dir="5400000" algn="ctr" rotWithShape="0">
                  <a:srgbClr val="2C2C2C">
                    <a:alpha val="4500"/>
                  </a:srgbClr>
                </a:outerShdw>
              </a:effectLst>
            </p:spPr>
          </p:sp>
          <p:sp>
            <p:nvSpPr>
              <p:cNvPr id="21" name="TextBox 21"/>
              <p:cNvSpPr txBox="1"/>
              <p:nvPr/>
            </p:nvSpPr>
            <p:spPr>
              <a:xfrm>
                <a:off x="1116330" y="2773680"/>
                <a:ext cx="2449740"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2100" b="1" dirty="0">
                    <a:solidFill>
                      <a:srgbClr val="2C2C2C"/>
                    </a:solidFill>
                    <a:latin typeface="Georgia"/>
                    <a:ea typeface="KaiTi"/>
                    <a:cs typeface="Georgia"/>
                  </a:rPr>
                  <a:t>卷三 · 执行路线图</a:t>
                </a:r>
              </a:p>
            </p:txBody>
          </p:sp>
          <p:sp>
            <p:nvSpPr>
              <p:cNvPr id="22" name="TextBox 22"/>
              <p:cNvSpPr txBox="1"/>
              <p:nvPr/>
            </p:nvSpPr>
            <p:spPr>
              <a:xfrm>
                <a:off x="1128712" y="3164681"/>
                <a:ext cx="4094083" cy="22860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125" dirty="0">
                    <a:solidFill>
                      <a:srgbClr val="7F8C8D"/>
                    </a:solidFill>
                    <a:latin typeface="Arial"/>
                    <a:ea typeface="Microsoft YaHei"/>
                    <a:cs typeface="Arial"/>
                  </a:rPr>
                  <a:t>我怎么做 | 三段序列·信息补全·验证飞轮·复制验证·预算框架</a:t>
                </a:r>
              </a:p>
            </p:txBody>
          </p:sp>
          <p:sp>
            <p:nvSpPr>
              <p:cNvPr id="23" name="TextBox 23"/>
              <p:cNvSpPr txBox="1"/>
              <p:nvPr/>
            </p:nvSpPr>
            <p:spPr>
              <a:xfrm>
                <a:off x="4972098" y="3029902"/>
                <a:ext cx="565737"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r"/>
                <a:r>
                  <a:rPr lang="zh-CN" sz="1050" dirty="0">
                    <a:solidFill>
                      <a:srgbClr val="A0A0A0"/>
                    </a:solidFill>
                    <a:latin typeface="Arial"/>
                    <a:ea typeface="Microsoft YaHei"/>
                    <a:cs typeface="Arial"/>
                  </a:rPr>
                  <a:t>P30-P38</a:t>
                </a:r>
              </a:p>
            </p:txBody>
          </p:sp>
        </p:grpSp>
        <p:grpSp>
          <p:nvGrpSpPr>
            <p:cNvPr id="30" name="Group 30"/>
            <p:cNvGrpSpPr/>
            <p:nvPr/>
          </p:nvGrpSpPr>
          <p:grpSpPr>
            <a:xfrm>
              <a:off x="6286500" y="2619375"/>
              <a:ext cx="5143500" cy="952500"/>
              <a:chOff x="6286500" y="2619375"/>
              <a:chExt cx="5143500" cy="952500"/>
            </a:xfrm>
            <a:effectLst>
              <a:outerShdw blurRad="76200" dist="19050" dir="5400000" algn="ctr" rotWithShape="0">
                <a:srgbClr val="2C2C2C">
                  <a:alpha val="4500"/>
                </a:srgbClr>
              </a:outerShdw>
            </a:effectLst>
          </p:grpSpPr>
          <p:sp>
            <p:nvSpPr>
              <p:cNvPr id="25" name="Rectangle 25"/>
              <p:cNvSpPr/>
              <p:nvPr/>
            </p:nvSpPr>
            <p:spPr>
              <a:xfrm>
                <a:off x="6286500" y="2619375"/>
                <a:ext cx="5143500" cy="952500"/>
              </a:xfrm>
              <a:prstGeom prst="roundRect">
                <a:avLst>
                  <a:gd name="adj" fmla="val 14000"/>
                </a:avLst>
              </a:prstGeom>
              <a:solidFill>
                <a:srgbClr val="FFFFFF"/>
              </a:solidFill>
              <a:ln w="14288">
                <a:solidFill>
                  <a:srgbClr val="F0EDE8"/>
                </a:solidFill>
              </a:ln>
              <a:effectLst>
                <a:outerShdw blurRad="76200" dist="19050" dir="5400000" algn="ctr" rotWithShape="0">
                  <a:srgbClr val="2C2C2C">
                    <a:alpha val="4500"/>
                  </a:srgbClr>
                </a:outerShdw>
              </a:effectLst>
            </p:spPr>
          </p:sp>
          <p:sp>
            <p:nvSpPr>
              <p:cNvPr id="26" name="Rectangle 26"/>
              <p:cNvSpPr/>
              <p:nvPr/>
            </p:nvSpPr>
            <p:spPr>
              <a:xfrm>
                <a:off x="6286500" y="2619375"/>
                <a:ext cx="57150" cy="952500"/>
              </a:xfrm>
              <a:prstGeom prst="roundRect">
                <a:avLst>
                  <a:gd name="adj" fmla="val 50000"/>
                </a:avLst>
              </a:prstGeom>
              <a:solidFill>
                <a:srgbClr val="C0392B"/>
              </a:solidFill>
              <a:ln>
                <a:noFill/>
              </a:ln>
              <a:effectLst>
                <a:outerShdw blurRad="76200" dist="19050" dir="5400000" algn="ctr" rotWithShape="0">
                  <a:srgbClr val="2C2C2C">
                    <a:alpha val="4500"/>
                  </a:srgbClr>
                </a:outerShdw>
              </a:effectLst>
            </p:spPr>
          </p:sp>
          <p:sp>
            <p:nvSpPr>
              <p:cNvPr id="27" name="TextBox 27"/>
              <p:cNvSpPr txBox="1"/>
              <p:nvPr/>
            </p:nvSpPr>
            <p:spPr>
              <a:xfrm>
                <a:off x="6640830" y="2773680"/>
                <a:ext cx="2449740"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2100" b="1" dirty="0">
                    <a:solidFill>
                      <a:srgbClr val="2C2C2C"/>
                    </a:solidFill>
                    <a:latin typeface="Georgia"/>
                    <a:ea typeface="KaiTi"/>
                    <a:cs typeface="Georgia"/>
                  </a:rPr>
                  <a:t>卷四 · 风险与合规</a:t>
                </a:r>
              </a:p>
            </p:txBody>
          </p:sp>
          <p:sp>
            <p:nvSpPr>
              <p:cNvPr id="28" name="TextBox 28"/>
              <p:cNvSpPr txBox="1"/>
              <p:nvPr/>
            </p:nvSpPr>
            <p:spPr>
              <a:xfrm>
                <a:off x="6653212" y="3164681"/>
                <a:ext cx="4394121" cy="22860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125" dirty="0">
                    <a:solidFill>
                      <a:srgbClr val="7F8C8D"/>
                    </a:solidFill>
                    <a:latin typeface="Arial"/>
                    <a:ea typeface="Microsoft YaHei"/>
                    <a:cs typeface="Arial"/>
                  </a:rPr>
                  <a:t>什么不能做 | 三条红线·合规术语·信息黑洞·待验证假设·风险矩阵</a:t>
                </a:r>
              </a:p>
            </p:txBody>
          </p:sp>
          <p:sp>
            <p:nvSpPr>
              <p:cNvPr id="29" name="TextBox 29"/>
              <p:cNvSpPr txBox="1"/>
              <p:nvPr/>
            </p:nvSpPr>
            <p:spPr>
              <a:xfrm>
                <a:off x="10496598" y="3029902"/>
                <a:ext cx="565737"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r"/>
                <a:r>
                  <a:rPr lang="zh-CN" sz="1050" dirty="0">
                    <a:solidFill>
                      <a:srgbClr val="A0A0A0"/>
                    </a:solidFill>
                    <a:latin typeface="Arial"/>
                    <a:ea typeface="Microsoft YaHei"/>
                    <a:cs typeface="Arial"/>
                  </a:rPr>
                  <a:t>P39-P46</a:t>
                </a:r>
              </a:p>
            </p:txBody>
          </p:sp>
        </p:grpSp>
        <p:grpSp>
          <p:nvGrpSpPr>
            <p:cNvPr id="36" name="Group 36"/>
            <p:cNvGrpSpPr/>
            <p:nvPr/>
          </p:nvGrpSpPr>
          <p:grpSpPr>
            <a:xfrm>
              <a:off x="762000" y="3762375"/>
              <a:ext cx="10668000" cy="952500"/>
              <a:chOff x="762000" y="3762375"/>
              <a:chExt cx="10668000" cy="952500"/>
            </a:xfrm>
            <a:effectLst>
              <a:outerShdw blurRad="76200" dist="19050" dir="5400000" algn="ctr" rotWithShape="0">
                <a:srgbClr val="2C2C2C">
                  <a:alpha val="4500"/>
                </a:srgbClr>
              </a:outerShdw>
            </a:effectLst>
          </p:grpSpPr>
          <p:sp>
            <p:nvSpPr>
              <p:cNvPr id="31" name="Rectangle 31"/>
              <p:cNvSpPr/>
              <p:nvPr/>
            </p:nvSpPr>
            <p:spPr>
              <a:xfrm>
                <a:off x="762000" y="3762375"/>
                <a:ext cx="10668000" cy="952500"/>
              </a:xfrm>
              <a:prstGeom prst="roundRect">
                <a:avLst>
                  <a:gd name="adj" fmla="val 14000"/>
                </a:avLst>
              </a:prstGeom>
              <a:solidFill>
                <a:srgbClr val="FFFFFF"/>
              </a:solidFill>
              <a:ln w="14288">
                <a:solidFill>
                  <a:srgbClr val="F0EDE8"/>
                </a:solidFill>
              </a:ln>
              <a:effectLst>
                <a:outerShdw blurRad="76200" dist="19050" dir="5400000" algn="ctr" rotWithShape="0">
                  <a:srgbClr val="2C2C2C">
                    <a:alpha val="4500"/>
                  </a:srgbClr>
                </a:outerShdw>
              </a:effectLst>
            </p:spPr>
          </p:sp>
          <p:sp>
            <p:nvSpPr>
              <p:cNvPr id="32" name="Rectangle 32"/>
              <p:cNvSpPr/>
              <p:nvPr/>
            </p:nvSpPr>
            <p:spPr>
              <a:xfrm>
                <a:off x="762000" y="3762375"/>
                <a:ext cx="57150" cy="952500"/>
              </a:xfrm>
              <a:prstGeom prst="roundRect">
                <a:avLst>
                  <a:gd name="adj" fmla="val 50000"/>
                </a:avLst>
              </a:prstGeom>
              <a:solidFill>
                <a:srgbClr val="A0A0A0"/>
              </a:solidFill>
              <a:ln>
                <a:noFill/>
              </a:ln>
              <a:effectLst>
                <a:outerShdw blurRad="76200" dist="19050" dir="5400000" algn="ctr" rotWithShape="0">
                  <a:srgbClr val="2C2C2C">
                    <a:alpha val="4500"/>
                  </a:srgbClr>
                </a:outerShdw>
              </a:effectLst>
            </p:spPr>
          </p:sp>
          <p:sp>
            <p:nvSpPr>
              <p:cNvPr id="33" name="TextBox 33"/>
              <p:cNvSpPr txBox="1"/>
              <p:nvPr/>
            </p:nvSpPr>
            <p:spPr>
              <a:xfrm>
                <a:off x="1116330" y="3916680"/>
                <a:ext cx="1567629"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2100" b="1" dirty="0">
                    <a:solidFill>
                      <a:srgbClr val="2C2C2C"/>
                    </a:solidFill>
                    <a:latin typeface="Georgia"/>
                    <a:ea typeface="KaiTi"/>
                    <a:cs typeface="Georgia"/>
                  </a:rPr>
                  <a:t>卷五 · 附录</a:t>
                </a:r>
              </a:p>
            </p:txBody>
          </p:sp>
          <p:sp>
            <p:nvSpPr>
              <p:cNvPr id="34" name="TextBox 34"/>
              <p:cNvSpPr txBox="1"/>
              <p:nvPr/>
            </p:nvSpPr>
            <p:spPr>
              <a:xfrm>
                <a:off x="1128712" y="4307681"/>
                <a:ext cx="4956691" cy="22860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125" dirty="0">
                    <a:solidFill>
                      <a:srgbClr val="7F8C8D"/>
                    </a:solidFill>
                    <a:latin typeface="Arial"/>
                    <a:ea typeface="Microsoft YaHei"/>
                    <a:cs typeface="Arial"/>
                  </a:rPr>
                  <a:t>22轮推导摘要·竞品分析·方法论溯源·决策记录·内容资产清单·下一步行动</a:t>
                </a:r>
              </a:p>
            </p:txBody>
          </p:sp>
          <p:sp>
            <p:nvSpPr>
              <p:cNvPr id="35" name="TextBox 35"/>
              <p:cNvSpPr txBox="1"/>
              <p:nvPr/>
            </p:nvSpPr>
            <p:spPr>
              <a:xfrm>
                <a:off x="10496598" y="4172902"/>
                <a:ext cx="565737"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r"/>
                <a:r>
                  <a:rPr lang="zh-CN" sz="1050" dirty="0">
                    <a:solidFill>
                      <a:srgbClr val="A0A0A0"/>
                    </a:solidFill>
                    <a:latin typeface="Arial"/>
                    <a:ea typeface="Microsoft YaHei"/>
                    <a:cs typeface="Arial"/>
                  </a:rPr>
                  <a:t>P47-P53</a:t>
                </a:r>
              </a:p>
            </p:txBody>
          </p:sp>
        </p:grpSp>
      </p:grpSp>
      <p:grpSp>
        <p:nvGrpSpPr>
          <p:cNvPr id="40" name="Group 40"/>
          <p:cNvGrpSpPr/>
          <p:nvPr/>
        </p:nvGrpSpPr>
        <p:grpSpPr>
          <a:xfrm>
            <a:off x="560070" y="6522720"/>
            <a:ext cx="11071861" cy="182880"/>
            <a:chOff x="560070" y="6522720"/>
            <a:chExt cx="11071861" cy="182880"/>
          </a:xfrm>
        </p:grpSpPr>
        <p:sp>
          <p:nvSpPr>
            <p:cNvPr id="38" name="TextBox 38"/>
            <p:cNvSpPr txBox="1"/>
            <p:nvPr/>
          </p:nvSpPr>
          <p:spPr>
            <a:xfrm>
              <a:off x="560070" y="6522720"/>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39" name="TextBox 39"/>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12192000" cy="6858000"/>
          </a:xfrm>
          <a:prstGeom prst="rect">
            <a:avLst/>
          </a:prstGeom>
          <a:gradFill>
            <a:gsLst>
              <a:gs pos="0">
                <a:srgbClr val="E67E22">
                  <a:alpha val="8000"/>
                </a:srgbClr>
              </a:gs>
              <a:gs pos="100000">
                <a:srgbClr val="1A5276">
                  <a:alpha val="6000"/>
                </a:srgbClr>
              </a:gs>
            </a:gsLst>
            <a:lin ang="2700000" scaled="1"/>
          </a:gradFill>
          <a:ln>
            <a:noFill/>
          </a:ln>
        </p:spPr>
      </p:sp>
      <p:grpSp>
        <p:nvGrpSpPr>
          <p:cNvPr id="7" name="Group 7"/>
          <p:cNvGrpSpPr/>
          <p:nvPr/>
        </p:nvGrpSpPr>
        <p:grpSpPr>
          <a:xfrm>
            <a:off x="4389120" y="1771650"/>
            <a:ext cx="3413760" cy="1666875"/>
            <a:chOff x="4389120" y="1771650"/>
            <a:chExt cx="3413760" cy="1666875"/>
          </a:xfrm>
        </p:grpSpPr>
        <p:sp>
          <p:nvSpPr>
            <p:cNvPr id="4" name="TextBox 4"/>
            <p:cNvSpPr txBox="1"/>
            <p:nvPr/>
          </p:nvSpPr>
          <p:spPr>
            <a:xfrm>
              <a:off x="5007769" y="1771650"/>
              <a:ext cx="2176462" cy="609600"/>
            </a:xfrm>
            <a:prstGeom prst="rect">
              <a:avLst/>
            </a:prstGeom>
            <a:noFill/>
            <a:ln>
              <a:noFill/>
            </a:ln>
          </p:spPr>
          <p:txBody>
            <a:bodyPr wrap="none" lIns="0" tIns="0" rIns="0" bIns="0" anchor="t" anchorCtr="0">
              <a:spAutoFit/>
            </a:bodyPr>
            <a:lstStyle/>
            <a:p>
              <a:pPr algn="ctr"/>
              <a:r>
                <a:rPr lang="zh-CN" sz="3000" b="1" dirty="0">
                  <a:solidFill>
                    <a:srgbClr val="2C2C2C"/>
                  </a:solidFill>
                  <a:latin typeface="Georgia"/>
                  <a:ea typeface="KaiTi"/>
                  <a:cs typeface="Georgia"/>
                </a:rPr>
                <a:t>链邦赋商通</a:t>
              </a:r>
            </a:p>
          </p:txBody>
        </p:sp>
        <p:sp>
          <p:nvSpPr>
            <p:cNvPr id="5" name="TextBox 5"/>
            <p:cNvSpPr txBox="1"/>
            <p:nvPr/>
          </p:nvSpPr>
          <p:spPr>
            <a:xfrm>
              <a:off x="4389120" y="2535555"/>
              <a:ext cx="3413760" cy="426720"/>
            </a:xfrm>
            <a:prstGeom prst="rect">
              <a:avLst/>
            </a:prstGeom>
            <a:noFill/>
            <a:ln>
              <a:noFill/>
            </a:ln>
          </p:spPr>
          <p:txBody>
            <a:bodyPr wrap="none" lIns="0" tIns="0" rIns="0" bIns="0" anchor="t" anchorCtr="0">
              <a:spAutoFit/>
            </a:bodyPr>
            <a:lstStyle/>
            <a:p>
              <a:pPr algn="ctr"/>
              <a:r>
                <a:rPr lang="zh-CN" sz="2100" dirty="0">
                  <a:solidFill>
                    <a:srgbClr val="E67E22"/>
                  </a:solidFill>
                  <a:latin typeface="Arial"/>
                  <a:ea typeface="Microsoft YaHei"/>
                  <a:cs typeface="Arial"/>
                </a:rPr>
                <a:t>让每一家认真经营的小店，</a:t>
              </a:r>
            </a:p>
          </p:txBody>
        </p:sp>
        <p:sp>
          <p:nvSpPr>
            <p:cNvPr id="6" name="TextBox 6"/>
            <p:cNvSpPr txBox="1"/>
            <p:nvPr/>
          </p:nvSpPr>
          <p:spPr>
            <a:xfrm>
              <a:off x="4389120" y="3011805"/>
              <a:ext cx="3413760" cy="426720"/>
            </a:xfrm>
            <a:prstGeom prst="rect">
              <a:avLst/>
            </a:prstGeom>
            <a:noFill/>
            <a:ln>
              <a:noFill/>
            </a:ln>
          </p:spPr>
          <p:txBody>
            <a:bodyPr wrap="none" lIns="0" tIns="0" rIns="0" bIns="0" anchor="t" anchorCtr="0">
              <a:spAutoFit/>
            </a:bodyPr>
            <a:lstStyle/>
            <a:p>
              <a:pPr algn="ctr"/>
              <a:r>
                <a:rPr lang="zh-CN" sz="2100" dirty="0">
                  <a:solidFill>
                    <a:srgbClr val="E67E22"/>
                  </a:solidFill>
                  <a:latin typeface="Arial"/>
                  <a:ea typeface="Microsoft YaHei"/>
                  <a:cs typeface="Arial"/>
                </a:rPr>
                <a:t>不再从零开始经营每一天。</a:t>
              </a:r>
            </a:p>
          </p:txBody>
        </p:sp>
      </p:grpSp>
      <p:sp>
        <p:nvSpPr>
          <p:cNvPr id="8" name="Line 8"/>
          <p:cNvSpPr/>
          <p:nvPr/>
        </p:nvSpPr>
        <p:spPr>
          <a:xfrm>
            <a:off x="4191000" y="3714750"/>
            <a:ext cx="3810000" cy="9525"/>
          </a:xfrm>
          <a:custGeom>
            <a:avLst/>
            <a:gdLst/>
            <a:ahLst/>
            <a:cxnLst/>
            <a:rect l="l" t="t" r="r" b="b"/>
            <a:pathLst>
              <a:path w="3810000" h="9525">
                <a:moveTo>
                  <a:pt x="0" y="0"/>
                </a:moveTo>
                <a:lnTo>
                  <a:pt x="3810000" y="0"/>
                </a:lnTo>
              </a:path>
            </a:pathLst>
          </a:custGeom>
          <a:noFill/>
          <a:ln w="19050">
            <a:solidFill>
              <a:srgbClr val="D4A574"/>
            </a:solidFill>
          </a:ln>
        </p:spPr>
      </p:sp>
      <p:grpSp>
        <p:nvGrpSpPr>
          <p:cNvPr id="11" name="Group 11"/>
          <p:cNvGrpSpPr/>
          <p:nvPr/>
        </p:nvGrpSpPr>
        <p:grpSpPr>
          <a:xfrm>
            <a:off x="4368641" y="4045268"/>
            <a:ext cx="3454718" cy="607694"/>
            <a:chOff x="4368641" y="4045268"/>
            <a:chExt cx="3454718" cy="607694"/>
          </a:xfrm>
        </p:grpSpPr>
        <p:sp>
          <p:nvSpPr>
            <p:cNvPr id="9" name="TextBox 9"/>
            <p:cNvSpPr txBox="1"/>
            <p:nvPr/>
          </p:nvSpPr>
          <p:spPr>
            <a:xfrm>
              <a:off x="4368641" y="4045268"/>
              <a:ext cx="3454718"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a:ea typeface="Microsoft YaHei"/>
                  <a:cs typeface="Arial"/>
                </a:rPr>
                <a:t>我们不替代商家，不控制流量，不碰资金。</a:t>
              </a:r>
            </a:p>
          </p:txBody>
        </p:sp>
        <p:sp>
          <p:nvSpPr>
            <p:cNvPr id="10" name="TextBox 10"/>
            <p:cNvSpPr txBox="1"/>
            <p:nvPr/>
          </p:nvSpPr>
          <p:spPr>
            <a:xfrm>
              <a:off x="4548664" y="4378642"/>
              <a:ext cx="3094673"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Arial"/>
                  <a:ea typeface="Microsoft YaHei"/>
                  <a:cs typeface="Arial"/>
                </a:rPr>
                <a:t>我们帮商家建立属于自己的经营关系。</a:t>
              </a:r>
            </a:p>
          </p:txBody>
        </p:sp>
      </p:grpSp>
      <p:grpSp>
        <p:nvGrpSpPr>
          <p:cNvPr id="24" name="Group 24"/>
          <p:cNvGrpSpPr/>
          <p:nvPr/>
        </p:nvGrpSpPr>
        <p:grpSpPr>
          <a:xfrm>
            <a:off x="1047750" y="5143500"/>
            <a:ext cx="11025187" cy="666750"/>
            <a:chOff x="1047750" y="5143500"/>
            <a:chExt cx="11025187" cy="666750"/>
          </a:xfrm>
        </p:grpSpPr>
        <p:grpSp>
          <p:nvGrpSpPr>
            <p:cNvPr id="15" name="Group 15"/>
            <p:cNvGrpSpPr/>
            <p:nvPr/>
          </p:nvGrpSpPr>
          <p:grpSpPr>
            <a:xfrm>
              <a:off x="1047750" y="5143500"/>
              <a:ext cx="3447097" cy="666750"/>
              <a:chOff x="1047750" y="5143500"/>
              <a:chExt cx="3447097" cy="666750"/>
            </a:xfrm>
          </p:grpSpPr>
          <p:sp>
            <p:nvSpPr>
              <p:cNvPr id="12" name="Rectangle 12"/>
              <p:cNvSpPr/>
              <p:nvPr/>
            </p:nvSpPr>
            <p:spPr>
              <a:xfrm>
                <a:off x="1047750" y="5143500"/>
                <a:ext cx="3238500" cy="666750"/>
              </a:xfrm>
              <a:prstGeom prst="roundRect">
                <a:avLst>
                  <a:gd name="adj" fmla="val 20000"/>
                </a:avLst>
              </a:prstGeom>
              <a:solidFill>
                <a:srgbClr val="FFFFFF"/>
              </a:solidFill>
              <a:ln w="9525">
                <a:solidFill>
                  <a:srgbClr val="F0EDE8"/>
                </a:solidFill>
              </a:ln>
            </p:spPr>
          </p:sp>
          <p:sp>
            <p:nvSpPr>
              <p:cNvPr id="13" name="TextBox 13"/>
              <p:cNvSpPr txBox="1"/>
              <p:nvPr/>
            </p:nvSpPr>
            <p:spPr>
              <a:xfrm>
                <a:off x="2600349" y="5331142"/>
                <a:ext cx="133302" cy="274320"/>
              </a:xfrm>
              <a:prstGeom prst="rect">
                <a:avLst/>
              </a:prstGeom>
              <a:noFill/>
              <a:ln>
                <a:noFill/>
              </a:ln>
            </p:spPr>
            <p:txBody>
              <a:bodyPr wrap="none" lIns="0" tIns="0" rIns="0" bIns="0" anchor="t" anchorCtr="0">
                <a:spAutoFit/>
              </a:bodyPr>
              <a:lstStyle/>
              <a:p>
                <a:pPr algn="ctr"/>
                <a:r>
                  <a:rPr lang="zh-CN" sz="1350" dirty="0">
                    <a:solidFill>
                      <a:srgbClr val="E67E22"/>
                    </a:solidFill>
                    <a:latin typeface="Arial"/>
                    <a:ea typeface="Microsoft YaHei"/>
                    <a:cs typeface="Arial"/>
                  </a:rPr>
                  <a:t>①</a:t>
                </a:r>
              </a:p>
            </p:txBody>
          </p:sp>
          <p:sp>
            <p:nvSpPr>
              <p:cNvPr id="14" name="TextBox 14"/>
              <p:cNvSpPr txBox="1"/>
              <p:nvPr/>
            </p:nvSpPr>
            <p:spPr>
              <a:xfrm>
                <a:off x="2840355" y="5331142"/>
                <a:ext cx="1654492" cy="274320"/>
              </a:xfrm>
              <a:prstGeom prst="rect">
                <a:avLst/>
              </a:prstGeom>
              <a:noFill/>
              <a:ln>
                <a:noFill/>
              </a:ln>
            </p:spPr>
            <p:txBody>
              <a:bodyPr wrap="none" lIns="0" tIns="0" rIns="0" bIns="0" anchor="t" anchorCtr="0">
                <a:spAutoFit/>
              </a:bodyPr>
              <a:lstStyle/>
              <a:p>
                <a:pPr algn="l"/>
                <a:r>
                  <a:rPr lang="zh-CN" sz="1350" dirty="0">
                    <a:solidFill>
                      <a:srgbClr val="2C2C2C"/>
                    </a:solidFill>
                    <a:latin typeface="Arial"/>
                    <a:ea typeface="Microsoft YaHei"/>
                    <a:cs typeface="Arial"/>
                  </a:rPr>
                  <a:t>帮助商家提升复购率</a:t>
                </a:r>
              </a:p>
            </p:txBody>
          </p:sp>
        </p:grpSp>
        <p:grpSp>
          <p:nvGrpSpPr>
            <p:cNvPr id="19" name="Group 19"/>
            <p:cNvGrpSpPr/>
            <p:nvPr/>
          </p:nvGrpSpPr>
          <p:grpSpPr>
            <a:xfrm>
              <a:off x="4476750" y="5143500"/>
              <a:ext cx="3987165" cy="666750"/>
              <a:chOff x="4476750" y="5143500"/>
              <a:chExt cx="3987165" cy="666750"/>
            </a:xfrm>
          </p:grpSpPr>
          <p:sp>
            <p:nvSpPr>
              <p:cNvPr id="16" name="Rectangle 16"/>
              <p:cNvSpPr/>
              <p:nvPr/>
            </p:nvSpPr>
            <p:spPr>
              <a:xfrm>
                <a:off x="4476750" y="5143500"/>
                <a:ext cx="3238500" cy="666750"/>
              </a:xfrm>
              <a:prstGeom prst="roundRect">
                <a:avLst>
                  <a:gd name="adj" fmla="val 20000"/>
                </a:avLst>
              </a:prstGeom>
              <a:solidFill>
                <a:srgbClr val="FFFFFF"/>
              </a:solidFill>
              <a:ln w="9525">
                <a:solidFill>
                  <a:srgbClr val="F0EDE8"/>
                </a:solidFill>
              </a:ln>
            </p:spPr>
          </p:sp>
          <p:sp>
            <p:nvSpPr>
              <p:cNvPr id="17" name="TextBox 17"/>
              <p:cNvSpPr txBox="1"/>
              <p:nvPr/>
            </p:nvSpPr>
            <p:spPr>
              <a:xfrm>
                <a:off x="6029349" y="5331142"/>
                <a:ext cx="133302" cy="274320"/>
              </a:xfrm>
              <a:prstGeom prst="rect">
                <a:avLst/>
              </a:prstGeom>
              <a:noFill/>
              <a:ln>
                <a:noFill/>
              </a:ln>
            </p:spPr>
            <p:txBody>
              <a:bodyPr wrap="none" lIns="0" tIns="0" rIns="0" bIns="0" anchor="t" anchorCtr="0">
                <a:spAutoFit/>
              </a:bodyPr>
              <a:lstStyle/>
              <a:p>
                <a:pPr algn="ctr"/>
                <a:r>
                  <a:rPr lang="zh-CN" sz="1350" dirty="0">
                    <a:solidFill>
                      <a:srgbClr val="E67E22"/>
                    </a:solidFill>
                    <a:latin typeface="Arial"/>
                    <a:ea typeface="Microsoft YaHei"/>
                    <a:cs typeface="Arial"/>
                  </a:rPr>
                  <a:t>②</a:t>
                </a:r>
              </a:p>
            </p:txBody>
          </p:sp>
          <p:sp>
            <p:nvSpPr>
              <p:cNvPr id="18" name="TextBox 18"/>
              <p:cNvSpPr txBox="1"/>
              <p:nvPr/>
            </p:nvSpPr>
            <p:spPr>
              <a:xfrm>
                <a:off x="6269355" y="5331142"/>
                <a:ext cx="2194560" cy="274320"/>
              </a:xfrm>
              <a:prstGeom prst="rect">
                <a:avLst/>
              </a:prstGeom>
              <a:noFill/>
              <a:ln>
                <a:noFill/>
              </a:ln>
            </p:spPr>
            <p:txBody>
              <a:bodyPr wrap="none" lIns="0" tIns="0" rIns="0" bIns="0" anchor="t" anchorCtr="0">
                <a:spAutoFit/>
              </a:bodyPr>
              <a:lstStyle/>
              <a:p>
                <a:pPr algn="l"/>
                <a:r>
                  <a:rPr lang="zh-CN" sz="1350" dirty="0">
                    <a:solidFill>
                      <a:srgbClr val="2C2C2C"/>
                    </a:solidFill>
                    <a:latin typeface="Arial"/>
                    <a:ea typeface="Microsoft YaHei"/>
                    <a:cs typeface="Arial"/>
                  </a:rPr>
                  <a:t>帮助用户获得持续消费权益</a:t>
                </a:r>
              </a:p>
            </p:txBody>
          </p:sp>
        </p:grpSp>
        <p:grpSp>
          <p:nvGrpSpPr>
            <p:cNvPr id="23" name="Group 23"/>
            <p:cNvGrpSpPr/>
            <p:nvPr/>
          </p:nvGrpSpPr>
          <p:grpSpPr>
            <a:xfrm>
              <a:off x="7905750" y="5143500"/>
              <a:ext cx="4167187" cy="666750"/>
              <a:chOff x="7905750" y="5143500"/>
              <a:chExt cx="4167187" cy="666750"/>
            </a:xfrm>
          </p:grpSpPr>
          <p:sp>
            <p:nvSpPr>
              <p:cNvPr id="20" name="Rectangle 20"/>
              <p:cNvSpPr/>
              <p:nvPr/>
            </p:nvSpPr>
            <p:spPr>
              <a:xfrm>
                <a:off x="7905750" y="5143500"/>
                <a:ext cx="3238500" cy="666750"/>
              </a:xfrm>
              <a:prstGeom prst="roundRect">
                <a:avLst>
                  <a:gd name="adj" fmla="val 20000"/>
                </a:avLst>
              </a:prstGeom>
              <a:solidFill>
                <a:srgbClr val="FFFFFF"/>
              </a:solidFill>
              <a:ln w="9525">
                <a:solidFill>
                  <a:srgbClr val="F0EDE8"/>
                </a:solidFill>
              </a:ln>
            </p:spPr>
          </p:sp>
          <p:sp>
            <p:nvSpPr>
              <p:cNvPr id="21" name="TextBox 21"/>
              <p:cNvSpPr txBox="1"/>
              <p:nvPr/>
            </p:nvSpPr>
            <p:spPr>
              <a:xfrm>
                <a:off x="9458349" y="5331142"/>
                <a:ext cx="133302" cy="274320"/>
              </a:xfrm>
              <a:prstGeom prst="rect">
                <a:avLst/>
              </a:prstGeom>
              <a:noFill/>
              <a:ln>
                <a:noFill/>
              </a:ln>
            </p:spPr>
            <p:txBody>
              <a:bodyPr wrap="none" lIns="0" tIns="0" rIns="0" bIns="0" anchor="t" anchorCtr="0">
                <a:spAutoFit/>
              </a:bodyPr>
              <a:lstStyle/>
              <a:p>
                <a:pPr algn="ctr"/>
                <a:r>
                  <a:rPr lang="zh-CN" sz="1350" dirty="0">
                    <a:solidFill>
                      <a:srgbClr val="E67E22"/>
                    </a:solidFill>
                    <a:latin typeface="Arial"/>
                    <a:ea typeface="Microsoft YaHei"/>
                    <a:cs typeface="Arial"/>
                  </a:rPr>
                  <a:t>③</a:t>
                </a:r>
              </a:p>
            </p:txBody>
          </p:sp>
          <p:sp>
            <p:nvSpPr>
              <p:cNvPr id="22" name="TextBox 22"/>
              <p:cNvSpPr txBox="1"/>
              <p:nvPr/>
            </p:nvSpPr>
            <p:spPr>
              <a:xfrm>
                <a:off x="9698355" y="5331142"/>
                <a:ext cx="2374582" cy="274320"/>
              </a:xfrm>
              <a:prstGeom prst="rect">
                <a:avLst/>
              </a:prstGeom>
              <a:noFill/>
              <a:ln>
                <a:noFill/>
              </a:ln>
            </p:spPr>
            <p:txBody>
              <a:bodyPr wrap="none" lIns="0" tIns="0" rIns="0" bIns="0" anchor="t" anchorCtr="0">
                <a:spAutoFit/>
              </a:bodyPr>
              <a:lstStyle/>
              <a:p>
                <a:pPr algn="l"/>
                <a:r>
                  <a:rPr lang="zh-CN" sz="1350" dirty="0">
                    <a:solidFill>
                      <a:srgbClr val="2C2C2C"/>
                    </a:solidFill>
                    <a:latin typeface="Arial"/>
                    <a:ea typeface="Microsoft YaHei"/>
                    <a:cs typeface="Arial"/>
                  </a:rPr>
                  <a:t>帮助社区形成可持续商业循环</a:t>
                </a:r>
              </a:p>
            </p:txBody>
          </p:sp>
        </p:grpSp>
      </p:grpSp>
      <p:grpSp>
        <p:nvGrpSpPr>
          <p:cNvPr id="27" name="Group 27"/>
          <p:cNvGrpSpPr/>
          <p:nvPr/>
        </p:nvGrpSpPr>
        <p:grpSpPr>
          <a:xfrm>
            <a:off x="2762250" y="6096000"/>
            <a:ext cx="6667500" cy="342900"/>
            <a:chOff x="2762250" y="6096000"/>
            <a:chExt cx="6667500" cy="342900"/>
          </a:xfrm>
        </p:grpSpPr>
        <p:sp>
          <p:nvSpPr>
            <p:cNvPr id="25" name="Rectangle 25"/>
            <p:cNvSpPr/>
            <p:nvPr/>
          </p:nvSpPr>
          <p:spPr>
            <a:xfrm>
              <a:off x="2762250" y="6096000"/>
              <a:ext cx="6667500" cy="342900"/>
            </a:xfrm>
            <a:prstGeom prst="roundRect">
              <a:avLst>
                <a:gd name="adj" fmla="val 50000"/>
              </a:avLst>
            </a:prstGeom>
            <a:solidFill>
              <a:srgbClr val="1A5276">
                <a:alpha val="8000"/>
              </a:srgbClr>
            </a:solidFill>
            <a:ln>
              <a:noFill/>
            </a:ln>
          </p:spPr>
        </p:sp>
        <p:sp>
          <p:nvSpPr>
            <p:cNvPr id="26" name="TextBox 26"/>
            <p:cNvSpPr txBox="1"/>
            <p:nvPr/>
          </p:nvSpPr>
          <p:spPr>
            <a:xfrm>
              <a:off x="3192399" y="6185535"/>
              <a:ext cx="5807202" cy="243840"/>
            </a:xfrm>
            <a:prstGeom prst="rect">
              <a:avLst/>
            </a:prstGeom>
            <a:noFill/>
            <a:ln>
              <a:noFill/>
            </a:ln>
          </p:spPr>
          <p:txBody>
            <a:bodyPr wrap="none" lIns="0" tIns="0" rIns="0" bIns="0" anchor="t" anchorCtr="0">
              <a:spAutoFit/>
            </a:bodyPr>
            <a:lstStyle/>
            <a:p>
              <a:pPr algn="ctr"/>
              <a:r>
                <a:rPr lang="zh-CN" sz="1200" dirty="0">
                  <a:solidFill>
                    <a:srgbClr val="1A5276"/>
                  </a:solidFill>
                  <a:latin typeface="Arial"/>
                  <a:ea typeface="Microsoft YaHei"/>
                  <a:cs typeface="Arial"/>
                </a:rPr>
                <a:t>核心差异化：不是「更好的美团」——美团优化交易效率，链邦赋商通创造关系价值</a:t>
              </a:r>
            </a:p>
          </p:txBody>
        </p:sp>
      </p:grpSp>
      <p:sp>
        <p:nvSpPr>
          <p:cNvPr id="28" name="TextBox 28"/>
          <p:cNvSpPr txBox="1"/>
          <p:nvPr/>
        </p:nvSpPr>
        <p:spPr>
          <a:xfrm>
            <a:off x="560070" y="6522720"/>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29" name="TextBox 29"/>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4)">
                                      <p:cBhvr>
                                        <p:cTn id="7" dur="400"/>
                                        <p:tgtEl>
                                          <p:spTgt spid="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slide(fromBottom)">
                                      <p:cBhvr>
                                        <p:cTn id="11" dur="400"/>
                                        <p:tgtEl>
                                          <p:spTgt spid="11"/>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image">
                                      <p:cBhvr>
                                        <p:cTn id="15" dur="400"/>
                                        <p:tgtEl>
                                          <p:spTgt spid="2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24"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457200" y="266700"/>
            <a:ext cx="57150" cy="304800"/>
          </a:xfrm>
          <a:prstGeom prst="roundRect">
            <a:avLst>
              <a:gd name="adj" fmla="val 50000"/>
            </a:avLst>
          </a:prstGeom>
          <a:solidFill>
            <a:srgbClr val="E67E22"/>
          </a:solidFill>
          <a:ln>
            <a:noFill/>
          </a:ln>
        </p:spPr>
      </p:sp>
      <p:sp>
        <p:nvSpPr>
          <p:cNvPr id="4" name="TextBox 4"/>
          <p:cNvSpPr txBox="1"/>
          <p:nvPr/>
        </p:nvSpPr>
        <p:spPr>
          <a:xfrm>
            <a:off x="594360" y="203835"/>
            <a:ext cx="4569142"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执行摘要（2/2）— 战略全景</a:t>
            </a:r>
          </a:p>
        </p:txBody>
      </p:sp>
      <p:sp>
        <p:nvSpPr>
          <p:cNvPr id="5" name="TextBox 5"/>
          <p:cNvSpPr txBox="1"/>
          <p:nvPr/>
        </p:nvSpPr>
        <p:spPr>
          <a:xfrm>
            <a:off x="609600" y="542925"/>
            <a:ext cx="5298758"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消费流转 × 权益互通 × 三级推广：三大系统咬合成一个飞轮</a:t>
            </a:r>
          </a:p>
        </p:txBody>
      </p:sp>
      <p:sp>
        <p:nvSpPr>
          <p:cNvPr id="6" name="Line 6"/>
          <p:cNvSpPr/>
          <p:nvPr/>
        </p:nvSpPr>
        <p:spPr>
          <a:xfrm>
            <a:off x="457200" y="87630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7" name="Ellipse 7"/>
          <p:cNvSpPr/>
          <p:nvPr/>
        </p:nvSpPr>
        <p:spPr>
          <a:xfrm>
            <a:off x="5353050" y="2400300"/>
            <a:ext cx="1485900" cy="1485900"/>
          </a:xfrm>
          <a:prstGeom prst="ellipse">
            <a:avLst/>
          </a:prstGeom>
          <a:gradFill>
            <a:gsLst>
              <a:gs pos="0">
                <a:srgbClr val="E67E22"/>
              </a:gs>
              <a:gs pos="100000">
                <a:srgbClr val="D4701A"/>
              </a:gs>
            </a:gsLst>
            <a:lin ang="2700000" scaled="1"/>
          </a:gradFill>
          <a:ln>
            <a:noFill/>
          </a:ln>
          <a:effectLst>
            <a:outerShdw blurRad="76200" dist="19050" dir="5400000" algn="ctr" rotWithShape="0">
              <a:srgbClr val="2C2C2C">
                <a:alpha val="4500"/>
              </a:srgbClr>
            </a:outerShdw>
          </a:effectLst>
        </p:spPr>
      </p:sp>
      <p:sp>
        <p:nvSpPr>
          <p:cNvPr id="8" name="Ellipse 8"/>
          <p:cNvSpPr/>
          <p:nvPr/>
        </p:nvSpPr>
        <p:spPr>
          <a:xfrm>
            <a:off x="5353050" y="2400300"/>
            <a:ext cx="1485900" cy="1485900"/>
          </a:xfrm>
          <a:prstGeom prst="ellipse">
            <a:avLst/>
          </a:prstGeom>
          <a:noFill/>
          <a:ln w="19050">
            <a:solidFill>
              <a:srgbClr val="FAFAF5">
                <a:alpha val="30000"/>
              </a:srgbClr>
            </a:solidFill>
            <a:custDash>
              <a:ds d="300000" sp="200000"/>
            </a:custDash>
          </a:ln>
        </p:spPr>
      </p:sp>
      <p:sp>
        <p:nvSpPr>
          <p:cNvPr id="9" name="Ellipse 9"/>
          <p:cNvSpPr/>
          <p:nvPr/>
        </p:nvSpPr>
        <p:spPr>
          <a:xfrm>
            <a:off x="5924550" y="2857500"/>
            <a:ext cx="342900" cy="342900"/>
          </a:xfrm>
          <a:prstGeom prst="ellipse">
            <a:avLst/>
          </a:prstGeom>
          <a:noFill/>
          <a:ln w="28575">
            <a:solidFill>
              <a:srgbClr val="FFFFFF"/>
            </a:solidFill>
          </a:ln>
        </p:spPr>
      </p:sp>
      <p:sp>
        <p:nvSpPr>
          <p:cNvPr id="10" name="Line 10"/>
          <p:cNvSpPr/>
          <p:nvPr/>
        </p:nvSpPr>
        <p:spPr>
          <a:xfrm>
            <a:off x="6096000" y="2857500"/>
            <a:ext cx="9525" cy="171450"/>
          </a:xfrm>
          <a:custGeom>
            <a:avLst/>
            <a:gdLst/>
            <a:ahLst/>
            <a:cxnLst/>
            <a:rect l="l" t="t" r="r" b="b"/>
            <a:pathLst>
              <a:path w="9525" h="171450">
                <a:moveTo>
                  <a:pt x="0" y="171450"/>
                </a:moveTo>
                <a:lnTo>
                  <a:pt x="0" y="0"/>
                </a:lnTo>
              </a:path>
            </a:pathLst>
          </a:custGeom>
          <a:noFill/>
          <a:ln w="28575">
            <a:solidFill>
              <a:srgbClr val="FFFFFF"/>
            </a:solidFill>
          </a:ln>
        </p:spPr>
      </p:sp>
      <p:sp>
        <p:nvSpPr>
          <p:cNvPr id="11" name="TextBox 11"/>
          <p:cNvSpPr txBox="1"/>
          <p:nvPr/>
        </p:nvSpPr>
        <p:spPr>
          <a:xfrm>
            <a:off x="5497473" y="3250882"/>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链邦赋商通</a:t>
            </a:r>
          </a:p>
        </p:txBody>
      </p:sp>
      <p:sp>
        <p:nvSpPr>
          <p:cNvPr id="12" name="TextBox 12"/>
          <p:cNvSpPr txBox="1"/>
          <p:nvPr/>
        </p:nvSpPr>
        <p:spPr>
          <a:xfrm>
            <a:off x="5732621" y="3525202"/>
            <a:ext cx="726758" cy="213360"/>
          </a:xfrm>
          <a:prstGeom prst="rect">
            <a:avLst/>
          </a:prstGeom>
          <a:noFill/>
          <a:ln>
            <a:noFill/>
          </a:ln>
        </p:spPr>
        <p:txBody>
          <a:bodyPr wrap="none" lIns="0" tIns="0" rIns="0" bIns="0" anchor="t" anchorCtr="0">
            <a:spAutoFit/>
          </a:bodyPr>
          <a:lstStyle/>
          <a:p>
            <a:pPr algn="ctr"/>
            <a:r>
              <a:rPr lang="zh-CN" sz="1050" dirty="0">
                <a:solidFill>
                  <a:srgbClr val="FFE8D0"/>
                </a:solidFill>
                <a:latin typeface="Arial"/>
                <a:ea typeface="Microsoft YaHei"/>
                <a:cs typeface="Arial"/>
              </a:rPr>
              <a:t>链生活品牌</a:t>
            </a:r>
          </a:p>
        </p:txBody>
      </p:sp>
      <p:sp>
        <p:nvSpPr>
          <p:cNvPr id="13" name="Line 13"/>
          <p:cNvSpPr/>
          <p:nvPr/>
        </p:nvSpPr>
        <p:spPr>
          <a:xfrm>
            <a:off x="6096000" y="1524000"/>
            <a:ext cx="9525" cy="876300"/>
          </a:xfrm>
          <a:custGeom>
            <a:avLst/>
            <a:gdLst/>
            <a:ahLst/>
            <a:cxnLst/>
            <a:rect l="l" t="t" r="r" b="b"/>
            <a:pathLst>
              <a:path w="9525" h="876300">
                <a:moveTo>
                  <a:pt x="0" y="876300"/>
                </a:moveTo>
                <a:lnTo>
                  <a:pt x="0" y="0"/>
                </a:lnTo>
              </a:path>
            </a:pathLst>
          </a:custGeom>
          <a:noFill/>
          <a:ln w="19050">
            <a:solidFill>
              <a:srgbClr val="E67E22"/>
            </a:solidFill>
            <a:prstDash val="lgDash"/>
          </a:ln>
        </p:spPr>
      </p:sp>
      <p:sp>
        <p:nvSpPr>
          <p:cNvPr id="14" name="Rectangle 14"/>
          <p:cNvSpPr/>
          <p:nvPr/>
        </p:nvSpPr>
        <p:spPr>
          <a:xfrm>
            <a:off x="4191000" y="1085850"/>
            <a:ext cx="3810000" cy="723900"/>
          </a:xfrm>
          <a:prstGeom prst="roundRect">
            <a:avLst>
              <a:gd name="adj" fmla="val 18421"/>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15" name="Rectangle 15"/>
          <p:cNvSpPr/>
          <p:nvPr/>
        </p:nvSpPr>
        <p:spPr>
          <a:xfrm>
            <a:off x="4191000" y="1085850"/>
            <a:ext cx="3810000" cy="723900"/>
          </a:xfrm>
          <a:prstGeom prst="roundRect">
            <a:avLst>
              <a:gd name="adj" fmla="val 18421"/>
            </a:avLst>
          </a:prstGeom>
          <a:solidFill>
            <a:srgbClr val="FFF8F0"/>
          </a:solidFill>
          <a:ln>
            <a:noFill/>
          </a:ln>
        </p:spPr>
      </p:sp>
      <p:sp>
        <p:nvSpPr>
          <p:cNvPr id="16" name="Rectangle 16"/>
          <p:cNvSpPr/>
          <p:nvPr/>
        </p:nvSpPr>
        <p:spPr>
          <a:xfrm>
            <a:off x="4343400" y="1219200"/>
            <a:ext cx="304800" cy="304800"/>
          </a:xfrm>
          <a:prstGeom prst="roundRect">
            <a:avLst>
              <a:gd name="adj" fmla="val 18750"/>
            </a:avLst>
          </a:prstGeom>
          <a:solidFill>
            <a:srgbClr val="E67E22"/>
          </a:solidFill>
          <a:ln>
            <a:noFill/>
          </a:ln>
        </p:spPr>
      </p:sp>
      <p:sp>
        <p:nvSpPr>
          <p:cNvPr id="17" name="TextBox 17"/>
          <p:cNvSpPr txBox="1"/>
          <p:nvPr/>
        </p:nvSpPr>
        <p:spPr>
          <a:xfrm>
            <a:off x="4726305" y="1206818"/>
            <a:ext cx="1168432"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消费流转体系</a:t>
            </a:r>
          </a:p>
        </p:txBody>
      </p:sp>
      <p:sp>
        <p:nvSpPr>
          <p:cNvPr id="18" name="TextBox 18"/>
          <p:cNvSpPr txBox="1"/>
          <p:nvPr/>
        </p:nvSpPr>
        <p:spPr>
          <a:xfrm>
            <a:off x="4730115" y="1429702"/>
            <a:ext cx="202892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平台商家 → 联盟商家 → 综合商城</a:t>
            </a:r>
          </a:p>
        </p:txBody>
      </p:sp>
      <p:sp>
        <p:nvSpPr>
          <p:cNvPr id="19" name="TextBox 19"/>
          <p:cNvSpPr txBox="1"/>
          <p:nvPr/>
        </p:nvSpPr>
        <p:spPr>
          <a:xfrm>
            <a:off x="4731068" y="1609249"/>
            <a:ext cx="1714976" cy="198120"/>
          </a:xfrm>
          <a:prstGeom prst="rect">
            <a:avLst/>
          </a:prstGeom>
          <a:noFill/>
          <a:ln>
            <a:noFill/>
          </a:ln>
        </p:spPr>
        <p:txBody>
          <a:bodyPr wrap="none" lIns="0" tIns="0" rIns="0" bIns="0" anchor="t" anchorCtr="0">
            <a:spAutoFit/>
          </a:bodyPr>
          <a:lstStyle/>
          <a:p>
            <a:pPr algn="l"/>
            <a:r>
              <a:rPr lang="zh-CN" sz="975" dirty="0">
                <a:solidFill>
                  <a:srgbClr val="D4A574"/>
                </a:solidFill>
                <a:latin typeface="Arial"/>
                <a:ea typeface="Microsoft YaHei"/>
                <a:cs typeface="Arial"/>
              </a:rPr>
              <a:t>软性优先级引导，非强制路径</a:t>
            </a:r>
          </a:p>
        </p:txBody>
      </p:sp>
      <p:sp>
        <p:nvSpPr>
          <p:cNvPr id="20" name="Line 20"/>
          <p:cNvSpPr/>
          <p:nvPr/>
        </p:nvSpPr>
        <p:spPr>
          <a:xfrm>
            <a:off x="3048000" y="2476500"/>
            <a:ext cx="2305050" cy="476250"/>
          </a:xfrm>
          <a:custGeom>
            <a:avLst/>
            <a:gdLst/>
            <a:ahLst/>
            <a:cxnLst/>
            <a:rect l="l" t="t" r="r" b="b"/>
            <a:pathLst>
              <a:path w="2305050" h="476250">
                <a:moveTo>
                  <a:pt x="2305050" y="476250"/>
                </a:moveTo>
                <a:lnTo>
                  <a:pt x="0" y="0"/>
                </a:lnTo>
              </a:path>
            </a:pathLst>
          </a:custGeom>
          <a:noFill/>
          <a:ln w="19050">
            <a:solidFill>
              <a:srgbClr val="1A5276"/>
            </a:solidFill>
            <a:prstDash val="lgDash"/>
          </a:ln>
        </p:spPr>
      </p:sp>
      <p:sp>
        <p:nvSpPr>
          <p:cNvPr id="21" name="Rectangle 21"/>
          <p:cNvSpPr/>
          <p:nvPr/>
        </p:nvSpPr>
        <p:spPr>
          <a:xfrm>
            <a:off x="647700" y="2076450"/>
            <a:ext cx="2857500" cy="838200"/>
          </a:xfrm>
          <a:prstGeom prst="roundRect">
            <a:avLst>
              <a:gd name="adj" fmla="val 15909"/>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22" name="Rectangle 22"/>
          <p:cNvSpPr/>
          <p:nvPr/>
        </p:nvSpPr>
        <p:spPr>
          <a:xfrm>
            <a:off x="647700" y="2076450"/>
            <a:ext cx="2857500" cy="838200"/>
          </a:xfrm>
          <a:prstGeom prst="roundRect">
            <a:avLst>
              <a:gd name="adj" fmla="val 15909"/>
            </a:avLst>
          </a:prstGeom>
          <a:solidFill>
            <a:srgbClr val="F0F5FA"/>
          </a:solidFill>
          <a:ln>
            <a:noFill/>
          </a:ln>
        </p:spPr>
      </p:sp>
      <p:sp>
        <p:nvSpPr>
          <p:cNvPr id="23" name="Rectangle 23"/>
          <p:cNvSpPr/>
          <p:nvPr/>
        </p:nvSpPr>
        <p:spPr>
          <a:xfrm>
            <a:off x="800100" y="2228850"/>
            <a:ext cx="304800" cy="304800"/>
          </a:xfrm>
          <a:prstGeom prst="roundRect">
            <a:avLst>
              <a:gd name="adj" fmla="val 18750"/>
            </a:avLst>
          </a:prstGeom>
          <a:solidFill>
            <a:srgbClr val="1A5276"/>
          </a:solidFill>
          <a:ln>
            <a:noFill/>
          </a:ln>
        </p:spPr>
      </p:sp>
      <p:sp>
        <p:nvSpPr>
          <p:cNvPr id="24" name="Ellipse 24"/>
          <p:cNvSpPr/>
          <p:nvPr/>
        </p:nvSpPr>
        <p:spPr>
          <a:xfrm>
            <a:off x="914400" y="2381250"/>
            <a:ext cx="76200" cy="76200"/>
          </a:xfrm>
          <a:prstGeom prst="ellipse">
            <a:avLst/>
          </a:prstGeom>
          <a:solidFill>
            <a:srgbClr val="FFFFFF"/>
          </a:solidFill>
          <a:ln>
            <a:noFill/>
          </a:ln>
        </p:spPr>
      </p:sp>
      <p:sp>
        <p:nvSpPr>
          <p:cNvPr id="25" name="TextBox 25"/>
          <p:cNvSpPr txBox="1"/>
          <p:nvPr/>
        </p:nvSpPr>
        <p:spPr>
          <a:xfrm>
            <a:off x="1183005" y="2235518"/>
            <a:ext cx="2113550"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全生态会员权益互通体系</a:t>
            </a:r>
          </a:p>
        </p:txBody>
      </p:sp>
      <p:sp>
        <p:nvSpPr>
          <p:cNvPr id="26" name="TextBox 26"/>
          <p:cNvSpPr txBox="1"/>
          <p:nvPr/>
        </p:nvSpPr>
        <p:spPr>
          <a:xfrm>
            <a:off x="787718" y="2504599"/>
            <a:ext cx="136393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代金券 · 积分 · 消费金</a:t>
            </a:r>
          </a:p>
        </p:txBody>
      </p:sp>
      <p:sp>
        <p:nvSpPr>
          <p:cNvPr id="27" name="TextBox 27"/>
          <p:cNvSpPr txBox="1"/>
          <p:nvPr/>
        </p:nvSpPr>
        <p:spPr>
          <a:xfrm>
            <a:off x="787718" y="2695099"/>
            <a:ext cx="2118027" cy="198120"/>
          </a:xfrm>
          <a:prstGeom prst="rect">
            <a:avLst/>
          </a:prstGeom>
          <a:noFill/>
          <a:ln>
            <a:noFill/>
          </a:ln>
        </p:spPr>
        <p:txBody>
          <a:bodyPr wrap="none" lIns="0" tIns="0" rIns="0" bIns="0" anchor="t" anchorCtr="0">
            <a:spAutoFit/>
          </a:bodyPr>
          <a:lstStyle/>
          <a:p>
            <a:pPr algn="l"/>
            <a:r>
              <a:rPr lang="zh-CN" sz="975" dirty="0">
                <a:solidFill>
                  <a:srgbClr val="D4A574"/>
                </a:solidFill>
                <a:latin typeface="Arial"/>
                <a:ea typeface="Microsoft YaHei"/>
                <a:cs typeface="Arial"/>
              </a:rPr>
              <a:t>全平台通用，在A店获得、在B店使用</a:t>
            </a:r>
          </a:p>
        </p:txBody>
      </p:sp>
      <p:sp>
        <p:nvSpPr>
          <p:cNvPr id="28" name="Line 28"/>
          <p:cNvSpPr/>
          <p:nvPr/>
        </p:nvSpPr>
        <p:spPr>
          <a:xfrm>
            <a:off x="6838950" y="2476500"/>
            <a:ext cx="2305050" cy="476250"/>
          </a:xfrm>
          <a:custGeom>
            <a:avLst/>
            <a:gdLst/>
            <a:ahLst/>
            <a:cxnLst/>
            <a:rect l="l" t="t" r="r" b="b"/>
            <a:pathLst>
              <a:path w="2305050" h="476250">
                <a:moveTo>
                  <a:pt x="0" y="476250"/>
                </a:moveTo>
                <a:lnTo>
                  <a:pt x="2305050" y="0"/>
                </a:lnTo>
              </a:path>
            </a:pathLst>
          </a:custGeom>
          <a:noFill/>
          <a:ln w="19050">
            <a:solidFill>
              <a:srgbClr val="1A5276"/>
            </a:solidFill>
            <a:prstDash val="lgDash"/>
          </a:ln>
        </p:spPr>
      </p:sp>
      <p:sp>
        <p:nvSpPr>
          <p:cNvPr id="29" name="Rectangle 29"/>
          <p:cNvSpPr/>
          <p:nvPr/>
        </p:nvSpPr>
        <p:spPr>
          <a:xfrm>
            <a:off x="7239000" y="2076450"/>
            <a:ext cx="2857500" cy="838200"/>
          </a:xfrm>
          <a:prstGeom prst="roundRect">
            <a:avLst>
              <a:gd name="adj" fmla="val 15909"/>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30" name="Rectangle 30"/>
          <p:cNvSpPr/>
          <p:nvPr/>
        </p:nvSpPr>
        <p:spPr>
          <a:xfrm>
            <a:off x="7239000" y="2076450"/>
            <a:ext cx="2857500" cy="838200"/>
          </a:xfrm>
          <a:prstGeom prst="roundRect">
            <a:avLst>
              <a:gd name="adj" fmla="val 15909"/>
            </a:avLst>
          </a:prstGeom>
          <a:solidFill>
            <a:srgbClr val="F0F5FA"/>
          </a:solidFill>
          <a:ln>
            <a:noFill/>
          </a:ln>
        </p:spPr>
      </p:sp>
      <p:sp>
        <p:nvSpPr>
          <p:cNvPr id="31" name="Rectangle 31"/>
          <p:cNvSpPr/>
          <p:nvPr/>
        </p:nvSpPr>
        <p:spPr>
          <a:xfrm>
            <a:off x="7391400" y="2228850"/>
            <a:ext cx="304800" cy="304800"/>
          </a:xfrm>
          <a:prstGeom prst="roundRect">
            <a:avLst>
              <a:gd name="adj" fmla="val 18750"/>
            </a:avLst>
          </a:prstGeom>
          <a:solidFill>
            <a:srgbClr val="1A5276"/>
          </a:solidFill>
          <a:ln>
            <a:noFill/>
          </a:ln>
        </p:spPr>
      </p:sp>
      <p:sp>
        <p:nvSpPr>
          <p:cNvPr id="32" name="Ellipse 32"/>
          <p:cNvSpPr/>
          <p:nvPr/>
        </p:nvSpPr>
        <p:spPr>
          <a:xfrm>
            <a:off x="7448550" y="2286000"/>
            <a:ext cx="76200" cy="76200"/>
          </a:xfrm>
          <a:prstGeom prst="ellipse">
            <a:avLst/>
          </a:prstGeom>
          <a:solidFill>
            <a:srgbClr val="FFFFFF"/>
          </a:solidFill>
          <a:ln>
            <a:noFill/>
          </a:ln>
        </p:spPr>
      </p:sp>
      <p:sp>
        <p:nvSpPr>
          <p:cNvPr id="33" name="Ellipse 33"/>
          <p:cNvSpPr/>
          <p:nvPr/>
        </p:nvSpPr>
        <p:spPr>
          <a:xfrm>
            <a:off x="7505700" y="2247900"/>
            <a:ext cx="76200" cy="76200"/>
          </a:xfrm>
          <a:prstGeom prst="ellipse">
            <a:avLst/>
          </a:prstGeom>
          <a:solidFill>
            <a:srgbClr val="FFFFFF"/>
          </a:solidFill>
          <a:ln>
            <a:noFill/>
          </a:ln>
        </p:spPr>
      </p:sp>
      <p:sp>
        <p:nvSpPr>
          <p:cNvPr id="34" name="Ellipse 34"/>
          <p:cNvSpPr/>
          <p:nvPr/>
        </p:nvSpPr>
        <p:spPr>
          <a:xfrm>
            <a:off x="7562850" y="2286000"/>
            <a:ext cx="76200" cy="76200"/>
          </a:xfrm>
          <a:prstGeom prst="ellipse">
            <a:avLst/>
          </a:prstGeom>
          <a:solidFill>
            <a:srgbClr val="FFFFFF"/>
          </a:solidFill>
          <a:ln>
            <a:noFill/>
          </a:ln>
        </p:spPr>
      </p:sp>
      <p:sp>
        <p:nvSpPr>
          <p:cNvPr id="35" name="TextBox 35"/>
          <p:cNvSpPr txBox="1"/>
          <p:nvPr/>
        </p:nvSpPr>
        <p:spPr>
          <a:xfrm>
            <a:off x="7774305" y="2235518"/>
            <a:ext cx="1168432"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三级推广网络</a:t>
            </a:r>
          </a:p>
        </p:txBody>
      </p:sp>
      <p:sp>
        <p:nvSpPr>
          <p:cNvPr id="36" name="TextBox 36"/>
          <p:cNvSpPr txBox="1"/>
          <p:nvPr/>
        </p:nvSpPr>
        <p:spPr>
          <a:xfrm>
            <a:off x="7379018" y="2504599"/>
            <a:ext cx="175398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城市服务商 → 服务站 → 推广者</a:t>
            </a:r>
          </a:p>
        </p:txBody>
      </p:sp>
      <p:sp>
        <p:nvSpPr>
          <p:cNvPr id="37" name="TextBox 37"/>
          <p:cNvSpPr txBox="1"/>
          <p:nvPr/>
        </p:nvSpPr>
        <p:spPr>
          <a:xfrm>
            <a:off x="7379018" y="2695099"/>
            <a:ext cx="1773484" cy="198120"/>
          </a:xfrm>
          <a:prstGeom prst="rect">
            <a:avLst/>
          </a:prstGeom>
          <a:noFill/>
          <a:ln>
            <a:noFill/>
          </a:ln>
        </p:spPr>
        <p:txBody>
          <a:bodyPr wrap="none" lIns="0" tIns="0" rIns="0" bIns="0" anchor="t" anchorCtr="0">
            <a:spAutoFit/>
          </a:bodyPr>
          <a:lstStyle/>
          <a:p>
            <a:pPr algn="l"/>
            <a:r>
              <a:rPr lang="zh-CN" sz="975" dirty="0">
                <a:solidFill>
                  <a:srgbClr val="D4A574"/>
                </a:solidFill>
                <a:latin typeface="Arial"/>
                <a:ea typeface="Microsoft YaHei"/>
                <a:cs typeface="Arial"/>
              </a:rPr>
              <a:t>城市服务商1% + 三级管理体系</a:t>
            </a:r>
          </a:p>
        </p:txBody>
      </p:sp>
      <p:sp>
        <p:nvSpPr>
          <p:cNvPr id="38" name="Polygon 38"/>
          <p:cNvSpPr/>
          <p:nvPr/>
        </p:nvSpPr>
        <p:spPr>
          <a:xfrm>
            <a:off x="6038850" y="1809750"/>
            <a:ext cx="114300" cy="152400"/>
          </a:xfrm>
          <a:custGeom>
            <a:avLst/>
            <a:gdLst/>
            <a:ahLst/>
            <a:cxnLst/>
            <a:rect l="l" t="t" r="r" b="b"/>
            <a:pathLst>
              <a:path w="114300" h="152400">
                <a:moveTo>
                  <a:pt x="57150" y="0"/>
                </a:moveTo>
                <a:lnTo>
                  <a:pt x="0" y="152400"/>
                </a:lnTo>
                <a:lnTo>
                  <a:pt x="114300" y="152400"/>
                </a:lnTo>
                <a:close/>
              </a:path>
            </a:pathLst>
          </a:custGeom>
          <a:solidFill>
            <a:srgbClr val="E67E22"/>
          </a:solidFill>
          <a:ln>
            <a:noFill/>
          </a:ln>
        </p:spPr>
      </p:sp>
      <p:sp>
        <p:nvSpPr>
          <p:cNvPr id="39" name="Line 39"/>
          <p:cNvSpPr/>
          <p:nvPr/>
        </p:nvSpPr>
        <p:spPr>
          <a:xfrm>
            <a:off x="6096000" y="3886200"/>
            <a:ext cx="9525" cy="495300"/>
          </a:xfrm>
          <a:custGeom>
            <a:avLst/>
            <a:gdLst/>
            <a:ahLst/>
            <a:cxnLst/>
            <a:rect l="l" t="t" r="r" b="b"/>
            <a:pathLst>
              <a:path w="9525" h="495300">
                <a:moveTo>
                  <a:pt x="0" y="0"/>
                </a:moveTo>
                <a:lnTo>
                  <a:pt x="0" y="495300"/>
                </a:lnTo>
              </a:path>
            </a:pathLst>
          </a:custGeom>
          <a:noFill/>
          <a:ln w="19050">
            <a:solidFill>
              <a:srgbClr val="D4A574"/>
            </a:solidFill>
            <a:prstDash val="lgDash"/>
          </a:ln>
        </p:spPr>
      </p:sp>
      <p:sp>
        <p:nvSpPr>
          <p:cNvPr id="40" name="Rectangle 40"/>
          <p:cNvSpPr/>
          <p:nvPr/>
        </p:nvSpPr>
        <p:spPr>
          <a:xfrm>
            <a:off x="1714500" y="4381500"/>
            <a:ext cx="8763000" cy="609600"/>
          </a:xfrm>
          <a:prstGeom prst="roundRect">
            <a:avLst>
              <a:gd name="adj" fmla="val 21875"/>
            </a:avLst>
          </a:prstGeom>
          <a:solidFill>
            <a:srgbClr val="FFFFFF"/>
          </a:solidFill>
          <a:ln w="14288">
            <a:solidFill>
              <a:srgbClr val="D4A574"/>
            </a:solidFill>
          </a:ln>
          <a:effectLst>
            <a:outerShdw blurRad="76200" dist="19050" dir="5400000" algn="ctr" rotWithShape="0">
              <a:srgbClr val="2C2C2C">
                <a:alpha val="4500"/>
              </a:srgbClr>
            </a:outerShdw>
          </a:effectLst>
        </p:spPr>
      </p:sp>
      <p:sp>
        <p:nvSpPr>
          <p:cNvPr id="41" name="Rectangle 41"/>
          <p:cNvSpPr/>
          <p:nvPr/>
        </p:nvSpPr>
        <p:spPr>
          <a:xfrm>
            <a:off x="1714500" y="4381500"/>
            <a:ext cx="8763000" cy="609600"/>
          </a:xfrm>
          <a:prstGeom prst="roundRect">
            <a:avLst>
              <a:gd name="adj" fmla="val 21875"/>
            </a:avLst>
          </a:prstGeom>
          <a:solidFill>
            <a:srgbClr val="FFFBF5"/>
          </a:solidFill>
          <a:ln>
            <a:noFill/>
          </a:ln>
        </p:spPr>
      </p:sp>
      <p:sp>
        <p:nvSpPr>
          <p:cNvPr id="42" name="Rectangle 42"/>
          <p:cNvSpPr/>
          <p:nvPr/>
        </p:nvSpPr>
        <p:spPr>
          <a:xfrm>
            <a:off x="2000250" y="4533900"/>
            <a:ext cx="266700" cy="266700"/>
          </a:xfrm>
          <a:prstGeom prst="roundRect">
            <a:avLst>
              <a:gd name="adj" fmla="val 21429"/>
            </a:avLst>
          </a:prstGeom>
          <a:solidFill>
            <a:srgbClr val="1E8449"/>
          </a:solidFill>
          <a:ln>
            <a:noFill/>
          </a:ln>
        </p:spPr>
      </p:sp>
      <p:sp>
        <p:nvSpPr>
          <p:cNvPr id="43" name="TextBox 43"/>
          <p:cNvSpPr txBox="1"/>
          <p:nvPr/>
        </p:nvSpPr>
        <p:spPr>
          <a:xfrm>
            <a:off x="2365058" y="4586764"/>
            <a:ext cx="5896843"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底层支撑：交易即服务费结算 · 汇付直清 · 零资金池 · 100%去金融中心化</a:t>
            </a:r>
          </a:p>
        </p:txBody>
      </p:sp>
      <p:sp>
        <p:nvSpPr>
          <p:cNvPr id="44" name="Rectangle 44"/>
          <p:cNvSpPr/>
          <p:nvPr/>
        </p:nvSpPr>
        <p:spPr>
          <a:xfrm>
            <a:off x="1714500" y="5105400"/>
            <a:ext cx="2762250" cy="381000"/>
          </a:xfrm>
          <a:prstGeom prst="roundRect">
            <a:avLst>
              <a:gd name="adj" fmla="val 20000"/>
            </a:avLst>
          </a:prstGeom>
          <a:solidFill>
            <a:srgbClr val="FFFFFF"/>
          </a:solidFill>
          <a:ln w="9525">
            <a:solidFill>
              <a:srgbClr val="E8E3DC"/>
            </a:solidFill>
          </a:ln>
        </p:spPr>
      </p:sp>
      <p:sp>
        <p:nvSpPr>
          <p:cNvPr id="45" name="TextBox 45"/>
          <p:cNvSpPr txBox="1"/>
          <p:nvPr/>
        </p:nvSpPr>
        <p:spPr>
          <a:xfrm>
            <a:off x="1853636" y="5239702"/>
            <a:ext cx="2483977"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盈亏平衡 40,500笔/月 · 净利率 0.89%</a:t>
            </a:r>
          </a:p>
        </p:txBody>
      </p:sp>
      <p:sp>
        <p:nvSpPr>
          <p:cNvPr id="46" name="Rectangle 46"/>
          <p:cNvSpPr/>
          <p:nvPr/>
        </p:nvSpPr>
        <p:spPr>
          <a:xfrm>
            <a:off x="4714875" y="5105400"/>
            <a:ext cx="2762250" cy="381000"/>
          </a:xfrm>
          <a:prstGeom prst="roundRect">
            <a:avLst>
              <a:gd name="adj" fmla="val 20000"/>
            </a:avLst>
          </a:prstGeom>
          <a:solidFill>
            <a:srgbClr val="FFFFFF"/>
          </a:solidFill>
          <a:ln w="9525">
            <a:solidFill>
              <a:srgbClr val="E8E3DC"/>
            </a:solidFill>
          </a:ln>
        </p:spPr>
      </p:sp>
      <p:sp>
        <p:nvSpPr>
          <p:cNvPr id="47" name="TextBox 47"/>
          <p:cNvSpPr txBox="1"/>
          <p:nvPr/>
        </p:nvSpPr>
        <p:spPr>
          <a:xfrm>
            <a:off x="4903018" y="5239702"/>
            <a:ext cx="2385965"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千面千店 · 3种布局 · 软性优先级排序</a:t>
            </a:r>
          </a:p>
        </p:txBody>
      </p:sp>
      <p:sp>
        <p:nvSpPr>
          <p:cNvPr id="48" name="Rectangle 48"/>
          <p:cNvSpPr/>
          <p:nvPr/>
        </p:nvSpPr>
        <p:spPr>
          <a:xfrm>
            <a:off x="7715250" y="5105400"/>
            <a:ext cx="2762250" cy="381000"/>
          </a:xfrm>
          <a:prstGeom prst="roundRect">
            <a:avLst>
              <a:gd name="adj" fmla="val 20000"/>
            </a:avLst>
          </a:prstGeom>
          <a:solidFill>
            <a:srgbClr val="FFFFFF"/>
          </a:solidFill>
          <a:ln w="9525">
            <a:solidFill>
              <a:srgbClr val="E8E3DC"/>
            </a:solidFill>
          </a:ln>
        </p:spPr>
      </p:sp>
      <p:sp>
        <p:nvSpPr>
          <p:cNvPr id="49" name="TextBox 49"/>
          <p:cNvSpPr txBox="1"/>
          <p:nvPr/>
        </p:nvSpPr>
        <p:spPr>
          <a:xfrm>
            <a:off x="8011906" y="5239702"/>
            <a:ext cx="2168938"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合规先行 · 汇付持牌 · 零沉淀资金</a:t>
            </a:r>
          </a:p>
        </p:txBody>
      </p:sp>
      <p:sp>
        <p:nvSpPr>
          <p:cNvPr id="50" name="Line 50"/>
          <p:cNvSpPr/>
          <p:nvPr/>
        </p:nvSpPr>
        <p:spPr>
          <a:xfrm>
            <a:off x="4476750" y="5295900"/>
            <a:ext cx="238125" cy="9525"/>
          </a:xfrm>
          <a:custGeom>
            <a:avLst/>
            <a:gdLst/>
            <a:ahLst/>
            <a:cxnLst/>
            <a:rect l="l" t="t" r="r" b="b"/>
            <a:pathLst>
              <a:path w="238125" h="9525">
                <a:moveTo>
                  <a:pt x="0" y="0"/>
                </a:moveTo>
                <a:lnTo>
                  <a:pt x="238125" y="0"/>
                </a:lnTo>
              </a:path>
            </a:pathLst>
          </a:custGeom>
          <a:noFill/>
          <a:ln w="14288">
            <a:solidFill>
              <a:srgbClr val="E8E3DC"/>
            </a:solidFill>
          </a:ln>
        </p:spPr>
      </p:sp>
      <p:sp>
        <p:nvSpPr>
          <p:cNvPr id="51" name="Line 51"/>
          <p:cNvSpPr/>
          <p:nvPr/>
        </p:nvSpPr>
        <p:spPr>
          <a:xfrm>
            <a:off x="7477125" y="5295900"/>
            <a:ext cx="238125" cy="9525"/>
          </a:xfrm>
          <a:custGeom>
            <a:avLst/>
            <a:gdLst/>
            <a:ahLst/>
            <a:cxnLst/>
            <a:rect l="l" t="t" r="r" b="b"/>
            <a:pathLst>
              <a:path w="238125" h="9525">
                <a:moveTo>
                  <a:pt x="0" y="0"/>
                </a:moveTo>
                <a:lnTo>
                  <a:pt x="238125" y="0"/>
                </a:lnTo>
              </a:path>
            </a:pathLst>
          </a:custGeom>
          <a:noFill/>
          <a:ln w="14288">
            <a:solidFill>
              <a:srgbClr val="E8E3DC"/>
            </a:solidFill>
          </a:ln>
        </p:spPr>
      </p:sp>
      <p:sp>
        <p:nvSpPr>
          <p:cNvPr id="52" name="TextBox 52"/>
          <p:cNvSpPr txBox="1"/>
          <p:nvPr/>
        </p:nvSpPr>
        <p:spPr>
          <a:xfrm>
            <a:off x="442912" y="6488906"/>
            <a:ext cx="281142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链邦赋商通 · 链生活 | 品牌战略总案 V1.0</a:t>
            </a:r>
          </a:p>
        </p:txBody>
      </p:sp>
      <p:sp>
        <p:nvSpPr>
          <p:cNvPr id="53" name="TextBox 53"/>
          <p:cNvSpPr txBox="1"/>
          <p:nvPr/>
        </p:nvSpPr>
        <p:spPr>
          <a:xfrm>
            <a:off x="11472982" y="6488906"/>
            <a:ext cx="27610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P04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457200" y="266700"/>
            <a:ext cx="57150" cy="304800"/>
          </a:xfrm>
          <a:prstGeom prst="roundRect">
            <a:avLst>
              <a:gd name="adj" fmla="val 50000"/>
            </a:avLst>
          </a:prstGeom>
          <a:solidFill>
            <a:srgbClr val="1A5276"/>
          </a:solidFill>
          <a:ln>
            <a:noFill/>
          </a:ln>
        </p:spPr>
      </p:sp>
      <p:sp>
        <p:nvSpPr>
          <p:cNvPr id="4" name="TextBox 4"/>
          <p:cNvSpPr txBox="1"/>
          <p:nvPr/>
        </p:nvSpPr>
        <p:spPr>
          <a:xfrm>
            <a:off x="594360" y="203835"/>
            <a:ext cx="1148715"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生态位</a:t>
            </a:r>
          </a:p>
        </p:txBody>
      </p:sp>
      <p:sp>
        <p:nvSpPr>
          <p:cNvPr id="5" name="TextBox 5"/>
          <p:cNvSpPr txBox="1"/>
          <p:nvPr/>
        </p:nvSpPr>
        <p:spPr>
          <a:xfrm>
            <a:off x="609600" y="542925"/>
            <a:ext cx="3728561"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生态位 = 市场空白 ∩ 用户需求 ∩ 自身能力</a:t>
            </a:r>
          </a:p>
        </p:txBody>
      </p:sp>
      <p:sp>
        <p:nvSpPr>
          <p:cNvPr id="6" name="Line 6"/>
          <p:cNvSpPr/>
          <p:nvPr/>
        </p:nvSpPr>
        <p:spPr>
          <a:xfrm>
            <a:off x="457200" y="87630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7" name="Ellipse 7"/>
          <p:cNvSpPr/>
          <p:nvPr/>
        </p:nvSpPr>
        <p:spPr>
          <a:xfrm>
            <a:off x="809625" y="1571625"/>
            <a:ext cx="2571750" cy="2571750"/>
          </a:xfrm>
          <a:prstGeom prst="ellipse">
            <a:avLst/>
          </a:prstGeom>
          <a:solidFill>
            <a:srgbClr val="E67E22">
              <a:alpha val="18000"/>
            </a:srgbClr>
          </a:solidFill>
          <a:ln w="19050">
            <a:solidFill>
              <a:srgbClr val="E67E22"/>
            </a:solidFill>
          </a:ln>
        </p:spPr>
      </p:sp>
      <p:sp>
        <p:nvSpPr>
          <p:cNvPr id="8" name="TextBox 8"/>
          <p:cNvSpPr txBox="1"/>
          <p:nvPr/>
        </p:nvSpPr>
        <p:spPr>
          <a:xfrm>
            <a:off x="1612487" y="1488758"/>
            <a:ext cx="966026" cy="335280"/>
          </a:xfrm>
          <a:prstGeom prst="rect">
            <a:avLst/>
          </a:prstGeom>
          <a:noFill/>
          <a:ln>
            <a:noFill/>
          </a:ln>
        </p:spPr>
        <p:txBody>
          <a:bodyPr wrap="none" lIns="0" tIns="0" rIns="0" bIns="0" anchor="t" anchorCtr="0">
            <a:spAutoFit/>
          </a:bodyPr>
          <a:lstStyle/>
          <a:p>
            <a:pPr algn="ctr"/>
            <a:r>
              <a:rPr lang="zh-CN" sz="1650" b="1" dirty="0">
                <a:solidFill>
                  <a:srgbClr val="E67E22"/>
                </a:solidFill>
                <a:latin typeface="Georgia"/>
                <a:ea typeface="KaiTi"/>
                <a:cs typeface="Georgia"/>
              </a:rPr>
              <a:t>市场空白</a:t>
            </a:r>
          </a:p>
        </p:txBody>
      </p:sp>
      <p:sp>
        <p:nvSpPr>
          <p:cNvPr id="9" name="TextBox 9"/>
          <p:cNvSpPr txBox="1"/>
          <p:nvPr/>
        </p:nvSpPr>
        <p:spPr>
          <a:xfrm>
            <a:off x="1433036" y="1780699"/>
            <a:ext cx="1324928"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「社区商家经营生态」</a:t>
            </a:r>
          </a:p>
        </p:txBody>
      </p:sp>
      <p:sp>
        <p:nvSpPr>
          <p:cNvPr id="10" name="TextBox 10"/>
          <p:cNvSpPr txBox="1"/>
          <p:nvPr/>
        </p:nvSpPr>
        <p:spPr>
          <a:xfrm>
            <a:off x="1400532" y="1942624"/>
            <a:ext cx="1389936"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品类空白·CR5 不可计算</a:t>
            </a:r>
          </a:p>
        </p:txBody>
      </p:sp>
      <p:sp>
        <p:nvSpPr>
          <p:cNvPr id="11" name="Ellipse 11"/>
          <p:cNvSpPr/>
          <p:nvPr/>
        </p:nvSpPr>
        <p:spPr>
          <a:xfrm>
            <a:off x="2238375" y="1571625"/>
            <a:ext cx="2571750" cy="2571750"/>
          </a:xfrm>
          <a:prstGeom prst="ellipse">
            <a:avLst/>
          </a:prstGeom>
          <a:solidFill>
            <a:srgbClr val="1A5276">
              <a:alpha val="15000"/>
            </a:srgbClr>
          </a:solidFill>
          <a:ln w="19050">
            <a:solidFill>
              <a:srgbClr val="1A5276"/>
            </a:solidFill>
          </a:ln>
        </p:spPr>
      </p:sp>
      <p:sp>
        <p:nvSpPr>
          <p:cNvPr id="12" name="TextBox 12"/>
          <p:cNvSpPr txBox="1"/>
          <p:nvPr/>
        </p:nvSpPr>
        <p:spPr>
          <a:xfrm>
            <a:off x="3041237" y="1488758"/>
            <a:ext cx="966026" cy="335280"/>
          </a:xfrm>
          <a:prstGeom prst="rect">
            <a:avLst/>
          </a:prstGeom>
          <a:noFill/>
          <a:ln>
            <a:noFill/>
          </a:ln>
        </p:spPr>
        <p:txBody>
          <a:bodyPr wrap="none" lIns="0" tIns="0" rIns="0" bIns="0" anchor="t" anchorCtr="0">
            <a:spAutoFit/>
          </a:bodyPr>
          <a:lstStyle/>
          <a:p>
            <a:pPr algn="ctr"/>
            <a:r>
              <a:rPr lang="zh-CN" sz="1650" b="1" dirty="0">
                <a:solidFill>
                  <a:srgbClr val="1A5276"/>
                </a:solidFill>
                <a:latin typeface="Georgia"/>
                <a:ea typeface="KaiTi"/>
                <a:cs typeface="Georgia"/>
              </a:rPr>
              <a:t>用户需求</a:t>
            </a:r>
          </a:p>
        </p:txBody>
      </p:sp>
      <p:sp>
        <p:nvSpPr>
          <p:cNvPr id="13" name="TextBox 13"/>
          <p:cNvSpPr txBox="1"/>
          <p:nvPr/>
        </p:nvSpPr>
        <p:spPr>
          <a:xfrm>
            <a:off x="2991802" y="1780699"/>
            <a:ext cx="1064895"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「服务了无数人」</a:t>
            </a:r>
          </a:p>
        </p:txBody>
      </p:sp>
      <p:sp>
        <p:nvSpPr>
          <p:cNvPr id="14" name="TextBox 14"/>
          <p:cNvSpPr txBox="1"/>
          <p:nvPr/>
        </p:nvSpPr>
        <p:spPr>
          <a:xfrm>
            <a:off x="2861786" y="1942624"/>
            <a:ext cx="1324928"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「却留不住任何关系」</a:t>
            </a:r>
          </a:p>
        </p:txBody>
      </p:sp>
      <p:sp>
        <p:nvSpPr>
          <p:cNvPr id="15" name="Ellipse 15"/>
          <p:cNvSpPr/>
          <p:nvPr/>
        </p:nvSpPr>
        <p:spPr>
          <a:xfrm>
            <a:off x="1524000" y="2714625"/>
            <a:ext cx="2571750" cy="2571750"/>
          </a:xfrm>
          <a:prstGeom prst="ellipse">
            <a:avLst/>
          </a:prstGeom>
          <a:solidFill>
            <a:srgbClr val="D4A574">
              <a:alpha val="15000"/>
            </a:srgbClr>
          </a:solidFill>
          <a:ln w="19050">
            <a:solidFill>
              <a:srgbClr val="D4A574"/>
            </a:solidFill>
          </a:ln>
        </p:spPr>
      </p:sp>
      <p:sp>
        <p:nvSpPr>
          <p:cNvPr id="16" name="TextBox 16"/>
          <p:cNvSpPr txBox="1"/>
          <p:nvPr/>
        </p:nvSpPr>
        <p:spPr>
          <a:xfrm>
            <a:off x="2326862" y="5279708"/>
            <a:ext cx="966026" cy="335280"/>
          </a:xfrm>
          <a:prstGeom prst="rect">
            <a:avLst/>
          </a:prstGeom>
          <a:noFill/>
          <a:ln>
            <a:noFill/>
          </a:ln>
        </p:spPr>
        <p:txBody>
          <a:bodyPr wrap="none" lIns="0" tIns="0" rIns="0" bIns="0" anchor="t" anchorCtr="0">
            <a:spAutoFit/>
          </a:bodyPr>
          <a:lstStyle/>
          <a:p>
            <a:pPr algn="ctr"/>
            <a:r>
              <a:rPr lang="zh-CN" sz="1650" b="1" dirty="0">
                <a:solidFill>
                  <a:srgbClr val="D4A574"/>
                </a:solidFill>
                <a:latin typeface="Georgia"/>
                <a:ea typeface="KaiTi"/>
                <a:cs typeface="Georgia"/>
              </a:rPr>
              <a:t>自身能力</a:t>
            </a:r>
          </a:p>
        </p:txBody>
      </p:sp>
      <p:sp>
        <p:nvSpPr>
          <p:cNvPr id="17" name="TextBox 17"/>
          <p:cNvSpPr txBox="1"/>
          <p:nvPr/>
        </p:nvSpPr>
        <p:spPr>
          <a:xfrm>
            <a:off x="2046649" y="5571649"/>
            <a:ext cx="1526453"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小程序上线·汇付分账跑通</a:t>
            </a:r>
          </a:p>
        </p:txBody>
      </p:sp>
      <p:sp>
        <p:nvSpPr>
          <p:cNvPr id="18" name="TextBox 18"/>
          <p:cNvSpPr txBox="1"/>
          <p:nvPr/>
        </p:nvSpPr>
        <p:spPr>
          <a:xfrm>
            <a:off x="2329434" y="5733574"/>
            <a:ext cx="960882"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V3.2模型已设计</a:t>
            </a:r>
          </a:p>
        </p:txBody>
      </p:sp>
      <p:sp>
        <p:nvSpPr>
          <p:cNvPr id="19" name="Ellipse 19"/>
          <p:cNvSpPr/>
          <p:nvPr/>
        </p:nvSpPr>
        <p:spPr>
          <a:xfrm>
            <a:off x="2352675" y="2828925"/>
            <a:ext cx="914400" cy="914400"/>
          </a:xfrm>
          <a:prstGeom prst="ellipse">
            <a:avLst/>
          </a:prstGeom>
          <a:solidFill>
            <a:srgbClr val="1E8449">
              <a:alpha val="25000"/>
            </a:srgbClr>
          </a:solidFill>
          <a:ln w="23812">
            <a:solidFill>
              <a:srgbClr val="1E8449"/>
            </a:solidFill>
            <a:prstDash val="dash"/>
          </a:ln>
        </p:spPr>
      </p:sp>
      <p:sp>
        <p:nvSpPr>
          <p:cNvPr id="20" name="Ellipse 20"/>
          <p:cNvSpPr/>
          <p:nvPr/>
        </p:nvSpPr>
        <p:spPr>
          <a:xfrm>
            <a:off x="2714625" y="3105150"/>
            <a:ext cx="190500" cy="190500"/>
          </a:xfrm>
          <a:prstGeom prst="ellipse">
            <a:avLst/>
          </a:prstGeom>
          <a:noFill/>
          <a:ln w="23812">
            <a:solidFill>
              <a:srgbClr val="1E8449"/>
            </a:solidFill>
          </a:ln>
        </p:spPr>
      </p:sp>
      <p:sp>
        <p:nvSpPr>
          <p:cNvPr id="21" name="Ellipse 21"/>
          <p:cNvSpPr/>
          <p:nvPr/>
        </p:nvSpPr>
        <p:spPr>
          <a:xfrm>
            <a:off x="2771775" y="3162300"/>
            <a:ext cx="76200" cy="76200"/>
          </a:xfrm>
          <a:prstGeom prst="ellipse">
            <a:avLst/>
          </a:prstGeom>
          <a:solidFill>
            <a:srgbClr val="1E8449"/>
          </a:solidFill>
          <a:ln>
            <a:noFill/>
          </a:ln>
        </p:spPr>
      </p:sp>
      <p:sp>
        <p:nvSpPr>
          <p:cNvPr id="22" name="TextBox 22"/>
          <p:cNvSpPr txBox="1"/>
          <p:nvPr/>
        </p:nvSpPr>
        <p:spPr>
          <a:xfrm>
            <a:off x="2475786" y="3295650"/>
            <a:ext cx="668179" cy="304800"/>
          </a:xfrm>
          <a:prstGeom prst="rect">
            <a:avLst/>
          </a:prstGeom>
          <a:noFill/>
          <a:ln>
            <a:noFill/>
          </a:ln>
        </p:spPr>
        <p:txBody>
          <a:bodyPr wrap="none" lIns="0" tIns="0" rIns="0" bIns="0" anchor="t" anchorCtr="0">
            <a:spAutoFit/>
          </a:bodyPr>
          <a:lstStyle/>
          <a:p>
            <a:pPr algn="ctr"/>
            <a:r>
              <a:rPr lang="zh-CN" sz="1500" b="1" dirty="0">
                <a:solidFill>
                  <a:srgbClr val="1E8449"/>
                </a:solidFill>
                <a:latin typeface="Georgia"/>
                <a:ea typeface="KaiTi"/>
                <a:cs typeface="Georgia"/>
              </a:rPr>
              <a:t>生态位</a:t>
            </a:r>
          </a:p>
        </p:txBody>
      </p:sp>
      <p:sp>
        <p:nvSpPr>
          <p:cNvPr id="23" name="Line 23"/>
          <p:cNvSpPr/>
          <p:nvPr/>
        </p:nvSpPr>
        <p:spPr>
          <a:xfrm>
            <a:off x="5143500" y="3333750"/>
            <a:ext cx="285750" cy="9525"/>
          </a:xfrm>
          <a:custGeom>
            <a:avLst/>
            <a:gdLst/>
            <a:ahLst/>
            <a:cxnLst/>
            <a:rect l="l" t="t" r="r" b="b"/>
            <a:pathLst>
              <a:path w="285750" h="9525">
                <a:moveTo>
                  <a:pt x="0" y="0"/>
                </a:moveTo>
                <a:lnTo>
                  <a:pt x="285750" y="0"/>
                </a:lnTo>
              </a:path>
            </a:pathLst>
          </a:custGeom>
          <a:noFill/>
          <a:ln w="19050">
            <a:solidFill>
              <a:srgbClr val="E8E3DC"/>
            </a:solidFill>
          </a:ln>
        </p:spPr>
      </p:sp>
      <p:sp>
        <p:nvSpPr>
          <p:cNvPr id="24" name="Rectangle 24"/>
          <p:cNvSpPr/>
          <p:nvPr/>
        </p:nvSpPr>
        <p:spPr>
          <a:xfrm>
            <a:off x="5505450" y="1238250"/>
            <a:ext cx="6057900" cy="1238250"/>
          </a:xfrm>
          <a:prstGeom prst="roundRect">
            <a:avLst>
              <a:gd name="adj" fmla="val 10769"/>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25" name="Rectangle 25"/>
          <p:cNvSpPr/>
          <p:nvPr/>
        </p:nvSpPr>
        <p:spPr>
          <a:xfrm>
            <a:off x="5505450" y="1238250"/>
            <a:ext cx="57150" cy="1238250"/>
          </a:xfrm>
          <a:prstGeom prst="roundRect">
            <a:avLst>
              <a:gd name="adj" fmla="val 50000"/>
            </a:avLst>
          </a:prstGeom>
          <a:solidFill>
            <a:srgbClr val="E67E22"/>
          </a:solidFill>
          <a:ln>
            <a:noFill/>
          </a:ln>
        </p:spPr>
      </p:sp>
      <p:sp>
        <p:nvSpPr>
          <p:cNvPr id="26" name="Rectangle 26"/>
          <p:cNvSpPr/>
          <p:nvPr/>
        </p:nvSpPr>
        <p:spPr>
          <a:xfrm>
            <a:off x="5715000" y="1409700"/>
            <a:ext cx="228600" cy="228600"/>
          </a:xfrm>
          <a:prstGeom prst="roundRect">
            <a:avLst>
              <a:gd name="adj" fmla="val 20833"/>
            </a:avLst>
          </a:prstGeom>
          <a:solidFill>
            <a:srgbClr val="E67E22"/>
          </a:solidFill>
          <a:ln>
            <a:noFill/>
          </a:ln>
        </p:spPr>
      </p:sp>
      <p:sp>
        <p:nvSpPr>
          <p:cNvPr id="27" name="TextBox 27"/>
          <p:cNvSpPr txBox="1"/>
          <p:nvPr/>
        </p:nvSpPr>
        <p:spPr>
          <a:xfrm>
            <a:off x="5875020" y="1483995"/>
            <a:ext cx="161477"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P0</a:t>
            </a:r>
          </a:p>
        </p:txBody>
      </p:sp>
      <p:sp>
        <p:nvSpPr>
          <p:cNvPr id="28" name="TextBox 28"/>
          <p:cNvSpPr txBox="1"/>
          <p:nvPr/>
        </p:nvSpPr>
        <p:spPr>
          <a:xfrm>
            <a:off x="6219825" y="1419225"/>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市场空白</a:t>
            </a:r>
          </a:p>
        </p:txBody>
      </p:sp>
      <p:sp>
        <p:nvSpPr>
          <p:cNvPr id="29" name="TextBox 29"/>
          <p:cNvSpPr txBox="1"/>
          <p:nvPr/>
        </p:nvSpPr>
        <p:spPr>
          <a:xfrm>
            <a:off x="5700712" y="1735931"/>
            <a:ext cx="392906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「社区商家经营生态」在中国本地生活市场中为品类空白。</a:t>
            </a:r>
          </a:p>
        </p:txBody>
      </p:sp>
      <p:sp>
        <p:nvSpPr>
          <p:cNvPr id="30" name="TextBox 30"/>
          <p:cNvSpPr txBox="1"/>
          <p:nvPr/>
        </p:nvSpPr>
        <p:spPr>
          <a:xfrm>
            <a:off x="5700712" y="1955006"/>
            <a:ext cx="4911685"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美团/抖音聚焦交易撮合与流量分发，无人占据「帮商家经营」的生态位。</a:t>
            </a:r>
          </a:p>
        </p:txBody>
      </p:sp>
      <p:sp>
        <p:nvSpPr>
          <p:cNvPr id="31" name="TextBox 31"/>
          <p:cNvSpPr txBox="1"/>
          <p:nvPr/>
        </p:nvSpPr>
        <p:spPr>
          <a:xfrm>
            <a:off x="5701665" y="2182178"/>
            <a:ext cx="4556236"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品类集中度 CR5 不可计算——因为该品类目前无品牌认知，是真正的蓝海。</a:t>
            </a:r>
          </a:p>
        </p:txBody>
      </p:sp>
      <p:sp>
        <p:nvSpPr>
          <p:cNvPr id="32" name="Rectangle 32"/>
          <p:cNvSpPr/>
          <p:nvPr/>
        </p:nvSpPr>
        <p:spPr>
          <a:xfrm>
            <a:off x="5505450" y="2647950"/>
            <a:ext cx="6057900" cy="1238250"/>
          </a:xfrm>
          <a:prstGeom prst="roundRect">
            <a:avLst>
              <a:gd name="adj" fmla="val 10769"/>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33" name="Rectangle 33"/>
          <p:cNvSpPr/>
          <p:nvPr/>
        </p:nvSpPr>
        <p:spPr>
          <a:xfrm>
            <a:off x="5505450" y="2647950"/>
            <a:ext cx="57150" cy="1238250"/>
          </a:xfrm>
          <a:prstGeom prst="roundRect">
            <a:avLst>
              <a:gd name="adj" fmla="val 50000"/>
            </a:avLst>
          </a:prstGeom>
          <a:solidFill>
            <a:srgbClr val="1A5276"/>
          </a:solidFill>
          <a:ln>
            <a:noFill/>
          </a:ln>
        </p:spPr>
      </p:sp>
      <p:sp>
        <p:nvSpPr>
          <p:cNvPr id="34" name="Rectangle 34"/>
          <p:cNvSpPr/>
          <p:nvPr/>
        </p:nvSpPr>
        <p:spPr>
          <a:xfrm>
            <a:off x="5715000" y="2819400"/>
            <a:ext cx="228600" cy="228600"/>
          </a:xfrm>
          <a:prstGeom prst="roundRect">
            <a:avLst>
              <a:gd name="adj" fmla="val 20833"/>
            </a:avLst>
          </a:prstGeom>
          <a:solidFill>
            <a:srgbClr val="1A5276"/>
          </a:solidFill>
          <a:ln>
            <a:noFill/>
          </a:ln>
        </p:spPr>
      </p:sp>
      <p:sp>
        <p:nvSpPr>
          <p:cNvPr id="35" name="TextBox 35"/>
          <p:cNvSpPr txBox="1"/>
          <p:nvPr/>
        </p:nvSpPr>
        <p:spPr>
          <a:xfrm>
            <a:off x="5875020" y="2893695"/>
            <a:ext cx="161477"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P0</a:t>
            </a:r>
          </a:p>
        </p:txBody>
      </p:sp>
      <p:sp>
        <p:nvSpPr>
          <p:cNvPr id="36" name="TextBox 36"/>
          <p:cNvSpPr txBox="1"/>
          <p:nvPr/>
        </p:nvSpPr>
        <p:spPr>
          <a:xfrm>
            <a:off x="6219825" y="2828925"/>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用户需求</a:t>
            </a:r>
          </a:p>
        </p:txBody>
      </p:sp>
      <p:sp>
        <p:nvSpPr>
          <p:cNvPr id="37" name="TextBox 37"/>
          <p:cNvSpPr txBox="1"/>
          <p:nvPr/>
        </p:nvSpPr>
        <p:spPr>
          <a:xfrm>
            <a:off x="5700712" y="3145631"/>
            <a:ext cx="422910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社区商家最深的痛点：「服务了无数人，却留不住任何关系。」</a:t>
            </a:r>
          </a:p>
        </p:txBody>
      </p:sp>
      <p:sp>
        <p:nvSpPr>
          <p:cNvPr id="38" name="TextBox 38"/>
          <p:cNvSpPr txBox="1"/>
          <p:nvPr/>
        </p:nvSpPr>
        <p:spPr>
          <a:xfrm>
            <a:off x="5700712" y="3364706"/>
            <a:ext cx="552676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美团/抖音的流量模型让消费者只认平台，不认商家——商家永远在为下次曝光付费。</a:t>
            </a:r>
          </a:p>
        </p:txBody>
      </p:sp>
      <p:sp>
        <p:nvSpPr>
          <p:cNvPr id="39" name="TextBox 39"/>
          <p:cNvSpPr txBox="1"/>
          <p:nvPr/>
        </p:nvSpPr>
        <p:spPr>
          <a:xfrm>
            <a:off x="5701665" y="3591878"/>
            <a:ext cx="438821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需求本质：从消费即结束 → 消费即开始，把一次性交易变成持续关系。</a:t>
            </a:r>
          </a:p>
        </p:txBody>
      </p:sp>
      <p:sp>
        <p:nvSpPr>
          <p:cNvPr id="40" name="Rectangle 40"/>
          <p:cNvSpPr/>
          <p:nvPr/>
        </p:nvSpPr>
        <p:spPr>
          <a:xfrm>
            <a:off x="5505450" y="4057650"/>
            <a:ext cx="6057900" cy="1238250"/>
          </a:xfrm>
          <a:prstGeom prst="roundRect">
            <a:avLst>
              <a:gd name="adj" fmla="val 10769"/>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41" name="Rectangle 41"/>
          <p:cNvSpPr/>
          <p:nvPr/>
        </p:nvSpPr>
        <p:spPr>
          <a:xfrm>
            <a:off x="5505450" y="4057650"/>
            <a:ext cx="57150" cy="1238250"/>
          </a:xfrm>
          <a:prstGeom prst="roundRect">
            <a:avLst>
              <a:gd name="adj" fmla="val 50000"/>
            </a:avLst>
          </a:prstGeom>
          <a:solidFill>
            <a:srgbClr val="D4A574"/>
          </a:solidFill>
          <a:ln>
            <a:noFill/>
          </a:ln>
        </p:spPr>
      </p:sp>
      <p:sp>
        <p:nvSpPr>
          <p:cNvPr id="42" name="Rectangle 42"/>
          <p:cNvSpPr/>
          <p:nvPr/>
        </p:nvSpPr>
        <p:spPr>
          <a:xfrm>
            <a:off x="5715000" y="4229100"/>
            <a:ext cx="228600" cy="228600"/>
          </a:xfrm>
          <a:prstGeom prst="roundRect">
            <a:avLst>
              <a:gd name="adj" fmla="val 20833"/>
            </a:avLst>
          </a:prstGeom>
          <a:solidFill>
            <a:srgbClr val="D4A574"/>
          </a:solidFill>
          <a:ln>
            <a:noFill/>
          </a:ln>
        </p:spPr>
      </p:sp>
      <p:sp>
        <p:nvSpPr>
          <p:cNvPr id="43" name="TextBox 43"/>
          <p:cNvSpPr txBox="1"/>
          <p:nvPr/>
        </p:nvSpPr>
        <p:spPr>
          <a:xfrm>
            <a:off x="5875020" y="4303395"/>
            <a:ext cx="400907"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可验证</a:t>
            </a:r>
          </a:p>
        </p:txBody>
      </p:sp>
      <p:sp>
        <p:nvSpPr>
          <p:cNvPr id="44" name="TextBox 44"/>
          <p:cNvSpPr txBox="1"/>
          <p:nvPr/>
        </p:nvSpPr>
        <p:spPr>
          <a:xfrm>
            <a:off x="6381750" y="4238625"/>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自身能力</a:t>
            </a:r>
          </a:p>
        </p:txBody>
      </p:sp>
      <p:sp>
        <p:nvSpPr>
          <p:cNvPr id="45" name="TextBox 45"/>
          <p:cNvSpPr txBox="1"/>
          <p:nvPr/>
        </p:nvSpPr>
        <p:spPr>
          <a:xfrm>
            <a:off x="5700712" y="4555331"/>
            <a:ext cx="52792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微信小程序已上线，基础功能可用。汇付天下单店分账已跑通，支付链路可行。</a:t>
            </a:r>
          </a:p>
        </p:txBody>
      </p:sp>
      <p:sp>
        <p:nvSpPr>
          <p:cNvPr id="46" name="TextBox 46"/>
          <p:cNvSpPr txBox="1"/>
          <p:nvPr/>
        </p:nvSpPr>
        <p:spPr>
          <a:xfrm>
            <a:off x="5700712" y="4774406"/>
            <a:ext cx="487418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V3.2服务费结算模型已设计完成，涵盖9场景+跨店通兑，合规框架完整。</a:t>
            </a:r>
          </a:p>
        </p:txBody>
      </p:sp>
      <p:sp>
        <p:nvSpPr>
          <p:cNvPr id="47" name="TextBox 47"/>
          <p:cNvSpPr txBox="1"/>
          <p:nvPr/>
        </p:nvSpPr>
        <p:spPr>
          <a:xfrm>
            <a:off x="5701665" y="5001578"/>
            <a:ext cx="342909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公测待验证：多店联调·跨店核销·规模化SaaS稳定性。</a:t>
            </a:r>
          </a:p>
        </p:txBody>
      </p:sp>
      <p:sp>
        <p:nvSpPr>
          <p:cNvPr id="48" name="Line 48"/>
          <p:cNvSpPr/>
          <p:nvPr/>
        </p:nvSpPr>
        <p:spPr>
          <a:xfrm>
            <a:off x="5143500" y="1905000"/>
            <a:ext cx="152400" cy="381000"/>
          </a:xfrm>
          <a:custGeom>
            <a:avLst/>
            <a:gdLst/>
            <a:ahLst/>
            <a:cxnLst/>
            <a:rect l="l" t="t" r="r" b="b"/>
            <a:pathLst>
              <a:path w="152400" h="381000">
                <a:moveTo>
                  <a:pt x="0" y="381000"/>
                </a:moveTo>
                <a:lnTo>
                  <a:pt x="152400" y="0"/>
                </a:lnTo>
              </a:path>
            </a:pathLst>
          </a:custGeom>
          <a:noFill/>
          <a:ln w="9525">
            <a:solidFill>
              <a:srgbClr val="E67E22"/>
            </a:solidFill>
            <a:custDash>
              <a:ds d="300000" sp="300000"/>
            </a:custDash>
          </a:ln>
        </p:spPr>
      </p:sp>
      <p:sp>
        <p:nvSpPr>
          <p:cNvPr id="49" name="Line 49"/>
          <p:cNvSpPr/>
          <p:nvPr/>
        </p:nvSpPr>
        <p:spPr>
          <a:xfrm>
            <a:off x="5143500" y="2952750"/>
            <a:ext cx="152400" cy="285750"/>
          </a:xfrm>
          <a:custGeom>
            <a:avLst/>
            <a:gdLst/>
            <a:ahLst/>
            <a:cxnLst/>
            <a:rect l="l" t="t" r="r" b="b"/>
            <a:pathLst>
              <a:path w="152400" h="285750">
                <a:moveTo>
                  <a:pt x="0" y="0"/>
                </a:moveTo>
                <a:lnTo>
                  <a:pt x="152400" y="285750"/>
                </a:lnTo>
              </a:path>
            </a:pathLst>
          </a:custGeom>
          <a:noFill/>
          <a:ln w="9525">
            <a:solidFill>
              <a:srgbClr val="1A5276"/>
            </a:solidFill>
            <a:custDash>
              <a:ds d="300000" sp="300000"/>
            </a:custDash>
          </a:ln>
        </p:spPr>
      </p:sp>
      <p:sp>
        <p:nvSpPr>
          <p:cNvPr id="50" name="Line 50"/>
          <p:cNvSpPr/>
          <p:nvPr/>
        </p:nvSpPr>
        <p:spPr>
          <a:xfrm>
            <a:off x="5143500" y="4000500"/>
            <a:ext cx="152400" cy="666750"/>
          </a:xfrm>
          <a:custGeom>
            <a:avLst/>
            <a:gdLst/>
            <a:ahLst/>
            <a:cxnLst/>
            <a:rect l="l" t="t" r="r" b="b"/>
            <a:pathLst>
              <a:path w="152400" h="666750">
                <a:moveTo>
                  <a:pt x="0" y="0"/>
                </a:moveTo>
                <a:lnTo>
                  <a:pt x="152400" y="666750"/>
                </a:lnTo>
              </a:path>
            </a:pathLst>
          </a:custGeom>
          <a:noFill/>
          <a:ln w="9525">
            <a:solidFill>
              <a:srgbClr val="D4A574"/>
            </a:solidFill>
            <a:custDash>
              <a:ds d="300000" sp="300000"/>
            </a:custDash>
          </a:ln>
        </p:spPr>
      </p:sp>
      <p:sp>
        <p:nvSpPr>
          <p:cNvPr id="51" name="TextBox 51"/>
          <p:cNvSpPr txBox="1"/>
          <p:nvPr/>
        </p:nvSpPr>
        <p:spPr>
          <a:xfrm>
            <a:off x="2040148" y="5990749"/>
            <a:ext cx="1539454"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三重交集=可做·想做·能做</a:t>
            </a:r>
          </a:p>
        </p:txBody>
      </p:sp>
      <p:sp>
        <p:nvSpPr>
          <p:cNvPr id="52" name="TextBox 52"/>
          <p:cNvSpPr txBox="1"/>
          <p:nvPr/>
        </p:nvSpPr>
        <p:spPr>
          <a:xfrm>
            <a:off x="442912" y="6488906"/>
            <a:ext cx="281142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链邦赋商通 · 链生活 | 品牌战略总案 V1.0</a:t>
            </a:r>
          </a:p>
        </p:txBody>
      </p:sp>
      <p:sp>
        <p:nvSpPr>
          <p:cNvPr id="53" name="TextBox 53"/>
          <p:cNvSpPr txBox="1"/>
          <p:nvPr/>
        </p:nvSpPr>
        <p:spPr>
          <a:xfrm>
            <a:off x="11472982" y="6488906"/>
            <a:ext cx="27610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P05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457200" y="266700"/>
            <a:ext cx="57150" cy="304800"/>
          </a:xfrm>
          <a:prstGeom prst="roundRect">
            <a:avLst>
              <a:gd name="adj" fmla="val 50000"/>
            </a:avLst>
          </a:prstGeom>
          <a:solidFill>
            <a:srgbClr val="E67E22"/>
          </a:solidFill>
          <a:ln>
            <a:noFill/>
          </a:ln>
        </p:spPr>
      </p:sp>
      <p:sp>
        <p:nvSpPr>
          <p:cNvPr id="4" name="TextBox 4"/>
          <p:cNvSpPr txBox="1"/>
          <p:nvPr/>
        </p:nvSpPr>
        <p:spPr>
          <a:xfrm>
            <a:off x="594360" y="203835"/>
            <a:ext cx="6909435"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品类定义权是链邦赋商通最重要的战略资产</a:t>
            </a:r>
          </a:p>
        </p:txBody>
      </p:sp>
      <p:sp>
        <p:nvSpPr>
          <p:cNvPr id="5" name="TextBox 5"/>
          <p:cNvSpPr txBox="1"/>
          <p:nvPr/>
        </p:nvSpPr>
        <p:spPr>
          <a:xfrm>
            <a:off x="609600" y="542925"/>
            <a:ext cx="4838700"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品类是什么，你就是什么。选择品类，就是选择战场。</a:t>
            </a:r>
          </a:p>
        </p:txBody>
      </p:sp>
      <p:sp>
        <p:nvSpPr>
          <p:cNvPr id="6" name="Line 6"/>
          <p:cNvSpPr/>
          <p:nvPr/>
        </p:nvSpPr>
        <p:spPr>
          <a:xfrm>
            <a:off x="457200" y="87630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7" name="Rectangle 7"/>
          <p:cNvSpPr/>
          <p:nvPr/>
        </p:nvSpPr>
        <p:spPr>
          <a:xfrm>
            <a:off x="457200" y="1066800"/>
            <a:ext cx="11277600" cy="381000"/>
          </a:xfrm>
          <a:prstGeom prst="roundRect">
            <a:avLst>
              <a:gd name="adj" fmla="val 25000"/>
            </a:avLst>
          </a:prstGeom>
          <a:solidFill>
            <a:srgbClr val="F0EDE8"/>
          </a:solidFill>
          <a:ln>
            <a:noFill/>
          </a:ln>
        </p:spPr>
      </p:sp>
      <p:sp>
        <p:nvSpPr>
          <p:cNvPr id="8" name="TextBox 8"/>
          <p:cNvSpPr txBox="1"/>
          <p:nvPr/>
        </p:nvSpPr>
        <p:spPr>
          <a:xfrm>
            <a:off x="2167485" y="1176814"/>
            <a:ext cx="389430" cy="259080"/>
          </a:xfrm>
          <a:prstGeom prst="rect">
            <a:avLst/>
          </a:prstGeom>
          <a:noFill/>
          <a:ln>
            <a:noFill/>
          </a:ln>
        </p:spPr>
        <p:txBody>
          <a:bodyPr wrap="none" lIns="0" tIns="0" rIns="0" bIns="0" anchor="t" anchorCtr="0">
            <a:spAutoFit/>
          </a:bodyPr>
          <a:lstStyle/>
          <a:p>
            <a:pPr algn="ctr"/>
            <a:r>
              <a:rPr lang="zh-CN" sz="1275" b="1" dirty="0">
                <a:solidFill>
                  <a:srgbClr val="7F8C8D"/>
                </a:solidFill>
                <a:latin typeface="Georgia"/>
                <a:ea typeface="KaiTi"/>
                <a:cs typeface="Georgia"/>
              </a:rPr>
              <a:t>维度</a:t>
            </a:r>
          </a:p>
        </p:txBody>
      </p:sp>
      <p:sp>
        <p:nvSpPr>
          <p:cNvPr id="9" name="TextBox 9"/>
          <p:cNvSpPr txBox="1"/>
          <p:nvPr/>
        </p:nvSpPr>
        <p:spPr>
          <a:xfrm>
            <a:off x="4672518" y="1176814"/>
            <a:ext cx="1665864" cy="259080"/>
          </a:xfrm>
          <a:prstGeom prst="rect">
            <a:avLst/>
          </a:prstGeom>
          <a:noFill/>
          <a:ln>
            <a:noFill/>
          </a:ln>
        </p:spPr>
        <p:txBody>
          <a:bodyPr wrap="none" lIns="0" tIns="0" rIns="0" bIns="0" anchor="t" anchorCtr="0">
            <a:spAutoFit/>
          </a:bodyPr>
          <a:lstStyle/>
          <a:p>
            <a:pPr algn="ctr"/>
            <a:r>
              <a:rPr lang="zh-CN" sz="1275" b="1" dirty="0">
                <a:solidFill>
                  <a:srgbClr val="7F8C8D"/>
                </a:solidFill>
                <a:latin typeface="Georgia"/>
                <a:ea typeface="KaiTi"/>
                <a:cs typeface="Georgia"/>
              </a:rPr>
              <a:t>美团 / 抖音本地生活</a:t>
            </a:r>
          </a:p>
        </p:txBody>
      </p:sp>
      <p:sp>
        <p:nvSpPr>
          <p:cNvPr id="10" name="Line 10"/>
          <p:cNvSpPr/>
          <p:nvPr/>
        </p:nvSpPr>
        <p:spPr>
          <a:xfrm>
            <a:off x="7391400" y="1162050"/>
            <a:ext cx="9525" cy="190500"/>
          </a:xfrm>
          <a:custGeom>
            <a:avLst/>
            <a:gdLst/>
            <a:ahLst/>
            <a:cxnLst/>
            <a:rect l="l" t="t" r="r" b="b"/>
            <a:pathLst>
              <a:path w="9525" h="190500">
                <a:moveTo>
                  <a:pt x="0" y="0"/>
                </a:moveTo>
                <a:lnTo>
                  <a:pt x="0" y="190500"/>
                </a:lnTo>
              </a:path>
            </a:pathLst>
          </a:custGeom>
          <a:noFill/>
          <a:ln w="9525">
            <a:solidFill>
              <a:srgbClr val="E8E3DC"/>
            </a:solidFill>
          </a:ln>
        </p:spPr>
      </p:sp>
      <p:sp>
        <p:nvSpPr>
          <p:cNvPr id="11" name="TextBox 11"/>
          <p:cNvSpPr txBox="1"/>
          <p:nvPr/>
        </p:nvSpPr>
        <p:spPr>
          <a:xfrm>
            <a:off x="9776877" y="1176814"/>
            <a:ext cx="924997" cy="259080"/>
          </a:xfrm>
          <a:prstGeom prst="rect">
            <a:avLst/>
          </a:prstGeom>
          <a:noFill/>
          <a:ln>
            <a:noFill/>
          </a:ln>
        </p:spPr>
        <p:txBody>
          <a:bodyPr wrap="none" lIns="0" tIns="0" rIns="0" bIns="0" anchor="t" anchorCtr="0">
            <a:spAutoFit/>
          </a:bodyPr>
          <a:lstStyle/>
          <a:p>
            <a:pPr algn="ctr"/>
            <a:r>
              <a:rPr lang="zh-CN" sz="1275" b="1" dirty="0">
                <a:solidFill>
                  <a:srgbClr val="E67E22"/>
                </a:solidFill>
                <a:latin typeface="Georgia"/>
                <a:ea typeface="KaiTi"/>
                <a:cs typeface="Georgia"/>
              </a:rPr>
              <a:t>链邦赋商通</a:t>
            </a:r>
          </a:p>
        </p:txBody>
      </p:sp>
      <p:sp>
        <p:nvSpPr>
          <p:cNvPr id="12" name="Rectangle 12"/>
          <p:cNvSpPr/>
          <p:nvPr/>
        </p:nvSpPr>
        <p:spPr>
          <a:xfrm>
            <a:off x="457200" y="1447800"/>
            <a:ext cx="11277600" cy="495300"/>
          </a:xfrm>
          <a:prstGeom prst="roundRect">
            <a:avLst>
              <a:gd name="adj" fmla="val 15385"/>
            </a:avLst>
          </a:prstGeom>
          <a:solidFill>
            <a:srgbClr val="FFFFFF"/>
          </a:solidFill>
          <a:ln w="4762">
            <a:solidFill>
              <a:srgbClr val="E8E3DC"/>
            </a:solidFill>
          </a:ln>
        </p:spPr>
      </p:sp>
      <p:sp>
        <p:nvSpPr>
          <p:cNvPr id="13" name="TextBox 13"/>
          <p:cNvSpPr txBox="1"/>
          <p:nvPr/>
        </p:nvSpPr>
        <p:spPr>
          <a:xfrm>
            <a:off x="2167485" y="1614964"/>
            <a:ext cx="389430" cy="259080"/>
          </a:xfrm>
          <a:prstGeom prst="rect">
            <a:avLst/>
          </a:prstGeom>
          <a:noFill/>
          <a:ln>
            <a:noFill/>
          </a:ln>
        </p:spPr>
        <p:txBody>
          <a:bodyPr wrap="none" lIns="0" tIns="0" rIns="0" bIns="0" anchor="t" anchorCtr="0">
            <a:spAutoFit/>
          </a:bodyPr>
          <a:lstStyle/>
          <a:p>
            <a:pPr algn="ctr"/>
            <a:r>
              <a:rPr lang="zh-CN" sz="1275" b="1" dirty="0">
                <a:solidFill>
                  <a:srgbClr val="2C2C2C"/>
                </a:solidFill>
                <a:latin typeface="Georgia"/>
                <a:ea typeface="KaiTi"/>
                <a:cs typeface="Georgia"/>
              </a:rPr>
              <a:t>品类</a:t>
            </a:r>
          </a:p>
        </p:txBody>
      </p:sp>
      <p:sp>
        <p:nvSpPr>
          <p:cNvPr id="14" name="TextBox 14"/>
          <p:cNvSpPr txBox="1"/>
          <p:nvPr/>
        </p:nvSpPr>
        <p:spPr>
          <a:xfrm>
            <a:off x="4891088" y="1631156"/>
            <a:ext cx="1228725"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本地生活服务平台</a:t>
            </a:r>
          </a:p>
        </p:txBody>
      </p:sp>
      <p:sp>
        <p:nvSpPr>
          <p:cNvPr id="15" name="Line 15"/>
          <p:cNvSpPr/>
          <p:nvPr/>
        </p:nvSpPr>
        <p:spPr>
          <a:xfrm>
            <a:off x="7391400" y="1543050"/>
            <a:ext cx="9525" cy="304800"/>
          </a:xfrm>
          <a:custGeom>
            <a:avLst/>
            <a:gdLst/>
            <a:ahLst/>
            <a:cxnLst/>
            <a:rect l="l" t="t" r="r" b="b"/>
            <a:pathLst>
              <a:path w="9525" h="304800">
                <a:moveTo>
                  <a:pt x="0" y="0"/>
                </a:moveTo>
                <a:lnTo>
                  <a:pt x="0" y="304800"/>
                </a:lnTo>
              </a:path>
            </a:pathLst>
          </a:custGeom>
          <a:noFill/>
          <a:ln w="4762">
            <a:solidFill>
              <a:srgbClr val="E8E3DC"/>
            </a:solidFill>
          </a:ln>
        </p:spPr>
      </p:sp>
      <p:sp>
        <p:nvSpPr>
          <p:cNvPr id="16" name="Rectangle 16"/>
          <p:cNvSpPr/>
          <p:nvPr/>
        </p:nvSpPr>
        <p:spPr>
          <a:xfrm>
            <a:off x="9429750" y="1600200"/>
            <a:ext cx="190500" cy="190500"/>
          </a:xfrm>
          <a:prstGeom prst="roundRect">
            <a:avLst>
              <a:gd name="adj" fmla="val 20000"/>
            </a:avLst>
          </a:prstGeom>
          <a:solidFill>
            <a:srgbClr val="E67E22"/>
          </a:solidFill>
          <a:ln>
            <a:noFill/>
          </a:ln>
        </p:spPr>
      </p:sp>
      <p:sp>
        <p:nvSpPr>
          <p:cNvPr id="17" name="Ellipse 17"/>
          <p:cNvSpPr/>
          <p:nvPr/>
        </p:nvSpPr>
        <p:spPr>
          <a:xfrm>
            <a:off x="9467850" y="1638300"/>
            <a:ext cx="114300" cy="114300"/>
          </a:xfrm>
          <a:prstGeom prst="ellipse">
            <a:avLst/>
          </a:prstGeom>
          <a:noFill/>
          <a:ln w="14288">
            <a:solidFill>
              <a:srgbClr val="FFFFFF"/>
            </a:solidFill>
          </a:ln>
        </p:spPr>
      </p:sp>
      <p:sp>
        <p:nvSpPr>
          <p:cNvPr id="18" name="Line 18"/>
          <p:cNvSpPr/>
          <p:nvPr/>
        </p:nvSpPr>
        <p:spPr>
          <a:xfrm>
            <a:off x="9563100" y="1733550"/>
            <a:ext cx="38100" cy="38100"/>
          </a:xfrm>
          <a:custGeom>
            <a:avLst/>
            <a:gdLst/>
            <a:ahLst/>
            <a:cxnLst/>
            <a:rect l="l" t="t" r="r" b="b"/>
            <a:pathLst>
              <a:path w="38100" h="38100">
                <a:moveTo>
                  <a:pt x="0" y="0"/>
                </a:moveTo>
                <a:lnTo>
                  <a:pt x="38100" y="38100"/>
                </a:lnTo>
              </a:path>
            </a:pathLst>
          </a:custGeom>
          <a:noFill/>
          <a:ln w="14288">
            <a:solidFill>
              <a:srgbClr val="FFFFFF"/>
            </a:solidFill>
          </a:ln>
        </p:spPr>
      </p:sp>
      <p:sp>
        <p:nvSpPr>
          <p:cNvPr id="19" name="TextBox 19"/>
          <p:cNvSpPr txBox="1"/>
          <p:nvPr/>
        </p:nvSpPr>
        <p:spPr>
          <a:xfrm>
            <a:off x="9384030" y="1623060"/>
            <a:ext cx="1710690" cy="243840"/>
          </a:xfrm>
          <a:prstGeom prst="rect">
            <a:avLst/>
          </a:prstGeom>
          <a:noFill/>
          <a:ln>
            <a:noFill/>
          </a:ln>
        </p:spPr>
        <p:txBody>
          <a:bodyPr wrap="none" lIns="0" tIns="0" rIns="0" bIns="0" anchor="t" anchorCtr="0">
            <a:spAutoFit/>
          </a:bodyPr>
          <a:lstStyle/>
          <a:p>
            <a:pPr algn="ctr"/>
            <a:r>
              <a:rPr lang="zh-CN" sz="1200" b="1" dirty="0">
                <a:solidFill>
                  <a:srgbClr val="E67E22"/>
                </a:solidFill>
                <a:latin typeface="Arial"/>
                <a:ea typeface="Microsoft YaHei"/>
                <a:cs typeface="Arial"/>
              </a:rPr>
              <a:t>社区商业数字经营生态</a:t>
            </a:r>
          </a:p>
        </p:txBody>
      </p:sp>
      <p:sp>
        <p:nvSpPr>
          <p:cNvPr id="20" name="Rectangle 20"/>
          <p:cNvSpPr/>
          <p:nvPr/>
        </p:nvSpPr>
        <p:spPr>
          <a:xfrm>
            <a:off x="457200" y="1943100"/>
            <a:ext cx="11277600" cy="495300"/>
          </a:xfrm>
          <a:prstGeom prst="roundRect">
            <a:avLst>
              <a:gd name="adj" fmla="val 15385"/>
            </a:avLst>
          </a:prstGeom>
          <a:solidFill>
            <a:srgbClr val="FFFFFF"/>
          </a:solidFill>
          <a:ln w="4762">
            <a:solidFill>
              <a:srgbClr val="E8E3DC"/>
            </a:solidFill>
          </a:ln>
        </p:spPr>
      </p:sp>
      <p:sp>
        <p:nvSpPr>
          <p:cNvPr id="21" name="TextBox 21"/>
          <p:cNvSpPr txBox="1"/>
          <p:nvPr/>
        </p:nvSpPr>
        <p:spPr>
          <a:xfrm>
            <a:off x="1988963" y="2110264"/>
            <a:ext cx="746474" cy="259080"/>
          </a:xfrm>
          <a:prstGeom prst="rect">
            <a:avLst/>
          </a:prstGeom>
          <a:noFill/>
          <a:ln>
            <a:noFill/>
          </a:ln>
        </p:spPr>
        <p:txBody>
          <a:bodyPr wrap="none" lIns="0" tIns="0" rIns="0" bIns="0" anchor="t" anchorCtr="0">
            <a:spAutoFit/>
          </a:bodyPr>
          <a:lstStyle/>
          <a:p>
            <a:pPr algn="ctr"/>
            <a:r>
              <a:rPr lang="zh-CN" sz="1275" b="1" dirty="0">
                <a:solidFill>
                  <a:srgbClr val="2C2C2C"/>
                </a:solidFill>
                <a:latin typeface="Georgia"/>
                <a:ea typeface="KaiTi"/>
                <a:cs typeface="Georgia"/>
              </a:rPr>
              <a:t>核心逻辑</a:t>
            </a:r>
          </a:p>
        </p:txBody>
      </p:sp>
      <p:sp>
        <p:nvSpPr>
          <p:cNvPr id="22" name="TextBox 22"/>
          <p:cNvSpPr txBox="1"/>
          <p:nvPr/>
        </p:nvSpPr>
        <p:spPr>
          <a:xfrm>
            <a:off x="4741069" y="2126456"/>
            <a:ext cx="1528762"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交易撮合（人在找店）</a:t>
            </a:r>
          </a:p>
        </p:txBody>
      </p:sp>
      <p:sp>
        <p:nvSpPr>
          <p:cNvPr id="23" name="Line 23"/>
          <p:cNvSpPr/>
          <p:nvPr/>
        </p:nvSpPr>
        <p:spPr>
          <a:xfrm>
            <a:off x="7391400" y="2038350"/>
            <a:ext cx="9525" cy="304800"/>
          </a:xfrm>
          <a:custGeom>
            <a:avLst/>
            <a:gdLst/>
            <a:ahLst/>
            <a:cxnLst/>
            <a:rect l="l" t="t" r="r" b="b"/>
            <a:pathLst>
              <a:path w="9525" h="304800">
                <a:moveTo>
                  <a:pt x="0" y="0"/>
                </a:moveTo>
                <a:lnTo>
                  <a:pt x="0" y="304800"/>
                </a:lnTo>
              </a:path>
            </a:pathLst>
          </a:custGeom>
          <a:noFill/>
          <a:ln w="4762">
            <a:solidFill>
              <a:srgbClr val="E8E3DC"/>
            </a:solidFill>
          </a:ln>
        </p:spPr>
      </p:sp>
      <p:sp>
        <p:nvSpPr>
          <p:cNvPr id="24" name="TextBox 24"/>
          <p:cNvSpPr txBox="1"/>
          <p:nvPr/>
        </p:nvSpPr>
        <p:spPr>
          <a:xfrm>
            <a:off x="9384030" y="2118360"/>
            <a:ext cx="1710690" cy="243840"/>
          </a:xfrm>
          <a:prstGeom prst="rect">
            <a:avLst/>
          </a:prstGeom>
          <a:noFill/>
          <a:ln>
            <a:noFill/>
          </a:ln>
        </p:spPr>
        <p:txBody>
          <a:bodyPr wrap="none" lIns="0" tIns="0" rIns="0" bIns="0" anchor="t" anchorCtr="0">
            <a:spAutoFit/>
          </a:bodyPr>
          <a:lstStyle/>
          <a:p>
            <a:pPr algn="ctr"/>
            <a:r>
              <a:rPr lang="zh-CN" sz="1200" b="1" dirty="0">
                <a:solidFill>
                  <a:srgbClr val="E67E22"/>
                </a:solidFill>
                <a:latin typeface="Arial"/>
                <a:ea typeface="Microsoft YaHei"/>
                <a:cs typeface="Arial"/>
              </a:rPr>
              <a:t>经营生态（店在养人）</a:t>
            </a:r>
          </a:p>
        </p:txBody>
      </p:sp>
      <p:sp>
        <p:nvSpPr>
          <p:cNvPr id="25" name="Rectangle 25"/>
          <p:cNvSpPr/>
          <p:nvPr/>
        </p:nvSpPr>
        <p:spPr>
          <a:xfrm>
            <a:off x="457200" y="2438400"/>
            <a:ext cx="11277600" cy="495300"/>
          </a:xfrm>
          <a:prstGeom prst="roundRect">
            <a:avLst>
              <a:gd name="adj" fmla="val 15385"/>
            </a:avLst>
          </a:prstGeom>
          <a:solidFill>
            <a:srgbClr val="FFFFFF"/>
          </a:solidFill>
          <a:ln w="4762">
            <a:solidFill>
              <a:srgbClr val="E8E3DC"/>
            </a:solidFill>
          </a:ln>
        </p:spPr>
      </p:sp>
      <p:sp>
        <p:nvSpPr>
          <p:cNvPr id="26" name="TextBox 26"/>
          <p:cNvSpPr txBox="1"/>
          <p:nvPr/>
        </p:nvSpPr>
        <p:spPr>
          <a:xfrm>
            <a:off x="1988963" y="2605564"/>
            <a:ext cx="746474" cy="259080"/>
          </a:xfrm>
          <a:prstGeom prst="rect">
            <a:avLst/>
          </a:prstGeom>
          <a:noFill/>
          <a:ln>
            <a:noFill/>
          </a:ln>
        </p:spPr>
        <p:txBody>
          <a:bodyPr wrap="none" lIns="0" tIns="0" rIns="0" bIns="0" anchor="t" anchorCtr="0">
            <a:spAutoFit/>
          </a:bodyPr>
          <a:lstStyle/>
          <a:p>
            <a:pPr algn="ctr"/>
            <a:r>
              <a:rPr lang="zh-CN" sz="1275" b="1" dirty="0">
                <a:solidFill>
                  <a:srgbClr val="2C2C2C"/>
                </a:solidFill>
                <a:latin typeface="Georgia"/>
                <a:ea typeface="KaiTi"/>
                <a:cs typeface="Georgia"/>
              </a:rPr>
              <a:t>商家角色</a:t>
            </a:r>
          </a:p>
        </p:txBody>
      </p:sp>
      <p:sp>
        <p:nvSpPr>
          <p:cNvPr id="27" name="TextBox 27"/>
          <p:cNvSpPr txBox="1"/>
          <p:nvPr/>
        </p:nvSpPr>
        <p:spPr>
          <a:xfrm>
            <a:off x="4516041" y="2621756"/>
            <a:ext cx="1978819"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流量分配者（被动等待曝光）</a:t>
            </a:r>
          </a:p>
        </p:txBody>
      </p:sp>
      <p:sp>
        <p:nvSpPr>
          <p:cNvPr id="28" name="Line 28"/>
          <p:cNvSpPr/>
          <p:nvPr/>
        </p:nvSpPr>
        <p:spPr>
          <a:xfrm>
            <a:off x="7391400" y="2533650"/>
            <a:ext cx="9525" cy="304800"/>
          </a:xfrm>
          <a:custGeom>
            <a:avLst/>
            <a:gdLst/>
            <a:ahLst/>
            <a:cxnLst/>
            <a:rect l="l" t="t" r="r" b="b"/>
            <a:pathLst>
              <a:path w="9525" h="304800">
                <a:moveTo>
                  <a:pt x="0" y="0"/>
                </a:moveTo>
                <a:lnTo>
                  <a:pt x="0" y="304800"/>
                </a:lnTo>
              </a:path>
            </a:pathLst>
          </a:custGeom>
          <a:noFill/>
          <a:ln w="4762">
            <a:solidFill>
              <a:srgbClr val="E8E3DC"/>
            </a:solidFill>
          </a:ln>
        </p:spPr>
      </p:sp>
      <p:sp>
        <p:nvSpPr>
          <p:cNvPr id="29" name="TextBox 29"/>
          <p:cNvSpPr txBox="1"/>
          <p:nvPr/>
        </p:nvSpPr>
        <p:spPr>
          <a:xfrm>
            <a:off x="9131998" y="2613660"/>
            <a:ext cx="2214753" cy="243840"/>
          </a:xfrm>
          <a:prstGeom prst="rect">
            <a:avLst/>
          </a:prstGeom>
          <a:noFill/>
          <a:ln>
            <a:noFill/>
          </a:ln>
        </p:spPr>
        <p:txBody>
          <a:bodyPr wrap="none" lIns="0" tIns="0" rIns="0" bIns="0" anchor="t" anchorCtr="0">
            <a:spAutoFit/>
          </a:bodyPr>
          <a:lstStyle/>
          <a:p>
            <a:pPr algn="ctr"/>
            <a:r>
              <a:rPr lang="zh-CN" sz="1200" b="1" dirty="0">
                <a:solidFill>
                  <a:srgbClr val="E67E22"/>
                </a:solidFill>
                <a:latin typeface="Arial"/>
                <a:ea typeface="Microsoft YaHei"/>
                <a:cs typeface="Arial"/>
              </a:rPr>
              <a:t>经营赋能者（主动经营关系）</a:t>
            </a:r>
          </a:p>
        </p:txBody>
      </p:sp>
      <p:sp>
        <p:nvSpPr>
          <p:cNvPr id="30" name="Rectangle 30"/>
          <p:cNvSpPr/>
          <p:nvPr/>
        </p:nvSpPr>
        <p:spPr>
          <a:xfrm>
            <a:off x="457200" y="2933700"/>
            <a:ext cx="11277600" cy="495300"/>
          </a:xfrm>
          <a:prstGeom prst="roundRect">
            <a:avLst>
              <a:gd name="adj" fmla="val 15385"/>
            </a:avLst>
          </a:prstGeom>
          <a:solidFill>
            <a:srgbClr val="FFFFFF"/>
          </a:solidFill>
          <a:ln w="4762">
            <a:solidFill>
              <a:srgbClr val="E8E3DC"/>
            </a:solidFill>
          </a:ln>
        </p:spPr>
      </p:sp>
      <p:sp>
        <p:nvSpPr>
          <p:cNvPr id="31" name="TextBox 31"/>
          <p:cNvSpPr txBox="1"/>
          <p:nvPr/>
        </p:nvSpPr>
        <p:spPr>
          <a:xfrm>
            <a:off x="1899702" y="3100864"/>
            <a:ext cx="924997" cy="259080"/>
          </a:xfrm>
          <a:prstGeom prst="rect">
            <a:avLst/>
          </a:prstGeom>
          <a:noFill/>
          <a:ln>
            <a:noFill/>
          </a:ln>
        </p:spPr>
        <p:txBody>
          <a:bodyPr wrap="none" lIns="0" tIns="0" rIns="0" bIns="0" anchor="t" anchorCtr="0">
            <a:spAutoFit/>
          </a:bodyPr>
          <a:lstStyle/>
          <a:p>
            <a:pPr algn="ctr"/>
            <a:r>
              <a:rPr lang="zh-CN" sz="1275" b="1" dirty="0">
                <a:solidFill>
                  <a:srgbClr val="2C2C2C"/>
                </a:solidFill>
                <a:latin typeface="Georgia"/>
                <a:ea typeface="KaiTi"/>
                <a:cs typeface="Georgia"/>
              </a:rPr>
              <a:t>消费者关系</a:t>
            </a:r>
          </a:p>
        </p:txBody>
      </p:sp>
      <p:sp>
        <p:nvSpPr>
          <p:cNvPr id="32" name="TextBox 32"/>
          <p:cNvSpPr txBox="1"/>
          <p:nvPr/>
        </p:nvSpPr>
        <p:spPr>
          <a:xfrm>
            <a:off x="4291012" y="3117056"/>
            <a:ext cx="2428875"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一次性（用完即走，认平台不认店）</a:t>
            </a:r>
          </a:p>
        </p:txBody>
      </p:sp>
      <p:sp>
        <p:nvSpPr>
          <p:cNvPr id="33" name="Line 33"/>
          <p:cNvSpPr/>
          <p:nvPr/>
        </p:nvSpPr>
        <p:spPr>
          <a:xfrm>
            <a:off x="7391400" y="3028950"/>
            <a:ext cx="9525" cy="304800"/>
          </a:xfrm>
          <a:custGeom>
            <a:avLst/>
            <a:gdLst/>
            <a:ahLst/>
            <a:cxnLst/>
            <a:rect l="l" t="t" r="r" b="b"/>
            <a:pathLst>
              <a:path w="9525" h="304800">
                <a:moveTo>
                  <a:pt x="0" y="0"/>
                </a:moveTo>
                <a:lnTo>
                  <a:pt x="0" y="304800"/>
                </a:lnTo>
              </a:path>
            </a:pathLst>
          </a:custGeom>
          <a:noFill/>
          <a:ln w="4762">
            <a:solidFill>
              <a:srgbClr val="E8E3DC"/>
            </a:solidFill>
          </a:ln>
        </p:spPr>
      </p:sp>
      <p:sp>
        <p:nvSpPr>
          <p:cNvPr id="34" name="TextBox 34"/>
          <p:cNvSpPr txBox="1"/>
          <p:nvPr/>
        </p:nvSpPr>
        <p:spPr>
          <a:xfrm>
            <a:off x="8711946" y="3108960"/>
            <a:ext cx="3054858" cy="243840"/>
          </a:xfrm>
          <a:prstGeom prst="rect">
            <a:avLst/>
          </a:prstGeom>
          <a:noFill/>
          <a:ln>
            <a:noFill/>
          </a:ln>
        </p:spPr>
        <p:txBody>
          <a:bodyPr wrap="none" lIns="0" tIns="0" rIns="0" bIns="0" anchor="t" anchorCtr="0">
            <a:spAutoFit/>
          </a:bodyPr>
          <a:lstStyle/>
          <a:p>
            <a:pPr algn="ctr"/>
            <a:r>
              <a:rPr lang="zh-CN" sz="1200" b="1" dirty="0">
                <a:solidFill>
                  <a:srgbClr val="E67E22"/>
                </a:solidFill>
                <a:latin typeface="Arial"/>
                <a:ea typeface="Microsoft YaHei"/>
                <a:cs typeface="Arial"/>
              </a:rPr>
              <a:t>持续关系（消费即开始，认店也认平台）</a:t>
            </a:r>
          </a:p>
        </p:txBody>
      </p:sp>
      <p:sp>
        <p:nvSpPr>
          <p:cNvPr id="35" name="Rectangle 35"/>
          <p:cNvSpPr/>
          <p:nvPr/>
        </p:nvSpPr>
        <p:spPr>
          <a:xfrm>
            <a:off x="457200" y="3429000"/>
            <a:ext cx="11277600" cy="495300"/>
          </a:xfrm>
          <a:prstGeom prst="roundRect">
            <a:avLst>
              <a:gd name="adj" fmla="val 15385"/>
            </a:avLst>
          </a:prstGeom>
          <a:solidFill>
            <a:srgbClr val="FFFFFF"/>
          </a:solidFill>
          <a:ln w="4762">
            <a:solidFill>
              <a:srgbClr val="E8E3DC"/>
            </a:solidFill>
          </a:ln>
        </p:spPr>
      </p:sp>
      <p:sp>
        <p:nvSpPr>
          <p:cNvPr id="36" name="TextBox 36"/>
          <p:cNvSpPr txBox="1"/>
          <p:nvPr/>
        </p:nvSpPr>
        <p:spPr>
          <a:xfrm>
            <a:off x="1988963" y="3596164"/>
            <a:ext cx="746474" cy="259080"/>
          </a:xfrm>
          <a:prstGeom prst="rect">
            <a:avLst/>
          </a:prstGeom>
          <a:noFill/>
          <a:ln>
            <a:noFill/>
          </a:ln>
        </p:spPr>
        <p:txBody>
          <a:bodyPr wrap="none" lIns="0" tIns="0" rIns="0" bIns="0" anchor="t" anchorCtr="0">
            <a:spAutoFit/>
          </a:bodyPr>
          <a:lstStyle/>
          <a:p>
            <a:pPr algn="ctr"/>
            <a:r>
              <a:rPr lang="zh-CN" sz="1275" b="1" dirty="0">
                <a:solidFill>
                  <a:srgbClr val="2C2C2C"/>
                </a:solidFill>
                <a:latin typeface="Georgia"/>
                <a:ea typeface="KaiTi"/>
                <a:cs typeface="Georgia"/>
              </a:rPr>
              <a:t>收入模式</a:t>
            </a:r>
          </a:p>
        </p:txBody>
      </p:sp>
      <p:sp>
        <p:nvSpPr>
          <p:cNvPr id="37" name="TextBox 37"/>
          <p:cNvSpPr txBox="1"/>
          <p:nvPr/>
        </p:nvSpPr>
        <p:spPr>
          <a:xfrm>
            <a:off x="4718566" y="3612356"/>
            <a:ext cx="1573768"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抽佣 / 竞价排名 / 广告</a:t>
            </a:r>
          </a:p>
        </p:txBody>
      </p:sp>
      <p:sp>
        <p:nvSpPr>
          <p:cNvPr id="38" name="Line 38"/>
          <p:cNvSpPr/>
          <p:nvPr/>
        </p:nvSpPr>
        <p:spPr>
          <a:xfrm>
            <a:off x="7391400" y="3524250"/>
            <a:ext cx="9525" cy="304800"/>
          </a:xfrm>
          <a:custGeom>
            <a:avLst/>
            <a:gdLst/>
            <a:ahLst/>
            <a:cxnLst/>
            <a:rect l="l" t="t" r="r" b="b"/>
            <a:pathLst>
              <a:path w="9525" h="304800">
                <a:moveTo>
                  <a:pt x="0" y="0"/>
                </a:moveTo>
                <a:lnTo>
                  <a:pt x="0" y="304800"/>
                </a:lnTo>
              </a:path>
            </a:pathLst>
          </a:custGeom>
          <a:noFill/>
          <a:ln w="4762">
            <a:solidFill>
              <a:srgbClr val="E8E3DC"/>
            </a:solidFill>
          </a:ln>
        </p:spPr>
      </p:sp>
      <p:sp>
        <p:nvSpPr>
          <p:cNvPr id="39" name="TextBox 39"/>
          <p:cNvSpPr txBox="1"/>
          <p:nvPr/>
        </p:nvSpPr>
        <p:spPr>
          <a:xfrm>
            <a:off x="8951376" y="3604260"/>
            <a:ext cx="2575998" cy="243840"/>
          </a:xfrm>
          <a:prstGeom prst="rect">
            <a:avLst/>
          </a:prstGeom>
          <a:noFill/>
          <a:ln>
            <a:noFill/>
          </a:ln>
        </p:spPr>
        <p:txBody>
          <a:bodyPr wrap="none" lIns="0" tIns="0" rIns="0" bIns="0" anchor="t" anchorCtr="0">
            <a:spAutoFit/>
          </a:bodyPr>
          <a:lstStyle/>
          <a:p>
            <a:pPr algn="ctr"/>
            <a:r>
              <a:rPr lang="zh-CN" sz="1200" b="1" dirty="0">
                <a:solidFill>
                  <a:srgbClr val="E67E22"/>
                </a:solidFill>
                <a:latin typeface="Arial"/>
                <a:ea typeface="Microsoft YaHei"/>
                <a:cs typeface="Arial"/>
              </a:rPr>
              <a:t>服务费 / 笔（交易即服务费结算）</a:t>
            </a:r>
          </a:p>
        </p:txBody>
      </p:sp>
      <p:sp>
        <p:nvSpPr>
          <p:cNvPr id="40" name="Rectangle 40"/>
          <p:cNvSpPr/>
          <p:nvPr/>
        </p:nvSpPr>
        <p:spPr>
          <a:xfrm>
            <a:off x="457200" y="3924300"/>
            <a:ext cx="11277600" cy="495300"/>
          </a:xfrm>
          <a:prstGeom prst="roundRect">
            <a:avLst>
              <a:gd name="adj" fmla="val 15385"/>
            </a:avLst>
          </a:prstGeom>
          <a:solidFill>
            <a:srgbClr val="FFFFFF"/>
          </a:solidFill>
          <a:ln w="4762">
            <a:solidFill>
              <a:srgbClr val="E8E3DC"/>
            </a:solidFill>
          </a:ln>
        </p:spPr>
      </p:sp>
      <p:sp>
        <p:nvSpPr>
          <p:cNvPr id="41" name="TextBox 41"/>
          <p:cNvSpPr txBox="1"/>
          <p:nvPr/>
        </p:nvSpPr>
        <p:spPr>
          <a:xfrm>
            <a:off x="1899702" y="4091464"/>
            <a:ext cx="924997" cy="259080"/>
          </a:xfrm>
          <a:prstGeom prst="rect">
            <a:avLst/>
          </a:prstGeom>
          <a:noFill/>
          <a:ln>
            <a:noFill/>
          </a:ln>
        </p:spPr>
        <p:txBody>
          <a:bodyPr wrap="none" lIns="0" tIns="0" rIns="0" bIns="0" anchor="t" anchorCtr="0">
            <a:spAutoFit/>
          </a:bodyPr>
          <a:lstStyle/>
          <a:p>
            <a:pPr algn="ctr"/>
            <a:r>
              <a:rPr lang="zh-CN" sz="1275" b="1" dirty="0">
                <a:solidFill>
                  <a:srgbClr val="2C2C2C"/>
                </a:solidFill>
                <a:latin typeface="Georgia"/>
                <a:ea typeface="KaiTi"/>
                <a:cs typeface="Georgia"/>
              </a:rPr>
              <a:t>商家间关系</a:t>
            </a:r>
          </a:p>
        </p:txBody>
      </p:sp>
      <p:sp>
        <p:nvSpPr>
          <p:cNvPr id="42" name="TextBox 42"/>
          <p:cNvSpPr txBox="1"/>
          <p:nvPr/>
        </p:nvSpPr>
        <p:spPr>
          <a:xfrm>
            <a:off x="4366022" y="4107656"/>
            <a:ext cx="227885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竞争（抢流量、抢排名、抢曝光）</a:t>
            </a:r>
          </a:p>
        </p:txBody>
      </p:sp>
      <p:sp>
        <p:nvSpPr>
          <p:cNvPr id="43" name="Line 43"/>
          <p:cNvSpPr/>
          <p:nvPr/>
        </p:nvSpPr>
        <p:spPr>
          <a:xfrm>
            <a:off x="7391400" y="4019550"/>
            <a:ext cx="9525" cy="304800"/>
          </a:xfrm>
          <a:custGeom>
            <a:avLst/>
            <a:gdLst/>
            <a:ahLst/>
            <a:cxnLst/>
            <a:rect l="l" t="t" r="r" b="b"/>
            <a:pathLst>
              <a:path w="9525" h="304800">
                <a:moveTo>
                  <a:pt x="0" y="0"/>
                </a:moveTo>
                <a:lnTo>
                  <a:pt x="0" y="304800"/>
                </a:lnTo>
              </a:path>
            </a:pathLst>
          </a:custGeom>
          <a:noFill/>
          <a:ln w="4762">
            <a:solidFill>
              <a:srgbClr val="E8E3DC"/>
            </a:solidFill>
          </a:ln>
        </p:spPr>
      </p:sp>
      <p:sp>
        <p:nvSpPr>
          <p:cNvPr id="44" name="TextBox 44"/>
          <p:cNvSpPr txBox="1"/>
          <p:nvPr/>
        </p:nvSpPr>
        <p:spPr>
          <a:xfrm>
            <a:off x="8627936" y="4099560"/>
            <a:ext cx="3222879" cy="243840"/>
          </a:xfrm>
          <a:prstGeom prst="rect">
            <a:avLst/>
          </a:prstGeom>
          <a:noFill/>
          <a:ln>
            <a:noFill/>
          </a:ln>
        </p:spPr>
        <p:txBody>
          <a:bodyPr wrap="none" lIns="0" tIns="0" rIns="0" bIns="0" anchor="t" anchorCtr="0">
            <a:spAutoFit/>
          </a:bodyPr>
          <a:lstStyle/>
          <a:p>
            <a:pPr algn="ctr"/>
            <a:r>
              <a:rPr lang="zh-CN" sz="1200" b="1" dirty="0">
                <a:solidFill>
                  <a:srgbClr val="E67E22"/>
                </a:solidFill>
                <a:latin typeface="Arial"/>
                <a:ea typeface="Microsoft YaHei"/>
                <a:cs typeface="Arial"/>
              </a:rPr>
              <a:t>协作（权益互通、消费者共享、飞轮共转）</a:t>
            </a:r>
          </a:p>
        </p:txBody>
      </p:sp>
      <p:sp>
        <p:nvSpPr>
          <p:cNvPr id="45" name="Line 45"/>
          <p:cNvSpPr/>
          <p:nvPr/>
        </p:nvSpPr>
        <p:spPr>
          <a:xfrm>
            <a:off x="457200" y="455295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46" name="TextBox 46"/>
          <p:cNvSpPr txBox="1"/>
          <p:nvPr/>
        </p:nvSpPr>
        <p:spPr>
          <a:xfrm>
            <a:off x="442912" y="4679156"/>
            <a:ext cx="242887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品类定义的战略后果：两个经典案例</a:t>
            </a:r>
          </a:p>
        </p:txBody>
      </p:sp>
      <p:sp>
        <p:nvSpPr>
          <p:cNvPr id="47" name="Rectangle 47"/>
          <p:cNvSpPr/>
          <p:nvPr/>
        </p:nvSpPr>
        <p:spPr>
          <a:xfrm>
            <a:off x="457200" y="4914900"/>
            <a:ext cx="5524500" cy="781050"/>
          </a:xfrm>
          <a:prstGeom prst="roundRect">
            <a:avLst>
              <a:gd name="adj" fmla="val 17073"/>
            </a:avLst>
          </a:prstGeom>
          <a:solidFill>
            <a:srgbClr val="FFFFFF"/>
          </a:solidFill>
          <a:ln w="14288">
            <a:solidFill>
              <a:srgbClr val="1E8449"/>
            </a:solidFill>
          </a:ln>
          <a:effectLst>
            <a:outerShdw blurRad="76200" dist="19050" dir="5400000" algn="ctr" rotWithShape="0">
              <a:srgbClr val="2C2C2C">
                <a:alpha val="4500"/>
              </a:srgbClr>
            </a:outerShdw>
          </a:effectLst>
        </p:spPr>
      </p:sp>
      <p:sp>
        <p:nvSpPr>
          <p:cNvPr id="48" name="Rectangle 48"/>
          <p:cNvSpPr/>
          <p:nvPr/>
        </p:nvSpPr>
        <p:spPr>
          <a:xfrm>
            <a:off x="457200" y="4914900"/>
            <a:ext cx="5524500" cy="781050"/>
          </a:xfrm>
          <a:prstGeom prst="roundRect">
            <a:avLst>
              <a:gd name="adj" fmla="val 17073"/>
            </a:avLst>
          </a:prstGeom>
          <a:solidFill>
            <a:srgbClr val="F0FAF4"/>
          </a:solidFill>
          <a:ln>
            <a:noFill/>
          </a:ln>
        </p:spPr>
      </p:sp>
      <p:sp>
        <p:nvSpPr>
          <p:cNvPr id="49" name="Rectangle 49"/>
          <p:cNvSpPr/>
          <p:nvPr/>
        </p:nvSpPr>
        <p:spPr>
          <a:xfrm>
            <a:off x="628650" y="5086350"/>
            <a:ext cx="266700" cy="266700"/>
          </a:xfrm>
          <a:prstGeom prst="roundRect">
            <a:avLst>
              <a:gd name="adj" fmla="val 28571"/>
            </a:avLst>
          </a:prstGeom>
          <a:solidFill>
            <a:srgbClr val="1E8449"/>
          </a:solidFill>
          <a:ln>
            <a:noFill/>
          </a:ln>
        </p:spPr>
      </p:sp>
      <p:sp>
        <p:nvSpPr>
          <p:cNvPr id="50" name="TextBox 50"/>
          <p:cNvSpPr txBox="1"/>
          <p:nvPr/>
        </p:nvSpPr>
        <p:spPr>
          <a:xfrm>
            <a:off x="1012508" y="5082064"/>
            <a:ext cx="567952" cy="259080"/>
          </a:xfrm>
          <a:prstGeom prst="rect">
            <a:avLst/>
          </a:prstGeom>
          <a:noFill/>
          <a:ln>
            <a:noFill/>
          </a:ln>
        </p:spPr>
        <p:txBody>
          <a:bodyPr wrap="none" lIns="0" tIns="0" rIns="0" bIns="0" anchor="t" anchorCtr="0">
            <a:spAutoFit/>
          </a:bodyPr>
          <a:lstStyle/>
          <a:p>
            <a:pPr algn="l"/>
            <a:r>
              <a:rPr lang="zh-CN" sz="1275" b="1" dirty="0">
                <a:solidFill>
                  <a:srgbClr val="1E8449"/>
                </a:solidFill>
                <a:latin typeface="Arial"/>
                <a:ea typeface="Microsoft YaHei"/>
                <a:cs typeface="Arial"/>
              </a:rPr>
              <a:t>拼多多</a:t>
            </a:r>
          </a:p>
        </p:txBody>
      </p:sp>
      <p:sp>
        <p:nvSpPr>
          <p:cNvPr id="51" name="TextBox 51"/>
          <p:cNvSpPr txBox="1"/>
          <p:nvPr/>
        </p:nvSpPr>
        <p:spPr>
          <a:xfrm>
            <a:off x="1015365" y="5315902"/>
            <a:ext cx="3303079"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拒绝「低价版淘宝」—— 成功定义品类为「社交电商」</a:t>
            </a:r>
          </a:p>
        </p:txBody>
      </p:sp>
      <p:sp>
        <p:nvSpPr>
          <p:cNvPr id="52" name="TextBox 52"/>
          <p:cNvSpPr txBox="1"/>
          <p:nvPr/>
        </p:nvSpPr>
        <p:spPr>
          <a:xfrm>
            <a:off x="1016318" y="5495449"/>
            <a:ext cx="804862"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品类定义成功</a:t>
            </a:r>
          </a:p>
        </p:txBody>
      </p:sp>
      <p:sp>
        <p:nvSpPr>
          <p:cNvPr id="53" name="Rectangle 53"/>
          <p:cNvSpPr/>
          <p:nvPr/>
        </p:nvSpPr>
        <p:spPr>
          <a:xfrm>
            <a:off x="6210300" y="4914900"/>
            <a:ext cx="5524500" cy="781050"/>
          </a:xfrm>
          <a:prstGeom prst="roundRect">
            <a:avLst>
              <a:gd name="adj" fmla="val 17073"/>
            </a:avLst>
          </a:prstGeom>
          <a:solidFill>
            <a:srgbClr val="FFFFFF"/>
          </a:solidFill>
          <a:ln w="14288">
            <a:solidFill>
              <a:srgbClr val="C0392B"/>
            </a:solidFill>
          </a:ln>
          <a:effectLst>
            <a:outerShdw blurRad="76200" dist="19050" dir="5400000" algn="ctr" rotWithShape="0">
              <a:srgbClr val="2C2C2C">
                <a:alpha val="4500"/>
              </a:srgbClr>
            </a:outerShdw>
          </a:effectLst>
        </p:spPr>
      </p:sp>
      <p:sp>
        <p:nvSpPr>
          <p:cNvPr id="54" name="Rectangle 54"/>
          <p:cNvSpPr/>
          <p:nvPr/>
        </p:nvSpPr>
        <p:spPr>
          <a:xfrm>
            <a:off x="6210300" y="4914900"/>
            <a:ext cx="5524500" cy="781050"/>
          </a:xfrm>
          <a:prstGeom prst="roundRect">
            <a:avLst>
              <a:gd name="adj" fmla="val 17073"/>
            </a:avLst>
          </a:prstGeom>
          <a:solidFill>
            <a:srgbClr val="FEF5F5"/>
          </a:solidFill>
          <a:ln>
            <a:noFill/>
          </a:ln>
        </p:spPr>
      </p:sp>
      <p:sp>
        <p:nvSpPr>
          <p:cNvPr id="55" name="Rectangle 55"/>
          <p:cNvSpPr/>
          <p:nvPr/>
        </p:nvSpPr>
        <p:spPr>
          <a:xfrm>
            <a:off x="6381750" y="5086350"/>
            <a:ext cx="266700" cy="266700"/>
          </a:xfrm>
          <a:prstGeom prst="roundRect">
            <a:avLst>
              <a:gd name="adj" fmla="val 28571"/>
            </a:avLst>
          </a:prstGeom>
          <a:solidFill>
            <a:srgbClr val="C0392B"/>
          </a:solidFill>
          <a:ln>
            <a:noFill/>
          </a:ln>
        </p:spPr>
      </p:sp>
      <p:sp>
        <p:nvSpPr>
          <p:cNvPr id="56" name="Line 56"/>
          <p:cNvSpPr/>
          <p:nvPr/>
        </p:nvSpPr>
        <p:spPr>
          <a:xfrm>
            <a:off x="6467475" y="5172075"/>
            <a:ext cx="95250" cy="95250"/>
          </a:xfrm>
          <a:custGeom>
            <a:avLst/>
            <a:gdLst/>
            <a:ahLst/>
            <a:cxnLst/>
            <a:rect l="l" t="t" r="r" b="b"/>
            <a:pathLst>
              <a:path w="95250" h="95250">
                <a:moveTo>
                  <a:pt x="0" y="0"/>
                </a:moveTo>
                <a:lnTo>
                  <a:pt x="95250" y="95250"/>
                </a:lnTo>
              </a:path>
            </a:pathLst>
          </a:custGeom>
          <a:noFill/>
          <a:ln w="23812" cap="rnd">
            <a:solidFill>
              <a:srgbClr val="FFFFFF"/>
            </a:solidFill>
          </a:ln>
        </p:spPr>
      </p:sp>
      <p:sp>
        <p:nvSpPr>
          <p:cNvPr id="57" name="Line 57"/>
          <p:cNvSpPr/>
          <p:nvPr/>
        </p:nvSpPr>
        <p:spPr>
          <a:xfrm>
            <a:off x="6467475" y="5172075"/>
            <a:ext cx="95250" cy="95250"/>
          </a:xfrm>
          <a:custGeom>
            <a:avLst/>
            <a:gdLst/>
            <a:ahLst/>
            <a:cxnLst/>
            <a:rect l="l" t="t" r="r" b="b"/>
            <a:pathLst>
              <a:path w="95250" h="95250">
                <a:moveTo>
                  <a:pt x="95250" y="0"/>
                </a:moveTo>
                <a:lnTo>
                  <a:pt x="0" y="95250"/>
                </a:lnTo>
              </a:path>
            </a:pathLst>
          </a:custGeom>
          <a:noFill/>
          <a:ln w="23812" cap="rnd">
            <a:solidFill>
              <a:srgbClr val="FFFFFF"/>
            </a:solidFill>
          </a:ln>
        </p:spPr>
      </p:sp>
      <p:sp>
        <p:nvSpPr>
          <p:cNvPr id="58" name="TextBox 58"/>
          <p:cNvSpPr txBox="1"/>
          <p:nvPr/>
        </p:nvSpPr>
        <p:spPr>
          <a:xfrm>
            <a:off x="6765608" y="5082064"/>
            <a:ext cx="389430" cy="259080"/>
          </a:xfrm>
          <a:prstGeom prst="rect">
            <a:avLst/>
          </a:prstGeom>
          <a:noFill/>
          <a:ln>
            <a:noFill/>
          </a:ln>
        </p:spPr>
        <p:txBody>
          <a:bodyPr wrap="none" lIns="0" tIns="0" rIns="0" bIns="0" anchor="t" anchorCtr="0">
            <a:spAutoFit/>
          </a:bodyPr>
          <a:lstStyle/>
          <a:p>
            <a:pPr algn="l"/>
            <a:r>
              <a:rPr lang="zh-CN" sz="1275" b="1" dirty="0">
                <a:solidFill>
                  <a:srgbClr val="C0392B"/>
                </a:solidFill>
                <a:latin typeface="Arial"/>
                <a:ea typeface="Microsoft YaHei"/>
                <a:cs typeface="Arial"/>
              </a:rPr>
              <a:t>有赞</a:t>
            </a:r>
          </a:p>
        </p:txBody>
      </p:sp>
      <p:sp>
        <p:nvSpPr>
          <p:cNvPr id="59" name="TextBox 59"/>
          <p:cNvSpPr txBox="1"/>
          <p:nvPr/>
        </p:nvSpPr>
        <p:spPr>
          <a:xfrm>
            <a:off x="6768465" y="5315902"/>
            <a:ext cx="3303079"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接受「微信里的淘宝」—— 永远活在淘宝的品类影子里</a:t>
            </a:r>
          </a:p>
        </p:txBody>
      </p:sp>
      <p:sp>
        <p:nvSpPr>
          <p:cNvPr id="60" name="TextBox 60"/>
          <p:cNvSpPr txBox="1"/>
          <p:nvPr/>
        </p:nvSpPr>
        <p:spPr>
          <a:xfrm>
            <a:off x="6769418" y="5495449"/>
            <a:ext cx="804862"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品类定义失败</a:t>
            </a:r>
          </a:p>
        </p:txBody>
      </p:sp>
      <p:sp>
        <p:nvSpPr>
          <p:cNvPr id="61" name="Line 61"/>
          <p:cNvSpPr/>
          <p:nvPr/>
        </p:nvSpPr>
        <p:spPr>
          <a:xfrm>
            <a:off x="5981700" y="5305425"/>
            <a:ext cx="228600" cy="1"/>
          </a:xfrm>
          <a:prstGeom prst="line">
            <a:avLst/>
          </a:prstGeom>
          <a:noFill/>
          <a:ln w="14288">
            <a:solidFill>
              <a:srgbClr val="E8E3DC"/>
            </a:solidFill>
          </a:ln>
        </p:spPr>
      </p:sp>
      <p:sp>
        <p:nvSpPr>
          <p:cNvPr id="62" name="TextBox 62"/>
          <p:cNvSpPr txBox="1"/>
          <p:nvPr/>
        </p:nvSpPr>
        <p:spPr>
          <a:xfrm>
            <a:off x="6012109" y="5114449"/>
            <a:ext cx="167783" cy="198120"/>
          </a:xfrm>
          <a:prstGeom prst="rect">
            <a:avLst/>
          </a:prstGeom>
          <a:noFill/>
          <a:ln>
            <a:noFill/>
          </a:ln>
        </p:spPr>
        <p:txBody>
          <a:bodyPr wrap="none" lIns="0" tIns="0" rIns="0" bIns="0" anchor="t" anchorCtr="0">
            <a:spAutoFit/>
          </a:bodyPr>
          <a:lstStyle/>
          <a:p>
            <a:pPr algn="ctr"/>
            <a:r>
              <a:rPr lang="zh-CN" sz="975" dirty="0">
                <a:solidFill>
                  <a:srgbClr val="A0A0A0"/>
                </a:solidFill>
                <a:latin typeface="Arial"/>
                <a:ea typeface="Microsoft YaHei"/>
                <a:cs typeface="Arial"/>
              </a:rPr>
              <a:t>vs</a:t>
            </a:r>
          </a:p>
        </p:txBody>
      </p:sp>
      <p:sp>
        <p:nvSpPr>
          <p:cNvPr id="63" name="Rectangle 63"/>
          <p:cNvSpPr/>
          <p:nvPr/>
        </p:nvSpPr>
        <p:spPr>
          <a:xfrm>
            <a:off x="457200" y="5829300"/>
            <a:ext cx="11277600" cy="342900"/>
          </a:xfrm>
          <a:prstGeom prst="roundRect">
            <a:avLst>
              <a:gd name="adj" fmla="val 22222"/>
            </a:avLst>
          </a:prstGeom>
          <a:solidFill>
            <a:srgbClr val="FFF8F0"/>
          </a:solidFill>
          <a:ln>
            <a:noFill/>
          </a:ln>
        </p:spPr>
      </p:sp>
      <p:sp>
        <p:nvSpPr>
          <p:cNvPr id="64" name="TextBox 64"/>
          <p:cNvSpPr txBox="1"/>
          <p:nvPr/>
        </p:nvSpPr>
        <p:spPr>
          <a:xfrm>
            <a:off x="2598330" y="5935028"/>
            <a:ext cx="6995341" cy="213360"/>
          </a:xfrm>
          <a:prstGeom prst="rect">
            <a:avLst/>
          </a:prstGeom>
          <a:noFill/>
          <a:ln>
            <a:noFill/>
          </a:ln>
        </p:spPr>
        <p:txBody>
          <a:bodyPr wrap="none" lIns="0" tIns="0" rIns="0" bIns="0" anchor="t" anchorCtr="0">
            <a:spAutoFit/>
          </a:bodyPr>
          <a:lstStyle/>
          <a:p>
            <a:pPr algn="ctr"/>
            <a:r>
              <a:rPr lang="zh-CN" sz="1050" b="1" dirty="0">
                <a:solidFill>
                  <a:srgbClr val="E67E22"/>
                </a:solidFill>
                <a:latin typeface="Arial"/>
                <a:ea typeface="Microsoft YaHei"/>
                <a:cs typeface="Arial"/>
              </a:rPr>
              <a:t>链邦赋商通的选择：不是「更好的美团」，而是「帮商家经营的生态」—— 一个美团和抖音都未进入的新品类</a:t>
            </a:r>
          </a:p>
        </p:txBody>
      </p:sp>
      <p:sp>
        <p:nvSpPr>
          <p:cNvPr id="65" name="TextBox 65"/>
          <p:cNvSpPr txBox="1"/>
          <p:nvPr/>
        </p:nvSpPr>
        <p:spPr>
          <a:xfrm>
            <a:off x="442912" y="6488906"/>
            <a:ext cx="281142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链邦赋商通 · 链生活 | 品牌战略总案 V1.0</a:t>
            </a:r>
          </a:p>
        </p:txBody>
      </p:sp>
      <p:sp>
        <p:nvSpPr>
          <p:cNvPr id="66" name="TextBox 66"/>
          <p:cNvSpPr txBox="1"/>
          <p:nvPr/>
        </p:nvSpPr>
        <p:spPr>
          <a:xfrm>
            <a:off x="11472982" y="6488906"/>
            <a:ext cx="27610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P06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457200" y="266700"/>
            <a:ext cx="57150" cy="304800"/>
          </a:xfrm>
          <a:prstGeom prst="roundRect">
            <a:avLst>
              <a:gd name="adj" fmla="val 50000"/>
            </a:avLst>
          </a:prstGeom>
          <a:solidFill>
            <a:srgbClr val="E67E22"/>
          </a:solidFill>
          <a:ln>
            <a:noFill/>
          </a:ln>
        </p:spPr>
      </p:sp>
      <p:sp>
        <p:nvSpPr>
          <p:cNvPr id="4" name="TextBox 4"/>
          <p:cNvSpPr txBox="1"/>
          <p:nvPr/>
        </p:nvSpPr>
        <p:spPr>
          <a:xfrm>
            <a:off x="594360" y="203835"/>
            <a:ext cx="2732913"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C+ 四层定位结构</a:t>
            </a:r>
          </a:p>
        </p:txBody>
      </p:sp>
      <p:sp>
        <p:nvSpPr>
          <p:cNvPr id="5" name="TextBox 5"/>
          <p:cNvSpPr txBox="1"/>
          <p:nvPr/>
        </p:nvSpPr>
        <p:spPr>
          <a:xfrm>
            <a:off x="609600" y="542925"/>
            <a:ext cx="6658928"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C+ = 品类占位（主轴）× 竞争对立（助推器）× 消费者价值 × 生态组织模式</a:t>
            </a:r>
          </a:p>
        </p:txBody>
      </p:sp>
      <p:sp>
        <p:nvSpPr>
          <p:cNvPr id="6" name="Line 6"/>
          <p:cNvSpPr/>
          <p:nvPr/>
        </p:nvSpPr>
        <p:spPr>
          <a:xfrm>
            <a:off x="457200" y="87630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7" name="Rectangle 7"/>
          <p:cNvSpPr/>
          <p:nvPr/>
        </p:nvSpPr>
        <p:spPr>
          <a:xfrm>
            <a:off x="762000" y="1085850"/>
            <a:ext cx="2524125" cy="4514850"/>
          </a:xfrm>
          <a:prstGeom prst="roundRect">
            <a:avLst>
              <a:gd name="adj" fmla="val 5283"/>
            </a:avLst>
          </a:prstGeom>
          <a:solidFill>
            <a:srgbClr val="FFFFFF"/>
          </a:solidFill>
          <a:ln w="19050">
            <a:solidFill>
              <a:srgbClr val="E67E22"/>
            </a:solidFill>
          </a:ln>
          <a:effectLst>
            <a:outerShdw blurRad="76200" dist="19050" dir="5400000" algn="ctr" rotWithShape="0">
              <a:srgbClr val="2C2C2C">
                <a:alpha val="4500"/>
              </a:srgbClr>
            </a:outerShdw>
          </a:effectLst>
        </p:spPr>
      </p:sp>
      <p:sp>
        <p:nvSpPr>
          <p:cNvPr id="8" name="Rectangle 8"/>
          <p:cNvSpPr/>
          <p:nvPr/>
        </p:nvSpPr>
        <p:spPr>
          <a:xfrm>
            <a:off x="762000" y="1085850"/>
            <a:ext cx="2524125" cy="723900"/>
          </a:xfrm>
          <a:prstGeom prst="roundRect">
            <a:avLst>
              <a:gd name="adj" fmla="val 18421"/>
            </a:avLst>
          </a:prstGeom>
          <a:solidFill>
            <a:srgbClr val="E67E22"/>
          </a:solidFill>
          <a:ln>
            <a:noFill/>
          </a:ln>
        </p:spPr>
      </p:sp>
      <p:sp>
        <p:nvSpPr>
          <p:cNvPr id="9" name="Rectangle 9"/>
          <p:cNvSpPr/>
          <p:nvPr/>
        </p:nvSpPr>
        <p:spPr>
          <a:xfrm>
            <a:off x="762000" y="1524000"/>
            <a:ext cx="2524125" cy="285750"/>
          </a:xfrm>
          <a:prstGeom prst="rect">
            <a:avLst/>
          </a:prstGeom>
          <a:solidFill>
            <a:srgbClr val="E67E22"/>
          </a:solidFill>
          <a:ln>
            <a:noFill/>
          </a:ln>
        </p:spPr>
      </p:sp>
      <p:sp>
        <p:nvSpPr>
          <p:cNvPr id="10" name="Ellipse 10"/>
          <p:cNvSpPr/>
          <p:nvPr/>
        </p:nvSpPr>
        <p:spPr>
          <a:xfrm>
            <a:off x="1828800" y="1123950"/>
            <a:ext cx="381000" cy="381000"/>
          </a:xfrm>
          <a:prstGeom prst="ellipse">
            <a:avLst/>
          </a:prstGeom>
          <a:noFill/>
          <a:ln w="23812">
            <a:solidFill>
              <a:srgbClr val="FFFFFF"/>
            </a:solidFill>
          </a:ln>
        </p:spPr>
      </p:sp>
      <p:sp>
        <p:nvSpPr>
          <p:cNvPr id="11" name="Ellipse 11"/>
          <p:cNvSpPr/>
          <p:nvPr/>
        </p:nvSpPr>
        <p:spPr>
          <a:xfrm>
            <a:off x="1943100" y="1238250"/>
            <a:ext cx="152400" cy="152400"/>
          </a:xfrm>
          <a:prstGeom prst="ellipse">
            <a:avLst/>
          </a:prstGeom>
          <a:solidFill>
            <a:srgbClr val="FFFFFF"/>
          </a:solidFill>
          <a:ln>
            <a:noFill/>
          </a:ln>
        </p:spPr>
      </p:sp>
      <p:sp>
        <p:nvSpPr>
          <p:cNvPr id="12" name="TextBox 12"/>
          <p:cNvSpPr txBox="1"/>
          <p:nvPr/>
        </p:nvSpPr>
        <p:spPr>
          <a:xfrm>
            <a:off x="1580198" y="1552575"/>
            <a:ext cx="878205"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KaiTi"/>
                <a:cs typeface="Georgia"/>
              </a:rPr>
              <a:t>品类占位</a:t>
            </a:r>
          </a:p>
        </p:txBody>
      </p:sp>
      <p:sp>
        <p:nvSpPr>
          <p:cNvPr id="13" name="TextBox 13"/>
          <p:cNvSpPr txBox="1"/>
          <p:nvPr/>
        </p:nvSpPr>
        <p:spPr>
          <a:xfrm>
            <a:off x="938212" y="1993106"/>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回答的问题</a:t>
            </a:r>
          </a:p>
        </p:txBody>
      </p:sp>
      <p:sp>
        <p:nvSpPr>
          <p:cNvPr id="14" name="TextBox 14"/>
          <p:cNvSpPr txBox="1"/>
          <p:nvPr/>
        </p:nvSpPr>
        <p:spPr>
          <a:xfrm>
            <a:off x="936308" y="2224564"/>
            <a:ext cx="1817608"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「你到底是干嘛的？」</a:t>
            </a:r>
          </a:p>
        </p:txBody>
      </p:sp>
      <p:sp>
        <p:nvSpPr>
          <p:cNvPr id="15" name="Line 15"/>
          <p:cNvSpPr/>
          <p:nvPr/>
        </p:nvSpPr>
        <p:spPr>
          <a:xfrm>
            <a:off x="952500" y="249555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16" name="TextBox 16"/>
          <p:cNvSpPr txBox="1"/>
          <p:nvPr/>
        </p:nvSpPr>
        <p:spPr>
          <a:xfrm>
            <a:off x="938212" y="26217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核心定义</a:t>
            </a:r>
          </a:p>
        </p:txBody>
      </p:sp>
      <p:sp>
        <p:nvSpPr>
          <p:cNvPr id="17" name="TextBox 17"/>
          <p:cNvSpPr txBox="1"/>
          <p:nvPr/>
        </p:nvSpPr>
        <p:spPr>
          <a:xfrm>
            <a:off x="937260" y="2861310"/>
            <a:ext cx="702564"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社区商业</a:t>
            </a:r>
          </a:p>
        </p:txBody>
      </p:sp>
      <p:sp>
        <p:nvSpPr>
          <p:cNvPr id="18" name="TextBox 18"/>
          <p:cNvSpPr txBox="1"/>
          <p:nvPr/>
        </p:nvSpPr>
        <p:spPr>
          <a:xfrm>
            <a:off x="937260" y="3070860"/>
            <a:ext cx="1038606"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数字经营生态</a:t>
            </a:r>
          </a:p>
        </p:txBody>
      </p:sp>
      <p:sp>
        <p:nvSpPr>
          <p:cNvPr id="19" name="Line 19"/>
          <p:cNvSpPr/>
          <p:nvPr/>
        </p:nvSpPr>
        <p:spPr>
          <a:xfrm>
            <a:off x="952500" y="337185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20" name="TextBox 20"/>
          <p:cNvSpPr txBox="1"/>
          <p:nvPr/>
        </p:nvSpPr>
        <p:spPr>
          <a:xfrm>
            <a:off x="938212" y="349805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角色</a:t>
            </a:r>
          </a:p>
        </p:txBody>
      </p:sp>
      <p:sp>
        <p:nvSpPr>
          <p:cNvPr id="21" name="TextBox 21"/>
          <p:cNvSpPr txBox="1"/>
          <p:nvPr/>
        </p:nvSpPr>
        <p:spPr>
          <a:xfrm>
            <a:off x="938212" y="3726656"/>
            <a:ext cx="6286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品类主轴</a:t>
            </a:r>
          </a:p>
        </p:txBody>
      </p:sp>
      <p:sp>
        <p:nvSpPr>
          <p:cNvPr id="22" name="TextBox 22"/>
          <p:cNvSpPr txBox="1"/>
          <p:nvPr/>
        </p:nvSpPr>
        <p:spPr>
          <a:xfrm>
            <a:off x="938212" y="393620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受众</a:t>
            </a:r>
          </a:p>
        </p:txBody>
      </p:sp>
      <p:sp>
        <p:nvSpPr>
          <p:cNvPr id="23" name="Rectangle 23"/>
          <p:cNvSpPr/>
          <p:nvPr/>
        </p:nvSpPr>
        <p:spPr>
          <a:xfrm>
            <a:off x="952500" y="4152900"/>
            <a:ext cx="1333500" cy="228600"/>
          </a:xfrm>
          <a:prstGeom prst="roundRect">
            <a:avLst>
              <a:gd name="adj" fmla="val 25000"/>
            </a:avLst>
          </a:prstGeom>
          <a:solidFill>
            <a:srgbClr val="FFF8F0"/>
          </a:solidFill>
          <a:ln>
            <a:noFill/>
          </a:ln>
        </p:spPr>
      </p:sp>
      <p:sp>
        <p:nvSpPr>
          <p:cNvPr id="24" name="TextBox 24"/>
          <p:cNvSpPr txBox="1"/>
          <p:nvPr/>
        </p:nvSpPr>
        <p:spPr>
          <a:xfrm>
            <a:off x="1142059" y="4209574"/>
            <a:ext cx="954381" cy="198120"/>
          </a:xfrm>
          <a:prstGeom prst="rect">
            <a:avLst/>
          </a:prstGeom>
          <a:noFill/>
          <a:ln>
            <a:noFill/>
          </a:ln>
        </p:spPr>
        <p:txBody>
          <a:bodyPr wrap="none" lIns="0" tIns="0" rIns="0" bIns="0" anchor="t" anchorCtr="0">
            <a:spAutoFit/>
          </a:bodyPr>
          <a:lstStyle/>
          <a:p>
            <a:pPr algn="ctr"/>
            <a:r>
              <a:rPr lang="zh-CN" sz="975" dirty="0">
                <a:solidFill>
                  <a:srgbClr val="E67E22"/>
                </a:solidFill>
                <a:latin typeface="Arial"/>
                <a:ea typeface="Microsoft YaHei"/>
                <a:cs typeface="Arial"/>
              </a:rPr>
              <a:t>对准公众 / 行业</a:t>
            </a:r>
          </a:p>
        </p:txBody>
      </p:sp>
      <p:sp>
        <p:nvSpPr>
          <p:cNvPr id="25" name="Rectangle 25"/>
          <p:cNvSpPr/>
          <p:nvPr/>
        </p:nvSpPr>
        <p:spPr>
          <a:xfrm>
            <a:off x="952500" y="4552950"/>
            <a:ext cx="2143125" cy="342900"/>
          </a:xfrm>
          <a:prstGeom prst="roundRect">
            <a:avLst>
              <a:gd name="adj" fmla="val 22222"/>
            </a:avLst>
          </a:prstGeom>
          <a:solidFill>
            <a:srgbClr val="FFF8F0"/>
          </a:solidFill>
          <a:ln w="9525">
            <a:solidFill>
              <a:srgbClr val="E67E22"/>
            </a:solidFill>
          </a:ln>
        </p:spPr>
      </p:sp>
      <p:sp>
        <p:nvSpPr>
          <p:cNvPr id="26" name="TextBox 26"/>
          <p:cNvSpPr txBox="1"/>
          <p:nvPr/>
        </p:nvSpPr>
        <p:spPr>
          <a:xfrm>
            <a:off x="1259847" y="4658678"/>
            <a:ext cx="1518907" cy="213360"/>
          </a:xfrm>
          <a:prstGeom prst="rect">
            <a:avLst/>
          </a:prstGeom>
          <a:noFill/>
          <a:ln>
            <a:noFill/>
          </a:ln>
        </p:spPr>
        <p:txBody>
          <a:bodyPr wrap="none" lIns="0" tIns="0" rIns="0" bIns="0" anchor="t" anchorCtr="0">
            <a:spAutoFit/>
          </a:bodyPr>
          <a:lstStyle/>
          <a:p>
            <a:pPr algn="ctr"/>
            <a:r>
              <a:rPr lang="zh-CN" sz="1050" b="1" dirty="0">
                <a:solidFill>
                  <a:srgbClr val="E67E22"/>
                </a:solidFill>
                <a:latin typeface="Arial"/>
                <a:ea typeface="Microsoft YaHei"/>
                <a:cs typeface="Arial"/>
              </a:rPr>
              <a:t>定位主轴 · 最高优先级</a:t>
            </a:r>
          </a:p>
        </p:txBody>
      </p:sp>
      <p:sp>
        <p:nvSpPr>
          <p:cNvPr id="27" name="Rectangle 27"/>
          <p:cNvSpPr/>
          <p:nvPr/>
        </p:nvSpPr>
        <p:spPr>
          <a:xfrm>
            <a:off x="3476625" y="1085850"/>
            <a:ext cx="2524125" cy="4514850"/>
          </a:xfrm>
          <a:prstGeom prst="roundRect">
            <a:avLst>
              <a:gd name="adj" fmla="val 5283"/>
            </a:avLst>
          </a:prstGeom>
          <a:solidFill>
            <a:srgbClr val="FFFFFF"/>
          </a:solidFill>
          <a:ln w="19050">
            <a:solidFill>
              <a:srgbClr val="1A5276"/>
            </a:solidFill>
          </a:ln>
          <a:effectLst>
            <a:outerShdw blurRad="76200" dist="19050" dir="5400000" algn="ctr" rotWithShape="0">
              <a:srgbClr val="2C2C2C">
                <a:alpha val="4500"/>
              </a:srgbClr>
            </a:outerShdw>
          </a:effectLst>
        </p:spPr>
      </p:sp>
      <p:sp>
        <p:nvSpPr>
          <p:cNvPr id="28" name="Rectangle 28"/>
          <p:cNvSpPr/>
          <p:nvPr/>
        </p:nvSpPr>
        <p:spPr>
          <a:xfrm>
            <a:off x="3476625" y="1085850"/>
            <a:ext cx="2524125" cy="723900"/>
          </a:xfrm>
          <a:prstGeom prst="roundRect">
            <a:avLst>
              <a:gd name="adj" fmla="val 18421"/>
            </a:avLst>
          </a:prstGeom>
          <a:solidFill>
            <a:srgbClr val="1A5276"/>
          </a:solidFill>
          <a:ln>
            <a:noFill/>
          </a:ln>
        </p:spPr>
      </p:sp>
      <p:sp>
        <p:nvSpPr>
          <p:cNvPr id="29" name="Rectangle 29"/>
          <p:cNvSpPr/>
          <p:nvPr/>
        </p:nvSpPr>
        <p:spPr>
          <a:xfrm>
            <a:off x="3476625" y="1524000"/>
            <a:ext cx="2524125" cy="285750"/>
          </a:xfrm>
          <a:prstGeom prst="rect">
            <a:avLst/>
          </a:prstGeom>
          <a:solidFill>
            <a:srgbClr val="1A5276"/>
          </a:solidFill>
          <a:ln>
            <a:noFill/>
          </a:ln>
        </p:spPr>
      </p:sp>
      <p:sp>
        <p:nvSpPr>
          <p:cNvPr id="30" name="Rectangle 30"/>
          <p:cNvSpPr/>
          <p:nvPr/>
        </p:nvSpPr>
        <p:spPr>
          <a:xfrm>
            <a:off x="4695825" y="1409700"/>
            <a:ext cx="76200" cy="19050"/>
          </a:xfrm>
          <a:prstGeom prst="roundRect">
            <a:avLst>
              <a:gd name="adj" fmla="val 50000"/>
            </a:avLst>
          </a:prstGeom>
          <a:solidFill>
            <a:srgbClr val="FFFFFF"/>
          </a:solidFill>
          <a:ln>
            <a:noFill/>
          </a:ln>
        </p:spPr>
      </p:sp>
      <p:sp>
        <p:nvSpPr>
          <p:cNvPr id="31" name="Rectangle 31"/>
          <p:cNvSpPr/>
          <p:nvPr/>
        </p:nvSpPr>
        <p:spPr>
          <a:xfrm>
            <a:off x="4733925" y="1257300"/>
            <a:ext cx="114300" cy="28575"/>
          </a:xfrm>
          <a:prstGeom prst="roundRect">
            <a:avLst>
              <a:gd name="adj" fmla="val 50000"/>
            </a:avLst>
          </a:prstGeom>
          <a:solidFill>
            <a:srgbClr val="FFFFFF"/>
          </a:solidFill>
          <a:ln>
            <a:noFill/>
          </a:ln>
        </p:spPr>
      </p:sp>
      <p:sp>
        <p:nvSpPr>
          <p:cNvPr id="32" name="TextBox 32"/>
          <p:cNvSpPr txBox="1"/>
          <p:nvPr/>
        </p:nvSpPr>
        <p:spPr>
          <a:xfrm>
            <a:off x="4294822" y="1552575"/>
            <a:ext cx="878205"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KaiTi"/>
                <a:cs typeface="Georgia"/>
              </a:rPr>
              <a:t>竞争对立</a:t>
            </a:r>
          </a:p>
        </p:txBody>
      </p:sp>
      <p:sp>
        <p:nvSpPr>
          <p:cNvPr id="33" name="TextBox 33"/>
          <p:cNvSpPr txBox="1"/>
          <p:nvPr/>
        </p:nvSpPr>
        <p:spPr>
          <a:xfrm>
            <a:off x="3652838" y="1993106"/>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回答的问题</a:t>
            </a:r>
          </a:p>
        </p:txBody>
      </p:sp>
      <p:sp>
        <p:nvSpPr>
          <p:cNvPr id="34" name="TextBox 34"/>
          <p:cNvSpPr txBox="1"/>
          <p:nvPr/>
        </p:nvSpPr>
        <p:spPr>
          <a:xfrm>
            <a:off x="3650932" y="2224564"/>
            <a:ext cx="1103519"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「为什么选你</a:t>
            </a:r>
          </a:p>
        </p:txBody>
      </p:sp>
      <p:sp>
        <p:nvSpPr>
          <p:cNvPr id="35" name="TextBox 35"/>
          <p:cNvSpPr txBox="1"/>
          <p:nvPr/>
        </p:nvSpPr>
        <p:spPr>
          <a:xfrm>
            <a:off x="3650932" y="2415064"/>
            <a:ext cx="1103519"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不选美团？」</a:t>
            </a:r>
          </a:p>
        </p:txBody>
      </p:sp>
      <p:sp>
        <p:nvSpPr>
          <p:cNvPr id="36" name="Line 36"/>
          <p:cNvSpPr/>
          <p:nvPr/>
        </p:nvSpPr>
        <p:spPr>
          <a:xfrm>
            <a:off x="3667125" y="268605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37" name="TextBox 37"/>
          <p:cNvSpPr txBox="1"/>
          <p:nvPr/>
        </p:nvSpPr>
        <p:spPr>
          <a:xfrm>
            <a:off x="3652838" y="28122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核心定义</a:t>
            </a:r>
          </a:p>
        </p:txBody>
      </p:sp>
      <p:sp>
        <p:nvSpPr>
          <p:cNvPr id="38" name="TextBox 38"/>
          <p:cNvSpPr txBox="1"/>
          <p:nvPr/>
        </p:nvSpPr>
        <p:spPr>
          <a:xfrm>
            <a:off x="3651885" y="3051810"/>
            <a:ext cx="870585"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从流量依赖</a:t>
            </a:r>
          </a:p>
        </p:txBody>
      </p:sp>
      <p:sp>
        <p:nvSpPr>
          <p:cNvPr id="39" name="TextBox 39"/>
          <p:cNvSpPr txBox="1"/>
          <p:nvPr/>
        </p:nvSpPr>
        <p:spPr>
          <a:xfrm>
            <a:off x="3651885" y="3261360"/>
            <a:ext cx="1038606"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走向经营自主</a:t>
            </a:r>
          </a:p>
        </p:txBody>
      </p:sp>
      <p:sp>
        <p:nvSpPr>
          <p:cNvPr id="40" name="Line 40"/>
          <p:cNvSpPr/>
          <p:nvPr/>
        </p:nvSpPr>
        <p:spPr>
          <a:xfrm>
            <a:off x="3667125" y="356235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41" name="TextBox 41"/>
          <p:cNvSpPr txBox="1"/>
          <p:nvPr/>
        </p:nvSpPr>
        <p:spPr>
          <a:xfrm>
            <a:off x="3652838" y="368855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角色</a:t>
            </a:r>
          </a:p>
        </p:txBody>
      </p:sp>
      <p:sp>
        <p:nvSpPr>
          <p:cNvPr id="42" name="TextBox 42"/>
          <p:cNvSpPr txBox="1"/>
          <p:nvPr/>
        </p:nvSpPr>
        <p:spPr>
          <a:xfrm>
            <a:off x="3652838" y="3917156"/>
            <a:ext cx="77866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竞争助推器</a:t>
            </a:r>
          </a:p>
        </p:txBody>
      </p:sp>
      <p:sp>
        <p:nvSpPr>
          <p:cNvPr id="43" name="TextBox 43"/>
          <p:cNvSpPr txBox="1"/>
          <p:nvPr/>
        </p:nvSpPr>
        <p:spPr>
          <a:xfrm>
            <a:off x="3652838" y="412670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受众</a:t>
            </a:r>
          </a:p>
        </p:txBody>
      </p:sp>
      <p:sp>
        <p:nvSpPr>
          <p:cNvPr id="44" name="Rectangle 44"/>
          <p:cNvSpPr/>
          <p:nvPr/>
        </p:nvSpPr>
        <p:spPr>
          <a:xfrm>
            <a:off x="3667125" y="4343400"/>
            <a:ext cx="1333500" cy="228600"/>
          </a:xfrm>
          <a:prstGeom prst="roundRect">
            <a:avLst>
              <a:gd name="adj" fmla="val 25000"/>
            </a:avLst>
          </a:prstGeom>
          <a:solidFill>
            <a:srgbClr val="F0F5FA"/>
          </a:solidFill>
          <a:ln>
            <a:noFill/>
          </a:ln>
        </p:spPr>
      </p:sp>
      <p:sp>
        <p:nvSpPr>
          <p:cNvPr id="45" name="TextBox 45"/>
          <p:cNvSpPr txBox="1"/>
          <p:nvPr/>
        </p:nvSpPr>
        <p:spPr>
          <a:xfrm>
            <a:off x="4061460" y="4400074"/>
            <a:ext cx="544830" cy="198120"/>
          </a:xfrm>
          <a:prstGeom prst="rect">
            <a:avLst/>
          </a:prstGeom>
          <a:noFill/>
          <a:ln>
            <a:noFill/>
          </a:ln>
        </p:spPr>
        <p:txBody>
          <a:bodyPr wrap="none" lIns="0" tIns="0" rIns="0" bIns="0" anchor="t" anchorCtr="0">
            <a:spAutoFit/>
          </a:bodyPr>
          <a:lstStyle/>
          <a:p>
            <a:pPr algn="ctr"/>
            <a:r>
              <a:rPr lang="zh-CN" sz="975" dirty="0">
                <a:solidFill>
                  <a:srgbClr val="1A5276"/>
                </a:solidFill>
                <a:latin typeface="Arial"/>
                <a:ea typeface="Microsoft YaHei"/>
                <a:cs typeface="Arial"/>
              </a:rPr>
              <a:t>对准商家</a:t>
            </a:r>
          </a:p>
        </p:txBody>
      </p:sp>
      <p:sp>
        <p:nvSpPr>
          <p:cNvPr id="46" name="Rectangle 46"/>
          <p:cNvSpPr/>
          <p:nvPr/>
        </p:nvSpPr>
        <p:spPr>
          <a:xfrm>
            <a:off x="3667125" y="4552950"/>
            <a:ext cx="2143125" cy="342900"/>
          </a:xfrm>
          <a:prstGeom prst="roundRect">
            <a:avLst>
              <a:gd name="adj" fmla="val 22222"/>
            </a:avLst>
          </a:prstGeom>
          <a:solidFill>
            <a:srgbClr val="F0F5FA"/>
          </a:solidFill>
          <a:ln w="9525">
            <a:solidFill>
              <a:srgbClr val="1A5276"/>
            </a:solidFill>
          </a:ln>
        </p:spPr>
      </p:sp>
      <p:sp>
        <p:nvSpPr>
          <p:cNvPr id="47" name="TextBox 47"/>
          <p:cNvSpPr txBox="1"/>
          <p:nvPr/>
        </p:nvSpPr>
        <p:spPr>
          <a:xfrm>
            <a:off x="4121490" y="4658678"/>
            <a:ext cx="1224870" cy="213360"/>
          </a:xfrm>
          <a:prstGeom prst="rect">
            <a:avLst/>
          </a:prstGeom>
          <a:noFill/>
          <a:ln>
            <a:noFill/>
          </a:ln>
        </p:spPr>
        <p:txBody>
          <a:bodyPr wrap="none" lIns="0" tIns="0" rIns="0" bIns="0" anchor="t" anchorCtr="0">
            <a:spAutoFit/>
          </a:bodyPr>
          <a:lstStyle/>
          <a:p>
            <a:pPr algn="ctr"/>
            <a:r>
              <a:rPr lang="zh-CN" sz="1050" b="1" dirty="0">
                <a:solidFill>
                  <a:srgbClr val="1A5276"/>
                </a:solidFill>
                <a:latin typeface="Arial"/>
                <a:ea typeface="Microsoft YaHei"/>
                <a:cs typeface="Arial"/>
              </a:rPr>
              <a:t>助推器 · 第二优先</a:t>
            </a:r>
          </a:p>
        </p:txBody>
      </p:sp>
      <p:sp>
        <p:nvSpPr>
          <p:cNvPr id="48" name="Rectangle 48"/>
          <p:cNvSpPr/>
          <p:nvPr/>
        </p:nvSpPr>
        <p:spPr>
          <a:xfrm>
            <a:off x="6191250" y="1085850"/>
            <a:ext cx="2524125" cy="4514850"/>
          </a:xfrm>
          <a:prstGeom prst="roundRect">
            <a:avLst>
              <a:gd name="adj" fmla="val 5283"/>
            </a:avLst>
          </a:prstGeom>
          <a:solidFill>
            <a:srgbClr val="FFFFFF"/>
          </a:solidFill>
          <a:ln w="19050">
            <a:solidFill>
              <a:srgbClr val="1E8449"/>
            </a:solidFill>
          </a:ln>
          <a:effectLst>
            <a:outerShdw blurRad="76200" dist="19050" dir="5400000" algn="ctr" rotWithShape="0">
              <a:srgbClr val="2C2C2C">
                <a:alpha val="4500"/>
              </a:srgbClr>
            </a:outerShdw>
          </a:effectLst>
        </p:spPr>
      </p:sp>
      <p:sp>
        <p:nvSpPr>
          <p:cNvPr id="49" name="Rectangle 49"/>
          <p:cNvSpPr/>
          <p:nvPr/>
        </p:nvSpPr>
        <p:spPr>
          <a:xfrm>
            <a:off x="6191250" y="1085850"/>
            <a:ext cx="2524125" cy="723900"/>
          </a:xfrm>
          <a:prstGeom prst="roundRect">
            <a:avLst>
              <a:gd name="adj" fmla="val 18421"/>
            </a:avLst>
          </a:prstGeom>
          <a:solidFill>
            <a:srgbClr val="1E8449"/>
          </a:solidFill>
          <a:ln>
            <a:noFill/>
          </a:ln>
        </p:spPr>
      </p:sp>
      <p:sp>
        <p:nvSpPr>
          <p:cNvPr id="50" name="Rectangle 50"/>
          <p:cNvSpPr/>
          <p:nvPr/>
        </p:nvSpPr>
        <p:spPr>
          <a:xfrm>
            <a:off x="6191250" y="1524000"/>
            <a:ext cx="2524125" cy="285750"/>
          </a:xfrm>
          <a:prstGeom prst="rect">
            <a:avLst/>
          </a:prstGeom>
          <a:solidFill>
            <a:srgbClr val="1E8449"/>
          </a:solidFill>
          <a:ln>
            <a:noFill/>
          </a:ln>
        </p:spPr>
      </p:sp>
      <p:sp>
        <p:nvSpPr>
          <p:cNvPr id="51" name="TextBox 51"/>
          <p:cNvSpPr txBox="1"/>
          <p:nvPr/>
        </p:nvSpPr>
        <p:spPr>
          <a:xfrm>
            <a:off x="6904434" y="1552575"/>
            <a:ext cx="108823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KaiTi"/>
                <a:cs typeface="Georgia"/>
              </a:rPr>
              <a:t>消费者价值</a:t>
            </a:r>
          </a:p>
        </p:txBody>
      </p:sp>
      <p:sp>
        <p:nvSpPr>
          <p:cNvPr id="52" name="TextBox 52"/>
          <p:cNvSpPr txBox="1"/>
          <p:nvPr/>
        </p:nvSpPr>
        <p:spPr>
          <a:xfrm>
            <a:off x="6367462" y="1993106"/>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回答的问题</a:t>
            </a:r>
          </a:p>
        </p:txBody>
      </p:sp>
      <p:sp>
        <p:nvSpPr>
          <p:cNvPr id="53" name="TextBox 53"/>
          <p:cNvSpPr txBox="1"/>
          <p:nvPr/>
        </p:nvSpPr>
        <p:spPr>
          <a:xfrm>
            <a:off x="6365558" y="2224564"/>
            <a:ext cx="1282041"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「我为什么来、</a:t>
            </a:r>
          </a:p>
        </p:txBody>
      </p:sp>
      <p:sp>
        <p:nvSpPr>
          <p:cNvPr id="54" name="TextBox 54"/>
          <p:cNvSpPr txBox="1"/>
          <p:nvPr/>
        </p:nvSpPr>
        <p:spPr>
          <a:xfrm>
            <a:off x="6365558" y="2415064"/>
            <a:ext cx="1103519"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为什么留？」</a:t>
            </a:r>
          </a:p>
        </p:txBody>
      </p:sp>
      <p:sp>
        <p:nvSpPr>
          <p:cNvPr id="55" name="Line 55"/>
          <p:cNvSpPr/>
          <p:nvPr/>
        </p:nvSpPr>
        <p:spPr>
          <a:xfrm>
            <a:off x="6381750" y="268605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56" name="TextBox 56"/>
          <p:cNvSpPr txBox="1"/>
          <p:nvPr/>
        </p:nvSpPr>
        <p:spPr>
          <a:xfrm>
            <a:off x="6367462" y="28122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核心定义</a:t>
            </a:r>
          </a:p>
        </p:txBody>
      </p:sp>
      <p:sp>
        <p:nvSpPr>
          <p:cNvPr id="57" name="TextBox 57"/>
          <p:cNvSpPr txBox="1"/>
          <p:nvPr/>
        </p:nvSpPr>
        <p:spPr>
          <a:xfrm>
            <a:off x="6366510" y="3051810"/>
            <a:ext cx="702564"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让每一次</a:t>
            </a:r>
          </a:p>
        </p:txBody>
      </p:sp>
      <p:sp>
        <p:nvSpPr>
          <p:cNvPr id="58" name="TextBox 58"/>
          <p:cNvSpPr txBox="1"/>
          <p:nvPr/>
        </p:nvSpPr>
        <p:spPr>
          <a:xfrm>
            <a:off x="6366510" y="3261360"/>
            <a:ext cx="702564"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社区消费</a:t>
            </a:r>
          </a:p>
        </p:txBody>
      </p:sp>
      <p:sp>
        <p:nvSpPr>
          <p:cNvPr id="59" name="TextBox 59"/>
          <p:cNvSpPr txBox="1"/>
          <p:nvPr/>
        </p:nvSpPr>
        <p:spPr>
          <a:xfrm>
            <a:off x="6366510" y="3470910"/>
            <a:ext cx="870585"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都留下价值</a:t>
            </a:r>
          </a:p>
        </p:txBody>
      </p:sp>
      <p:sp>
        <p:nvSpPr>
          <p:cNvPr id="60" name="Line 60"/>
          <p:cNvSpPr/>
          <p:nvPr/>
        </p:nvSpPr>
        <p:spPr>
          <a:xfrm>
            <a:off x="6381750" y="377190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61" name="TextBox 61"/>
          <p:cNvSpPr txBox="1"/>
          <p:nvPr/>
        </p:nvSpPr>
        <p:spPr>
          <a:xfrm>
            <a:off x="6367462" y="389810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角色</a:t>
            </a:r>
          </a:p>
        </p:txBody>
      </p:sp>
      <p:sp>
        <p:nvSpPr>
          <p:cNvPr id="62" name="TextBox 62"/>
          <p:cNvSpPr txBox="1"/>
          <p:nvPr/>
        </p:nvSpPr>
        <p:spPr>
          <a:xfrm>
            <a:off x="6367462" y="4126706"/>
            <a:ext cx="77866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消费者引力</a:t>
            </a:r>
          </a:p>
        </p:txBody>
      </p:sp>
      <p:sp>
        <p:nvSpPr>
          <p:cNvPr id="63" name="TextBox 63"/>
          <p:cNvSpPr txBox="1"/>
          <p:nvPr/>
        </p:nvSpPr>
        <p:spPr>
          <a:xfrm>
            <a:off x="6367462" y="433625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受众</a:t>
            </a:r>
          </a:p>
        </p:txBody>
      </p:sp>
      <p:sp>
        <p:nvSpPr>
          <p:cNvPr id="64" name="Rectangle 64"/>
          <p:cNvSpPr/>
          <p:nvPr/>
        </p:nvSpPr>
        <p:spPr>
          <a:xfrm>
            <a:off x="6381750" y="4552950"/>
            <a:ext cx="1333500" cy="228600"/>
          </a:xfrm>
          <a:prstGeom prst="roundRect">
            <a:avLst>
              <a:gd name="adj" fmla="val 25000"/>
            </a:avLst>
          </a:prstGeom>
          <a:solidFill>
            <a:srgbClr val="F0FAF4"/>
          </a:solidFill>
          <a:ln>
            <a:noFill/>
          </a:ln>
        </p:spPr>
      </p:sp>
      <p:sp>
        <p:nvSpPr>
          <p:cNvPr id="65" name="TextBox 65"/>
          <p:cNvSpPr txBox="1"/>
          <p:nvPr/>
        </p:nvSpPr>
        <p:spPr>
          <a:xfrm>
            <a:off x="6711077" y="4609624"/>
            <a:ext cx="674846" cy="198120"/>
          </a:xfrm>
          <a:prstGeom prst="rect">
            <a:avLst/>
          </a:prstGeom>
          <a:noFill/>
          <a:ln>
            <a:noFill/>
          </a:ln>
        </p:spPr>
        <p:txBody>
          <a:bodyPr wrap="none" lIns="0" tIns="0" rIns="0" bIns="0" anchor="t" anchorCtr="0">
            <a:spAutoFit/>
          </a:bodyPr>
          <a:lstStyle/>
          <a:p>
            <a:pPr algn="ctr"/>
            <a:r>
              <a:rPr lang="zh-CN" sz="975" dirty="0">
                <a:solidFill>
                  <a:srgbClr val="1E8449"/>
                </a:solidFill>
                <a:latin typeface="Arial"/>
                <a:ea typeface="Microsoft YaHei"/>
                <a:cs typeface="Arial"/>
              </a:rPr>
              <a:t>对准消费者</a:t>
            </a:r>
          </a:p>
        </p:txBody>
      </p:sp>
      <p:sp>
        <p:nvSpPr>
          <p:cNvPr id="66" name="Rectangle 66"/>
          <p:cNvSpPr/>
          <p:nvPr/>
        </p:nvSpPr>
        <p:spPr>
          <a:xfrm>
            <a:off x="6381750" y="4762500"/>
            <a:ext cx="2143125" cy="342900"/>
          </a:xfrm>
          <a:prstGeom prst="roundRect">
            <a:avLst>
              <a:gd name="adj" fmla="val 22222"/>
            </a:avLst>
          </a:prstGeom>
          <a:solidFill>
            <a:srgbClr val="F0FAF4"/>
          </a:solidFill>
          <a:ln w="9525">
            <a:solidFill>
              <a:srgbClr val="1E8449"/>
            </a:solidFill>
          </a:ln>
        </p:spPr>
      </p:sp>
      <p:sp>
        <p:nvSpPr>
          <p:cNvPr id="67" name="TextBox 67"/>
          <p:cNvSpPr txBox="1"/>
          <p:nvPr/>
        </p:nvSpPr>
        <p:spPr>
          <a:xfrm>
            <a:off x="6689097" y="4868228"/>
            <a:ext cx="1518907"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消费者引力 · 使用理由</a:t>
            </a:r>
          </a:p>
        </p:txBody>
      </p:sp>
      <p:sp>
        <p:nvSpPr>
          <p:cNvPr id="68" name="Rectangle 68"/>
          <p:cNvSpPr/>
          <p:nvPr/>
        </p:nvSpPr>
        <p:spPr>
          <a:xfrm>
            <a:off x="8905875" y="1085850"/>
            <a:ext cx="2524125" cy="4514850"/>
          </a:xfrm>
          <a:prstGeom prst="roundRect">
            <a:avLst>
              <a:gd name="adj" fmla="val 5283"/>
            </a:avLst>
          </a:prstGeom>
          <a:solidFill>
            <a:srgbClr val="FFFFFF"/>
          </a:solidFill>
          <a:ln w="19050">
            <a:solidFill>
              <a:srgbClr val="D4A574"/>
            </a:solidFill>
          </a:ln>
          <a:effectLst>
            <a:outerShdw blurRad="76200" dist="19050" dir="5400000" algn="ctr" rotWithShape="0">
              <a:srgbClr val="2C2C2C">
                <a:alpha val="4500"/>
              </a:srgbClr>
            </a:outerShdw>
          </a:effectLst>
        </p:spPr>
      </p:sp>
      <p:sp>
        <p:nvSpPr>
          <p:cNvPr id="69" name="Rectangle 69"/>
          <p:cNvSpPr/>
          <p:nvPr/>
        </p:nvSpPr>
        <p:spPr>
          <a:xfrm>
            <a:off x="8905875" y="1085850"/>
            <a:ext cx="2524125" cy="723900"/>
          </a:xfrm>
          <a:prstGeom prst="roundRect">
            <a:avLst>
              <a:gd name="adj" fmla="val 18421"/>
            </a:avLst>
          </a:prstGeom>
          <a:solidFill>
            <a:srgbClr val="D4A574"/>
          </a:solidFill>
          <a:ln>
            <a:noFill/>
          </a:ln>
        </p:spPr>
      </p:sp>
      <p:sp>
        <p:nvSpPr>
          <p:cNvPr id="70" name="Rectangle 70"/>
          <p:cNvSpPr/>
          <p:nvPr/>
        </p:nvSpPr>
        <p:spPr>
          <a:xfrm>
            <a:off x="8905875" y="1524000"/>
            <a:ext cx="2524125" cy="285750"/>
          </a:xfrm>
          <a:prstGeom prst="rect">
            <a:avLst/>
          </a:prstGeom>
          <a:solidFill>
            <a:srgbClr val="D4A574"/>
          </a:solidFill>
          <a:ln>
            <a:noFill/>
          </a:ln>
        </p:spPr>
      </p:sp>
      <p:sp>
        <p:nvSpPr>
          <p:cNvPr id="71" name="Rectangle 71"/>
          <p:cNvSpPr/>
          <p:nvPr/>
        </p:nvSpPr>
        <p:spPr>
          <a:xfrm>
            <a:off x="10058400" y="1209675"/>
            <a:ext cx="133350" cy="133350"/>
          </a:xfrm>
          <a:prstGeom prst="roundRect">
            <a:avLst>
              <a:gd name="adj" fmla="val 14286"/>
            </a:avLst>
          </a:prstGeom>
          <a:noFill/>
          <a:ln w="19050">
            <a:solidFill>
              <a:srgbClr val="FFFFFF"/>
            </a:solidFill>
          </a:ln>
        </p:spPr>
      </p:sp>
      <p:sp>
        <p:nvSpPr>
          <p:cNvPr id="72" name="Rectangle 72"/>
          <p:cNvSpPr/>
          <p:nvPr/>
        </p:nvSpPr>
        <p:spPr>
          <a:xfrm>
            <a:off x="10096500" y="1247775"/>
            <a:ext cx="57150" cy="95250"/>
          </a:xfrm>
          <a:prstGeom prst="rect">
            <a:avLst/>
          </a:prstGeom>
          <a:solidFill>
            <a:srgbClr val="FFFFFF"/>
          </a:solidFill>
          <a:ln>
            <a:noFill/>
          </a:ln>
        </p:spPr>
      </p:sp>
      <p:sp>
        <p:nvSpPr>
          <p:cNvPr id="73" name="Rectangle 73"/>
          <p:cNvSpPr/>
          <p:nvPr/>
        </p:nvSpPr>
        <p:spPr>
          <a:xfrm>
            <a:off x="10201275" y="1228725"/>
            <a:ext cx="114300" cy="114300"/>
          </a:xfrm>
          <a:prstGeom prst="roundRect">
            <a:avLst>
              <a:gd name="adj" fmla="val 16667"/>
            </a:avLst>
          </a:prstGeom>
          <a:noFill/>
          <a:ln w="19050">
            <a:solidFill>
              <a:srgbClr val="FFFFFF"/>
            </a:solidFill>
          </a:ln>
        </p:spPr>
      </p:sp>
      <p:sp>
        <p:nvSpPr>
          <p:cNvPr id="74" name="Rectangle 74"/>
          <p:cNvSpPr/>
          <p:nvPr/>
        </p:nvSpPr>
        <p:spPr>
          <a:xfrm>
            <a:off x="10239375" y="1266825"/>
            <a:ext cx="38100" cy="76200"/>
          </a:xfrm>
          <a:prstGeom prst="rect">
            <a:avLst/>
          </a:prstGeom>
          <a:solidFill>
            <a:srgbClr val="FFFFFF"/>
          </a:solidFill>
          <a:ln>
            <a:noFill/>
          </a:ln>
        </p:spPr>
      </p:sp>
      <p:sp>
        <p:nvSpPr>
          <p:cNvPr id="75" name="Ellipse 75"/>
          <p:cNvSpPr/>
          <p:nvPr/>
        </p:nvSpPr>
        <p:spPr>
          <a:xfrm>
            <a:off x="10239375" y="1276350"/>
            <a:ext cx="38100" cy="38100"/>
          </a:xfrm>
          <a:prstGeom prst="ellipse">
            <a:avLst/>
          </a:prstGeom>
          <a:solidFill>
            <a:srgbClr val="FFFFFF"/>
          </a:solidFill>
          <a:ln>
            <a:noFill/>
          </a:ln>
        </p:spPr>
      </p:sp>
      <p:sp>
        <p:nvSpPr>
          <p:cNvPr id="76" name="TextBox 76"/>
          <p:cNvSpPr txBox="1"/>
          <p:nvPr/>
        </p:nvSpPr>
        <p:spPr>
          <a:xfrm>
            <a:off x="9514046" y="1552575"/>
            <a:ext cx="129825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KaiTi"/>
                <a:cs typeface="Georgia"/>
              </a:rPr>
              <a:t>生态组织模式</a:t>
            </a:r>
          </a:p>
        </p:txBody>
      </p:sp>
      <p:sp>
        <p:nvSpPr>
          <p:cNvPr id="77" name="TextBox 77"/>
          <p:cNvSpPr txBox="1"/>
          <p:nvPr/>
        </p:nvSpPr>
        <p:spPr>
          <a:xfrm>
            <a:off x="9082088" y="1993106"/>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回答的问题</a:t>
            </a:r>
          </a:p>
        </p:txBody>
      </p:sp>
      <p:sp>
        <p:nvSpPr>
          <p:cNvPr id="78" name="TextBox 78"/>
          <p:cNvSpPr txBox="1"/>
          <p:nvPr/>
        </p:nvSpPr>
        <p:spPr>
          <a:xfrm>
            <a:off x="9080182" y="2224564"/>
            <a:ext cx="1103519"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「我们到底在</a:t>
            </a:r>
          </a:p>
        </p:txBody>
      </p:sp>
      <p:sp>
        <p:nvSpPr>
          <p:cNvPr id="79" name="TextBox 79"/>
          <p:cNvSpPr txBox="1"/>
          <p:nvPr/>
        </p:nvSpPr>
        <p:spPr>
          <a:xfrm>
            <a:off x="9080182" y="2415064"/>
            <a:ext cx="1103519"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建立什么？」</a:t>
            </a:r>
          </a:p>
        </p:txBody>
      </p:sp>
      <p:sp>
        <p:nvSpPr>
          <p:cNvPr id="80" name="Line 80"/>
          <p:cNvSpPr/>
          <p:nvPr/>
        </p:nvSpPr>
        <p:spPr>
          <a:xfrm>
            <a:off x="9096375" y="268605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81" name="TextBox 81"/>
          <p:cNvSpPr txBox="1"/>
          <p:nvPr/>
        </p:nvSpPr>
        <p:spPr>
          <a:xfrm>
            <a:off x="9082088" y="28122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核心定义</a:t>
            </a:r>
          </a:p>
        </p:txBody>
      </p:sp>
      <p:sp>
        <p:nvSpPr>
          <p:cNvPr id="82" name="TextBox 82"/>
          <p:cNvSpPr txBox="1"/>
          <p:nvPr/>
        </p:nvSpPr>
        <p:spPr>
          <a:xfrm>
            <a:off x="9081135" y="3051810"/>
            <a:ext cx="1038606" cy="243840"/>
          </a:xfrm>
          <a:prstGeom prst="rect">
            <a:avLst/>
          </a:prstGeom>
          <a:noFill/>
          <a:ln>
            <a:noFill/>
          </a:ln>
        </p:spPr>
        <p:txBody>
          <a:bodyPr wrap="none" lIns="0" tIns="0" rIns="0" bIns="0" anchor="t" anchorCtr="0">
            <a:spAutoFit/>
          </a:bodyPr>
          <a:lstStyle/>
          <a:p>
            <a:pPr algn="l"/>
            <a:r>
              <a:rPr lang="zh-CN" sz="1200" b="1" dirty="0">
                <a:solidFill>
                  <a:srgbClr val="D4A574"/>
                </a:solidFill>
                <a:latin typeface="Arial"/>
                <a:ea typeface="Microsoft YaHei"/>
                <a:cs typeface="Arial"/>
              </a:rPr>
              <a:t>连接社区商业</a:t>
            </a:r>
          </a:p>
        </p:txBody>
      </p:sp>
      <p:sp>
        <p:nvSpPr>
          <p:cNvPr id="83" name="TextBox 83"/>
          <p:cNvSpPr txBox="1"/>
          <p:nvPr/>
        </p:nvSpPr>
        <p:spPr>
          <a:xfrm>
            <a:off x="9081135" y="3261360"/>
            <a:ext cx="1038606" cy="243840"/>
          </a:xfrm>
          <a:prstGeom prst="rect">
            <a:avLst/>
          </a:prstGeom>
          <a:noFill/>
          <a:ln>
            <a:noFill/>
          </a:ln>
        </p:spPr>
        <p:txBody>
          <a:bodyPr wrap="none" lIns="0" tIns="0" rIns="0" bIns="0" anchor="t" anchorCtr="0">
            <a:spAutoFit/>
          </a:bodyPr>
          <a:lstStyle/>
          <a:p>
            <a:pPr algn="l"/>
            <a:r>
              <a:rPr lang="zh-CN" sz="1200" b="1" dirty="0">
                <a:solidFill>
                  <a:srgbClr val="D4A574"/>
                </a:solidFill>
                <a:latin typeface="Arial"/>
                <a:ea typeface="Microsoft YaHei"/>
                <a:cs typeface="Arial"/>
              </a:rPr>
              <a:t>让商家从竞争</a:t>
            </a:r>
          </a:p>
        </p:txBody>
      </p:sp>
      <p:sp>
        <p:nvSpPr>
          <p:cNvPr id="84" name="TextBox 84"/>
          <p:cNvSpPr txBox="1"/>
          <p:nvPr/>
        </p:nvSpPr>
        <p:spPr>
          <a:xfrm>
            <a:off x="9081135" y="3470910"/>
            <a:ext cx="702564" cy="243840"/>
          </a:xfrm>
          <a:prstGeom prst="rect">
            <a:avLst/>
          </a:prstGeom>
          <a:noFill/>
          <a:ln>
            <a:noFill/>
          </a:ln>
        </p:spPr>
        <p:txBody>
          <a:bodyPr wrap="none" lIns="0" tIns="0" rIns="0" bIns="0" anchor="t" anchorCtr="0">
            <a:spAutoFit/>
          </a:bodyPr>
          <a:lstStyle/>
          <a:p>
            <a:pPr algn="l"/>
            <a:r>
              <a:rPr lang="zh-CN" sz="1200" b="1" dirty="0">
                <a:solidFill>
                  <a:srgbClr val="D4A574"/>
                </a:solidFill>
                <a:latin typeface="Arial"/>
                <a:ea typeface="Microsoft YaHei"/>
                <a:cs typeface="Arial"/>
              </a:rPr>
              <a:t>走向协作</a:t>
            </a:r>
          </a:p>
        </p:txBody>
      </p:sp>
      <p:sp>
        <p:nvSpPr>
          <p:cNvPr id="85" name="Line 85"/>
          <p:cNvSpPr/>
          <p:nvPr/>
        </p:nvSpPr>
        <p:spPr>
          <a:xfrm>
            <a:off x="9096375" y="3771900"/>
            <a:ext cx="2143125" cy="9525"/>
          </a:xfrm>
          <a:custGeom>
            <a:avLst/>
            <a:gdLst/>
            <a:ahLst/>
            <a:cxnLst/>
            <a:rect l="l" t="t" r="r" b="b"/>
            <a:pathLst>
              <a:path w="2143125" h="9525">
                <a:moveTo>
                  <a:pt x="0" y="0"/>
                </a:moveTo>
                <a:lnTo>
                  <a:pt x="2143125" y="0"/>
                </a:lnTo>
              </a:path>
            </a:pathLst>
          </a:custGeom>
          <a:noFill/>
          <a:ln w="4762">
            <a:solidFill>
              <a:srgbClr val="E8E3DC"/>
            </a:solidFill>
          </a:ln>
        </p:spPr>
      </p:sp>
      <p:sp>
        <p:nvSpPr>
          <p:cNvPr id="86" name="TextBox 86"/>
          <p:cNvSpPr txBox="1"/>
          <p:nvPr/>
        </p:nvSpPr>
        <p:spPr>
          <a:xfrm>
            <a:off x="9082088" y="389810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角色</a:t>
            </a:r>
          </a:p>
        </p:txBody>
      </p:sp>
      <p:sp>
        <p:nvSpPr>
          <p:cNvPr id="87" name="TextBox 87"/>
          <p:cNvSpPr txBox="1"/>
          <p:nvPr/>
        </p:nvSpPr>
        <p:spPr>
          <a:xfrm>
            <a:off x="9082088" y="4126706"/>
            <a:ext cx="77866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内部指南针</a:t>
            </a:r>
          </a:p>
        </p:txBody>
      </p:sp>
      <p:sp>
        <p:nvSpPr>
          <p:cNvPr id="88" name="TextBox 88"/>
          <p:cNvSpPr txBox="1"/>
          <p:nvPr/>
        </p:nvSpPr>
        <p:spPr>
          <a:xfrm>
            <a:off x="9082088" y="433625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受众</a:t>
            </a:r>
          </a:p>
        </p:txBody>
      </p:sp>
      <p:sp>
        <p:nvSpPr>
          <p:cNvPr id="89" name="Rectangle 89"/>
          <p:cNvSpPr/>
          <p:nvPr/>
        </p:nvSpPr>
        <p:spPr>
          <a:xfrm>
            <a:off x="9096375" y="4552950"/>
            <a:ext cx="1476375" cy="228600"/>
          </a:xfrm>
          <a:prstGeom prst="roundRect">
            <a:avLst>
              <a:gd name="adj" fmla="val 25000"/>
            </a:avLst>
          </a:prstGeom>
          <a:solidFill>
            <a:srgbClr val="FFFBF5"/>
          </a:solidFill>
          <a:ln>
            <a:noFill/>
          </a:ln>
        </p:spPr>
      </p:sp>
      <p:sp>
        <p:nvSpPr>
          <p:cNvPr id="90" name="TextBox 90"/>
          <p:cNvSpPr txBox="1"/>
          <p:nvPr/>
        </p:nvSpPr>
        <p:spPr>
          <a:xfrm>
            <a:off x="9352609" y="4609624"/>
            <a:ext cx="954381" cy="198120"/>
          </a:xfrm>
          <a:prstGeom prst="rect">
            <a:avLst/>
          </a:prstGeom>
          <a:noFill/>
          <a:ln>
            <a:noFill/>
          </a:ln>
        </p:spPr>
        <p:txBody>
          <a:bodyPr wrap="none" lIns="0" tIns="0" rIns="0" bIns="0" anchor="t" anchorCtr="0">
            <a:spAutoFit/>
          </a:bodyPr>
          <a:lstStyle/>
          <a:p>
            <a:pPr algn="ctr"/>
            <a:r>
              <a:rPr lang="zh-CN" sz="975" dirty="0">
                <a:solidFill>
                  <a:srgbClr val="D4A574"/>
                </a:solidFill>
                <a:latin typeface="Arial"/>
                <a:ea typeface="Microsoft YaHei"/>
                <a:cs typeface="Arial"/>
              </a:rPr>
              <a:t>对准团队 / 内部</a:t>
            </a:r>
          </a:p>
        </p:txBody>
      </p:sp>
      <p:sp>
        <p:nvSpPr>
          <p:cNvPr id="91" name="Rectangle 91"/>
          <p:cNvSpPr/>
          <p:nvPr/>
        </p:nvSpPr>
        <p:spPr>
          <a:xfrm>
            <a:off x="9096375" y="4762500"/>
            <a:ext cx="2143125" cy="342900"/>
          </a:xfrm>
          <a:prstGeom prst="roundRect">
            <a:avLst>
              <a:gd name="adj" fmla="val 22222"/>
            </a:avLst>
          </a:prstGeom>
          <a:solidFill>
            <a:srgbClr val="FFFBF5"/>
          </a:solidFill>
          <a:ln w="9525">
            <a:solidFill>
              <a:srgbClr val="D4A574"/>
            </a:solidFill>
          </a:ln>
        </p:spPr>
      </p:sp>
      <p:sp>
        <p:nvSpPr>
          <p:cNvPr id="92" name="TextBox 92"/>
          <p:cNvSpPr txBox="1"/>
          <p:nvPr/>
        </p:nvSpPr>
        <p:spPr>
          <a:xfrm>
            <a:off x="9403722" y="4868228"/>
            <a:ext cx="1518907" cy="213360"/>
          </a:xfrm>
          <a:prstGeom prst="rect">
            <a:avLst/>
          </a:prstGeom>
          <a:noFill/>
          <a:ln>
            <a:noFill/>
          </a:ln>
        </p:spPr>
        <p:txBody>
          <a:bodyPr wrap="none" lIns="0" tIns="0" rIns="0" bIns="0" anchor="t" anchorCtr="0">
            <a:spAutoFit/>
          </a:bodyPr>
          <a:lstStyle/>
          <a:p>
            <a:pPr algn="ctr"/>
            <a:r>
              <a:rPr lang="zh-CN" sz="1050" b="1" dirty="0">
                <a:solidFill>
                  <a:srgbClr val="D4A574"/>
                </a:solidFill>
                <a:latin typeface="Arial"/>
                <a:ea typeface="Microsoft YaHei"/>
                <a:cs typeface="Arial"/>
              </a:rPr>
              <a:t>内部指南针 · 组织锚点</a:t>
            </a:r>
          </a:p>
        </p:txBody>
      </p:sp>
      <p:sp>
        <p:nvSpPr>
          <p:cNvPr id="93" name="Rectangle 93"/>
          <p:cNvSpPr/>
          <p:nvPr/>
        </p:nvSpPr>
        <p:spPr>
          <a:xfrm>
            <a:off x="762000" y="5734050"/>
            <a:ext cx="10668000" cy="400050"/>
          </a:xfrm>
          <a:prstGeom prst="roundRect">
            <a:avLst>
              <a:gd name="adj" fmla="val 23810"/>
            </a:avLst>
          </a:prstGeom>
          <a:solidFill>
            <a:srgbClr val="F0EDE8"/>
          </a:solidFill>
          <a:ln>
            <a:noFill/>
          </a:ln>
        </p:spPr>
      </p:sp>
      <p:sp>
        <p:nvSpPr>
          <p:cNvPr id="94" name="TextBox 94"/>
          <p:cNvSpPr txBox="1"/>
          <p:nvPr/>
        </p:nvSpPr>
        <p:spPr>
          <a:xfrm>
            <a:off x="2747546" y="5860256"/>
            <a:ext cx="6696908"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C+ 四层定位结构源自《品牌全案策略指南2.0》—— 品类占位是绝对主轴，后三层为支撑层，缺一不可</a:t>
            </a:r>
          </a:p>
        </p:txBody>
      </p:sp>
      <p:sp>
        <p:nvSpPr>
          <p:cNvPr id="95" name="TextBox 95"/>
          <p:cNvSpPr txBox="1"/>
          <p:nvPr/>
        </p:nvSpPr>
        <p:spPr>
          <a:xfrm>
            <a:off x="442912" y="6488906"/>
            <a:ext cx="281142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链邦赋商通 · 链生活 | 品牌战略总案 V1.0</a:t>
            </a:r>
          </a:p>
        </p:txBody>
      </p:sp>
      <p:sp>
        <p:nvSpPr>
          <p:cNvPr id="96" name="TextBox 96"/>
          <p:cNvSpPr txBox="1"/>
          <p:nvPr/>
        </p:nvSpPr>
        <p:spPr>
          <a:xfrm>
            <a:off x="11472982" y="6488906"/>
            <a:ext cx="27610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P07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457200" y="266700"/>
            <a:ext cx="57150" cy="304800"/>
          </a:xfrm>
          <a:prstGeom prst="roundRect">
            <a:avLst>
              <a:gd name="adj" fmla="val 50000"/>
            </a:avLst>
          </a:prstGeom>
          <a:solidFill>
            <a:srgbClr val="1A5276"/>
          </a:solidFill>
          <a:ln>
            <a:noFill/>
          </a:ln>
        </p:spPr>
      </p:sp>
      <p:sp>
        <p:nvSpPr>
          <p:cNvPr id="4" name="TextBox 4"/>
          <p:cNvSpPr txBox="1"/>
          <p:nvPr/>
        </p:nvSpPr>
        <p:spPr>
          <a:xfrm>
            <a:off x="594360" y="203835"/>
            <a:ext cx="5829300"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品类定义权的战略选择决定定位方法</a:t>
            </a:r>
          </a:p>
        </p:txBody>
      </p:sp>
      <p:sp>
        <p:nvSpPr>
          <p:cNvPr id="5" name="TextBox 5"/>
          <p:cNvSpPr txBox="1"/>
          <p:nvPr/>
        </p:nvSpPr>
        <p:spPr>
          <a:xfrm>
            <a:off x="609600" y="542925"/>
            <a:ext cx="2458402"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定位方法选择——决策树回溯</a:t>
            </a:r>
          </a:p>
        </p:txBody>
      </p:sp>
      <p:sp>
        <p:nvSpPr>
          <p:cNvPr id="6" name="Line 6"/>
          <p:cNvSpPr/>
          <p:nvPr/>
        </p:nvSpPr>
        <p:spPr>
          <a:xfrm>
            <a:off x="457200" y="87630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7" name="Rectangle 7"/>
          <p:cNvSpPr/>
          <p:nvPr/>
        </p:nvSpPr>
        <p:spPr>
          <a:xfrm>
            <a:off x="457200" y="1238250"/>
            <a:ext cx="3238500" cy="952500"/>
          </a:xfrm>
          <a:prstGeom prst="roundRect">
            <a:avLst>
              <a:gd name="adj" fmla="val 14000"/>
            </a:avLst>
          </a:prstGeom>
          <a:solidFill>
            <a:srgbClr val="FFFFFF"/>
          </a:solidFill>
          <a:ln w="23812">
            <a:solidFill>
              <a:srgbClr val="E67E22"/>
            </a:solidFill>
          </a:ln>
          <a:effectLst>
            <a:outerShdw blurRad="76200" dist="19050" dir="5400000" algn="ctr" rotWithShape="0">
              <a:srgbClr val="2C2C2C">
                <a:alpha val="4500"/>
              </a:srgbClr>
            </a:outerShdw>
          </a:effectLst>
        </p:spPr>
      </p:sp>
      <p:sp>
        <p:nvSpPr>
          <p:cNvPr id="8" name="Rectangle 8"/>
          <p:cNvSpPr/>
          <p:nvPr/>
        </p:nvSpPr>
        <p:spPr>
          <a:xfrm>
            <a:off x="457200" y="1238250"/>
            <a:ext cx="3238500" cy="342900"/>
          </a:xfrm>
          <a:prstGeom prst="roundRect">
            <a:avLst>
              <a:gd name="adj" fmla="val 38889"/>
            </a:avLst>
          </a:prstGeom>
          <a:solidFill>
            <a:srgbClr val="E67E22"/>
          </a:solidFill>
          <a:ln>
            <a:noFill/>
          </a:ln>
        </p:spPr>
      </p:sp>
      <p:sp>
        <p:nvSpPr>
          <p:cNvPr id="9" name="Rectangle 9"/>
          <p:cNvSpPr/>
          <p:nvPr/>
        </p:nvSpPr>
        <p:spPr>
          <a:xfrm>
            <a:off x="457200" y="1447800"/>
            <a:ext cx="3238500" cy="133350"/>
          </a:xfrm>
          <a:prstGeom prst="rect">
            <a:avLst/>
          </a:prstGeom>
          <a:solidFill>
            <a:srgbClr val="E67E22"/>
          </a:solidFill>
          <a:ln>
            <a:noFill/>
          </a:ln>
        </p:spPr>
      </p:sp>
      <p:sp>
        <p:nvSpPr>
          <p:cNvPr id="10" name="TextBox 10"/>
          <p:cNvSpPr txBox="1"/>
          <p:nvPr/>
        </p:nvSpPr>
        <p:spPr>
          <a:xfrm>
            <a:off x="1590751" y="1346835"/>
            <a:ext cx="97139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Q1 决策问题</a:t>
            </a:r>
          </a:p>
        </p:txBody>
      </p:sp>
      <p:sp>
        <p:nvSpPr>
          <p:cNvPr id="11" name="TextBox 11"/>
          <p:cNvSpPr txBox="1"/>
          <p:nvPr/>
        </p:nvSpPr>
        <p:spPr>
          <a:xfrm>
            <a:off x="736140" y="1625918"/>
            <a:ext cx="2680621" cy="274320"/>
          </a:xfrm>
          <a:prstGeom prst="rect">
            <a:avLst/>
          </a:prstGeom>
          <a:noFill/>
          <a:ln>
            <a:noFill/>
          </a:ln>
        </p:spPr>
        <p:txBody>
          <a:bodyPr wrap="none" lIns="0" tIns="0" rIns="0" bIns="0" anchor="t" anchorCtr="0">
            <a:spAutoFit/>
          </a:bodyPr>
          <a:lstStyle/>
          <a:p>
            <a:pPr algn="ctr"/>
            <a:r>
              <a:rPr lang="zh-CN" sz="1350" b="1" dirty="0">
                <a:solidFill>
                  <a:srgbClr val="2C2C2C"/>
                </a:solidFill>
                <a:latin typeface="Arial"/>
                <a:ea typeface="Microsoft YaHei"/>
                <a:cs typeface="Arial"/>
              </a:rPr>
              <a:t>这个品类有明确的领导品牌吗？</a:t>
            </a:r>
          </a:p>
        </p:txBody>
      </p:sp>
      <p:sp>
        <p:nvSpPr>
          <p:cNvPr id="12" name="TextBox 12"/>
          <p:cNvSpPr txBox="1"/>
          <p:nvPr/>
        </p:nvSpPr>
        <p:spPr>
          <a:xfrm>
            <a:off x="984980" y="1905952"/>
            <a:ext cx="2182940"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「社区商业数字经营生态」—— 没有</a:t>
            </a:r>
          </a:p>
        </p:txBody>
      </p:sp>
      <p:sp>
        <p:nvSpPr>
          <p:cNvPr id="13" name="Line 13"/>
          <p:cNvSpPr/>
          <p:nvPr/>
        </p:nvSpPr>
        <p:spPr>
          <a:xfrm>
            <a:off x="3695700" y="1619250"/>
            <a:ext cx="876300" cy="9525"/>
          </a:xfrm>
          <a:custGeom>
            <a:avLst/>
            <a:gdLst/>
            <a:ahLst/>
            <a:cxnLst/>
            <a:rect l="l" t="t" r="r" b="b"/>
            <a:pathLst>
              <a:path w="876300" h="9525">
                <a:moveTo>
                  <a:pt x="0" y="0"/>
                </a:moveTo>
                <a:lnTo>
                  <a:pt x="876300" y="0"/>
                </a:lnTo>
              </a:path>
            </a:pathLst>
          </a:custGeom>
          <a:noFill/>
          <a:ln w="23812">
            <a:solidFill>
              <a:srgbClr val="1E8449"/>
            </a:solidFill>
          </a:ln>
        </p:spPr>
      </p:sp>
      <p:sp>
        <p:nvSpPr>
          <p:cNvPr id="14" name="Rectangle 14"/>
          <p:cNvSpPr/>
          <p:nvPr/>
        </p:nvSpPr>
        <p:spPr>
          <a:xfrm>
            <a:off x="3790950" y="1447800"/>
            <a:ext cx="457200" cy="190500"/>
          </a:xfrm>
          <a:prstGeom prst="roundRect">
            <a:avLst>
              <a:gd name="adj" fmla="val 25000"/>
            </a:avLst>
          </a:prstGeom>
          <a:solidFill>
            <a:srgbClr val="1E8449"/>
          </a:solidFill>
          <a:ln>
            <a:noFill/>
          </a:ln>
        </p:spPr>
      </p:sp>
      <p:sp>
        <p:nvSpPr>
          <p:cNvPr id="15" name="TextBox 15"/>
          <p:cNvSpPr txBox="1"/>
          <p:nvPr/>
        </p:nvSpPr>
        <p:spPr>
          <a:xfrm>
            <a:off x="3926210" y="1493520"/>
            <a:ext cx="18668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NO</a:t>
            </a:r>
          </a:p>
        </p:txBody>
      </p:sp>
      <p:sp>
        <p:nvSpPr>
          <p:cNvPr id="16" name="Polygon 16"/>
          <p:cNvSpPr/>
          <p:nvPr/>
        </p:nvSpPr>
        <p:spPr>
          <a:xfrm>
            <a:off x="4572000" y="1562100"/>
            <a:ext cx="114300" cy="114300"/>
          </a:xfrm>
          <a:custGeom>
            <a:avLst/>
            <a:gdLst/>
            <a:ahLst/>
            <a:cxnLst/>
            <a:rect l="l" t="t" r="r" b="b"/>
            <a:pathLst>
              <a:path w="114300" h="114300">
                <a:moveTo>
                  <a:pt x="0" y="0"/>
                </a:moveTo>
                <a:lnTo>
                  <a:pt x="0" y="114300"/>
                </a:lnTo>
                <a:lnTo>
                  <a:pt x="114300" y="57150"/>
                </a:lnTo>
                <a:close/>
              </a:path>
            </a:pathLst>
          </a:custGeom>
          <a:solidFill>
            <a:srgbClr val="1E8449"/>
          </a:solidFill>
          <a:ln>
            <a:noFill/>
          </a:ln>
        </p:spPr>
      </p:sp>
      <p:sp>
        <p:nvSpPr>
          <p:cNvPr id="17" name="Rectangle 17"/>
          <p:cNvSpPr/>
          <p:nvPr/>
        </p:nvSpPr>
        <p:spPr>
          <a:xfrm>
            <a:off x="4743450" y="1257300"/>
            <a:ext cx="3238500" cy="914400"/>
          </a:xfrm>
          <a:prstGeom prst="roundRect">
            <a:avLst>
              <a:gd name="adj" fmla="val 14583"/>
            </a:avLst>
          </a:prstGeom>
          <a:solidFill>
            <a:srgbClr val="FFFFFF"/>
          </a:solidFill>
          <a:ln w="23812">
            <a:solidFill>
              <a:srgbClr val="1E8449"/>
            </a:solidFill>
          </a:ln>
          <a:effectLst>
            <a:outerShdw blurRad="76200" dist="19050" dir="5400000" algn="ctr" rotWithShape="0">
              <a:srgbClr val="2C2C2C">
                <a:alpha val="4500"/>
              </a:srgbClr>
            </a:outerShdw>
          </a:effectLst>
        </p:spPr>
      </p:sp>
      <p:sp>
        <p:nvSpPr>
          <p:cNvPr id="18" name="Rectangle 18"/>
          <p:cNvSpPr/>
          <p:nvPr/>
        </p:nvSpPr>
        <p:spPr>
          <a:xfrm>
            <a:off x="4743450" y="1257300"/>
            <a:ext cx="3238500" cy="914400"/>
          </a:xfrm>
          <a:prstGeom prst="roundRect">
            <a:avLst>
              <a:gd name="adj" fmla="val 14583"/>
            </a:avLst>
          </a:prstGeom>
          <a:solidFill>
            <a:srgbClr val="F0FAF4"/>
          </a:solidFill>
          <a:ln>
            <a:noFill/>
          </a:ln>
        </p:spPr>
      </p:sp>
      <p:sp>
        <p:nvSpPr>
          <p:cNvPr id="19" name="Rectangle 19"/>
          <p:cNvSpPr/>
          <p:nvPr/>
        </p:nvSpPr>
        <p:spPr>
          <a:xfrm>
            <a:off x="4914900" y="1428750"/>
            <a:ext cx="304800" cy="304800"/>
          </a:xfrm>
          <a:prstGeom prst="roundRect">
            <a:avLst>
              <a:gd name="adj" fmla="val 25000"/>
            </a:avLst>
          </a:prstGeom>
          <a:solidFill>
            <a:srgbClr val="1E8449"/>
          </a:solidFill>
          <a:ln>
            <a:noFill/>
          </a:ln>
        </p:spPr>
      </p:sp>
      <p:sp>
        <p:nvSpPr>
          <p:cNvPr id="20" name="TextBox 20"/>
          <p:cNvSpPr txBox="1"/>
          <p:nvPr/>
        </p:nvSpPr>
        <p:spPr>
          <a:xfrm>
            <a:off x="5296852" y="1389221"/>
            <a:ext cx="1033820" cy="289560"/>
          </a:xfrm>
          <a:prstGeom prst="rect">
            <a:avLst/>
          </a:prstGeom>
          <a:noFill/>
          <a:ln>
            <a:noFill/>
          </a:ln>
        </p:spPr>
        <p:txBody>
          <a:bodyPr wrap="none" lIns="0" tIns="0" rIns="0" bIns="0" anchor="t" anchorCtr="0">
            <a:spAutoFit/>
          </a:bodyPr>
          <a:lstStyle/>
          <a:p>
            <a:pPr algn="l"/>
            <a:r>
              <a:rPr lang="zh-CN" sz="1425" b="1" dirty="0">
                <a:solidFill>
                  <a:srgbClr val="1E8449"/>
                </a:solidFill>
                <a:latin typeface="Arial"/>
                <a:ea typeface="Microsoft YaHei"/>
                <a:cs typeface="Arial"/>
              </a:rPr>
              <a:t>品类占位型</a:t>
            </a:r>
          </a:p>
        </p:txBody>
      </p:sp>
      <p:sp>
        <p:nvSpPr>
          <p:cNvPr id="21" name="TextBox 21"/>
          <p:cNvSpPr txBox="1"/>
          <p:nvPr/>
        </p:nvSpPr>
        <p:spPr>
          <a:xfrm>
            <a:off x="5300662" y="1631156"/>
            <a:ext cx="167878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新品类的定义者和开创者</a:t>
            </a:r>
          </a:p>
        </p:txBody>
      </p:sp>
      <p:sp>
        <p:nvSpPr>
          <p:cNvPr id="22" name="TextBox 22"/>
          <p:cNvSpPr txBox="1"/>
          <p:nvPr/>
        </p:nvSpPr>
        <p:spPr>
          <a:xfrm>
            <a:off x="5301615" y="1848802"/>
            <a:ext cx="162287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 链邦赋商通的定位方法</a:t>
            </a:r>
          </a:p>
        </p:txBody>
      </p:sp>
      <p:sp>
        <p:nvSpPr>
          <p:cNvPr id="23" name="Rectangle 23"/>
          <p:cNvSpPr/>
          <p:nvPr/>
        </p:nvSpPr>
        <p:spPr>
          <a:xfrm>
            <a:off x="457200" y="2514600"/>
            <a:ext cx="3238500" cy="857250"/>
          </a:xfrm>
          <a:prstGeom prst="roundRect">
            <a:avLst>
              <a:gd name="adj" fmla="val 15556"/>
            </a:avLst>
          </a:prstGeom>
          <a:solidFill>
            <a:srgbClr val="F0EDE8"/>
          </a:solidFill>
          <a:ln w="14288">
            <a:solidFill>
              <a:srgbClr val="E8E3DC"/>
            </a:solidFill>
          </a:ln>
        </p:spPr>
      </p:sp>
      <p:sp>
        <p:nvSpPr>
          <p:cNvPr id="24" name="TextBox 24"/>
          <p:cNvSpPr txBox="1"/>
          <p:nvPr/>
        </p:nvSpPr>
        <p:spPr>
          <a:xfrm>
            <a:off x="1590751" y="2689860"/>
            <a:ext cx="971398" cy="243840"/>
          </a:xfrm>
          <a:prstGeom prst="rect">
            <a:avLst/>
          </a:prstGeom>
          <a:noFill/>
          <a:ln>
            <a:noFill/>
          </a:ln>
        </p:spPr>
        <p:txBody>
          <a:bodyPr wrap="none" lIns="0" tIns="0" rIns="0" bIns="0" anchor="t" anchorCtr="0">
            <a:spAutoFit/>
          </a:bodyPr>
          <a:lstStyle/>
          <a:p>
            <a:pPr algn="ctr"/>
            <a:r>
              <a:rPr lang="zh-CN" sz="1200" b="1" dirty="0">
                <a:solidFill>
                  <a:srgbClr val="A0A0A0"/>
                </a:solidFill>
                <a:latin typeface="Arial"/>
                <a:ea typeface="Microsoft YaHei"/>
                <a:cs typeface="Arial"/>
              </a:rPr>
              <a:t>Q2 决策问题</a:t>
            </a:r>
          </a:p>
        </p:txBody>
      </p:sp>
      <p:sp>
        <p:nvSpPr>
          <p:cNvPr id="25" name="TextBox 25"/>
          <p:cNvSpPr txBox="1"/>
          <p:nvPr/>
        </p:nvSpPr>
        <p:spPr>
          <a:xfrm>
            <a:off x="979170" y="2921318"/>
            <a:ext cx="2194560" cy="274320"/>
          </a:xfrm>
          <a:prstGeom prst="rect">
            <a:avLst/>
          </a:prstGeom>
          <a:noFill/>
          <a:ln>
            <a:noFill/>
          </a:ln>
        </p:spPr>
        <p:txBody>
          <a:bodyPr wrap="none" lIns="0" tIns="0" rIns="0" bIns="0" anchor="t" anchorCtr="0">
            <a:spAutoFit/>
          </a:bodyPr>
          <a:lstStyle/>
          <a:p>
            <a:pPr algn="ctr"/>
            <a:r>
              <a:rPr lang="zh-CN" sz="1350" dirty="0">
                <a:solidFill>
                  <a:srgbClr val="A0A0A0"/>
                </a:solidFill>
                <a:latin typeface="Arial"/>
                <a:ea typeface="Microsoft YaHei"/>
                <a:cs typeface="Arial"/>
              </a:rPr>
              <a:t>领导者有没有结构性弱点？</a:t>
            </a:r>
          </a:p>
        </p:txBody>
      </p:sp>
      <p:sp>
        <p:nvSpPr>
          <p:cNvPr id="26" name="Rectangle 26"/>
          <p:cNvSpPr/>
          <p:nvPr/>
        </p:nvSpPr>
        <p:spPr>
          <a:xfrm>
            <a:off x="1143000" y="3181350"/>
            <a:ext cx="704850" cy="190500"/>
          </a:xfrm>
          <a:prstGeom prst="roundRect">
            <a:avLst>
              <a:gd name="adj" fmla="val 25000"/>
            </a:avLst>
          </a:prstGeom>
          <a:solidFill>
            <a:srgbClr val="E8E3DC"/>
          </a:solidFill>
          <a:ln>
            <a:noFill/>
          </a:ln>
        </p:spPr>
      </p:sp>
      <p:sp>
        <p:nvSpPr>
          <p:cNvPr id="27" name="TextBox 27"/>
          <p:cNvSpPr txBox="1"/>
          <p:nvPr/>
        </p:nvSpPr>
        <p:spPr>
          <a:xfrm>
            <a:off x="1303972" y="3227070"/>
            <a:ext cx="382905" cy="182880"/>
          </a:xfrm>
          <a:prstGeom prst="rect">
            <a:avLst/>
          </a:prstGeom>
          <a:noFill/>
          <a:ln>
            <a:noFill/>
          </a:ln>
        </p:spPr>
        <p:txBody>
          <a:bodyPr wrap="none" lIns="0" tIns="0" rIns="0" bIns="0" anchor="t" anchorCtr="0">
            <a:spAutoFit/>
          </a:bodyPr>
          <a:lstStyle/>
          <a:p>
            <a:pPr algn="ctr"/>
            <a:r>
              <a:rPr lang="zh-CN" sz="900" dirty="0">
                <a:solidFill>
                  <a:srgbClr val="A0A0A0"/>
                </a:solidFill>
                <a:latin typeface="Arial"/>
                <a:ea typeface="Microsoft YaHei"/>
                <a:cs typeface="Arial"/>
              </a:rPr>
              <a:t>不适用</a:t>
            </a:r>
          </a:p>
        </p:txBody>
      </p:sp>
      <p:sp>
        <p:nvSpPr>
          <p:cNvPr id="28" name="Line 28"/>
          <p:cNvSpPr/>
          <p:nvPr/>
        </p:nvSpPr>
        <p:spPr>
          <a:xfrm>
            <a:off x="3695700" y="2000250"/>
            <a:ext cx="9525" cy="942975"/>
          </a:xfrm>
          <a:custGeom>
            <a:avLst/>
            <a:gdLst/>
            <a:ahLst/>
            <a:cxnLst/>
            <a:rect l="l" t="t" r="r" b="b"/>
            <a:pathLst>
              <a:path w="9525" h="942975">
                <a:moveTo>
                  <a:pt x="0" y="0"/>
                </a:moveTo>
                <a:lnTo>
                  <a:pt x="0" y="942975"/>
                </a:lnTo>
              </a:path>
            </a:pathLst>
          </a:custGeom>
          <a:noFill/>
          <a:ln w="14288">
            <a:solidFill>
              <a:srgbClr val="E8E3DC"/>
            </a:solidFill>
            <a:custDash>
              <a:ds d="400000" sp="266666"/>
            </a:custDash>
          </a:ln>
        </p:spPr>
      </p:sp>
      <p:sp>
        <p:nvSpPr>
          <p:cNvPr id="29" name="Rectangle 29"/>
          <p:cNvSpPr/>
          <p:nvPr/>
        </p:nvSpPr>
        <p:spPr>
          <a:xfrm>
            <a:off x="3790950" y="2324100"/>
            <a:ext cx="457200" cy="190500"/>
          </a:xfrm>
          <a:prstGeom prst="roundRect">
            <a:avLst>
              <a:gd name="adj" fmla="val 25000"/>
            </a:avLst>
          </a:prstGeom>
          <a:solidFill>
            <a:srgbClr val="E8E3DC"/>
          </a:solidFill>
          <a:ln>
            <a:noFill/>
          </a:ln>
        </p:spPr>
      </p:sp>
      <p:sp>
        <p:nvSpPr>
          <p:cNvPr id="30" name="TextBox 30"/>
          <p:cNvSpPr txBox="1"/>
          <p:nvPr/>
        </p:nvSpPr>
        <p:spPr>
          <a:xfrm>
            <a:off x="3909108" y="2369820"/>
            <a:ext cx="220885" cy="182880"/>
          </a:xfrm>
          <a:prstGeom prst="rect">
            <a:avLst/>
          </a:prstGeom>
          <a:noFill/>
          <a:ln>
            <a:noFill/>
          </a:ln>
        </p:spPr>
        <p:txBody>
          <a:bodyPr wrap="none" lIns="0" tIns="0" rIns="0" bIns="0" anchor="t" anchorCtr="0">
            <a:spAutoFit/>
          </a:bodyPr>
          <a:lstStyle/>
          <a:p>
            <a:pPr algn="ctr"/>
            <a:r>
              <a:rPr lang="zh-CN" sz="900" dirty="0">
                <a:solidFill>
                  <a:srgbClr val="A0A0A0"/>
                </a:solidFill>
                <a:latin typeface="Arial"/>
                <a:ea typeface="Microsoft YaHei"/>
                <a:cs typeface="Arial"/>
              </a:rPr>
              <a:t>YES</a:t>
            </a:r>
          </a:p>
        </p:txBody>
      </p:sp>
      <p:sp>
        <p:nvSpPr>
          <p:cNvPr id="31" name="Rectangle 31"/>
          <p:cNvSpPr/>
          <p:nvPr/>
        </p:nvSpPr>
        <p:spPr>
          <a:xfrm>
            <a:off x="457200" y="3676650"/>
            <a:ext cx="3238500" cy="857250"/>
          </a:xfrm>
          <a:prstGeom prst="roundRect">
            <a:avLst>
              <a:gd name="adj" fmla="val 15556"/>
            </a:avLst>
          </a:prstGeom>
          <a:solidFill>
            <a:srgbClr val="F0EDE8"/>
          </a:solidFill>
          <a:ln w="14288">
            <a:solidFill>
              <a:srgbClr val="E8E3DC"/>
            </a:solidFill>
          </a:ln>
        </p:spPr>
      </p:sp>
      <p:sp>
        <p:nvSpPr>
          <p:cNvPr id="32" name="TextBox 32"/>
          <p:cNvSpPr txBox="1"/>
          <p:nvPr/>
        </p:nvSpPr>
        <p:spPr>
          <a:xfrm>
            <a:off x="1590751" y="3851910"/>
            <a:ext cx="971398" cy="243840"/>
          </a:xfrm>
          <a:prstGeom prst="rect">
            <a:avLst/>
          </a:prstGeom>
          <a:noFill/>
          <a:ln>
            <a:noFill/>
          </a:ln>
        </p:spPr>
        <p:txBody>
          <a:bodyPr wrap="none" lIns="0" tIns="0" rIns="0" bIns="0" anchor="t" anchorCtr="0">
            <a:spAutoFit/>
          </a:bodyPr>
          <a:lstStyle/>
          <a:p>
            <a:pPr algn="ctr"/>
            <a:r>
              <a:rPr lang="zh-CN" sz="1200" b="1" dirty="0">
                <a:solidFill>
                  <a:srgbClr val="A0A0A0"/>
                </a:solidFill>
                <a:latin typeface="Arial"/>
                <a:ea typeface="Microsoft YaHei"/>
                <a:cs typeface="Arial"/>
              </a:rPr>
              <a:t>Q3 决策问题</a:t>
            </a:r>
          </a:p>
        </p:txBody>
      </p:sp>
      <p:sp>
        <p:nvSpPr>
          <p:cNvPr id="33" name="TextBox 33"/>
          <p:cNvSpPr txBox="1"/>
          <p:nvPr/>
        </p:nvSpPr>
        <p:spPr>
          <a:xfrm>
            <a:off x="979170" y="4083368"/>
            <a:ext cx="2194560" cy="274320"/>
          </a:xfrm>
          <a:prstGeom prst="rect">
            <a:avLst/>
          </a:prstGeom>
          <a:noFill/>
          <a:ln>
            <a:noFill/>
          </a:ln>
        </p:spPr>
        <p:txBody>
          <a:bodyPr wrap="none" lIns="0" tIns="0" rIns="0" bIns="0" anchor="t" anchorCtr="0">
            <a:spAutoFit/>
          </a:bodyPr>
          <a:lstStyle/>
          <a:p>
            <a:pPr algn="ctr"/>
            <a:r>
              <a:rPr lang="zh-CN" sz="1350" dirty="0">
                <a:solidFill>
                  <a:srgbClr val="A0A0A0"/>
                </a:solidFill>
                <a:latin typeface="Arial"/>
                <a:ea typeface="Microsoft YaHei"/>
                <a:cs typeface="Arial"/>
              </a:rPr>
              <a:t>品类是否功能同质化严重？</a:t>
            </a:r>
          </a:p>
        </p:txBody>
      </p:sp>
      <p:sp>
        <p:nvSpPr>
          <p:cNvPr id="34" name="Rectangle 34"/>
          <p:cNvSpPr/>
          <p:nvPr/>
        </p:nvSpPr>
        <p:spPr>
          <a:xfrm>
            <a:off x="1143000" y="4343400"/>
            <a:ext cx="704850" cy="190500"/>
          </a:xfrm>
          <a:prstGeom prst="roundRect">
            <a:avLst>
              <a:gd name="adj" fmla="val 25000"/>
            </a:avLst>
          </a:prstGeom>
          <a:solidFill>
            <a:srgbClr val="E8E3DC"/>
          </a:solidFill>
          <a:ln>
            <a:noFill/>
          </a:ln>
        </p:spPr>
      </p:sp>
      <p:sp>
        <p:nvSpPr>
          <p:cNvPr id="35" name="TextBox 35"/>
          <p:cNvSpPr txBox="1"/>
          <p:nvPr/>
        </p:nvSpPr>
        <p:spPr>
          <a:xfrm>
            <a:off x="1303972" y="4389120"/>
            <a:ext cx="382905" cy="182880"/>
          </a:xfrm>
          <a:prstGeom prst="rect">
            <a:avLst/>
          </a:prstGeom>
          <a:noFill/>
          <a:ln>
            <a:noFill/>
          </a:ln>
        </p:spPr>
        <p:txBody>
          <a:bodyPr wrap="none" lIns="0" tIns="0" rIns="0" bIns="0" anchor="t" anchorCtr="0">
            <a:spAutoFit/>
          </a:bodyPr>
          <a:lstStyle/>
          <a:p>
            <a:pPr algn="ctr"/>
            <a:r>
              <a:rPr lang="zh-CN" sz="900" dirty="0">
                <a:solidFill>
                  <a:srgbClr val="A0A0A0"/>
                </a:solidFill>
                <a:latin typeface="Arial"/>
                <a:ea typeface="Microsoft YaHei"/>
                <a:cs typeface="Arial"/>
              </a:rPr>
              <a:t>不适用</a:t>
            </a:r>
          </a:p>
        </p:txBody>
      </p:sp>
      <p:sp>
        <p:nvSpPr>
          <p:cNvPr id="36" name="Line 36"/>
          <p:cNvSpPr/>
          <p:nvPr/>
        </p:nvSpPr>
        <p:spPr>
          <a:xfrm>
            <a:off x="3695700" y="2943225"/>
            <a:ext cx="9525" cy="1162050"/>
          </a:xfrm>
          <a:custGeom>
            <a:avLst/>
            <a:gdLst/>
            <a:ahLst/>
            <a:cxnLst/>
            <a:rect l="l" t="t" r="r" b="b"/>
            <a:pathLst>
              <a:path w="9525" h="1162050">
                <a:moveTo>
                  <a:pt x="0" y="0"/>
                </a:moveTo>
                <a:lnTo>
                  <a:pt x="0" y="1162050"/>
                </a:lnTo>
              </a:path>
            </a:pathLst>
          </a:custGeom>
          <a:noFill/>
          <a:ln w="14288">
            <a:solidFill>
              <a:srgbClr val="E8E3DC"/>
            </a:solidFill>
            <a:custDash>
              <a:ds d="400000" sp="266666"/>
            </a:custDash>
          </a:ln>
        </p:spPr>
      </p:sp>
      <p:sp>
        <p:nvSpPr>
          <p:cNvPr id="37" name="Rectangle 37"/>
          <p:cNvSpPr/>
          <p:nvPr/>
        </p:nvSpPr>
        <p:spPr>
          <a:xfrm>
            <a:off x="457200" y="4838700"/>
            <a:ext cx="3238500" cy="857250"/>
          </a:xfrm>
          <a:prstGeom prst="roundRect">
            <a:avLst>
              <a:gd name="adj" fmla="val 15556"/>
            </a:avLst>
          </a:prstGeom>
          <a:solidFill>
            <a:srgbClr val="F0EDE8"/>
          </a:solidFill>
          <a:ln w="14288">
            <a:solidFill>
              <a:srgbClr val="E8E3DC"/>
            </a:solidFill>
          </a:ln>
        </p:spPr>
      </p:sp>
      <p:sp>
        <p:nvSpPr>
          <p:cNvPr id="38" name="TextBox 38"/>
          <p:cNvSpPr txBox="1"/>
          <p:nvPr/>
        </p:nvSpPr>
        <p:spPr>
          <a:xfrm>
            <a:off x="1590751" y="5013960"/>
            <a:ext cx="971398" cy="243840"/>
          </a:xfrm>
          <a:prstGeom prst="rect">
            <a:avLst/>
          </a:prstGeom>
          <a:noFill/>
          <a:ln>
            <a:noFill/>
          </a:ln>
        </p:spPr>
        <p:txBody>
          <a:bodyPr wrap="none" lIns="0" tIns="0" rIns="0" bIns="0" anchor="t" anchorCtr="0">
            <a:spAutoFit/>
          </a:bodyPr>
          <a:lstStyle/>
          <a:p>
            <a:pPr algn="ctr"/>
            <a:r>
              <a:rPr lang="zh-CN" sz="1200" b="1" dirty="0">
                <a:solidFill>
                  <a:srgbClr val="A0A0A0"/>
                </a:solidFill>
                <a:latin typeface="Arial"/>
                <a:ea typeface="Microsoft YaHei"/>
                <a:cs typeface="Arial"/>
              </a:rPr>
              <a:t>Q4 决策问题</a:t>
            </a:r>
          </a:p>
        </p:txBody>
      </p:sp>
      <p:sp>
        <p:nvSpPr>
          <p:cNvPr id="39" name="TextBox 39"/>
          <p:cNvSpPr txBox="1"/>
          <p:nvPr/>
        </p:nvSpPr>
        <p:spPr>
          <a:xfrm>
            <a:off x="979170" y="5245418"/>
            <a:ext cx="2194560" cy="274320"/>
          </a:xfrm>
          <a:prstGeom prst="rect">
            <a:avLst/>
          </a:prstGeom>
          <a:noFill/>
          <a:ln>
            <a:noFill/>
          </a:ln>
        </p:spPr>
        <p:txBody>
          <a:bodyPr wrap="none" lIns="0" tIns="0" rIns="0" bIns="0" anchor="t" anchorCtr="0">
            <a:spAutoFit/>
          </a:bodyPr>
          <a:lstStyle/>
          <a:p>
            <a:pPr algn="ctr"/>
            <a:r>
              <a:rPr lang="zh-CN" sz="1350" dirty="0">
                <a:solidFill>
                  <a:srgbClr val="A0A0A0"/>
                </a:solidFill>
                <a:latin typeface="Arial"/>
                <a:ea typeface="Microsoft YaHei"/>
                <a:cs typeface="Arial"/>
              </a:rPr>
              <a:t>目标用户是价值观驱动型？</a:t>
            </a:r>
          </a:p>
        </p:txBody>
      </p:sp>
      <p:sp>
        <p:nvSpPr>
          <p:cNvPr id="40" name="Rectangle 40"/>
          <p:cNvSpPr/>
          <p:nvPr/>
        </p:nvSpPr>
        <p:spPr>
          <a:xfrm>
            <a:off x="1143000" y="5505450"/>
            <a:ext cx="704850" cy="190500"/>
          </a:xfrm>
          <a:prstGeom prst="roundRect">
            <a:avLst>
              <a:gd name="adj" fmla="val 25000"/>
            </a:avLst>
          </a:prstGeom>
          <a:solidFill>
            <a:srgbClr val="E8E3DC"/>
          </a:solidFill>
          <a:ln>
            <a:noFill/>
          </a:ln>
        </p:spPr>
      </p:sp>
      <p:sp>
        <p:nvSpPr>
          <p:cNvPr id="41" name="TextBox 41"/>
          <p:cNvSpPr txBox="1"/>
          <p:nvPr/>
        </p:nvSpPr>
        <p:spPr>
          <a:xfrm>
            <a:off x="1303972" y="5551170"/>
            <a:ext cx="382905" cy="182880"/>
          </a:xfrm>
          <a:prstGeom prst="rect">
            <a:avLst/>
          </a:prstGeom>
          <a:noFill/>
          <a:ln>
            <a:noFill/>
          </a:ln>
        </p:spPr>
        <p:txBody>
          <a:bodyPr wrap="none" lIns="0" tIns="0" rIns="0" bIns="0" anchor="t" anchorCtr="0">
            <a:spAutoFit/>
          </a:bodyPr>
          <a:lstStyle/>
          <a:p>
            <a:pPr algn="ctr"/>
            <a:r>
              <a:rPr lang="zh-CN" sz="900" dirty="0">
                <a:solidFill>
                  <a:srgbClr val="A0A0A0"/>
                </a:solidFill>
                <a:latin typeface="Arial"/>
                <a:ea typeface="Microsoft YaHei"/>
                <a:cs typeface="Arial"/>
              </a:rPr>
              <a:t>不适用</a:t>
            </a:r>
          </a:p>
        </p:txBody>
      </p:sp>
      <p:sp>
        <p:nvSpPr>
          <p:cNvPr id="42" name="Line 42"/>
          <p:cNvSpPr/>
          <p:nvPr/>
        </p:nvSpPr>
        <p:spPr>
          <a:xfrm>
            <a:off x="3695700" y="4105275"/>
            <a:ext cx="9525" cy="1162050"/>
          </a:xfrm>
          <a:custGeom>
            <a:avLst/>
            <a:gdLst/>
            <a:ahLst/>
            <a:cxnLst/>
            <a:rect l="l" t="t" r="r" b="b"/>
            <a:pathLst>
              <a:path w="9525" h="1162050">
                <a:moveTo>
                  <a:pt x="0" y="0"/>
                </a:moveTo>
                <a:lnTo>
                  <a:pt x="0" y="1162050"/>
                </a:lnTo>
              </a:path>
            </a:pathLst>
          </a:custGeom>
          <a:noFill/>
          <a:ln w="14288">
            <a:solidFill>
              <a:srgbClr val="E8E3DC"/>
            </a:solidFill>
            <a:custDash>
              <a:ds d="400000" sp="266666"/>
            </a:custDash>
          </a:ln>
        </p:spPr>
      </p:sp>
      <p:sp>
        <p:nvSpPr>
          <p:cNvPr id="43" name="Rectangle 43"/>
          <p:cNvSpPr/>
          <p:nvPr/>
        </p:nvSpPr>
        <p:spPr>
          <a:xfrm>
            <a:off x="4743450" y="2362200"/>
            <a:ext cx="7010400" cy="1238250"/>
          </a:xfrm>
          <a:prstGeom prst="roundRect">
            <a:avLst>
              <a:gd name="adj" fmla="val 10769"/>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44" name="Rectangle 44"/>
          <p:cNvSpPr/>
          <p:nvPr/>
        </p:nvSpPr>
        <p:spPr>
          <a:xfrm>
            <a:off x="4743450" y="2362200"/>
            <a:ext cx="7010400" cy="1238250"/>
          </a:xfrm>
          <a:prstGeom prst="roundRect">
            <a:avLst>
              <a:gd name="adj" fmla="val 10769"/>
            </a:avLst>
          </a:prstGeom>
          <a:solidFill>
            <a:srgbClr val="FFFBF5"/>
          </a:solidFill>
          <a:ln>
            <a:noFill/>
          </a:ln>
        </p:spPr>
      </p:sp>
      <p:sp>
        <p:nvSpPr>
          <p:cNvPr id="45" name="Rectangle 45"/>
          <p:cNvSpPr/>
          <p:nvPr/>
        </p:nvSpPr>
        <p:spPr>
          <a:xfrm>
            <a:off x="4914900" y="2552700"/>
            <a:ext cx="266700" cy="266700"/>
          </a:xfrm>
          <a:prstGeom prst="roundRect">
            <a:avLst>
              <a:gd name="adj" fmla="val 21429"/>
            </a:avLst>
          </a:prstGeom>
          <a:solidFill>
            <a:srgbClr val="E67E22"/>
          </a:solidFill>
          <a:ln>
            <a:noFill/>
          </a:ln>
        </p:spPr>
      </p:sp>
      <p:sp>
        <p:nvSpPr>
          <p:cNvPr id="46" name="TextBox 46"/>
          <p:cNvSpPr txBox="1"/>
          <p:nvPr/>
        </p:nvSpPr>
        <p:spPr>
          <a:xfrm>
            <a:off x="5112068" y="2637949"/>
            <a:ext cx="25001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KEY</a:t>
            </a:r>
          </a:p>
        </p:txBody>
      </p:sp>
      <p:sp>
        <p:nvSpPr>
          <p:cNvPr id="47" name="TextBox 47"/>
          <p:cNvSpPr txBox="1"/>
          <p:nvPr/>
        </p:nvSpPr>
        <p:spPr>
          <a:xfrm>
            <a:off x="5414010" y="2613660"/>
            <a:ext cx="1038606"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决策回溯逻辑</a:t>
            </a:r>
          </a:p>
        </p:txBody>
      </p:sp>
      <p:sp>
        <p:nvSpPr>
          <p:cNvPr id="48" name="TextBox 48"/>
          <p:cNvSpPr txBox="1"/>
          <p:nvPr/>
        </p:nvSpPr>
        <p:spPr>
          <a:xfrm>
            <a:off x="4900612" y="2907506"/>
            <a:ext cx="502419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如果品类 =「本地生活平台」→ 有领导品牌（美团）→ 进入 Q2 → 对立型定位</a:t>
            </a:r>
          </a:p>
        </p:txBody>
      </p:sp>
      <p:sp>
        <p:nvSpPr>
          <p:cNvPr id="49" name="TextBox 49"/>
          <p:cNvSpPr txBox="1"/>
          <p:nvPr/>
        </p:nvSpPr>
        <p:spPr>
          <a:xfrm>
            <a:off x="4900612" y="3155156"/>
            <a:ext cx="516671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如果品类 =「社区商业数字经营生态」→ 无领导品牌 → 品类占位型 (当前选择)</a:t>
            </a:r>
          </a:p>
        </p:txBody>
      </p:sp>
      <p:sp>
        <p:nvSpPr>
          <p:cNvPr id="50" name="TextBox 50"/>
          <p:cNvSpPr txBox="1"/>
          <p:nvPr/>
        </p:nvSpPr>
        <p:spPr>
          <a:xfrm>
            <a:off x="4901565" y="3410902"/>
            <a:ext cx="5277326"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品类定义权的战略选择本身决定了Q1的答案为"没有"——这是一次主动的品类重定义。</a:t>
            </a:r>
          </a:p>
        </p:txBody>
      </p:sp>
      <p:sp>
        <p:nvSpPr>
          <p:cNvPr id="51" name="Rectangle 51"/>
          <p:cNvSpPr/>
          <p:nvPr/>
        </p:nvSpPr>
        <p:spPr>
          <a:xfrm>
            <a:off x="4743450" y="3771900"/>
            <a:ext cx="3429000" cy="666750"/>
          </a:xfrm>
          <a:prstGeom prst="roundRect">
            <a:avLst>
              <a:gd name="adj" fmla="val 20000"/>
            </a:avLst>
          </a:prstGeom>
          <a:solidFill>
            <a:srgbClr val="FFFFFF"/>
          </a:solidFill>
          <a:ln w="14288">
            <a:solidFill>
              <a:srgbClr val="D4A574"/>
            </a:solidFill>
          </a:ln>
          <a:effectLst>
            <a:outerShdw blurRad="76200" dist="19050" dir="5400000" algn="ctr" rotWithShape="0">
              <a:srgbClr val="2C2C2C">
                <a:alpha val="4500"/>
              </a:srgbClr>
            </a:outerShdw>
          </a:effectLst>
        </p:spPr>
      </p:sp>
      <p:sp>
        <p:nvSpPr>
          <p:cNvPr id="52" name="Rectangle 52"/>
          <p:cNvSpPr/>
          <p:nvPr/>
        </p:nvSpPr>
        <p:spPr>
          <a:xfrm>
            <a:off x="4743450" y="3771900"/>
            <a:ext cx="3429000" cy="666750"/>
          </a:xfrm>
          <a:prstGeom prst="roundRect">
            <a:avLst>
              <a:gd name="adj" fmla="val 20000"/>
            </a:avLst>
          </a:prstGeom>
          <a:solidFill>
            <a:srgbClr val="FFFBF5"/>
          </a:solidFill>
          <a:ln>
            <a:noFill/>
          </a:ln>
        </p:spPr>
      </p:sp>
      <p:sp>
        <p:nvSpPr>
          <p:cNvPr id="53" name="TextBox 53"/>
          <p:cNvSpPr txBox="1"/>
          <p:nvPr/>
        </p:nvSpPr>
        <p:spPr>
          <a:xfrm>
            <a:off x="5033962" y="3917156"/>
            <a:ext cx="816173" cy="228600"/>
          </a:xfrm>
          <a:prstGeom prst="rect">
            <a:avLst/>
          </a:prstGeom>
          <a:noFill/>
          <a:ln>
            <a:noFill/>
          </a:ln>
        </p:spPr>
        <p:txBody>
          <a:bodyPr wrap="none" lIns="0" tIns="0" rIns="0" bIns="0" anchor="t" anchorCtr="0">
            <a:spAutoFit/>
          </a:bodyPr>
          <a:lstStyle/>
          <a:p>
            <a:pPr algn="l"/>
            <a:r>
              <a:rPr lang="zh-CN" sz="1125" b="1" dirty="0">
                <a:solidFill>
                  <a:srgbClr val="D4A574"/>
                </a:solidFill>
                <a:latin typeface="Arial"/>
                <a:ea typeface="Microsoft YaHei"/>
                <a:cs typeface="Arial"/>
              </a:rPr>
              <a:t>方法论来源</a:t>
            </a:r>
          </a:p>
        </p:txBody>
      </p:sp>
      <p:sp>
        <p:nvSpPr>
          <p:cNvPr id="54" name="TextBox 54"/>
          <p:cNvSpPr txBox="1"/>
          <p:nvPr/>
        </p:nvSpPr>
        <p:spPr>
          <a:xfrm>
            <a:off x="5034915" y="4134802"/>
            <a:ext cx="2217944"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《品牌全案策略指南2.0》决策树二</a:t>
            </a:r>
          </a:p>
        </p:txBody>
      </p:sp>
      <p:sp>
        <p:nvSpPr>
          <p:cNvPr id="55" name="TextBox 55"/>
          <p:cNvSpPr txBox="1"/>
          <p:nvPr/>
        </p:nvSpPr>
        <p:spPr>
          <a:xfrm>
            <a:off x="5035868" y="4333399"/>
            <a:ext cx="217653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里斯&amp;特劳特《定位》品类占位型理论</a:t>
            </a:r>
          </a:p>
        </p:txBody>
      </p:sp>
      <p:sp>
        <p:nvSpPr>
          <p:cNvPr id="56" name="Rectangle 56"/>
          <p:cNvSpPr/>
          <p:nvPr/>
        </p:nvSpPr>
        <p:spPr>
          <a:xfrm>
            <a:off x="8286750" y="3771900"/>
            <a:ext cx="3467100" cy="666750"/>
          </a:xfrm>
          <a:prstGeom prst="roundRect">
            <a:avLst>
              <a:gd name="adj" fmla="val 20000"/>
            </a:avLst>
          </a:prstGeom>
          <a:solidFill>
            <a:srgbClr val="FFFFFF"/>
          </a:solidFill>
          <a:ln w="9525">
            <a:solidFill>
              <a:srgbClr val="E8E3DC"/>
            </a:solidFill>
          </a:ln>
          <a:effectLst>
            <a:outerShdw blurRad="76200" dist="19050" dir="5400000" algn="ctr" rotWithShape="0">
              <a:srgbClr val="2C2C2C">
                <a:alpha val="4500"/>
              </a:srgbClr>
            </a:outerShdw>
          </a:effectLst>
        </p:spPr>
      </p:sp>
      <p:sp>
        <p:nvSpPr>
          <p:cNvPr id="57" name="TextBox 57"/>
          <p:cNvSpPr txBox="1"/>
          <p:nvPr/>
        </p:nvSpPr>
        <p:spPr>
          <a:xfrm>
            <a:off x="8577262" y="3917156"/>
            <a:ext cx="3178969" cy="228600"/>
          </a:xfrm>
          <a:prstGeom prst="rect">
            <a:avLst/>
          </a:prstGeom>
          <a:noFill/>
          <a:ln>
            <a:noFill/>
          </a:ln>
        </p:spPr>
        <p:txBody>
          <a:bodyPr wrap="none" lIns="0" tIns="0" rIns="0" bIns="0" anchor="t" anchorCtr="0">
            <a:spAutoFit/>
          </a:bodyPr>
          <a:lstStyle/>
          <a:p>
            <a:pPr algn="l"/>
            <a:r>
              <a:rPr lang="zh-CN" sz="1125" b="1" dirty="0">
                <a:solidFill>
                  <a:srgbClr val="7F8C8D"/>
                </a:solidFill>
                <a:latin typeface="Arial"/>
                <a:ea typeface="Microsoft YaHei"/>
                <a:cs typeface="Arial"/>
              </a:rPr>
              <a:t>对立型（Q2路径）vs 品类占位型（Q1路径）</a:t>
            </a:r>
          </a:p>
        </p:txBody>
      </p:sp>
      <p:sp>
        <p:nvSpPr>
          <p:cNvPr id="58" name="TextBox 58"/>
          <p:cNvSpPr txBox="1"/>
          <p:nvPr/>
        </p:nvSpPr>
        <p:spPr>
          <a:xfrm>
            <a:off x="8578215" y="4134802"/>
            <a:ext cx="2708005"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对立型：美团是交易撮合 → 我们是经营赋能</a:t>
            </a:r>
          </a:p>
        </p:txBody>
      </p:sp>
      <p:sp>
        <p:nvSpPr>
          <p:cNvPr id="59" name="TextBox 59"/>
          <p:cNvSpPr txBox="1"/>
          <p:nvPr/>
        </p:nvSpPr>
        <p:spPr>
          <a:xfrm>
            <a:off x="8578215" y="4325302"/>
            <a:ext cx="3366087"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占位型：不存在「社区商业数字经营生态」→ 我们开创</a:t>
            </a:r>
          </a:p>
        </p:txBody>
      </p:sp>
      <p:sp>
        <p:nvSpPr>
          <p:cNvPr id="60" name="Rectangle 60"/>
          <p:cNvSpPr/>
          <p:nvPr/>
        </p:nvSpPr>
        <p:spPr>
          <a:xfrm>
            <a:off x="457200" y="5886450"/>
            <a:ext cx="11277600" cy="400050"/>
          </a:xfrm>
          <a:prstGeom prst="roundRect">
            <a:avLst>
              <a:gd name="adj" fmla="val 23810"/>
            </a:avLst>
          </a:prstGeom>
          <a:solidFill>
            <a:srgbClr val="F0EDE8"/>
          </a:solidFill>
          <a:ln>
            <a:noFill/>
          </a:ln>
        </p:spPr>
      </p:sp>
      <p:sp>
        <p:nvSpPr>
          <p:cNvPr id="61" name="TextBox 61"/>
          <p:cNvSpPr txBox="1"/>
          <p:nvPr/>
        </p:nvSpPr>
        <p:spPr>
          <a:xfrm>
            <a:off x="3621857" y="6030278"/>
            <a:ext cx="4948285"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决策树定位：Q1「没有」→ 品类占位型。这一结论是整个品牌策略大厦的地基。</a:t>
            </a:r>
          </a:p>
        </p:txBody>
      </p:sp>
      <p:sp>
        <p:nvSpPr>
          <p:cNvPr id="62" name="TextBox 62"/>
          <p:cNvSpPr txBox="1"/>
          <p:nvPr/>
        </p:nvSpPr>
        <p:spPr>
          <a:xfrm>
            <a:off x="442912" y="6488906"/>
            <a:ext cx="281142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链邦赋商通 · 链生活 | 品牌战略总案 V1.0</a:t>
            </a:r>
          </a:p>
        </p:txBody>
      </p:sp>
      <p:sp>
        <p:nvSpPr>
          <p:cNvPr id="63" name="TextBox 63"/>
          <p:cNvSpPr txBox="1"/>
          <p:nvPr/>
        </p:nvSpPr>
        <p:spPr>
          <a:xfrm>
            <a:off x="11472982" y="6488906"/>
            <a:ext cx="27610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P08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457200" y="266700"/>
            <a:ext cx="57150" cy="304800"/>
          </a:xfrm>
          <a:prstGeom prst="roundRect">
            <a:avLst>
              <a:gd name="adj" fmla="val 50000"/>
            </a:avLst>
          </a:prstGeom>
          <a:solidFill>
            <a:srgbClr val="E67E22"/>
          </a:solidFill>
          <a:ln>
            <a:noFill/>
          </a:ln>
        </p:spPr>
      </p:sp>
      <p:sp>
        <p:nvSpPr>
          <p:cNvPr id="4" name="TextBox 4"/>
          <p:cNvSpPr txBox="1"/>
          <p:nvPr/>
        </p:nvSpPr>
        <p:spPr>
          <a:xfrm>
            <a:off x="594360" y="203835"/>
            <a:ext cx="2228850"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品牌价值画布</a:t>
            </a:r>
          </a:p>
        </p:txBody>
      </p:sp>
      <p:sp>
        <p:nvSpPr>
          <p:cNvPr id="5" name="TextBox 5"/>
          <p:cNvSpPr txBox="1"/>
          <p:nvPr/>
        </p:nvSpPr>
        <p:spPr>
          <a:xfrm>
            <a:off x="609600" y="542925"/>
            <a:ext cx="5548789"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把生态位翻译成品牌身份：6个核心要素构建完整品牌价值体系</a:t>
            </a:r>
          </a:p>
        </p:txBody>
      </p:sp>
      <p:sp>
        <p:nvSpPr>
          <p:cNvPr id="6" name="Line 6"/>
          <p:cNvSpPr/>
          <p:nvPr/>
        </p:nvSpPr>
        <p:spPr>
          <a:xfrm>
            <a:off x="457200" y="876300"/>
            <a:ext cx="11277600" cy="9525"/>
          </a:xfrm>
          <a:custGeom>
            <a:avLst/>
            <a:gdLst/>
            <a:ahLst/>
            <a:cxnLst/>
            <a:rect l="l" t="t" r="r" b="b"/>
            <a:pathLst>
              <a:path w="11277600" h="9525">
                <a:moveTo>
                  <a:pt x="0" y="0"/>
                </a:moveTo>
                <a:lnTo>
                  <a:pt x="11277600" y="0"/>
                </a:lnTo>
              </a:path>
            </a:pathLst>
          </a:custGeom>
          <a:noFill/>
          <a:ln w="9525">
            <a:solidFill>
              <a:srgbClr val="E8E3DC"/>
            </a:solidFill>
          </a:ln>
        </p:spPr>
      </p:sp>
      <p:sp>
        <p:nvSpPr>
          <p:cNvPr id="7" name="Rectangle 7"/>
          <p:cNvSpPr/>
          <p:nvPr/>
        </p:nvSpPr>
        <p:spPr>
          <a:xfrm>
            <a:off x="457200" y="1085850"/>
            <a:ext cx="3619500" cy="2238375"/>
          </a:xfrm>
          <a:prstGeom prst="roundRect">
            <a:avLst>
              <a:gd name="adj" fmla="val 5957"/>
            </a:avLst>
          </a:prstGeom>
          <a:solidFill>
            <a:srgbClr val="FFFFFF"/>
          </a:solidFill>
          <a:ln w="14288">
            <a:solidFill>
              <a:srgbClr val="E67E22"/>
            </a:solidFill>
          </a:ln>
          <a:effectLst>
            <a:outerShdw blurRad="76200" dist="19050" dir="5400000" algn="ctr" rotWithShape="0">
              <a:srgbClr val="2C2C2C">
                <a:alpha val="4500"/>
              </a:srgbClr>
            </a:outerShdw>
          </a:effectLst>
        </p:spPr>
      </p:sp>
      <p:sp>
        <p:nvSpPr>
          <p:cNvPr id="8" name="Rectangle 8"/>
          <p:cNvSpPr/>
          <p:nvPr/>
        </p:nvSpPr>
        <p:spPr>
          <a:xfrm>
            <a:off x="457200" y="1085850"/>
            <a:ext cx="3619500" cy="76200"/>
          </a:xfrm>
          <a:prstGeom prst="roundRect">
            <a:avLst>
              <a:gd name="adj" fmla="val 50000"/>
            </a:avLst>
          </a:prstGeom>
          <a:solidFill>
            <a:srgbClr val="E67E22"/>
          </a:solidFill>
          <a:ln>
            <a:noFill/>
          </a:ln>
        </p:spPr>
      </p:sp>
      <p:sp>
        <p:nvSpPr>
          <p:cNvPr id="9" name="Rectangle 9"/>
          <p:cNvSpPr/>
          <p:nvPr/>
        </p:nvSpPr>
        <p:spPr>
          <a:xfrm>
            <a:off x="685800" y="1352550"/>
            <a:ext cx="342900" cy="342900"/>
          </a:xfrm>
          <a:prstGeom prst="roundRect">
            <a:avLst>
              <a:gd name="adj" fmla="val 22222"/>
            </a:avLst>
          </a:prstGeom>
          <a:solidFill>
            <a:srgbClr val="FFF8F0"/>
          </a:solidFill>
          <a:ln>
            <a:noFill/>
          </a:ln>
        </p:spPr>
      </p:sp>
      <p:sp>
        <p:nvSpPr>
          <p:cNvPr id="10" name="Ellipse 10"/>
          <p:cNvSpPr/>
          <p:nvPr/>
        </p:nvSpPr>
        <p:spPr>
          <a:xfrm>
            <a:off x="790575" y="1400175"/>
            <a:ext cx="133350" cy="133350"/>
          </a:xfrm>
          <a:prstGeom prst="ellipse">
            <a:avLst/>
          </a:prstGeom>
          <a:noFill/>
          <a:ln w="19050">
            <a:solidFill>
              <a:srgbClr val="E67E22"/>
            </a:solidFill>
          </a:ln>
        </p:spPr>
      </p:sp>
      <p:sp>
        <p:nvSpPr>
          <p:cNvPr id="11" name="Ellipse 11"/>
          <p:cNvSpPr/>
          <p:nvPr/>
        </p:nvSpPr>
        <p:spPr>
          <a:xfrm>
            <a:off x="833438" y="1443038"/>
            <a:ext cx="47625" cy="47625"/>
          </a:xfrm>
          <a:prstGeom prst="ellipse">
            <a:avLst/>
          </a:prstGeom>
          <a:solidFill>
            <a:srgbClr val="E67E22"/>
          </a:solidFill>
          <a:ln>
            <a:noFill/>
          </a:ln>
        </p:spPr>
      </p:sp>
      <p:sp>
        <p:nvSpPr>
          <p:cNvPr id="12" name="Line 12"/>
          <p:cNvSpPr/>
          <p:nvPr/>
        </p:nvSpPr>
        <p:spPr>
          <a:xfrm>
            <a:off x="857250" y="1533525"/>
            <a:ext cx="9525" cy="123825"/>
          </a:xfrm>
          <a:custGeom>
            <a:avLst/>
            <a:gdLst/>
            <a:ahLst/>
            <a:cxnLst/>
            <a:rect l="l" t="t" r="r" b="b"/>
            <a:pathLst>
              <a:path w="9525" h="123825">
                <a:moveTo>
                  <a:pt x="0" y="0"/>
                </a:moveTo>
                <a:lnTo>
                  <a:pt x="0" y="123825"/>
                </a:lnTo>
              </a:path>
            </a:pathLst>
          </a:custGeom>
          <a:noFill/>
          <a:ln w="19050" cap="rnd">
            <a:solidFill>
              <a:srgbClr val="E67E22"/>
            </a:solidFill>
          </a:ln>
        </p:spPr>
      </p:sp>
      <p:sp>
        <p:nvSpPr>
          <p:cNvPr id="13" name="TextBox 13"/>
          <p:cNvSpPr txBox="1"/>
          <p:nvPr/>
        </p:nvSpPr>
        <p:spPr>
          <a:xfrm>
            <a:off x="1122045" y="1383982"/>
            <a:ext cx="734997"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生态位</a:t>
            </a:r>
          </a:p>
        </p:txBody>
      </p:sp>
      <p:sp>
        <p:nvSpPr>
          <p:cNvPr id="14" name="Line 14"/>
          <p:cNvSpPr/>
          <p:nvPr/>
        </p:nvSpPr>
        <p:spPr>
          <a:xfrm>
            <a:off x="685800" y="1828800"/>
            <a:ext cx="3162300" cy="9525"/>
          </a:xfrm>
          <a:custGeom>
            <a:avLst/>
            <a:gdLst/>
            <a:ahLst/>
            <a:cxnLst/>
            <a:rect l="l" t="t" r="r" b="b"/>
            <a:pathLst>
              <a:path w="3162300" h="9525">
                <a:moveTo>
                  <a:pt x="0" y="0"/>
                </a:moveTo>
                <a:lnTo>
                  <a:pt x="3162300" y="0"/>
                </a:lnTo>
              </a:path>
            </a:pathLst>
          </a:custGeom>
          <a:noFill/>
          <a:ln w="4762">
            <a:solidFill>
              <a:srgbClr val="E8E3DC"/>
            </a:solidFill>
          </a:ln>
        </p:spPr>
      </p:sp>
      <p:sp>
        <p:nvSpPr>
          <p:cNvPr id="15" name="TextBox 15"/>
          <p:cNvSpPr txBox="1"/>
          <p:nvPr/>
        </p:nvSpPr>
        <p:spPr>
          <a:xfrm>
            <a:off x="670560" y="1965960"/>
            <a:ext cx="1710690"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社区商业数字经营生态</a:t>
            </a:r>
          </a:p>
        </p:txBody>
      </p:sp>
      <p:sp>
        <p:nvSpPr>
          <p:cNvPr id="16" name="TextBox 16"/>
          <p:cNvSpPr txBox="1"/>
          <p:nvPr/>
        </p:nvSpPr>
        <p:spPr>
          <a:xfrm>
            <a:off x="672465" y="2229802"/>
            <a:ext cx="256098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有品类无品牌——在中国本地生活市场中，</a:t>
            </a:r>
          </a:p>
        </p:txBody>
      </p:sp>
      <p:sp>
        <p:nvSpPr>
          <p:cNvPr id="17" name="TextBox 17"/>
          <p:cNvSpPr txBox="1"/>
          <p:nvPr/>
        </p:nvSpPr>
        <p:spPr>
          <a:xfrm>
            <a:off x="672465" y="2439352"/>
            <a:ext cx="226695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「帮商家经营」的生态位完全空白，</a:t>
            </a:r>
          </a:p>
        </p:txBody>
      </p:sp>
      <p:sp>
        <p:nvSpPr>
          <p:cNvPr id="18" name="TextBox 18"/>
          <p:cNvSpPr txBox="1"/>
          <p:nvPr/>
        </p:nvSpPr>
        <p:spPr>
          <a:xfrm>
            <a:off x="672465" y="2648902"/>
            <a:ext cx="128682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是真正的蓝海品类。</a:t>
            </a:r>
          </a:p>
        </p:txBody>
      </p:sp>
      <p:sp>
        <p:nvSpPr>
          <p:cNvPr id="19" name="Rectangle 19"/>
          <p:cNvSpPr/>
          <p:nvPr/>
        </p:nvSpPr>
        <p:spPr>
          <a:xfrm>
            <a:off x="685800" y="2914650"/>
            <a:ext cx="685800" cy="209550"/>
          </a:xfrm>
          <a:prstGeom prst="roundRect">
            <a:avLst>
              <a:gd name="adj" fmla="val 27273"/>
            </a:avLst>
          </a:prstGeom>
          <a:solidFill>
            <a:srgbClr val="FFF8F0"/>
          </a:solidFill>
          <a:ln>
            <a:noFill/>
          </a:ln>
        </p:spPr>
      </p:sp>
      <p:sp>
        <p:nvSpPr>
          <p:cNvPr id="20" name="TextBox 20"/>
          <p:cNvSpPr txBox="1"/>
          <p:nvPr/>
        </p:nvSpPr>
        <p:spPr>
          <a:xfrm>
            <a:off x="777240" y="2969895"/>
            <a:ext cx="502920" cy="182880"/>
          </a:xfrm>
          <a:prstGeom prst="rect">
            <a:avLst/>
          </a:prstGeom>
          <a:noFill/>
          <a:ln>
            <a:noFill/>
          </a:ln>
        </p:spPr>
        <p:txBody>
          <a:bodyPr wrap="none" lIns="0" tIns="0" rIns="0" bIns="0" anchor="t" anchorCtr="0">
            <a:spAutoFit/>
          </a:bodyPr>
          <a:lstStyle/>
          <a:p>
            <a:pPr algn="ctr"/>
            <a:r>
              <a:rPr lang="zh-CN" sz="900" dirty="0">
                <a:solidFill>
                  <a:srgbClr val="E67E22"/>
                </a:solidFill>
                <a:latin typeface="Arial"/>
                <a:ea typeface="Microsoft YaHei"/>
                <a:cs typeface="Arial"/>
              </a:rPr>
              <a:t>战略根基</a:t>
            </a:r>
          </a:p>
        </p:txBody>
      </p:sp>
      <p:sp>
        <p:nvSpPr>
          <p:cNvPr id="21" name="Rectangle 21"/>
          <p:cNvSpPr/>
          <p:nvPr/>
        </p:nvSpPr>
        <p:spPr>
          <a:xfrm>
            <a:off x="4267200" y="1085850"/>
            <a:ext cx="3619500" cy="2238375"/>
          </a:xfrm>
          <a:prstGeom prst="roundRect">
            <a:avLst>
              <a:gd name="adj" fmla="val 5957"/>
            </a:avLst>
          </a:prstGeom>
          <a:solidFill>
            <a:srgbClr val="FFFFFF"/>
          </a:solidFill>
          <a:ln w="14288">
            <a:solidFill>
              <a:srgbClr val="1A5276"/>
            </a:solidFill>
          </a:ln>
          <a:effectLst>
            <a:outerShdw blurRad="76200" dist="19050" dir="5400000" algn="ctr" rotWithShape="0">
              <a:srgbClr val="2C2C2C">
                <a:alpha val="4500"/>
              </a:srgbClr>
            </a:outerShdw>
          </a:effectLst>
        </p:spPr>
      </p:sp>
      <p:sp>
        <p:nvSpPr>
          <p:cNvPr id="22" name="Rectangle 22"/>
          <p:cNvSpPr/>
          <p:nvPr/>
        </p:nvSpPr>
        <p:spPr>
          <a:xfrm>
            <a:off x="4267200" y="1085850"/>
            <a:ext cx="3619500" cy="76200"/>
          </a:xfrm>
          <a:prstGeom prst="roundRect">
            <a:avLst>
              <a:gd name="adj" fmla="val 50000"/>
            </a:avLst>
          </a:prstGeom>
          <a:solidFill>
            <a:srgbClr val="1A5276"/>
          </a:solidFill>
          <a:ln>
            <a:noFill/>
          </a:ln>
        </p:spPr>
      </p:sp>
      <p:sp>
        <p:nvSpPr>
          <p:cNvPr id="23" name="Rectangle 23"/>
          <p:cNvSpPr/>
          <p:nvPr/>
        </p:nvSpPr>
        <p:spPr>
          <a:xfrm>
            <a:off x="4495800" y="1352550"/>
            <a:ext cx="342900" cy="342900"/>
          </a:xfrm>
          <a:prstGeom prst="roundRect">
            <a:avLst>
              <a:gd name="adj" fmla="val 22222"/>
            </a:avLst>
          </a:prstGeom>
          <a:solidFill>
            <a:srgbClr val="F0F5FA"/>
          </a:solidFill>
          <a:ln>
            <a:noFill/>
          </a:ln>
        </p:spPr>
      </p:sp>
      <p:sp>
        <p:nvSpPr>
          <p:cNvPr id="24" name="Ellipse 24"/>
          <p:cNvSpPr/>
          <p:nvPr/>
        </p:nvSpPr>
        <p:spPr>
          <a:xfrm>
            <a:off x="4572000" y="1409700"/>
            <a:ext cx="76200" cy="76200"/>
          </a:xfrm>
          <a:prstGeom prst="ellipse">
            <a:avLst/>
          </a:prstGeom>
          <a:solidFill>
            <a:srgbClr val="1A5276"/>
          </a:solidFill>
          <a:ln>
            <a:noFill/>
          </a:ln>
        </p:spPr>
      </p:sp>
      <p:sp>
        <p:nvSpPr>
          <p:cNvPr id="25" name="Ellipse 25"/>
          <p:cNvSpPr/>
          <p:nvPr/>
        </p:nvSpPr>
        <p:spPr>
          <a:xfrm>
            <a:off x="4591050" y="1428750"/>
            <a:ext cx="38100" cy="38100"/>
          </a:xfrm>
          <a:prstGeom prst="ellipse">
            <a:avLst/>
          </a:prstGeom>
          <a:solidFill>
            <a:srgbClr val="F0F5FA"/>
          </a:solidFill>
          <a:ln>
            <a:noFill/>
          </a:ln>
        </p:spPr>
      </p:sp>
      <p:sp>
        <p:nvSpPr>
          <p:cNvPr id="26" name="Ellipse 26"/>
          <p:cNvSpPr/>
          <p:nvPr/>
        </p:nvSpPr>
        <p:spPr>
          <a:xfrm>
            <a:off x="4686300" y="1409700"/>
            <a:ext cx="76200" cy="76200"/>
          </a:xfrm>
          <a:prstGeom prst="ellipse">
            <a:avLst/>
          </a:prstGeom>
          <a:solidFill>
            <a:srgbClr val="1A5276"/>
          </a:solidFill>
          <a:ln>
            <a:noFill/>
          </a:ln>
        </p:spPr>
      </p:sp>
      <p:sp>
        <p:nvSpPr>
          <p:cNvPr id="27" name="Ellipse 27"/>
          <p:cNvSpPr/>
          <p:nvPr/>
        </p:nvSpPr>
        <p:spPr>
          <a:xfrm>
            <a:off x="4705350" y="1428750"/>
            <a:ext cx="38100" cy="38100"/>
          </a:xfrm>
          <a:prstGeom prst="ellipse">
            <a:avLst/>
          </a:prstGeom>
          <a:solidFill>
            <a:srgbClr val="F0F5FA"/>
          </a:solidFill>
          <a:ln>
            <a:noFill/>
          </a:ln>
        </p:spPr>
      </p:sp>
      <p:sp>
        <p:nvSpPr>
          <p:cNvPr id="28" name="TextBox 28"/>
          <p:cNvSpPr txBox="1"/>
          <p:nvPr/>
        </p:nvSpPr>
        <p:spPr>
          <a:xfrm>
            <a:off x="4932045" y="1383982"/>
            <a:ext cx="966026"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目标用户</a:t>
            </a:r>
          </a:p>
        </p:txBody>
      </p:sp>
      <p:sp>
        <p:nvSpPr>
          <p:cNvPr id="29" name="Line 29"/>
          <p:cNvSpPr/>
          <p:nvPr/>
        </p:nvSpPr>
        <p:spPr>
          <a:xfrm>
            <a:off x="4495800" y="1828800"/>
            <a:ext cx="3162300" cy="9525"/>
          </a:xfrm>
          <a:custGeom>
            <a:avLst/>
            <a:gdLst/>
            <a:ahLst/>
            <a:cxnLst/>
            <a:rect l="l" t="t" r="r" b="b"/>
            <a:pathLst>
              <a:path w="3162300" h="9525">
                <a:moveTo>
                  <a:pt x="0" y="0"/>
                </a:moveTo>
                <a:lnTo>
                  <a:pt x="3162300" y="0"/>
                </a:lnTo>
              </a:path>
            </a:pathLst>
          </a:custGeom>
          <a:noFill/>
          <a:ln w="4762">
            <a:solidFill>
              <a:srgbClr val="E8E3DC"/>
            </a:solidFill>
          </a:ln>
        </p:spPr>
      </p:sp>
      <p:sp>
        <p:nvSpPr>
          <p:cNvPr id="30" name="TextBox 30"/>
          <p:cNvSpPr txBox="1"/>
          <p:nvPr/>
        </p:nvSpPr>
        <p:spPr>
          <a:xfrm>
            <a:off x="4480560" y="1965960"/>
            <a:ext cx="2046732"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认真经营但「留不住关系」</a:t>
            </a:r>
          </a:p>
        </p:txBody>
      </p:sp>
      <p:sp>
        <p:nvSpPr>
          <p:cNvPr id="31" name="TextBox 31"/>
          <p:cNvSpPr txBox="1"/>
          <p:nvPr/>
        </p:nvSpPr>
        <p:spPr>
          <a:xfrm>
            <a:off x="4480560" y="2194560"/>
            <a:ext cx="870585"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的社区商家</a:t>
            </a:r>
          </a:p>
        </p:txBody>
      </p:sp>
      <p:sp>
        <p:nvSpPr>
          <p:cNvPr id="32" name="TextBox 32"/>
          <p:cNvSpPr txBox="1"/>
          <p:nvPr/>
        </p:nvSpPr>
        <p:spPr>
          <a:xfrm>
            <a:off x="4482465" y="2496502"/>
            <a:ext cx="214093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他们是社区的毛细血管——做了无数</a:t>
            </a:r>
          </a:p>
        </p:txBody>
      </p:sp>
      <p:sp>
        <p:nvSpPr>
          <p:cNvPr id="33" name="TextBox 33"/>
          <p:cNvSpPr txBox="1"/>
          <p:nvPr/>
        </p:nvSpPr>
        <p:spPr>
          <a:xfrm>
            <a:off x="4482465" y="2706052"/>
            <a:ext cx="226695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次生意，却没有一个属于自己的客户</a:t>
            </a:r>
          </a:p>
        </p:txBody>
      </p:sp>
      <p:sp>
        <p:nvSpPr>
          <p:cNvPr id="34" name="TextBox 34"/>
          <p:cNvSpPr txBox="1"/>
          <p:nvPr/>
        </p:nvSpPr>
        <p:spPr>
          <a:xfrm>
            <a:off x="4482465" y="2915602"/>
            <a:ext cx="212693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关系库。他们需要的不只是流量。</a:t>
            </a:r>
          </a:p>
        </p:txBody>
      </p:sp>
      <p:sp>
        <p:nvSpPr>
          <p:cNvPr id="35" name="Rectangle 35"/>
          <p:cNvSpPr/>
          <p:nvPr/>
        </p:nvSpPr>
        <p:spPr>
          <a:xfrm>
            <a:off x="4495800" y="3181350"/>
            <a:ext cx="819150" cy="209550"/>
          </a:xfrm>
          <a:prstGeom prst="roundRect">
            <a:avLst>
              <a:gd name="adj" fmla="val 27273"/>
            </a:avLst>
          </a:prstGeom>
          <a:solidFill>
            <a:srgbClr val="F0F5FA"/>
          </a:solidFill>
          <a:ln>
            <a:noFill/>
          </a:ln>
        </p:spPr>
      </p:sp>
      <p:sp>
        <p:nvSpPr>
          <p:cNvPr id="36" name="TextBox 36"/>
          <p:cNvSpPr txBox="1"/>
          <p:nvPr/>
        </p:nvSpPr>
        <p:spPr>
          <a:xfrm>
            <a:off x="4653915" y="3236595"/>
            <a:ext cx="502920" cy="182880"/>
          </a:xfrm>
          <a:prstGeom prst="rect">
            <a:avLst/>
          </a:prstGeom>
          <a:noFill/>
          <a:ln>
            <a:noFill/>
          </a:ln>
        </p:spPr>
        <p:txBody>
          <a:bodyPr wrap="none" lIns="0" tIns="0" rIns="0" bIns="0" anchor="t" anchorCtr="0">
            <a:spAutoFit/>
          </a:bodyPr>
          <a:lstStyle/>
          <a:p>
            <a:pPr algn="ctr"/>
            <a:r>
              <a:rPr lang="zh-CN" sz="900" dirty="0">
                <a:solidFill>
                  <a:srgbClr val="1A5276"/>
                </a:solidFill>
                <a:latin typeface="Arial"/>
                <a:ea typeface="Microsoft YaHei"/>
                <a:cs typeface="Arial"/>
              </a:rPr>
              <a:t>初心原点</a:t>
            </a:r>
          </a:p>
        </p:txBody>
      </p:sp>
      <p:sp>
        <p:nvSpPr>
          <p:cNvPr id="37" name="Rectangle 37"/>
          <p:cNvSpPr/>
          <p:nvPr/>
        </p:nvSpPr>
        <p:spPr>
          <a:xfrm>
            <a:off x="8077200" y="1085850"/>
            <a:ext cx="3619500" cy="2238375"/>
          </a:xfrm>
          <a:prstGeom prst="roundRect">
            <a:avLst>
              <a:gd name="adj" fmla="val 5957"/>
            </a:avLst>
          </a:prstGeom>
          <a:solidFill>
            <a:srgbClr val="FFFFFF"/>
          </a:solidFill>
          <a:ln w="14288">
            <a:solidFill>
              <a:srgbClr val="D4A574"/>
            </a:solidFill>
          </a:ln>
          <a:effectLst>
            <a:outerShdw blurRad="76200" dist="19050" dir="5400000" algn="ctr" rotWithShape="0">
              <a:srgbClr val="2C2C2C">
                <a:alpha val="4500"/>
              </a:srgbClr>
            </a:outerShdw>
          </a:effectLst>
        </p:spPr>
      </p:sp>
      <p:sp>
        <p:nvSpPr>
          <p:cNvPr id="38" name="Rectangle 38"/>
          <p:cNvSpPr/>
          <p:nvPr/>
        </p:nvSpPr>
        <p:spPr>
          <a:xfrm>
            <a:off x="8077200" y="1085850"/>
            <a:ext cx="3619500" cy="76200"/>
          </a:xfrm>
          <a:prstGeom prst="roundRect">
            <a:avLst>
              <a:gd name="adj" fmla="val 50000"/>
            </a:avLst>
          </a:prstGeom>
          <a:solidFill>
            <a:srgbClr val="D4A574"/>
          </a:solidFill>
          <a:ln>
            <a:noFill/>
          </a:ln>
        </p:spPr>
      </p:sp>
      <p:sp>
        <p:nvSpPr>
          <p:cNvPr id="39" name="Rectangle 39"/>
          <p:cNvSpPr/>
          <p:nvPr/>
        </p:nvSpPr>
        <p:spPr>
          <a:xfrm>
            <a:off x="8305800" y="1352550"/>
            <a:ext cx="342900" cy="342900"/>
          </a:xfrm>
          <a:prstGeom prst="roundRect">
            <a:avLst>
              <a:gd name="adj" fmla="val 22222"/>
            </a:avLst>
          </a:prstGeom>
          <a:solidFill>
            <a:srgbClr val="FFFBF5"/>
          </a:solidFill>
          <a:ln>
            <a:noFill/>
          </a:ln>
        </p:spPr>
      </p:sp>
      <p:sp>
        <p:nvSpPr>
          <p:cNvPr id="40" name="Polygon 40"/>
          <p:cNvSpPr/>
          <p:nvPr/>
        </p:nvSpPr>
        <p:spPr>
          <a:xfrm>
            <a:off x="8401050" y="1409700"/>
            <a:ext cx="152400" cy="228600"/>
          </a:xfrm>
          <a:custGeom>
            <a:avLst/>
            <a:gdLst/>
            <a:ahLst/>
            <a:cxnLst/>
            <a:rect l="l" t="t" r="r" b="b"/>
            <a:pathLst>
              <a:path w="152400" h="228600">
                <a:moveTo>
                  <a:pt x="76200" y="0"/>
                </a:moveTo>
                <a:lnTo>
                  <a:pt x="152400" y="38100"/>
                </a:lnTo>
                <a:lnTo>
                  <a:pt x="152400" y="190500"/>
                </a:lnTo>
                <a:lnTo>
                  <a:pt x="76200" y="228600"/>
                </a:lnTo>
                <a:lnTo>
                  <a:pt x="0" y="190500"/>
                </a:lnTo>
                <a:lnTo>
                  <a:pt x="0" y="38100"/>
                </a:lnTo>
                <a:close/>
              </a:path>
            </a:pathLst>
          </a:custGeom>
          <a:noFill/>
          <a:ln w="14288">
            <a:solidFill>
              <a:srgbClr val="D4A574"/>
            </a:solidFill>
          </a:ln>
        </p:spPr>
      </p:sp>
      <p:sp>
        <p:nvSpPr>
          <p:cNvPr id="41" name="Line 41"/>
          <p:cNvSpPr/>
          <p:nvPr/>
        </p:nvSpPr>
        <p:spPr>
          <a:xfrm>
            <a:off x="8477250" y="1638300"/>
            <a:ext cx="9525" cy="38100"/>
          </a:xfrm>
          <a:custGeom>
            <a:avLst/>
            <a:gdLst/>
            <a:ahLst/>
            <a:cxnLst/>
            <a:rect l="l" t="t" r="r" b="b"/>
            <a:pathLst>
              <a:path w="9525" h="38100">
                <a:moveTo>
                  <a:pt x="0" y="0"/>
                </a:moveTo>
                <a:lnTo>
                  <a:pt x="0" y="38100"/>
                </a:lnTo>
              </a:path>
            </a:pathLst>
          </a:custGeom>
          <a:noFill/>
          <a:ln w="14288">
            <a:solidFill>
              <a:srgbClr val="D4A574"/>
            </a:solidFill>
          </a:ln>
        </p:spPr>
      </p:sp>
      <p:sp>
        <p:nvSpPr>
          <p:cNvPr id="42" name="TextBox 42"/>
          <p:cNvSpPr txBox="1"/>
          <p:nvPr/>
        </p:nvSpPr>
        <p:spPr>
          <a:xfrm>
            <a:off x="8742045" y="1383982"/>
            <a:ext cx="966026"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核心价值</a:t>
            </a:r>
          </a:p>
        </p:txBody>
      </p:sp>
      <p:sp>
        <p:nvSpPr>
          <p:cNvPr id="43" name="Line 43"/>
          <p:cNvSpPr/>
          <p:nvPr/>
        </p:nvSpPr>
        <p:spPr>
          <a:xfrm>
            <a:off x="8305800" y="1828800"/>
            <a:ext cx="3162300" cy="9525"/>
          </a:xfrm>
          <a:custGeom>
            <a:avLst/>
            <a:gdLst/>
            <a:ahLst/>
            <a:cxnLst/>
            <a:rect l="l" t="t" r="r" b="b"/>
            <a:pathLst>
              <a:path w="3162300" h="9525">
                <a:moveTo>
                  <a:pt x="0" y="0"/>
                </a:moveTo>
                <a:lnTo>
                  <a:pt x="3162300" y="0"/>
                </a:lnTo>
              </a:path>
            </a:pathLst>
          </a:custGeom>
          <a:noFill/>
          <a:ln w="4762">
            <a:solidFill>
              <a:srgbClr val="E8E3DC"/>
            </a:solidFill>
          </a:ln>
        </p:spPr>
      </p:sp>
      <p:sp>
        <p:nvSpPr>
          <p:cNvPr id="44" name="TextBox 44"/>
          <p:cNvSpPr txBox="1"/>
          <p:nvPr/>
        </p:nvSpPr>
        <p:spPr>
          <a:xfrm>
            <a:off x="8290560" y="1965960"/>
            <a:ext cx="1710690" cy="243840"/>
          </a:xfrm>
          <a:prstGeom prst="rect">
            <a:avLst/>
          </a:prstGeom>
          <a:noFill/>
          <a:ln>
            <a:noFill/>
          </a:ln>
        </p:spPr>
        <p:txBody>
          <a:bodyPr wrap="none" lIns="0" tIns="0" rIns="0" bIns="0" anchor="t" anchorCtr="0">
            <a:spAutoFit/>
          </a:bodyPr>
          <a:lstStyle/>
          <a:p>
            <a:pPr algn="l"/>
            <a:r>
              <a:rPr lang="zh-CN" sz="1200" b="1" dirty="0">
                <a:solidFill>
                  <a:srgbClr val="D4A574"/>
                </a:solidFill>
                <a:latin typeface="Arial"/>
                <a:ea typeface="Microsoft YaHei"/>
                <a:cs typeface="Arial"/>
              </a:rPr>
              <a:t>帮商家建立属于自己的</a:t>
            </a:r>
          </a:p>
        </p:txBody>
      </p:sp>
      <p:sp>
        <p:nvSpPr>
          <p:cNvPr id="45" name="TextBox 45"/>
          <p:cNvSpPr txBox="1"/>
          <p:nvPr/>
        </p:nvSpPr>
        <p:spPr>
          <a:xfrm>
            <a:off x="8290560" y="2194560"/>
            <a:ext cx="702564" cy="243840"/>
          </a:xfrm>
          <a:prstGeom prst="rect">
            <a:avLst/>
          </a:prstGeom>
          <a:noFill/>
          <a:ln>
            <a:noFill/>
          </a:ln>
        </p:spPr>
        <p:txBody>
          <a:bodyPr wrap="none" lIns="0" tIns="0" rIns="0" bIns="0" anchor="t" anchorCtr="0">
            <a:spAutoFit/>
          </a:bodyPr>
          <a:lstStyle/>
          <a:p>
            <a:pPr algn="l"/>
            <a:r>
              <a:rPr lang="zh-CN" sz="1200" b="1" dirty="0">
                <a:solidFill>
                  <a:srgbClr val="D4A574"/>
                </a:solidFill>
                <a:latin typeface="Arial"/>
                <a:ea typeface="Microsoft YaHei"/>
                <a:cs typeface="Arial"/>
              </a:rPr>
              <a:t>经营关系</a:t>
            </a:r>
          </a:p>
        </p:txBody>
      </p:sp>
      <p:sp>
        <p:nvSpPr>
          <p:cNvPr id="46" name="TextBox 46"/>
          <p:cNvSpPr txBox="1"/>
          <p:nvPr/>
        </p:nvSpPr>
        <p:spPr>
          <a:xfrm>
            <a:off x="8292465" y="2496502"/>
            <a:ext cx="184689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不是给商家送流量然后抽佣，</a:t>
            </a:r>
          </a:p>
        </p:txBody>
      </p:sp>
      <p:sp>
        <p:nvSpPr>
          <p:cNvPr id="47" name="TextBox 47"/>
          <p:cNvSpPr txBox="1"/>
          <p:nvPr/>
        </p:nvSpPr>
        <p:spPr>
          <a:xfrm>
            <a:off x="8292465" y="2706052"/>
            <a:ext cx="184689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而是给商家一套工具和方法，</a:t>
            </a:r>
          </a:p>
        </p:txBody>
      </p:sp>
      <p:sp>
        <p:nvSpPr>
          <p:cNvPr id="48" name="TextBox 48"/>
          <p:cNvSpPr txBox="1"/>
          <p:nvPr/>
        </p:nvSpPr>
        <p:spPr>
          <a:xfrm>
            <a:off x="8292465" y="2915602"/>
            <a:ext cx="212693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让商家自己经营自己的客户关系。</a:t>
            </a:r>
          </a:p>
        </p:txBody>
      </p:sp>
      <p:sp>
        <p:nvSpPr>
          <p:cNvPr id="49" name="Rectangle 49"/>
          <p:cNvSpPr/>
          <p:nvPr/>
        </p:nvSpPr>
        <p:spPr>
          <a:xfrm>
            <a:off x="8305800" y="3181350"/>
            <a:ext cx="819150" cy="209550"/>
          </a:xfrm>
          <a:prstGeom prst="roundRect">
            <a:avLst>
              <a:gd name="adj" fmla="val 27273"/>
            </a:avLst>
          </a:prstGeom>
          <a:solidFill>
            <a:srgbClr val="FFFBF5"/>
          </a:solidFill>
          <a:ln>
            <a:noFill/>
          </a:ln>
        </p:spPr>
      </p:sp>
      <p:sp>
        <p:nvSpPr>
          <p:cNvPr id="50" name="TextBox 50"/>
          <p:cNvSpPr txBox="1"/>
          <p:nvPr/>
        </p:nvSpPr>
        <p:spPr>
          <a:xfrm>
            <a:off x="8463915" y="3236595"/>
            <a:ext cx="502920" cy="182880"/>
          </a:xfrm>
          <a:prstGeom prst="rect">
            <a:avLst/>
          </a:prstGeom>
          <a:noFill/>
          <a:ln>
            <a:noFill/>
          </a:ln>
        </p:spPr>
        <p:txBody>
          <a:bodyPr wrap="none" lIns="0" tIns="0" rIns="0" bIns="0" anchor="t" anchorCtr="0">
            <a:spAutoFit/>
          </a:bodyPr>
          <a:lstStyle/>
          <a:p>
            <a:pPr algn="ctr"/>
            <a:r>
              <a:rPr lang="zh-CN" sz="900" dirty="0">
                <a:solidFill>
                  <a:srgbClr val="D4A574"/>
                </a:solidFill>
                <a:latin typeface="Arial"/>
                <a:ea typeface="Microsoft YaHei"/>
                <a:cs typeface="Arial"/>
              </a:rPr>
              <a:t>价值承诺</a:t>
            </a:r>
          </a:p>
        </p:txBody>
      </p:sp>
      <p:sp>
        <p:nvSpPr>
          <p:cNvPr id="51" name="Rectangle 51"/>
          <p:cNvSpPr/>
          <p:nvPr/>
        </p:nvSpPr>
        <p:spPr>
          <a:xfrm>
            <a:off x="457200" y="3514725"/>
            <a:ext cx="3619500" cy="2238375"/>
          </a:xfrm>
          <a:prstGeom prst="roundRect">
            <a:avLst>
              <a:gd name="adj" fmla="val 5957"/>
            </a:avLst>
          </a:prstGeom>
          <a:solidFill>
            <a:srgbClr val="FFFFFF"/>
          </a:solidFill>
          <a:ln w="14288">
            <a:solidFill>
              <a:srgbClr val="1A5276"/>
            </a:solidFill>
          </a:ln>
          <a:effectLst>
            <a:outerShdw blurRad="76200" dist="19050" dir="5400000" algn="ctr" rotWithShape="0">
              <a:srgbClr val="2C2C2C">
                <a:alpha val="4500"/>
              </a:srgbClr>
            </a:outerShdw>
          </a:effectLst>
        </p:spPr>
      </p:sp>
      <p:sp>
        <p:nvSpPr>
          <p:cNvPr id="52" name="Rectangle 52"/>
          <p:cNvSpPr/>
          <p:nvPr/>
        </p:nvSpPr>
        <p:spPr>
          <a:xfrm>
            <a:off x="457200" y="3514725"/>
            <a:ext cx="3619500" cy="76200"/>
          </a:xfrm>
          <a:prstGeom prst="roundRect">
            <a:avLst>
              <a:gd name="adj" fmla="val 50000"/>
            </a:avLst>
          </a:prstGeom>
          <a:solidFill>
            <a:srgbClr val="1A5276"/>
          </a:solidFill>
          <a:ln>
            <a:noFill/>
          </a:ln>
        </p:spPr>
      </p:sp>
      <p:sp>
        <p:nvSpPr>
          <p:cNvPr id="53" name="Rectangle 53"/>
          <p:cNvSpPr/>
          <p:nvPr/>
        </p:nvSpPr>
        <p:spPr>
          <a:xfrm>
            <a:off x="685800" y="3781425"/>
            <a:ext cx="342900" cy="342900"/>
          </a:xfrm>
          <a:prstGeom prst="roundRect">
            <a:avLst>
              <a:gd name="adj" fmla="val 22222"/>
            </a:avLst>
          </a:prstGeom>
          <a:solidFill>
            <a:srgbClr val="F0F5FA"/>
          </a:solidFill>
          <a:ln>
            <a:noFill/>
          </a:ln>
        </p:spPr>
      </p:sp>
      <p:sp>
        <p:nvSpPr>
          <p:cNvPr id="54" name="Polygon 54"/>
          <p:cNvSpPr/>
          <p:nvPr/>
        </p:nvSpPr>
        <p:spPr>
          <a:xfrm>
            <a:off x="714375" y="3800475"/>
            <a:ext cx="285750" cy="247650"/>
          </a:xfrm>
          <a:custGeom>
            <a:avLst/>
            <a:gdLst/>
            <a:ahLst/>
            <a:cxnLst/>
            <a:rect l="l" t="t" r="r" b="b"/>
            <a:pathLst>
              <a:path w="285750" h="247650">
                <a:moveTo>
                  <a:pt x="142875" y="0"/>
                </a:moveTo>
                <a:lnTo>
                  <a:pt x="180975" y="95250"/>
                </a:lnTo>
                <a:lnTo>
                  <a:pt x="285750" y="95250"/>
                </a:lnTo>
                <a:lnTo>
                  <a:pt x="209550" y="152400"/>
                </a:lnTo>
                <a:lnTo>
                  <a:pt x="238125" y="247650"/>
                </a:lnTo>
                <a:lnTo>
                  <a:pt x="142875" y="200025"/>
                </a:lnTo>
                <a:lnTo>
                  <a:pt x="47625" y="247650"/>
                </a:lnTo>
                <a:lnTo>
                  <a:pt x="76200" y="152400"/>
                </a:lnTo>
                <a:lnTo>
                  <a:pt x="0" y="95250"/>
                </a:lnTo>
                <a:lnTo>
                  <a:pt x="104775" y="95250"/>
                </a:lnTo>
                <a:close/>
              </a:path>
            </a:pathLst>
          </a:custGeom>
          <a:solidFill>
            <a:srgbClr val="1A5276"/>
          </a:solidFill>
          <a:ln>
            <a:noFill/>
          </a:ln>
        </p:spPr>
      </p:sp>
      <p:sp>
        <p:nvSpPr>
          <p:cNvPr id="55" name="TextBox 55"/>
          <p:cNvSpPr txBox="1"/>
          <p:nvPr/>
        </p:nvSpPr>
        <p:spPr>
          <a:xfrm>
            <a:off x="1122045" y="3812858"/>
            <a:ext cx="734997"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差异化</a:t>
            </a:r>
          </a:p>
        </p:txBody>
      </p:sp>
      <p:sp>
        <p:nvSpPr>
          <p:cNvPr id="56" name="Line 56"/>
          <p:cNvSpPr/>
          <p:nvPr/>
        </p:nvSpPr>
        <p:spPr>
          <a:xfrm>
            <a:off x="685800" y="4257675"/>
            <a:ext cx="3162300" cy="9525"/>
          </a:xfrm>
          <a:custGeom>
            <a:avLst/>
            <a:gdLst/>
            <a:ahLst/>
            <a:cxnLst/>
            <a:rect l="l" t="t" r="r" b="b"/>
            <a:pathLst>
              <a:path w="3162300" h="9525">
                <a:moveTo>
                  <a:pt x="0" y="0"/>
                </a:moveTo>
                <a:lnTo>
                  <a:pt x="3162300" y="0"/>
                </a:lnTo>
              </a:path>
            </a:pathLst>
          </a:custGeom>
          <a:noFill/>
          <a:ln w="4762">
            <a:solidFill>
              <a:srgbClr val="E8E3DC"/>
            </a:solidFill>
          </a:ln>
        </p:spPr>
      </p:sp>
      <p:sp>
        <p:nvSpPr>
          <p:cNvPr id="57" name="TextBox 57"/>
          <p:cNvSpPr txBox="1"/>
          <p:nvPr/>
        </p:nvSpPr>
        <p:spPr>
          <a:xfrm>
            <a:off x="671512" y="4402931"/>
            <a:ext cx="1784920"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去中心化 / 关系归属商家</a:t>
            </a:r>
          </a:p>
        </p:txBody>
      </p:sp>
      <p:sp>
        <p:nvSpPr>
          <p:cNvPr id="58" name="TextBox 58"/>
          <p:cNvSpPr txBox="1"/>
          <p:nvPr/>
        </p:nvSpPr>
        <p:spPr>
          <a:xfrm>
            <a:off x="671512" y="4631531"/>
            <a:ext cx="973693"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跨店权益互通</a:t>
            </a:r>
          </a:p>
        </p:txBody>
      </p:sp>
      <p:sp>
        <p:nvSpPr>
          <p:cNvPr id="59" name="TextBox 59"/>
          <p:cNvSpPr txBox="1"/>
          <p:nvPr/>
        </p:nvSpPr>
        <p:spPr>
          <a:xfrm>
            <a:off x="673418" y="4914424"/>
            <a:ext cx="152645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与美团/抖音的本质差异：</a:t>
            </a:r>
          </a:p>
        </p:txBody>
      </p:sp>
      <p:sp>
        <p:nvSpPr>
          <p:cNvPr id="60" name="TextBox 60"/>
          <p:cNvSpPr txBox="1"/>
          <p:nvPr/>
        </p:nvSpPr>
        <p:spPr>
          <a:xfrm>
            <a:off x="673418" y="5123974"/>
            <a:ext cx="184499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消费者数据归商家，不归平台。</a:t>
            </a:r>
          </a:p>
        </p:txBody>
      </p:sp>
      <p:sp>
        <p:nvSpPr>
          <p:cNvPr id="61" name="TextBox 61"/>
          <p:cNvSpPr txBox="1"/>
          <p:nvPr/>
        </p:nvSpPr>
        <p:spPr>
          <a:xfrm>
            <a:off x="673418" y="5333524"/>
            <a:ext cx="185799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代金券/积分/消费金跨店通用。</a:t>
            </a:r>
          </a:p>
        </p:txBody>
      </p:sp>
      <p:sp>
        <p:nvSpPr>
          <p:cNvPr id="62" name="Rectangle 62"/>
          <p:cNvSpPr/>
          <p:nvPr/>
        </p:nvSpPr>
        <p:spPr>
          <a:xfrm>
            <a:off x="685800" y="5581650"/>
            <a:ext cx="819150" cy="209550"/>
          </a:xfrm>
          <a:prstGeom prst="roundRect">
            <a:avLst>
              <a:gd name="adj" fmla="val 27273"/>
            </a:avLst>
          </a:prstGeom>
          <a:solidFill>
            <a:srgbClr val="F0F5FA"/>
          </a:solidFill>
          <a:ln>
            <a:noFill/>
          </a:ln>
        </p:spPr>
      </p:sp>
      <p:sp>
        <p:nvSpPr>
          <p:cNvPr id="63" name="TextBox 63"/>
          <p:cNvSpPr txBox="1"/>
          <p:nvPr/>
        </p:nvSpPr>
        <p:spPr>
          <a:xfrm>
            <a:off x="843915" y="5636895"/>
            <a:ext cx="502920" cy="182880"/>
          </a:xfrm>
          <a:prstGeom prst="rect">
            <a:avLst/>
          </a:prstGeom>
          <a:noFill/>
          <a:ln>
            <a:noFill/>
          </a:ln>
        </p:spPr>
        <p:txBody>
          <a:bodyPr wrap="none" lIns="0" tIns="0" rIns="0" bIns="0" anchor="t" anchorCtr="0">
            <a:spAutoFit/>
          </a:bodyPr>
          <a:lstStyle/>
          <a:p>
            <a:pPr algn="ctr"/>
            <a:r>
              <a:rPr lang="zh-CN" sz="900" dirty="0">
                <a:solidFill>
                  <a:srgbClr val="1A5276"/>
                </a:solidFill>
                <a:latin typeface="Arial"/>
                <a:ea typeface="Microsoft YaHei"/>
                <a:cs typeface="Arial"/>
              </a:rPr>
              <a:t>竞争壁垒</a:t>
            </a:r>
          </a:p>
        </p:txBody>
      </p:sp>
      <p:sp>
        <p:nvSpPr>
          <p:cNvPr id="64" name="Rectangle 64"/>
          <p:cNvSpPr/>
          <p:nvPr/>
        </p:nvSpPr>
        <p:spPr>
          <a:xfrm>
            <a:off x="4267200" y="3514725"/>
            <a:ext cx="3619500" cy="2238375"/>
          </a:xfrm>
          <a:prstGeom prst="roundRect">
            <a:avLst>
              <a:gd name="adj" fmla="val 5957"/>
            </a:avLst>
          </a:prstGeom>
          <a:solidFill>
            <a:srgbClr val="FFFFFF"/>
          </a:solidFill>
          <a:ln w="14288">
            <a:solidFill>
              <a:srgbClr val="1E8449"/>
            </a:solidFill>
          </a:ln>
          <a:effectLst>
            <a:outerShdw blurRad="76200" dist="19050" dir="5400000" algn="ctr" rotWithShape="0">
              <a:srgbClr val="2C2C2C">
                <a:alpha val="4500"/>
              </a:srgbClr>
            </a:outerShdw>
          </a:effectLst>
        </p:spPr>
      </p:sp>
      <p:sp>
        <p:nvSpPr>
          <p:cNvPr id="65" name="Rectangle 65"/>
          <p:cNvSpPr/>
          <p:nvPr/>
        </p:nvSpPr>
        <p:spPr>
          <a:xfrm>
            <a:off x="4267200" y="3514725"/>
            <a:ext cx="3619500" cy="76200"/>
          </a:xfrm>
          <a:prstGeom prst="roundRect">
            <a:avLst>
              <a:gd name="adj" fmla="val 50000"/>
            </a:avLst>
          </a:prstGeom>
          <a:solidFill>
            <a:srgbClr val="1E8449"/>
          </a:solidFill>
          <a:ln>
            <a:noFill/>
          </a:ln>
        </p:spPr>
      </p:sp>
      <p:sp>
        <p:nvSpPr>
          <p:cNvPr id="66" name="Rectangle 66"/>
          <p:cNvSpPr/>
          <p:nvPr/>
        </p:nvSpPr>
        <p:spPr>
          <a:xfrm>
            <a:off x="4495800" y="3781425"/>
            <a:ext cx="342900" cy="342900"/>
          </a:xfrm>
          <a:prstGeom prst="roundRect">
            <a:avLst>
              <a:gd name="adj" fmla="val 22222"/>
            </a:avLst>
          </a:prstGeom>
          <a:solidFill>
            <a:srgbClr val="F0FAF4"/>
          </a:solidFill>
          <a:ln>
            <a:noFill/>
          </a:ln>
        </p:spPr>
      </p:sp>
      <p:sp>
        <p:nvSpPr>
          <p:cNvPr id="67" name="TextBox 67"/>
          <p:cNvSpPr txBox="1"/>
          <p:nvPr/>
        </p:nvSpPr>
        <p:spPr>
          <a:xfrm>
            <a:off x="4932045" y="3812858"/>
            <a:ext cx="734997"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信任状</a:t>
            </a:r>
          </a:p>
        </p:txBody>
      </p:sp>
      <p:sp>
        <p:nvSpPr>
          <p:cNvPr id="68" name="Line 68"/>
          <p:cNvSpPr/>
          <p:nvPr/>
        </p:nvSpPr>
        <p:spPr>
          <a:xfrm>
            <a:off x="4495800" y="4257675"/>
            <a:ext cx="3162300" cy="9525"/>
          </a:xfrm>
          <a:custGeom>
            <a:avLst/>
            <a:gdLst/>
            <a:ahLst/>
            <a:cxnLst/>
            <a:rect l="l" t="t" r="r" b="b"/>
            <a:pathLst>
              <a:path w="3162300" h="9525">
                <a:moveTo>
                  <a:pt x="0" y="0"/>
                </a:moveTo>
                <a:lnTo>
                  <a:pt x="3162300" y="0"/>
                </a:lnTo>
              </a:path>
            </a:pathLst>
          </a:custGeom>
          <a:noFill/>
          <a:ln w="4762">
            <a:solidFill>
              <a:srgbClr val="E8E3DC"/>
            </a:solidFill>
          </a:ln>
        </p:spPr>
      </p:sp>
      <p:sp>
        <p:nvSpPr>
          <p:cNvPr id="69" name="TextBox 69"/>
          <p:cNvSpPr txBox="1"/>
          <p:nvPr/>
        </p:nvSpPr>
        <p:spPr>
          <a:xfrm>
            <a:off x="4481512" y="4402931"/>
            <a:ext cx="1288732"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汇付天下持牌收单</a:t>
            </a:r>
          </a:p>
        </p:txBody>
      </p:sp>
      <p:sp>
        <p:nvSpPr>
          <p:cNvPr id="70" name="TextBox 70"/>
          <p:cNvSpPr txBox="1"/>
          <p:nvPr/>
        </p:nvSpPr>
        <p:spPr>
          <a:xfrm>
            <a:off x="4481512" y="4631531"/>
            <a:ext cx="1288732"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微信小程序已上线</a:t>
            </a:r>
          </a:p>
        </p:txBody>
      </p:sp>
      <p:sp>
        <p:nvSpPr>
          <p:cNvPr id="71" name="TextBox 71"/>
          <p:cNvSpPr txBox="1"/>
          <p:nvPr/>
        </p:nvSpPr>
        <p:spPr>
          <a:xfrm>
            <a:off x="4481512" y="4860131"/>
            <a:ext cx="1131213"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单店分账已跑通</a:t>
            </a:r>
          </a:p>
        </p:txBody>
      </p:sp>
      <p:sp>
        <p:nvSpPr>
          <p:cNvPr id="72" name="TextBox 72"/>
          <p:cNvSpPr txBox="1"/>
          <p:nvPr/>
        </p:nvSpPr>
        <p:spPr>
          <a:xfrm>
            <a:off x="4483418" y="5143024"/>
            <a:ext cx="1942505"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不是PPT上的概念——支付、分账、</a:t>
            </a:r>
          </a:p>
        </p:txBody>
      </p:sp>
      <p:sp>
        <p:nvSpPr>
          <p:cNvPr id="73" name="TextBox 73"/>
          <p:cNvSpPr txBox="1"/>
          <p:nvPr/>
        </p:nvSpPr>
        <p:spPr>
          <a:xfrm>
            <a:off x="4483418" y="5352574"/>
            <a:ext cx="158496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核销的基础设施已经运转。</a:t>
            </a:r>
          </a:p>
        </p:txBody>
      </p:sp>
      <p:sp>
        <p:nvSpPr>
          <p:cNvPr id="74" name="Rectangle 74"/>
          <p:cNvSpPr/>
          <p:nvPr/>
        </p:nvSpPr>
        <p:spPr>
          <a:xfrm>
            <a:off x="4495800" y="5619750"/>
            <a:ext cx="704850" cy="209550"/>
          </a:xfrm>
          <a:prstGeom prst="roundRect">
            <a:avLst>
              <a:gd name="adj" fmla="val 27273"/>
            </a:avLst>
          </a:prstGeom>
          <a:solidFill>
            <a:srgbClr val="F0FAF4"/>
          </a:solidFill>
          <a:ln>
            <a:noFill/>
          </a:ln>
        </p:spPr>
      </p:sp>
      <p:sp>
        <p:nvSpPr>
          <p:cNvPr id="75" name="TextBox 75"/>
          <p:cNvSpPr txBox="1"/>
          <p:nvPr/>
        </p:nvSpPr>
        <p:spPr>
          <a:xfrm>
            <a:off x="4596765" y="5674995"/>
            <a:ext cx="502920" cy="182880"/>
          </a:xfrm>
          <a:prstGeom prst="rect">
            <a:avLst/>
          </a:prstGeom>
          <a:noFill/>
          <a:ln>
            <a:noFill/>
          </a:ln>
        </p:spPr>
        <p:txBody>
          <a:bodyPr wrap="none" lIns="0" tIns="0" rIns="0" bIns="0" anchor="t" anchorCtr="0">
            <a:spAutoFit/>
          </a:bodyPr>
          <a:lstStyle/>
          <a:p>
            <a:pPr algn="ctr"/>
            <a:r>
              <a:rPr lang="zh-CN" sz="900" dirty="0">
                <a:solidFill>
                  <a:srgbClr val="1E8449"/>
                </a:solidFill>
                <a:latin typeface="Arial"/>
                <a:ea typeface="Microsoft YaHei"/>
                <a:cs typeface="Arial"/>
              </a:rPr>
              <a:t>可信证据</a:t>
            </a:r>
          </a:p>
        </p:txBody>
      </p:sp>
      <p:sp>
        <p:nvSpPr>
          <p:cNvPr id="76" name="Rectangle 76"/>
          <p:cNvSpPr/>
          <p:nvPr/>
        </p:nvSpPr>
        <p:spPr>
          <a:xfrm>
            <a:off x="8077200" y="3514725"/>
            <a:ext cx="3619500" cy="2238375"/>
          </a:xfrm>
          <a:prstGeom prst="roundRect">
            <a:avLst>
              <a:gd name="adj" fmla="val 5957"/>
            </a:avLst>
          </a:prstGeom>
          <a:solidFill>
            <a:srgbClr val="FFFFFF"/>
          </a:solidFill>
          <a:ln w="14288">
            <a:solidFill>
              <a:srgbClr val="E67E22"/>
            </a:solidFill>
          </a:ln>
          <a:effectLst>
            <a:outerShdw blurRad="76200" dist="19050" dir="5400000" algn="ctr" rotWithShape="0">
              <a:srgbClr val="2C2C2C">
                <a:alpha val="4500"/>
              </a:srgbClr>
            </a:outerShdw>
          </a:effectLst>
        </p:spPr>
      </p:sp>
      <p:sp>
        <p:nvSpPr>
          <p:cNvPr id="77" name="Rectangle 77"/>
          <p:cNvSpPr/>
          <p:nvPr/>
        </p:nvSpPr>
        <p:spPr>
          <a:xfrm>
            <a:off x="8077200" y="3514725"/>
            <a:ext cx="3619500" cy="76200"/>
          </a:xfrm>
          <a:prstGeom prst="roundRect">
            <a:avLst>
              <a:gd name="adj" fmla="val 50000"/>
            </a:avLst>
          </a:prstGeom>
          <a:solidFill>
            <a:srgbClr val="E67E22"/>
          </a:solidFill>
          <a:ln>
            <a:noFill/>
          </a:ln>
        </p:spPr>
      </p:sp>
      <p:sp>
        <p:nvSpPr>
          <p:cNvPr id="78" name="Rectangle 78"/>
          <p:cNvSpPr/>
          <p:nvPr/>
        </p:nvSpPr>
        <p:spPr>
          <a:xfrm>
            <a:off x="8305800" y="3781425"/>
            <a:ext cx="342900" cy="342900"/>
          </a:xfrm>
          <a:prstGeom prst="roundRect">
            <a:avLst>
              <a:gd name="adj" fmla="val 22222"/>
            </a:avLst>
          </a:prstGeom>
          <a:solidFill>
            <a:srgbClr val="FFF8F0"/>
          </a:solidFill>
          <a:ln>
            <a:noFill/>
          </a:ln>
        </p:spPr>
      </p:sp>
      <p:sp>
        <p:nvSpPr>
          <p:cNvPr id="79" name="Ellipse 79"/>
          <p:cNvSpPr/>
          <p:nvPr/>
        </p:nvSpPr>
        <p:spPr>
          <a:xfrm>
            <a:off x="8420100" y="3838575"/>
            <a:ext cx="114300" cy="114300"/>
          </a:xfrm>
          <a:prstGeom prst="ellipse">
            <a:avLst/>
          </a:prstGeom>
          <a:noFill/>
          <a:ln w="19050">
            <a:solidFill>
              <a:srgbClr val="E67E22"/>
            </a:solidFill>
          </a:ln>
        </p:spPr>
      </p:sp>
      <p:sp>
        <p:nvSpPr>
          <p:cNvPr id="80" name="TextBox 80"/>
          <p:cNvSpPr txBox="1"/>
          <p:nvPr/>
        </p:nvSpPr>
        <p:spPr>
          <a:xfrm>
            <a:off x="8742045" y="3812858"/>
            <a:ext cx="966026"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品牌人格</a:t>
            </a:r>
          </a:p>
        </p:txBody>
      </p:sp>
      <p:sp>
        <p:nvSpPr>
          <p:cNvPr id="81" name="Line 81"/>
          <p:cNvSpPr/>
          <p:nvPr/>
        </p:nvSpPr>
        <p:spPr>
          <a:xfrm>
            <a:off x="8305800" y="4257675"/>
            <a:ext cx="3162300" cy="9525"/>
          </a:xfrm>
          <a:custGeom>
            <a:avLst/>
            <a:gdLst/>
            <a:ahLst/>
            <a:cxnLst/>
            <a:rect l="l" t="t" r="r" b="b"/>
            <a:pathLst>
              <a:path w="3162300" h="9525">
                <a:moveTo>
                  <a:pt x="0" y="0"/>
                </a:moveTo>
                <a:lnTo>
                  <a:pt x="3162300" y="0"/>
                </a:lnTo>
              </a:path>
            </a:pathLst>
          </a:custGeom>
          <a:noFill/>
          <a:ln w="4762">
            <a:solidFill>
              <a:srgbClr val="E8E3DC"/>
            </a:solidFill>
          </a:ln>
        </p:spPr>
      </p:sp>
      <p:sp>
        <p:nvSpPr>
          <p:cNvPr id="82" name="TextBox 82"/>
          <p:cNvSpPr txBox="1"/>
          <p:nvPr/>
        </p:nvSpPr>
        <p:spPr>
          <a:xfrm>
            <a:off x="8290560" y="4394835"/>
            <a:ext cx="1038606"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老街坊组织者</a:t>
            </a:r>
          </a:p>
        </p:txBody>
      </p:sp>
      <p:sp>
        <p:nvSpPr>
          <p:cNvPr id="83" name="TextBox 83"/>
          <p:cNvSpPr txBox="1"/>
          <p:nvPr/>
        </p:nvSpPr>
        <p:spPr>
          <a:xfrm>
            <a:off x="8292465" y="4658678"/>
            <a:ext cx="100679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品牌人格三维：</a:t>
            </a:r>
          </a:p>
        </p:txBody>
      </p:sp>
      <p:sp>
        <p:nvSpPr>
          <p:cNvPr id="84" name="TextBox 84"/>
          <p:cNvSpPr txBox="1"/>
          <p:nvPr/>
        </p:nvSpPr>
        <p:spPr>
          <a:xfrm>
            <a:off x="8291512" y="4879181"/>
            <a:ext cx="208383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温暖 —— 像老街坊一样有人情味</a:t>
            </a:r>
          </a:p>
        </p:txBody>
      </p:sp>
      <p:sp>
        <p:nvSpPr>
          <p:cNvPr id="85" name="TextBox 85"/>
          <p:cNvSpPr txBox="1"/>
          <p:nvPr/>
        </p:nvSpPr>
        <p:spPr>
          <a:xfrm>
            <a:off x="8291512" y="5107781"/>
            <a:ext cx="1933813"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可信 —— 技术扎实，账目透明</a:t>
            </a:r>
          </a:p>
        </p:txBody>
      </p:sp>
      <p:sp>
        <p:nvSpPr>
          <p:cNvPr id="86" name="TextBox 86"/>
          <p:cNvSpPr txBox="1"/>
          <p:nvPr/>
        </p:nvSpPr>
        <p:spPr>
          <a:xfrm>
            <a:off x="8291512" y="5336381"/>
            <a:ext cx="2533888"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不控制 —— 商家自主经营，平台不绑架</a:t>
            </a:r>
          </a:p>
        </p:txBody>
      </p:sp>
      <p:sp>
        <p:nvSpPr>
          <p:cNvPr id="87" name="Rectangle 87"/>
          <p:cNvSpPr/>
          <p:nvPr/>
        </p:nvSpPr>
        <p:spPr>
          <a:xfrm>
            <a:off x="8305800" y="5619750"/>
            <a:ext cx="819150" cy="209550"/>
          </a:xfrm>
          <a:prstGeom prst="roundRect">
            <a:avLst>
              <a:gd name="adj" fmla="val 27273"/>
            </a:avLst>
          </a:prstGeom>
          <a:solidFill>
            <a:srgbClr val="FFF8F0"/>
          </a:solidFill>
          <a:ln>
            <a:noFill/>
          </a:ln>
        </p:spPr>
      </p:sp>
      <p:sp>
        <p:nvSpPr>
          <p:cNvPr id="88" name="TextBox 88"/>
          <p:cNvSpPr txBox="1"/>
          <p:nvPr/>
        </p:nvSpPr>
        <p:spPr>
          <a:xfrm>
            <a:off x="8463915" y="5674995"/>
            <a:ext cx="502920" cy="182880"/>
          </a:xfrm>
          <a:prstGeom prst="rect">
            <a:avLst/>
          </a:prstGeom>
          <a:noFill/>
          <a:ln>
            <a:noFill/>
          </a:ln>
        </p:spPr>
        <p:txBody>
          <a:bodyPr wrap="none" lIns="0" tIns="0" rIns="0" bIns="0" anchor="t" anchorCtr="0">
            <a:spAutoFit/>
          </a:bodyPr>
          <a:lstStyle/>
          <a:p>
            <a:pPr algn="ctr"/>
            <a:r>
              <a:rPr lang="zh-CN" sz="900" dirty="0">
                <a:solidFill>
                  <a:srgbClr val="E67E22"/>
                </a:solidFill>
                <a:latin typeface="Arial"/>
                <a:ea typeface="Microsoft YaHei"/>
                <a:cs typeface="Arial"/>
              </a:rPr>
              <a:t>品牌灵魂</a:t>
            </a:r>
          </a:p>
        </p:txBody>
      </p:sp>
      <p:sp>
        <p:nvSpPr>
          <p:cNvPr id="89" name="TextBox 89"/>
          <p:cNvSpPr txBox="1"/>
          <p:nvPr/>
        </p:nvSpPr>
        <p:spPr>
          <a:xfrm>
            <a:off x="3135297" y="6077902"/>
            <a:ext cx="5921407"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品牌价值画布将生态位分析转化为可执行的品牌身份定义——每个要素对应一个具体的品牌决策。</a:t>
            </a:r>
          </a:p>
        </p:txBody>
      </p:sp>
      <p:sp>
        <p:nvSpPr>
          <p:cNvPr id="90" name="TextBox 90"/>
          <p:cNvSpPr txBox="1"/>
          <p:nvPr/>
        </p:nvSpPr>
        <p:spPr>
          <a:xfrm>
            <a:off x="442912" y="6488906"/>
            <a:ext cx="281142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链邦赋商通 · 链生活 | 品牌战略总案 V1.0</a:t>
            </a:r>
          </a:p>
        </p:txBody>
      </p:sp>
      <p:sp>
        <p:nvSpPr>
          <p:cNvPr id="91" name="TextBox 91"/>
          <p:cNvSpPr txBox="1"/>
          <p:nvPr/>
        </p:nvSpPr>
        <p:spPr>
          <a:xfrm>
            <a:off x="11472982" y="6488906"/>
            <a:ext cx="27610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P09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75335" y="470535"/>
            <a:ext cx="9429750"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使命：让每一家认真经营的小店，不再从零开始经营每一天</a:t>
            </a:r>
          </a:p>
        </p:txBody>
      </p:sp>
      <p:sp>
        <p:nvSpPr>
          <p:cNvPr id="5" name="Line 5"/>
          <p:cNvSpPr/>
          <p:nvPr/>
        </p:nvSpPr>
        <p:spPr>
          <a:xfrm>
            <a:off x="571500" y="1000125"/>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 name="Rectangle 6"/>
          <p:cNvSpPr/>
          <p:nvPr/>
        </p:nvSpPr>
        <p:spPr>
          <a:xfrm>
            <a:off x="1143000" y="1333500"/>
            <a:ext cx="5715000" cy="904875"/>
          </a:xfrm>
          <a:prstGeom prst="roundRect">
            <a:avLst>
              <a:gd name="adj" fmla="val 14737"/>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7" name="Rectangle 7"/>
          <p:cNvSpPr/>
          <p:nvPr/>
        </p:nvSpPr>
        <p:spPr>
          <a:xfrm>
            <a:off x="1333500" y="1476375"/>
            <a:ext cx="1238250" cy="266700"/>
          </a:xfrm>
          <a:prstGeom prst="roundRect">
            <a:avLst>
              <a:gd name="adj" fmla="val 50000"/>
            </a:avLst>
          </a:prstGeom>
          <a:solidFill>
            <a:srgbClr val="E8E3DC"/>
          </a:solidFill>
          <a:ln>
            <a:noFill/>
          </a:ln>
        </p:spPr>
      </p:sp>
      <p:sp>
        <p:nvSpPr>
          <p:cNvPr id="8" name="TextBox 8"/>
          <p:cNvSpPr txBox="1"/>
          <p:nvPr/>
        </p:nvSpPr>
        <p:spPr>
          <a:xfrm>
            <a:off x="1379220" y="1544002"/>
            <a:ext cx="1146810"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表层（对外沟通）</a:t>
            </a:r>
          </a:p>
        </p:txBody>
      </p:sp>
      <p:sp>
        <p:nvSpPr>
          <p:cNvPr id="9" name="TextBox 9"/>
          <p:cNvSpPr txBox="1"/>
          <p:nvPr/>
        </p:nvSpPr>
        <p:spPr>
          <a:xfrm>
            <a:off x="2743200" y="1533525"/>
            <a:ext cx="2638425"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让每一次社区消费都留下价值</a:t>
            </a:r>
          </a:p>
        </p:txBody>
      </p:sp>
      <p:sp>
        <p:nvSpPr>
          <p:cNvPr id="10" name="Ellipse 10"/>
          <p:cNvSpPr/>
          <p:nvPr/>
        </p:nvSpPr>
        <p:spPr>
          <a:xfrm>
            <a:off x="6534150" y="1743075"/>
            <a:ext cx="76200" cy="76200"/>
          </a:xfrm>
          <a:prstGeom prst="ellipse">
            <a:avLst/>
          </a:prstGeom>
          <a:solidFill>
            <a:srgbClr val="E8E3DC"/>
          </a:solidFill>
          <a:ln>
            <a:noFill/>
          </a:ln>
        </p:spPr>
      </p:sp>
      <p:sp>
        <p:nvSpPr>
          <p:cNvPr id="11" name="TextBox 11"/>
          <p:cNvSpPr txBox="1"/>
          <p:nvPr/>
        </p:nvSpPr>
        <p:spPr>
          <a:xfrm>
            <a:off x="6656070" y="1731645"/>
            <a:ext cx="262890"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最浅</a:t>
            </a:r>
          </a:p>
        </p:txBody>
      </p:sp>
      <p:sp>
        <p:nvSpPr>
          <p:cNvPr id="12" name="Rectangle 12"/>
          <p:cNvSpPr/>
          <p:nvPr/>
        </p:nvSpPr>
        <p:spPr>
          <a:xfrm>
            <a:off x="857250" y="2428875"/>
            <a:ext cx="6286500" cy="1000125"/>
          </a:xfrm>
          <a:prstGeom prst="roundRect">
            <a:avLst>
              <a:gd name="adj" fmla="val 13333"/>
            </a:avLst>
          </a:prstGeom>
          <a:solidFill>
            <a:srgbClr val="F5F0EA"/>
          </a:solidFill>
          <a:ln w="14288">
            <a:solidFill>
              <a:srgbClr val="D4A574"/>
            </a:solidFill>
          </a:ln>
          <a:effectLst>
            <a:outerShdw blurRad="76200" dist="19050" dir="5400000" algn="ctr" rotWithShape="0">
              <a:srgbClr val="2C2C2C">
                <a:alpha val="4500"/>
              </a:srgbClr>
            </a:outerShdw>
          </a:effectLst>
        </p:spPr>
      </p:sp>
      <p:sp>
        <p:nvSpPr>
          <p:cNvPr id="13" name="Rectangle 13"/>
          <p:cNvSpPr/>
          <p:nvPr/>
        </p:nvSpPr>
        <p:spPr>
          <a:xfrm>
            <a:off x="1047750" y="2590800"/>
            <a:ext cx="1524000" cy="266700"/>
          </a:xfrm>
          <a:prstGeom prst="roundRect">
            <a:avLst>
              <a:gd name="adj" fmla="val 50000"/>
            </a:avLst>
          </a:prstGeom>
          <a:solidFill>
            <a:srgbClr val="D4A574">
              <a:alpha val="30000"/>
            </a:srgbClr>
          </a:solidFill>
          <a:ln>
            <a:noFill/>
          </a:ln>
        </p:spPr>
      </p:sp>
      <p:sp>
        <p:nvSpPr>
          <p:cNvPr id="14" name="TextBox 14"/>
          <p:cNvSpPr txBox="1"/>
          <p:nvPr/>
        </p:nvSpPr>
        <p:spPr>
          <a:xfrm>
            <a:off x="1127831" y="2658428"/>
            <a:ext cx="1363837"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中层（团队/投资人）</a:t>
            </a:r>
          </a:p>
        </p:txBody>
      </p:sp>
      <p:sp>
        <p:nvSpPr>
          <p:cNvPr id="15" name="TextBox 15"/>
          <p:cNvSpPr txBox="1"/>
          <p:nvPr/>
        </p:nvSpPr>
        <p:spPr>
          <a:xfrm>
            <a:off x="2743200" y="2657475"/>
            <a:ext cx="255841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让每一家认真经营的小店，</a:t>
            </a:r>
          </a:p>
        </p:txBody>
      </p:sp>
      <p:sp>
        <p:nvSpPr>
          <p:cNvPr id="16" name="TextBox 16"/>
          <p:cNvSpPr txBox="1"/>
          <p:nvPr/>
        </p:nvSpPr>
        <p:spPr>
          <a:xfrm>
            <a:off x="2743200" y="2943225"/>
            <a:ext cx="2348389"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不再从零开始经营每一天</a:t>
            </a:r>
          </a:p>
        </p:txBody>
      </p:sp>
      <p:sp>
        <p:nvSpPr>
          <p:cNvPr id="17" name="Rectangle 17"/>
          <p:cNvSpPr/>
          <p:nvPr/>
        </p:nvSpPr>
        <p:spPr>
          <a:xfrm>
            <a:off x="857250" y="2428875"/>
            <a:ext cx="47625" cy="1000125"/>
          </a:xfrm>
          <a:prstGeom prst="roundRect">
            <a:avLst>
              <a:gd name="adj" fmla="val 50000"/>
            </a:avLst>
          </a:prstGeom>
          <a:solidFill>
            <a:srgbClr val="D4A574"/>
          </a:solidFill>
          <a:ln>
            <a:noFill/>
          </a:ln>
        </p:spPr>
      </p:sp>
      <p:sp>
        <p:nvSpPr>
          <p:cNvPr id="18" name="Rectangle 18"/>
          <p:cNvSpPr/>
          <p:nvPr/>
        </p:nvSpPr>
        <p:spPr>
          <a:xfrm>
            <a:off x="571500" y="3619500"/>
            <a:ext cx="6858000" cy="1095375"/>
          </a:xfrm>
          <a:prstGeom prst="roundRect">
            <a:avLst>
              <a:gd name="adj" fmla="val 12174"/>
            </a:avLst>
          </a:prstGeom>
          <a:solidFill>
            <a:srgbClr val="F0EDE8"/>
          </a:solidFill>
          <a:ln w="19050">
            <a:solidFill>
              <a:srgbClr val="E67E22"/>
            </a:solidFill>
          </a:ln>
          <a:effectLst>
            <a:outerShdw blurRad="76200" dist="19050" dir="5400000" algn="ctr" rotWithShape="0">
              <a:srgbClr val="2C2C2C">
                <a:alpha val="4500"/>
              </a:srgbClr>
            </a:outerShdw>
          </a:effectLst>
        </p:spPr>
      </p:sp>
      <p:sp>
        <p:nvSpPr>
          <p:cNvPr id="19" name="Rectangle 19"/>
          <p:cNvSpPr/>
          <p:nvPr/>
        </p:nvSpPr>
        <p:spPr>
          <a:xfrm>
            <a:off x="571500" y="3619500"/>
            <a:ext cx="66675" cy="1095375"/>
          </a:xfrm>
          <a:prstGeom prst="roundRect">
            <a:avLst>
              <a:gd name="adj" fmla="val 50000"/>
            </a:avLst>
          </a:prstGeom>
          <a:solidFill>
            <a:srgbClr val="E67E22"/>
          </a:solidFill>
          <a:ln>
            <a:noFill/>
          </a:ln>
        </p:spPr>
      </p:sp>
      <p:sp>
        <p:nvSpPr>
          <p:cNvPr id="20" name="Rectangle 20"/>
          <p:cNvSpPr/>
          <p:nvPr/>
        </p:nvSpPr>
        <p:spPr>
          <a:xfrm>
            <a:off x="809625" y="3781425"/>
            <a:ext cx="1143000" cy="266700"/>
          </a:xfrm>
          <a:prstGeom prst="roundRect">
            <a:avLst>
              <a:gd name="adj" fmla="val 50000"/>
            </a:avLst>
          </a:prstGeom>
          <a:solidFill>
            <a:srgbClr val="E67E22">
              <a:alpha val="20000"/>
            </a:srgbClr>
          </a:solidFill>
          <a:ln>
            <a:noFill/>
          </a:ln>
        </p:spPr>
      </p:sp>
      <p:sp>
        <p:nvSpPr>
          <p:cNvPr id="21" name="TextBox 21"/>
          <p:cNvSpPr txBox="1"/>
          <p:nvPr/>
        </p:nvSpPr>
        <p:spPr>
          <a:xfrm>
            <a:off x="947738" y="3849052"/>
            <a:ext cx="866775" cy="213360"/>
          </a:xfrm>
          <a:prstGeom prst="rect">
            <a:avLst/>
          </a:prstGeom>
          <a:noFill/>
          <a:ln>
            <a:noFill/>
          </a:ln>
        </p:spPr>
        <p:txBody>
          <a:bodyPr wrap="none" lIns="0" tIns="0" rIns="0" bIns="0" anchor="t" anchorCtr="0">
            <a:spAutoFit/>
          </a:bodyPr>
          <a:lstStyle/>
          <a:p>
            <a:pPr algn="ctr"/>
            <a:r>
              <a:rPr lang="zh-CN" sz="1050" dirty="0">
                <a:solidFill>
                  <a:srgbClr val="E67E22"/>
                </a:solidFill>
                <a:latin typeface="Arial"/>
                <a:ea typeface="Microsoft YaHei"/>
                <a:cs typeface="Arial"/>
              </a:rPr>
              <a:t>最深（内部）</a:t>
            </a:r>
          </a:p>
        </p:txBody>
      </p:sp>
      <p:sp>
        <p:nvSpPr>
          <p:cNvPr id="22" name="TextBox 22"/>
          <p:cNvSpPr txBox="1"/>
          <p:nvPr/>
        </p:nvSpPr>
        <p:spPr>
          <a:xfrm>
            <a:off x="2072640" y="3825240"/>
            <a:ext cx="4330256" cy="365760"/>
          </a:xfrm>
          <a:prstGeom prst="rect">
            <a:avLst/>
          </a:prstGeom>
          <a:noFill/>
          <a:ln>
            <a:noFill/>
          </a:ln>
        </p:spPr>
        <p:txBody>
          <a:bodyPr wrap="none" lIns="0" tIns="0" rIns="0" bIns="0" anchor="t" anchorCtr="0">
            <a:spAutoFit/>
          </a:bodyPr>
          <a:lstStyle/>
          <a:p>
            <a:pPr algn="l"/>
            <a:r>
              <a:rPr lang="zh-CN" sz="1800" b="1" dirty="0">
                <a:solidFill>
                  <a:srgbClr val="E67E22"/>
                </a:solidFill>
                <a:latin typeface="Arial"/>
                <a:ea typeface="Microsoft YaHei"/>
                <a:cs typeface="Arial"/>
              </a:rPr>
              <a:t>结束社区商业的「关系每天都在消失」</a:t>
            </a:r>
          </a:p>
        </p:txBody>
      </p:sp>
      <p:sp>
        <p:nvSpPr>
          <p:cNvPr id="23" name="TextBox 23"/>
          <p:cNvSpPr txBox="1"/>
          <p:nvPr/>
        </p:nvSpPr>
        <p:spPr>
          <a:xfrm>
            <a:off x="2081212" y="4241006"/>
            <a:ext cx="454413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这是链邦赋商通存在的根本理由——每天打烊后，昨天的关系全部归零</a:t>
            </a:r>
          </a:p>
        </p:txBody>
      </p:sp>
      <p:sp>
        <p:nvSpPr>
          <p:cNvPr id="24" name="Rectangle 24"/>
          <p:cNvSpPr/>
          <p:nvPr/>
        </p:nvSpPr>
        <p:spPr>
          <a:xfrm>
            <a:off x="6762750" y="4143375"/>
            <a:ext cx="476250" cy="190500"/>
          </a:xfrm>
          <a:prstGeom prst="roundRect">
            <a:avLst>
              <a:gd name="adj" fmla="val 50000"/>
            </a:avLst>
          </a:prstGeom>
          <a:solidFill>
            <a:srgbClr val="E67E22"/>
          </a:solidFill>
          <a:ln>
            <a:noFill/>
          </a:ln>
        </p:spPr>
      </p:sp>
      <p:sp>
        <p:nvSpPr>
          <p:cNvPr id="25" name="TextBox 25"/>
          <p:cNvSpPr txBox="1"/>
          <p:nvPr/>
        </p:nvSpPr>
        <p:spPr>
          <a:xfrm>
            <a:off x="6880384" y="4187666"/>
            <a:ext cx="240982" cy="167640"/>
          </a:xfrm>
          <a:prstGeom prst="rect">
            <a:avLst/>
          </a:prstGeom>
          <a:noFill/>
          <a:ln>
            <a:noFill/>
          </a:ln>
        </p:spPr>
        <p:txBody>
          <a:bodyPr wrap="none" lIns="0" tIns="0" rIns="0" bIns="0" anchor="t" anchorCtr="0">
            <a:spAutoFit/>
          </a:bodyPr>
          <a:lstStyle/>
          <a:p>
            <a:pPr algn="ctr"/>
            <a:r>
              <a:rPr lang="zh-CN" sz="825" dirty="0">
                <a:solidFill>
                  <a:srgbClr val="FAFAF5"/>
                </a:solidFill>
                <a:latin typeface="Arial"/>
                <a:ea typeface="Microsoft YaHei"/>
                <a:cs typeface="Arial"/>
              </a:rPr>
              <a:t>最深</a:t>
            </a:r>
          </a:p>
        </p:txBody>
      </p:sp>
      <p:sp>
        <p:nvSpPr>
          <p:cNvPr id="26" name="Line 26"/>
          <p:cNvSpPr/>
          <p:nvPr/>
        </p:nvSpPr>
        <p:spPr>
          <a:xfrm>
            <a:off x="4000500" y="2238375"/>
            <a:ext cx="9525" cy="190500"/>
          </a:xfrm>
          <a:custGeom>
            <a:avLst/>
            <a:gdLst/>
            <a:ahLst/>
            <a:cxnLst/>
            <a:rect l="l" t="t" r="r" b="b"/>
            <a:pathLst>
              <a:path w="9525" h="190500">
                <a:moveTo>
                  <a:pt x="0" y="0"/>
                </a:moveTo>
                <a:lnTo>
                  <a:pt x="0" y="190500"/>
                </a:lnTo>
              </a:path>
            </a:pathLst>
          </a:custGeom>
          <a:noFill/>
          <a:ln w="14288">
            <a:solidFill>
              <a:srgbClr val="D4A574"/>
            </a:solidFill>
            <a:prstDash val="dash"/>
          </a:ln>
        </p:spPr>
      </p:sp>
      <p:sp>
        <p:nvSpPr>
          <p:cNvPr id="27" name="Line 27"/>
          <p:cNvSpPr/>
          <p:nvPr/>
        </p:nvSpPr>
        <p:spPr>
          <a:xfrm>
            <a:off x="4000500" y="3429000"/>
            <a:ext cx="9525" cy="190500"/>
          </a:xfrm>
          <a:custGeom>
            <a:avLst/>
            <a:gdLst/>
            <a:ahLst/>
            <a:cxnLst/>
            <a:rect l="l" t="t" r="r" b="b"/>
            <a:pathLst>
              <a:path w="9525" h="190500">
                <a:moveTo>
                  <a:pt x="0" y="0"/>
                </a:moveTo>
                <a:lnTo>
                  <a:pt x="0" y="190500"/>
                </a:lnTo>
              </a:path>
            </a:pathLst>
          </a:custGeom>
          <a:noFill/>
          <a:ln w="14288">
            <a:solidFill>
              <a:srgbClr val="E67E22"/>
            </a:solidFill>
            <a:prstDash val="dash"/>
          </a:ln>
        </p:spPr>
      </p:sp>
      <p:sp>
        <p:nvSpPr>
          <p:cNvPr id="28" name="Rectangle 28"/>
          <p:cNvSpPr/>
          <p:nvPr/>
        </p:nvSpPr>
        <p:spPr>
          <a:xfrm>
            <a:off x="7715250" y="1333500"/>
            <a:ext cx="3810000" cy="3381375"/>
          </a:xfrm>
          <a:prstGeom prst="roundRect">
            <a:avLst>
              <a:gd name="adj" fmla="val 3944"/>
            </a:avLst>
          </a:prstGeom>
          <a:solidFill>
            <a:srgbClr val="F5F0EA"/>
          </a:solidFill>
          <a:ln w="9525">
            <a:solidFill>
              <a:srgbClr val="E8E3DC"/>
            </a:solidFill>
          </a:ln>
          <a:effectLst>
            <a:outerShdw blurRad="76200" dist="19050" dir="5400000" algn="ctr" rotWithShape="0">
              <a:srgbClr val="2C2C2C">
                <a:alpha val="4500"/>
              </a:srgbClr>
            </a:outerShdw>
          </a:effectLst>
        </p:spPr>
      </p:sp>
      <p:sp>
        <p:nvSpPr>
          <p:cNvPr id="29" name="Rectangle 29"/>
          <p:cNvSpPr/>
          <p:nvPr/>
        </p:nvSpPr>
        <p:spPr>
          <a:xfrm>
            <a:off x="7715250" y="1333500"/>
            <a:ext cx="3810000" cy="419100"/>
          </a:xfrm>
          <a:prstGeom prst="roundRect">
            <a:avLst>
              <a:gd name="adj" fmla="val 31818"/>
            </a:avLst>
          </a:prstGeom>
          <a:solidFill>
            <a:srgbClr val="F0EDE8"/>
          </a:solidFill>
          <a:ln>
            <a:noFill/>
          </a:ln>
        </p:spPr>
      </p:sp>
      <p:sp>
        <p:nvSpPr>
          <p:cNvPr id="30" name="Rectangle 30"/>
          <p:cNvSpPr/>
          <p:nvPr/>
        </p:nvSpPr>
        <p:spPr>
          <a:xfrm>
            <a:off x="7715250" y="1619250"/>
            <a:ext cx="3810000" cy="133350"/>
          </a:xfrm>
          <a:prstGeom prst="rect">
            <a:avLst/>
          </a:prstGeom>
          <a:solidFill>
            <a:srgbClr val="F0EDE8"/>
          </a:solidFill>
          <a:ln>
            <a:noFill/>
          </a:ln>
        </p:spPr>
      </p:sp>
      <p:sp>
        <p:nvSpPr>
          <p:cNvPr id="31" name="TextBox 31"/>
          <p:cNvSpPr txBox="1"/>
          <p:nvPr/>
        </p:nvSpPr>
        <p:spPr>
          <a:xfrm>
            <a:off x="9243060" y="1454468"/>
            <a:ext cx="754380" cy="274320"/>
          </a:xfrm>
          <a:prstGeom prst="rect">
            <a:avLst/>
          </a:prstGeom>
          <a:noFill/>
          <a:ln>
            <a:noFill/>
          </a:ln>
        </p:spPr>
        <p:txBody>
          <a:bodyPr wrap="none" lIns="0" tIns="0" rIns="0" bIns="0" anchor="t" anchorCtr="0">
            <a:spAutoFit/>
          </a:bodyPr>
          <a:lstStyle/>
          <a:p>
            <a:pPr algn="ctr"/>
            <a:r>
              <a:rPr lang="zh-CN" sz="1350" dirty="0">
                <a:solidFill>
                  <a:srgbClr val="2C2C2C"/>
                </a:solidFill>
                <a:latin typeface="Georgia"/>
                <a:ea typeface="KaiTi"/>
                <a:cs typeface="Georgia"/>
              </a:rPr>
              <a:t>参照案例</a:t>
            </a:r>
          </a:p>
        </p:txBody>
      </p:sp>
      <p:sp>
        <p:nvSpPr>
          <p:cNvPr id="32" name="Rectangle 32"/>
          <p:cNvSpPr/>
          <p:nvPr/>
        </p:nvSpPr>
        <p:spPr>
          <a:xfrm>
            <a:off x="7905750" y="1885950"/>
            <a:ext cx="3429000" cy="742950"/>
          </a:xfrm>
          <a:prstGeom prst="roundRect">
            <a:avLst>
              <a:gd name="adj" fmla="val 12821"/>
            </a:avLst>
          </a:prstGeom>
          <a:solidFill>
            <a:srgbClr val="FAFAF5"/>
          </a:solidFill>
          <a:ln w="9525">
            <a:solidFill>
              <a:srgbClr val="1E8449"/>
            </a:solidFill>
          </a:ln>
        </p:spPr>
      </p:sp>
      <p:sp>
        <p:nvSpPr>
          <p:cNvPr id="33" name="TextBox 33"/>
          <p:cNvSpPr txBox="1"/>
          <p:nvPr/>
        </p:nvSpPr>
        <p:spPr>
          <a:xfrm>
            <a:off x="8083868" y="2009299"/>
            <a:ext cx="96274"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a:t>
            </a:r>
          </a:p>
        </p:txBody>
      </p:sp>
      <p:sp>
        <p:nvSpPr>
          <p:cNvPr id="34" name="TextBox 34"/>
          <p:cNvSpPr txBox="1"/>
          <p:nvPr/>
        </p:nvSpPr>
        <p:spPr>
          <a:xfrm>
            <a:off x="8271510" y="1985010"/>
            <a:ext cx="584949"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Costco</a:t>
            </a:r>
          </a:p>
        </p:txBody>
      </p:sp>
      <p:sp>
        <p:nvSpPr>
          <p:cNvPr id="35" name="TextBox 35"/>
          <p:cNvSpPr txBox="1"/>
          <p:nvPr/>
        </p:nvSpPr>
        <p:spPr>
          <a:xfrm>
            <a:off x="8082915" y="2248852"/>
            <a:ext cx="184689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让会员每次来都能发现新价值</a:t>
            </a:r>
          </a:p>
        </p:txBody>
      </p:sp>
      <p:sp>
        <p:nvSpPr>
          <p:cNvPr id="36" name="TextBox 36"/>
          <p:cNvSpPr txBox="1"/>
          <p:nvPr/>
        </p:nvSpPr>
        <p:spPr>
          <a:xfrm>
            <a:off x="8084820" y="2436495"/>
            <a:ext cx="1703070"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会员制的本质是持续的关系维护</a:t>
            </a:r>
          </a:p>
        </p:txBody>
      </p:sp>
      <p:sp>
        <p:nvSpPr>
          <p:cNvPr id="37" name="Rectangle 37"/>
          <p:cNvSpPr/>
          <p:nvPr/>
        </p:nvSpPr>
        <p:spPr>
          <a:xfrm>
            <a:off x="7905750" y="2724150"/>
            <a:ext cx="3429000" cy="742950"/>
          </a:xfrm>
          <a:prstGeom prst="roundRect">
            <a:avLst>
              <a:gd name="adj" fmla="val 12821"/>
            </a:avLst>
          </a:prstGeom>
          <a:solidFill>
            <a:srgbClr val="FAFAF5"/>
          </a:solidFill>
          <a:ln w="9525">
            <a:solidFill>
              <a:srgbClr val="1E8449"/>
            </a:solidFill>
          </a:ln>
        </p:spPr>
      </p:sp>
      <p:sp>
        <p:nvSpPr>
          <p:cNvPr id="38" name="TextBox 38"/>
          <p:cNvSpPr txBox="1"/>
          <p:nvPr/>
        </p:nvSpPr>
        <p:spPr>
          <a:xfrm>
            <a:off x="8083868" y="2847499"/>
            <a:ext cx="96274"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a:t>
            </a:r>
          </a:p>
        </p:txBody>
      </p:sp>
      <p:sp>
        <p:nvSpPr>
          <p:cNvPr id="39" name="TextBox 39"/>
          <p:cNvSpPr txBox="1"/>
          <p:nvPr/>
        </p:nvSpPr>
        <p:spPr>
          <a:xfrm>
            <a:off x="8271510" y="2823210"/>
            <a:ext cx="1542669"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日本商店街协同组合</a:t>
            </a:r>
          </a:p>
        </p:txBody>
      </p:sp>
      <p:sp>
        <p:nvSpPr>
          <p:cNvPr id="40" name="TextBox 40"/>
          <p:cNvSpPr txBox="1"/>
          <p:nvPr/>
        </p:nvSpPr>
        <p:spPr>
          <a:xfrm>
            <a:off x="8082915" y="3087052"/>
            <a:ext cx="200091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商家共济——共同承担、共同受益</a:t>
            </a:r>
          </a:p>
        </p:txBody>
      </p:sp>
      <p:sp>
        <p:nvSpPr>
          <p:cNvPr id="41" name="TextBox 41"/>
          <p:cNvSpPr txBox="1"/>
          <p:nvPr/>
        </p:nvSpPr>
        <p:spPr>
          <a:xfrm>
            <a:off x="8084820" y="3274695"/>
            <a:ext cx="1703070"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社区商家自发协作，非平台主导</a:t>
            </a:r>
          </a:p>
        </p:txBody>
      </p:sp>
      <p:sp>
        <p:nvSpPr>
          <p:cNvPr id="42" name="Rectangle 42"/>
          <p:cNvSpPr/>
          <p:nvPr/>
        </p:nvSpPr>
        <p:spPr>
          <a:xfrm>
            <a:off x="7905750" y="3562350"/>
            <a:ext cx="3429000" cy="742950"/>
          </a:xfrm>
          <a:prstGeom prst="roundRect">
            <a:avLst>
              <a:gd name="adj" fmla="val 12821"/>
            </a:avLst>
          </a:prstGeom>
          <a:solidFill>
            <a:srgbClr val="FAFAF5"/>
          </a:solidFill>
          <a:ln w="9525">
            <a:solidFill>
              <a:srgbClr val="C0392B"/>
            </a:solidFill>
          </a:ln>
        </p:spPr>
      </p:sp>
      <p:sp>
        <p:nvSpPr>
          <p:cNvPr id="43" name="TextBox 43"/>
          <p:cNvSpPr txBox="1"/>
          <p:nvPr/>
        </p:nvSpPr>
        <p:spPr>
          <a:xfrm>
            <a:off x="8083868" y="3685699"/>
            <a:ext cx="96274"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a:t>
            </a:r>
          </a:p>
        </p:txBody>
      </p:sp>
      <p:sp>
        <p:nvSpPr>
          <p:cNvPr id="44" name="TextBox 44"/>
          <p:cNvSpPr txBox="1"/>
          <p:nvPr/>
        </p:nvSpPr>
        <p:spPr>
          <a:xfrm>
            <a:off x="8271510" y="3661410"/>
            <a:ext cx="870585"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美团会员通</a:t>
            </a:r>
          </a:p>
        </p:txBody>
      </p:sp>
      <p:sp>
        <p:nvSpPr>
          <p:cNvPr id="45" name="TextBox 45"/>
          <p:cNvSpPr txBox="1"/>
          <p:nvPr/>
        </p:nvSpPr>
        <p:spPr>
          <a:xfrm>
            <a:off x="8082915" y="3925252"/>
            <a:ext cx="184689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关系归属平台，商家无法沉淀</a:t>
            </a:r>
          </a:p>
        </p:txBody>
      </p:sp>
      <p:sp>
        <p:nvSpPr>
          <p:cNvPr id="46" name="TextBox 46"/>
          <p:cNvSpPr txBox="1"/>
          <p:nvPr/>
        </p:nvSpPr>
        <p:spPr>
          <a:xfrm>
            <a:off x="8084820" y="4112895"/>
            <a:ext cx="1463040"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反面案例：关系被平台截流</a:t>
            </a:r>
          </a:p>
        </p:txBody>
      </p:sp>
      <p:sp>
        <p:nvSpPr>
          <p:cNvPr id="47" name="TextBox 47"/>
          <p:cNvSpPr txBox="1"/>
          <p:nvPr/>
        </p:nvSpPr>
        <p:spPr>
          <a:xfrm>
            <a:off x="7702868" y="4847749"/>
            <a:ext cx="249507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以上案例仅用于战略参照，不构成竞争指涉</a:t>
            </a:r>
          </a:p>
        </p:txBody>
      </p:sp>
      <p:sp>
        <p:nvSpPr>
          <p:cNvPr id="48" name="Rectangle 48"/>
          <p:cNvSpPr/>
          <p:nvPr/>
        </p:nvSpPr>
        <p:spPr>
          <a:xfrm>
            <a:off x="571500" y="5048250"/>
            <a:ext cx="6858000" cy="304800"/>
          </a:xfrm>
          <a:prstGeom prst="roundRect">
            <a:avLst>
              <a:gd name="adj" fmla="val 18750"/>
            </a:avLst>
          </a:prstGeom>
          <a:solidFill>
            <a:srgbClr val="F0EDE8"/>
          </a:solidFill>
          <a:ln>
            <a:noFill/>
          </a:ln>
        </p:spPr>
      </p:sp>
      <p:sp>
        <p:nvSpPr>
          <p:cNvPr id="49" name="TextBox 49"/>
          <p:cNvSpPr txBox="1"/>
          <p:nvPr/>
        </p:nvSpPr>
        <p:spPr>
          <a:xfrm>
            <a:off x="1487853" y="5134928"/>
            <a:ext cx="5025295"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使命分层逻辑：对外沟通（易传播）→ 团队共识（可考核）→ 内部驱动（可传承）</a:t>
            </a:r>
          </a:p>
        </p:txBody>
      </p:sp>
      <p:sp>
        <p:nvSpPr>
          <p:cNvPr id="50" name="TextBox 50"/>
          <p:cNvSpPr txBox="1"/>
          <p:nvPr/>
        </p:nvSpPr>
        <p:spPr>
          <a:xfrm>
            <a:off x="11477054" y="64750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10</a:t>
            </a:r>
          </a:p>
        </p:txBody>
      </p:sp>
      <p:sp>
        <p:nvSpPr>
          <p:cNvPr id="51" name="TextBox 51"/>
          <p:cNvSpPr txBox="1"/>
          <p:nvPr/>
        </p:nvSpPr>
        <p:spPr>
          <a:xfrm>
            <a:off x="560070" y="64750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75335" y="470535"/>
            <a:ext cx="7269480"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愿景：让经营关系成为社区商业最重要的资产</a:t>
            </a:r>
          </a:p>
        </p:txBody>
      </p:sp>
      <p:sp>
        <p:nvSpPr>
          <p:cNvPr id="5" name="Line 5"/>
          <p:cNvSpPr/>
          <p:nvPr/>
        </p:nvSpPr>
        <p:spPr>
          <a:xfrm>
            <a:off x="571500" y="1000125"/>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 name="Rectangle 6"/>
          <p:cNvSpPr/>
          <p:nvPr/>
        </p:nvSpPr>
        <p:spPr>
          <a:xfrm>
            <a:off x="1143000" y="1238250"/>
            <a:ext cx="5334000" cy="590550"/>
          </a:xfrm>
          <a:prstGeom prst="roundRect">
            <a:avLst>
              <a:gd name="adj" fmla="val 22581"/>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7" name="Rectangle 7"/>
          <p:cNvSpPr/>
          <p:nvPr/>
        </p:nvSpPr>
        <p:spPr>
          <a:xfrm>
            <a:off x="1333500" y="1352550"/>
            <a:ext cx="1238250" cy="228600"/>
          </a:xfrm>
          <a:prstGeom prst="roundRect">
            <a:avLst>
              <a:gd name="adj" fmla="val 50000"/>
            </a:avLst>
          </a:prstGeom>
          <a:solidFill>
            <a:srgbClr val="E8E3DC"/>
          </a:solidFill>
          <a:ln>
            <a:noFill/>
          </a:ln>
        </p:spPr>
      </p:sp>
      <p:sp>
        <p:nvSpPr>
          <p:cNvPr id="8" name="TextBox 8"/>
          <p:cNvSpPr txBox="1"/>
          <p:nvPr/>
        </p:nvSpPr>
        <p:spPr>
          <a:xfrm>
            <a:off x="1420178" y="1409224"/>
            <a:ext cx="1064895"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表层（对外沟通）</a:t>
            </a:r>
          </a:p>
        </p:txBody>
      </p:sp>
      <p:sp>
        <p:nvSpPr>
          <p:cNvPr id="9" name="TextBox 9"/>
          <p:cNvSpPr txBox="1"/>
          <p:nvPr/>
        </p:nvSpPr>
        <p:spPr>
          <a:xfrm>
            <a:off x="2745105" y="1406842"/>
            <a:ext cx="3994785" cy="274320"/>
          </a:xfrm>
          <a:prstGeom prst="rect">
            <a:avLst/>
          </a:prstGeom>
          <a:noFill/>
          <a:ln>
            <a:noFill/>
          </a:ln>
        </p:spPr>
        <p:txBody>
          <a:bodyPr wrap="none" lIns="0" tIns="0" rIns="0" bIns="0" anchor="t" anchorCtr="0">
            <a:spAutoFit/>
          </a:bodyPr>
          <a:lstStyle/>
          <a:p>
            <a:pPr algn="l"/>
            <a:r>
              <a:rPr lang="zh-CN" sz="1350" dirty="0">
                <a:solidFill>
                  <a:srgbClr val="2C2C2C"/>
                </a:solidFill>
                <a:latin typeface="Arial"/>
                <a:ea typeface="Microsoft YaHei"/>
                <a:cs typeface="Arial"/>
              </a:rPr>
              <a:t>让每一次真实消费，都成为社区信任网络的一部分</a:t>
            </a:r>
          </a:p>
        </p:txBody>
      </p:sp>
      <p:sp>
        <p:nvSpPr>
          <p:cNvPr id="10" name="Rectangle 10"/>
          <p:cNvSpPr/>
          <p:nvPr/>
        </p:nvSpPr>
        <p:spPr>
          <a:xfrm>
            <a:off x="857250" y="1971675"/>
            <a:ext cx="5905500" cy="685800"/>
          </a:xfrm>
          <a:prstGeom prst="roundRect">
            <a:avLst>
              <a:gd name="adj" fmla="val 19444"/>
            </a:avLst>
          </a:prstGeom>
          <a:solidFill>
            <a:srgbClr val="F5F0EA"/>
          </a:solidFill>
          <a:ln w="14288">
            <a:solidFill>
              <a:srgbClr val="D4A574"/>
            </a:solidFill>
          </a:ln>
          <a:effectLst>
            <a:outerShdw blurRad="76200" dist="19050" dir="5400000" algn="ctr" rotWithShape="0">
              <a:srgbClr val="2C2C2C">
                <a:alpha val="4500"/>
              </a:srgbClr>
            </a:outerShdw>
          </a:effectLst>
        </p:spPr>
      </p:sp>
      <p:sp>
        <p:nvSpPr>
          <p:cNvPr id="11" name="Rectangle 11"/>
          <p:cNvSpPr/>
          <p:nvPr/>
        </p:nvSpPr>
        <p:spPr>
          <a:xfrm>
            <a:off x="857250" y="1971675"/>
            <a:ext cx="47625" cy="685800"/>
          </a:xfrm>
          <a:prstGeom prst="roundRect">
            <a:avLst>
              <a:gd name="adj" fmla="val 50000"/>
            </a:avLst>
          </a:prstGeom>
          <a:solidFill>
            <a:srgbClr val="D4A574"/>
          </a:solidFill>
          <a:ln>
            <a:noFill/>
          </a:ln>
        </p:spPr>
      </p:sp>
      <p:sp>
        <p:nvSpPr>
          <p:cNvPr id="12" name="Rectangle 12"/>
          <p:cNvSpPr/>
          <p:nvPr/>
        </p:nvSpPr>
        <p:spPr>
          <a:xfrm>
            <a:off x="1047750" y="2095500"/>
            <a:ext cx="1524000" cy="228600"/>
          </a:xfrm>
          <a:prstGeom prst="roundRect">
            <a:avLst>
              <a:gd name="adj" fmla="val 50000"/>
            </a:avLst>
          </a:prstGeom>
          <a:solidFill>
            <a:srgbClr val="D4A574">
              <a:alpha val="25000"/>
            </a:srgbClr>
          </a:solidFill>
          <a:ln>
            <a:noFill/>
          </a:ln>
        </p:spPr>
      </p:sp>
      <p:sp>
        <p:nvSpPr>
          <p:cNvPr id="13" name="TextBox 13"/>
          <p:cNvSpPr txBox="1"/>
          <p:nvPr/>
        </p:nvSpPr>
        <p:spPr>
          <a:xfrm>
            <a:off x="1176540" y="2152174"/>
            <a:ext cx="1266420"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中层（团队/投资人）</a:t>
            </a:r>
          </a:p>
        </p:txBody>
      </p:sp>
      <p:sp>
        <p:nvSpPr>
          <p:cNvPr id="14" name="TextBox 14"/>
          <p:cNvSpPr txBox="1"/>
          <p:nvPr/>
        </p:nvSpPr>
        <p:spPr>
          <a:xfrm>
            <a:off x="2745105" y="2159318"/>
            <a:ext cx="4759881"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重建社区商业的连接，让经营关系成为最重要的商业资产</a:t>
            </a:r>
          </a:p>
        </p:txBody>
      </p:sp>
      <p:sp>
        <p:nvSpPr>
          <p:cNvPr id="15" name="Rectangle 15"/>
          <p:cNvSpPr/>
          <p:nvPr/>
        </p:nvSpPr>
        <p:spPr>
          <a:xfrm>
            <a:off x="571500" y="2800350"/>
            <a:ext cx="6477000" cy="685800"/>
          </a:xfrm>
          <a:prstGeom prst="roundRect">
            <a:avLst>
              <a:gd name="adj" fmla="val 19444"/>
            </a:avLst>
          </a:prstGeom>
          <a:solidFill>
            <a:srgbClr val="F0EDE8"/>
          </a:solidFill>
          <a:ln w="19050">
            <a:solidFill>
              <a:srgbClr val="1A5276"/>
            </a:solidFill>
          </a:ln>
          <a:effectLst>
            <a:outerShdw blurRad="76200" dist="19050" dir="5400000" algn="ctr" rotWithShape="0">
              <a:srgbClr val="2C2C2C">
                <a:alpha val="4500"/>
              </a:srgbClr>
            </a:outerShdw>
          </a:effectLst>
        </p:spPr>
      </p:sp>
      <p:sp>
        <p:nvSpPr>
          <p:cNvPr id="16" name="Rectangle 16"/>
          <p:cNvSpPr/>
          <p:nvPr/>
        </p:nvSpPr>
        <p:spPr>
          <a:xfrm>
            <a:off x="571500" y="2800350"/>
            <a:ext cx="66675" cy="685800"/>
          </a:xfrm>
          <a:prstGeom prst="roundRect">
            <a:avLst>
              <a:gd name="adj" fmla="val 50000"/>
            </a:avLst>
          </a:prstGeom>
          <a:solidFill>
            <a:srgbClr val="1A5276"/>
          </a:solidFill>
          <a:ln>
            <a:noFill/>
          </a:ln>
        </p:spPr>
      </p:sp>
      <p:sp>
        <p:nvSpPr>
          <p:cNvPr id="17" name="Rectangle 17"/>
          <p:cNvSpPr/>
          <p:nvPr/>
        </p:nvSpPr>
        <p:spPr>
          <a:xfrm>
            <a:off x="809625" y="2924175"/>
            <a:ext cx="1143000" cy="228600"/>
          </a:xfrm>
          <a:prstGeom prst="roundRect">
            <a:avLst>
              <a:gd name="adj" fmla="val 50000"/>
            </a:avLst>
          </a:prstGeom>
          <a:solidFill>
            <a:srgbClr val="1A5276">
              <a:alpha val="15000"/>
            </a:srgbClr>
          </a:solidFill>
          <a:ln>
            <a:noFill/>
          </a:ln>
        </p:spPr>
      </p:sp>
      <p:sp>
        <p:nvSpPr>
          <p:cNvPr id="18" name="TextBox 18"/>
          <p:cNvSpPr txBox="1"/>
          <p:nvPr/>
        </p:nvSpPr>
        <p:spPr>
          <a:xfrm>
            <a:off x="978694" y="2980849"/>
            <a:ext cx="804862" cy="198120"/>
          </a:xfrm>
          <a:prstGeom prst="rect">
            <a:avLst/>
          </a:prstGeom>
          <a:noFill/>
          <a:ln>
            <a:noFill/>
          </a:ln>
        </p:spPr>
        <p:txBody>
          <a:bodyPr wrap="none" lIns="0" tIns="0" rIns="0" bIns="0" anchor="t" anchorCtr="0">
            <a:spAutoFit/>
          </a:bodyPr>
          <a:lstStyle/>
          <a:p>
            <a:pPr algn="ctr"/>
            <a:r>
              <a:rPr lang="zh-CN" sz="975" dirty="0">
                <a:solidFill>
                  <a:srgbClr val="1A5276"/>
                </a:solidFill>
                <a:latin typeface="Arial"/>
                <a:ea typeface="Microsoft YaHei"/>
                <a:cs typeface="Arial"/>
              </a:rPr>
              <a:t>最深（内部）</a:t>
            </a:r>
          </a:p>
        </p:txBody>
      </p:sp>
      <p:sp>
        <p:nvSpPr>
          <p:cNvPr id="19" name="TextBox 19"/>
          <p:cNvSpPr txBox="1"/>
          <p:nvPr/>
        </p:nvSpPr>
        <p:spPr>
          <a:xfrm>
            <a:off x="2076450" y="2981325"/>
            <a:ext cx="3608546" cy="304800"/>
          </a:xfrm>
          <a:prstGeom prst="rect">
            <a:avLst/>
          </a:prstGeom>
          <a:noFill/>
          <a:ln>
            <a:noFill/>
          </a:ln>
        </p:spPr>
        <p:txBody>
          <a:bodyPr wrap="none" lIns="0" tIns="0" rIns="0" bIns="0" anchor="t" anchorCtr="0">
            <a:spAutoFit/>
          </a:bodyPr>
          <a:lstStyle/>
          <a:p>
            <a:pPr algn="l"/>
            <a:r>
              <a:rPr lang="zh-CN" sz="1500" b="1" dirty="0">
                <a:solidFill>
                  <a:srgbClr val="1A5276"/>
                </a:solidFill>
                <a:latin typeface="Arial"/>
                <a:ea typeface="Microsoft YaHei"/>
                <a:cs typeface="Arial"/>
              </a:rPr>
              <a:t>让平台退后一步，让商家重新成为主角</a:t>
            </a:r>
          </a:p>
        </p:txBody>
      </p:sp>
      <p:sp>
        <p:nvSpPr>
          <p:cNvPr id="20" name="Line 20"/>
          <p:cNvSpPr/>
          <p:nvPr/>
        </p:nvSpPr>
        <p:spPr>
          <a:xfrm>
            <a:off x="3810000" y="1828800"/>
            <a:ext cx="9525" cy="142875"/>
          </a:xfrm>
          <a:custGeom>
            <a:avLst/>
            <a:gdLst/>
            <a:ahLst/>
            <a:cxnLst/>
            <a:rect l="l" t="t" r="r" b="b"/>
            <a:pathLst>
              <a:path w="9525" h="142875">
                <a:moveTo>
                  <a:pt x="0" y="0"/>
                </a:moveTo>
                <a:lnTo>
                  <a:pt x="0" y="142875"/>
                </a:lnTo>
              </a:path>
            </a:pathLst>
          </a:custGeom>
          <a:noFill/>
          <a:ln w="9525">
            <a:solidFill>
              <a:srgbClr val="D4A574"/>
            </a:solidFill>
            <a:custDash>
              <a:ds d="300000" sp="300000"/>
            </a:custDash>
          </a:ln>
        </p:spPr>
      </p:sp>
      <p:sp>
        <p:nvSpPr>
          <p:cNvPr id="21" name="Line 21"/>
          <p:cNvSpPr/>
          <p:nvPr/>
        </p:nvSpPr>
        <p:spPr>
          <a:xfrm>
            <a:off x="3810000" y="2657475"/>
            <a:ext cx="9525" cy="142875"/>
          </a:xfrm>
          <a:custGeom>
            <a:avLst/>
            <a:gdLst/>
            <a:ahLst/>
            <a:cxnLst/>
            <a:rect l="l" t="t" r="r" b="b"/>
            <a:pathLst>
              <a:path w="9525" h="142875">
                <a:moveTo>
                  <a:pt x="0" y="0"/>
                </a:moveTo>
                <a:lnTo>
                  <a:pt x="0" y="142875"/>
                </a:lnTo>
              </a:path>
            </a:pathLst>
          </a:custGeom>
          <a:noFill/>
          <a:ln w="9525">
            <a:solidFill>
              <a:srgbClr val="1A5276"/>
            </a:solidFill>
            <a:custDash>
              <a:ds d="300000" sp="300000"/>
            </a:custDash>
          </a:ln>
        </p:spPr>
      </p:sp>
      <p:sp>
        <p:nvSpPr>
          <p:cNvPr id="22" name="Rectangle 22"/>
          <p:cNvSpPr/>
          <p:nvPr/>
        </p:nvSpPr>
        <p:spPr>
          <a:xfrm>
            <a:off x="7381875" y="1238250"/>
            <a:ext cx="4191000" cy="2247900"/>
          </a:xfrm>
          <a:prstGeom prst="roundRect">
            <a:avLst>
              <a:gd name="adj" fmla="val 5932"/>
            </a:avLst>
          </a:prstGeom>
          <a:solidFill>
            <a:srgbClr val="F5F0EA"/>
          </a:solidFill>
          <a:ln w="9525">
            <a:solidFill>
              <a:srgbClr val="E8E3DC"/>
            </a:solidFill>
          </a:ln>
          <a:effectLst>
            <a:outerShdw blurRad="76200" dist="19050" dir="5400000" algn="ctr" rotWithShape="0">
              <a:srgbClr val="2C2C2C">
                <a:alpha val="4500"/>
              </a:srgbClr>
            </a:outerShdw>
          </a:effectLst>
        </p:spPr>
      </p:sp>
      <p:sp>
        <p:nvSpPr>
          <p:cNvPr id="23" name="Rectangle 23"/>
          <p:cNvSpPr/>
          <p:nvPr/>
        </p:nvSpPr>
        <p:spPr>
          <a:xfrm>
            <a:off x="7381875" y="1238250"/>
            <a:ext cx="4191000" cy="361950"/>
          </a:xfrm>
          <a:prstGeom prst="roundRect">
            <a:avLst>
              <a:gd name="adj" fmla="val 36842"/>
            </a:avLst>
          </a:prstGeom>
          <a:solidFill>
            <a:srgbClr val="F0EDE8"/>
          </a:solidFill>
          <a:ln>
            <a:noFill/>
          </a:ln>
        </p:spPr>
      </p:sp>
      <p:sp>
        <p:nvSpPr>
          <p:cNvPr id="24" name="Rectangle 24"/>
          <p:cNvSpPr/>
          <p:nvPr/>
        </p:nvSpPr>
        <p:spPr>
          <a:xfrm>
            <a:off x="7381875" y="1466850"/>
            <a:ext cx="4191000" cy="133350"/>
          </a:xfrm>
          <a:prstGeom prst="rect">
            <a:avLst/>
          </a:prstGeom>
          <a:solidFill>
            <a:srgbClr val="F0EDE8"/>
          </a:solidFill>
          <a:ln>
            <a:noFill/>
          </a:ln>
        </p:spPr>
      </p:sp>
      <p:sp>
        <p:nvSpPr>
          <p:cNvPr id="25" name="TextBox 25"/>
          <p:cNvSpPr txBox="1"/>
          <p:nvPr/>
        </p:nvSpPr>
        <p:spPr>
          <a:xfrm>
            <a:off x="9142095" y="1346835"/>
            <a:ext cx="670560"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Georgia"/>
                <a:ea typeface="KaiTi"/>
                <a:cs typeface="Georgia"/>
              </a:rPr>
              <a:t>参照案例</a:t>
            </a:r>
          </a:p>
        </p:txBody>
      </p:sp>
      <p:sp>
        <p:nvSpPr>
          <p:cNvPr id="26" name="Rectangle 26"/>
          <p:cNvSpPr/>
          <p:nvPr/>
        </p:nvSpPr>
        <p:spPr>
          <a:xfrm>
            <a:off x="7572375" y="1695450"/>
            <a:ext cx="3810000" cy="533400"/>
          </a:xfrm>
          <a:prstGeom prst="roundRect">
            <a:avLst>
              <a:gd name="adj" fmla="val 14286"/>
            </a:avLst>
          </a:prstGeom>
          <a:solidFill>
            <a:srgbClr val="FAFAF5"/>
          </a:solidFill>
          <a:ln w="9525">
            <a:solidFill>
              <a:srgbClr val="1E8449"/>
            </a:solidFill>
          </a:ln>
        </p:spPr>
      </p:sp>
      <p:sp>
        <p:nvSpPr>
          <p:cNvPr id="27" name="TextBox 27"/>
          <p:cNvSpPr txBox="1"/>
          <p:nvPr/>
        </p:nvSpPr>
        <p:spPr>
          <a:xfrm>
            <a:off x="7722870" y="1807845"/>
            <a:ext cx="88868" cy="182880"/>
          </a:xfrm>
          <a:prstGeom prst="rect">
            <a:avLst/>
          </a:prstGeom>
          <a:noFill/>
          <a:ln>
            <a:noFill/>
          </a:ln>
        </p:spPr>
        <p:txBody>
          <a:bodyPr wrap="none" lIns="0" tIns="0" rIns="0" bIns="0" anchor="t" anchorCtr="0">
            <a:spAutoFit/>
          </a:bodyPr>
          <a:lstStyle/>
          <a:p>
            <a:pPr algn="l"/>
            <a:r>
              <a:rPr lang="zh-CN" sz="900" dirty="0">
                <a:solidFill>
                  <a:srgbClr val="1E8449"/>
                </a:solidFill>
                <a:latin typeface="Arial"/>
                <a:ea typeface="Microsoft YaHei"/>
                <a:cs typeface="Arial"/>
              </a:rPr>
              <a:t>✓</a:t>
            </a:r>
          </a:p>
        </p:txBody>
      </p:sp>
      <p:sp>
        <p:nvSpPr>
          <p:cNvPr id="28" name="TextBox 28"/>
          <p:cNvSpPr txBox="1"/>
          <p:nvPr/>
        </p:nvSpPr>
        <p:spPr>
          <a:xfrm>
            <a:off x="7872412" y="1783556"/>
            <a:ext cx="595646"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Shopify</a:t>
            </a:r>
          </a:p>
        </p:txBody>
      </p:sp>
      <p:sp>
        <p:nvSpPr>
          <p:cNvPr id="29" name="TextBox 29"/>
          <p:cNvSpPr txBox="1"/>
          <p:nvPr/>
        </p:nvSpPr>
        <p:spPr>
          <a:xfrm>
            <a:off x="7721918" y="2009299"/>
            <a:ext cx="198801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让商家拥有自己的生意——平台隐身</a:t>
            </a:r>
          </a:p>
        </p:txBody>
      </p:sp>
      <p:sp>
        <p:nvSpPr>
          <p:cNvPr id="30" name="Rectangle 30"/>
          <p:cNvSpPr/>
          <p:nvPr/>
        </p:nvSpPr>
        <p:spPr>
          <a:xfrm>
            <a:off x="7572375" y="2305050"/>
            <a:ext cx="3810000" cy="533400"/>
          </a:xfrm>
          <a:prstGeom prst="roundRect">
            <a:avLst>
              <a:gd name="adj" fmla="val 14286"/>
            </a:avLst>
          </a:prstGeom>
          <a:solidFill>
            <a:srgbClr val="FAFAF5"/>
          </a:solidFill>
          <a:ln w="9525">
            <a:solidFill>
              <a:srgbClr val="1E8449"/>
            </a:solidFill>
          </a:ln>
        </p:spPr>
      </p:sp>
      <p:sp>
        <p:nvSpPr>
          <p:cNvPr id="31" name="TextBox 31"/>
          <p:cNvSpPr txBox="1"/>
          <p:nvPr/>
        </p:nvSpPr>
        <p:spPr>
          <a:xfrm>
            <a:off x="7722870" y="2417445"/>
            <a:ext cx="88868" cy="182880"/>
          </a:xfrm>
          <a:prstGeom prst="rect">
            <a:avLst/>
          </a:prstGeom>
          <a:noFill/>
          <a:ln>
            <a:noFill/>
          </a:ln>
        </p:spPr>
        <p:txBody>
          <a:bodyPr wrap="none" lIns="0" tIns="0" rIns="0" bIns="0" anchor="t" anchorCtr="0">
            <a:spAutoFit/>
          </a:bodyPr>
          <a:lstStyle/>
          <a:p>
            <a:pPr algn="l"/>
            <a:r>
              <a:rPr lang="zh-CN" sz="900" dirty="0">
                <a:solidFill>
                  <a:srgbClr val="1E8449"/>
                </a:solidFill>
                <a:latin typeface="Arial"/>
                <a:ea typeface="Microsoft YaHei"/>
                <a:cs typeface="Arial"/>
              </a:rPr>
              <a:t>✓</a:t>
            </a:r>
          </a:p>
        </p:txBody>
      </p:sp>
      <p:sp>
        <p:nvSpPr>
          <p:cNvPr id="32" name="TextBox 32"/>
          <p:cNvSpPr txBox="1"/>
          <p:nvPr/>
        </p:nvSpPr>
        <p:spPr>
          <a:xfrm>
            <a:off x="7872412" y="2393156"/>
            <a:ext cx="1091833"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日本まちづくり会社</a:t>
            </a:r>
          </a:p>
        </p:txBody>
      </p:sp>
      <p:sp>
        <p:nvSpPr>
          <p:cNvPr id="33" name="TextBox 33"/>
          <p:cNvSpPr txBox="1"/>
          <p:nvPr/>
        </p:nvSpPr>
        <p:spPr>
          <a:xfrm>
            <a:off x="7721918" y="2618899"/>
            <a:ext cx="2105025"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社区主导、商家自治的街区复兴模式</a:t>
            </a:r>
          </a:p>
        </p:txBody>
      </p:sp>
      <p:sp>
        <p:nvSpPr>
          <p:cNvPr id="34" name="Rectangle 34"/>
          <p:cNvSpPr/>
          <p:nvPr/>
        </p:nvSpPr>
        <p:spPr>
          <a:xfrm>
            <a:off x="7572375" y="2914650"/>
            <a:ext cx="3810000" cy="476250"/>
          </a:xfrm>
          <a:prstGeom prst="roundRect">
            <a:avLst>
              <a:gd name="adj" fmla="val 16000"/>
            </a:avLst>
          </a:prstGeom>
          <a:solidFill>
            <a:srgbClr val="FAFAF5"/>
          </a:solidFill>
          <a:ln w="9525">
            <a:solidFill>
              <a:srgbClr val="C0392B"/>
            </a:solidFill>
          </a:ln>
        </p:spPr>
      </p:sp>
      <p:sp>
        <p:nvSpPr>
          <p:cNvPr id="35" name="TextBox 35"/>
          <p:cNvSpPr txBox="1"/>
          <p:nvPr/>
        </p:nvSpPr>
        <p:spPr>
          <a:xfrm>
            <a:off x="7722870" y="2998470"/>
            <a:ext cx="88868"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a:t>
            </a:r>
          </a:p>
        </p:txBody>
      </p:sp>
      <p:sp>
        <p:nvSpPr>
          <p:cNvPr id="36" name="TextBox 36"/>
          <p:cNvSpPr txBox="1"/>
          <p:nvPr/>
        </p:nvSpPr>
        <p:spPr>
          <a:xfrm>
            <a:off x="7872412" y="2974181"/>
            <a:ext cx="658654"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美团优选</a:t>
            </a:r>
          </a:p>
        </p:txBody>
      </p:sp>
      <p:sp>
        <p:nvSpPr>
          <p:cNvPr id="37" name="TextBox 37"/>
          <p:cNvSpPr txBox="1"/>
          <p:nvPr/>
        </p:nvSpPr>
        <p:spPr>
          <a:xfrm>
            <a:off x="7721918" y="3180874"/>
            <a:ext cx="1714976"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平台取代社区商业，而非赋能</a:t>
            </a:r>
          </a:p>
        </p:txBody>
      </p:sp>
      <p:sp>
        <p:nvSpPr>
          <p:cNvPr id="38" name="Line 38"/>
          <p:cNvSpPr/>
          <p:nvPr/>
        </p:nvSpPr>
        <p:spPr>
          <a:xfrm>
            <a:off x="571500" y="3810000"/>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39" name="TextBox 39"/>
          <p:cNvSpPr txBox="1"/>
          <p:nvPr/>
        </p:nvSpPr>
        <p:spPr>
          <a:xfrm>
            <a:off x="5020627" y="3870960"/>
            <a:ext cx="2150745" cy="243840"/>
          </a:xfrm>
          <a:prstGeom prst="rect">
            <a:avLst/>
          </a:prstGeom>
          <a:noFill/>
          <a:ln>
            <a:noFill/>
          </a:ln>
        </p:spPr>
        <p:txBody>
          <a:bodyPr wrap="none" lIns="0" tIns="0" rIns="0" bIns="0" anchor="t" anchorCtr="0">
            <a:spAutoFit/>
          </a:bodyPr>
          <a:lstStyle/>
          <a:p>
            <a:pPr algn="ctr"/>
            <a:r>
              <a:rPr lang="zh-CN" sz="1200" dirty="0">
                <a:solidFill>
                  <a:srgbClr val="7F8C8D"/>
                </a:solidFill>
                <a:latin typeface="Georgia"/>
                <a:ea typeface="KaiTi"/>
                <a:cs typeface="Georgia"/>
              </a:rPr>
              <a:t>时间轴对比：今天 vs. 十年后</a:t>
            </a:r>
          </a:p>
        </p:txBody>
      </p:sp>
      <p:sp>
        <p:nvSpPr>
          <p:cNvPr id="40" name="Rectangle 40"/>
          <p:cNvSpPr/>
          <p:nvPr/>
        </p:nvSpPr>
        <p:spPr>
          <a:xfrm>
            <a:off x="571500" y="4143375"/>
            <a:ext cx="5238750" cy="342900"/>
          </a:xfrm>
          <a:prstGeom prst="roundRect">
            <a:avLst>
              <a:gd name="adj" fmla="val 27778"/>
            </a:avLst>
          </a:prstGeom>
          <a:solidFill>
            <a:srgbClr val="F0EDE8"/>
          </a:solidFill>
          <a:ln>
            <a:noFill/>
          </a:ln>
        </p:spPr>
      </p:sp>
      <p:sp>
        <p:nvSpPr>
          <p:cNvPr id="41" name="TextBox 41"/>
          <p:cNvSpPr txBox="1"/>
          <p:nvPr/>
        </p:nvSpPr>
        <p:spPr>
          <a:xfrm>
            <a:off x="2993708" y="4216718"/>
            <a:ext cx="394335" cy="274320"/>
          </a:xfrm>
          <a:prstGeom prst="rect">
            <a:avLst/>
          </a:prstGeom>
          <a:noFill/>
          <a:ln>
            <a:noFill/>
          </a:ln>
        </p:spPr>
        <p:txBody>
          <a:bodyPr wrap="none" lIns="0" tIns="0" rIns="0" bIns="0" anchor="t" anchorCtr="0">
            <a:spAutoFit/>
          </a:bodyPr>
          <a:lstStyle/>
          <a:p>
            <a:pPr algn="ctr"/>
            <a:r>
              <a:rPr lang="zh-CN" sz="1350" dirty="0">
                <a:solidFill>
                  <a:srgbClr val="7F8C8D"/>
                </a:solidFill>
                <a:latin typeface="Georgia"/>
                <a:ea typeface="KaiTi"/>
                <a:cs typeface="Georgia"/>
              </a:rPr>
              <a:t>今天</a:t>
            </a:r>
          </a:p>
        </p:txBody>
      </p:sp>
      <p:sp>
        <p:nvSpPr>
          <p:cNvPr id="42" name="Rectangle 42"/>
          <p:cNvSpPr/>
          <p:nvPr/>
        </p:nvSpPr>
        <p:spPr>
          <a:xfrm>
            <a:off x="571500" y="4572000"/>
            <a:ext cx="5238750" cy="742950"/>
          </a:xfrm>
          <a:prstGeom prst="roundRect">
            <a:avLst>
              <a:gd name="adj" fmla="val 17949"/>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43" name="Rectangle 43"/>
          <p:cNvSpPr/>
          <p:nvPr/>
        </p:nvSpPr>
        <p:spPr>
          <a:xfrm>
            <a:off x="571500" y="4572000"/>
            <a:ext cx="47625" cy="742950"/>
          </a:xfrm>
          <a:prstGeom prst="roundRect">
            <a:avLst>
              <a:gd name="adj" fmla="val 50000"/>
            </a:avLst>
          </a:prstGeom>
          <a:solidFill>
            <a:srgbClr val="C0392B"/>
          </a:solidFill>
          <a:ln>
            <a:noFill/>
          </a:ln>
        </p:spPr>
      </p:sp>
      <p:sp>
        <p:nvSpPr>
          <p:cNvPr id="44" name="TextBox 44"/>
          <p:cNvSpPr txBox="1"/>
          <p:nvPr/>
        </p:nvSpPr>
        <p:spPr>
          <a:xfrm>
            <a:off x="795338" y="4717256"/>
            <a:ext cx="501134" cy="228600"/>
          </a:xfrm>
          <a:prstGeom prst="rect">
            <a:avLst/>
          </a:prstGeom>
          <a:noFill/>
          <a:ln>
            <a:noFill/>
          </a:ln>
        </p:spPr>
        <p:txBody>
          <a:bodyPr wrap="none" lIns="0" tIns="0" rIns="0" bIns="0" anchor="t" anchorCtr="0">
            <a:spAutoFit/>
          </a:bodyPr>
          <a:lstStyle/>
          <a:p>
            <a:pPr algn="l"/>
            <a:r>
              <a:rPr lang="zh-CN" sz="1125" b="1" dirty="0">
                <a:solidFill>
                  <a:srgbClr val="C0392B"/>
                </a:solidFill>
                <a:latin typeface="Arial"/>
                <a:ea typeface="Microsoft YaHei"/>
                <a:cs typeface="Arial"/>
              </a:rPr>
              <a:t>消费者</a:t>
            </a:r>
          </a:p>
        </p:txBody>
      </p:sp>
      <p:sp>
        <p:nvSpPr>
          <p:cNvPr id="45" name="TextBox 45"/>
          <p:cNvSpPr txBox="1"/>
          <p:nvPr/>
        </p:nvSpPr>
        <p:spPr>
          <a:xfrm>
            <a:off x="1508760" y="4709160"/>
            <a:ext cx="195072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记得「我在哪个平台买的」</a:t>
            </a:r>
          </a:p>
        </p:txBody>
      </p:sp>
      <p:sp>
        <p:nvSpPr>
          <p:cNvPr id="46" name="TextBox 46"/>
          <p:cNvSpPr txBox="1"/>
          <p:nvPr/>
        </p:nvSpPr>
        <p:spPr>
          <a:xfrm>
            <a:off x="796290" y="4992052"/>
            <a:ext cx="268700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关系绑定平台，消费者忠诚于平台而非商家</a:t>
            </a:r>
          </a:p>
        </p:txBody>
      </p:sp>
      <p:sp>
        <p:nvSpPr>
          <p:cNvPr id="47" name="TextBox 47"/>
          <p:cNvSpPr txBox="1"/>
          <p:nvPr/>
        </p:nvSpPr>
        <p:spPr>
          <a:xfrm>
            <a:off x="5116830" y="4612005"/>
            <a:ext cx="207359" cy="426720"/>
          </a:xfrm>
          <a:prstGeom prst="rect">
            <a:avLst/>
          </a:prstGeom>
          <a:noFill/>
          <a:ln>
            <a:noFill/>
          </a:ln>
        </p:spPr>
        <p:txBody>
          <a:bodyPr wrap="none" lIns="0" tIns="0" rIns="0" bIns="0" anchor="t" anchorCtr="0">
            <a:spAutoFit/>
          </a:bodyPr>
          <a:lstStyle/>
          <a:p>
            <a:pPr algn="l"/>
            <a:r>
              <a:rPr lang="zh-CN" sz="2100" dirty="0">
                <a:solidFill>
                  <a:srgbClr val="C0392B"/>
                </a:solidFill>
                <a:latin typeface="Arial"/>
                <a:ea typeface="Microsoft YaHei"/>
                <a:cs typeface="Arial"/>
              </a:rPr>
              <a:t>✕</a:t>
            </a:r>
          </a:p>
        </p:txBody>
      </p:sp>
      <p:sp>
        <p:nvSpPr>
          <p:cNvPr id="48" name="Rectangle 48"/>
          <p:cNvSpPr/>
          <p:nvPr/>
        </p:nvSpPr>
        <p:spPr>
          <a:xfrm>
            <a:off x="571500" y="5410200"/>
            <a:ext cx="5238750" cy="742950"/>
          </a:xfrm>
          <a:prstGeom prst="roundRect">
            <a:avLst>
              <a:gd name="adj" fmla="val 17949"/>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49" name="Rectangle 49"/>
          <p:cNvSpPr/>
          <p:nvPr/>
        </p:nvSpPr>
        <p:spPr>
          <a:xfrm>
            <a:off x="571500" y="5410200"/>
            <a:ext cx="47625" cy="742950"/>
          </a:xfrm>
          <a:prstGeom prst="roundRect">
            <a:avLst>
              <a:gd name="adj" fmla="val 50000"/>
            </a:avLst>
          </a:prstGeom>
          <a:solidFill>
            <a:srgbClr val="C0392B"/>
          </a:solidFill>
          <a:ln>
            <a:noFill/>
          </a:ln>
        </p:spPr>
      </p:sp>
      <p:sp>
        <p:nvSpPr>
          <p:cNvPr id="50" name="TextBox 50"/>
          <p:cNvSpPr txBox="1"/>
          <p:nvPr/>
        </p:nvSpPr>
        <p:spPr>
          <a:xfrm>
            <a:off x="795338" y="5555456"/>
            <a:ext cx="343614" cy="228600"/>
          </a:xfrm>
          <a:prstGeom prst="rect">
            <a:avLst/>
          </a:prstGeom>
          <a:noFill/>
          <a:ln>
            <a:noFill/>
          </a:ln>
        </p:spPr>
        <p:txBody>
          <a:bodyPr wrap="none" lIns="0" tIns="0" rIns="0" bIns="0" anchor="t" anchorCtr="0">
            <a:spAutoFit/>
          </a:bodyPr>
          <a:lstStyle/>
          <a:p>
            <a:pPr algn="l"/>
            <a:r>
              <a:rPr lang="zh-CN" sz="1125" b="1" dirty="0">
                <a:solidFill>
                  <a:srgbClr val="C0392B"/>
                </a:solidFill>
                <a:latin typeface="Arial"/>
                <a:ea typeface="Microsoft YaHei"/>
                <a:cs typeface="Arial"/>
              </a:rPr>
              <a:t>商家</a:t>
            </a:r>
          </a:p>
        </p:txBody>
      </p:sp>
      <p:sp>
        <p:nvSpPr>
          <p:cNvPr id="51" name="TextBox 51"/>
          <p:cNvSpPr txBox="1"/>
          <p:nvPr/>
        </p:nvSpPr>
        <p:spPr>
          <a:xfrm>
            <a:off x="1318260" y="5547360"/>
            <a:ext cx="179070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晚上看「今天卖了多少」</a:t>
            </a:r>
          </a:p>
        </p:txBody>
      </p:sp>
      <p:sp>
        <p:nvSpPr>
          <p:cNvPr id="52" name="TextBox 52"/>
          <p:cNvSpPr txBox="1"/>
          <p:nvPr/>
        </p:nvSpPr>
        <p:spPr>
          <a:xfrm>
            <a:off x="796290" y="5830252"/>
            <a:ext cx="254698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只关注单日流水，无法积累客户关系资产</a:t>
            </a:r>
          </a:p>
        </p:txBody>
      </p:sp>
      <p:sp>
        <p:nvSpPr>
          <p:cNvPr id="53" name="TextBox 53"/>
          <p:cNvSpPr txBox="1"/>
          <p:nvPr/>
        </p:nvSpPr>
        <p:spPr>
          <a:xfrm>
            <a:off x="5116830" y="5450205"/>
            <a:ext cx="207359" cy="426720"/>
          </a:xfrm>
          <a:prstGeom prst="rect">
            <a:avLst/>
          </a:prstGeom>
          <a:noFill/>
          <a:ln>
            <a:noFill/>
          </a:ln>
        </p:spPr>
        <p:txBody>
          <a:bodyPr wrap="none" lIns="0" tIns="0" rIns="0" bIns="0" anchor="t" anchorCtr="0">
            <a:spAutoFit/>
          </a:bodyPr>
          <a:lstStyle/>
          <a:p>
            <a:pPr algn="l"/>
            <a:r>
              <a:rPr lang="zh-CN" sz="2100" dirty="0">
                <a:solidFill>
                  <a:srgbClr val="C0392B"/>
                </a:solidFill>
                <a:latin typeface="Arial"/>
                <a:ea typeface="Microsoft YaHei"/>
                <a:cs typeface="Arial"/>
              </a:rPr>
              <a:t>✕</a:t>
            </a:r>
          </a:p>
        </p:txBody>
      </p:sp>
      <p:sp>
        <p:nvSpPr>
          <p:cNvPr id="54" name="TextBox 54"/>
          <p:cNvSpPr txBox="1"/>
          <p:nvPr/>
        </p:nvSpPr>
        <p:spPr>
          <a:xfrm>
            <a:off x="5867448" y="4756785"/>
            <a:ext cx="266605" cy="548640"/>
          </a:xfrm>
          <a:prstGeom prst="rect">
            <a:avLst/>
          </a:prstGeom>
          <a:noFill/>
          <a:ln>
            <a:noFill/>
          </a:ln>
        </p:spPr>
        <p:txBody>
          <a:bodyPr wrap="none" lIns="0" tIns="0" rIns="0" bIns="0" anchor="t" anchorCtr="0">
            <a:spAutoFit/>
          </a:bodyPr>
          <a:lstStyle/>
          <a:p>
            <a:pPr algn="ctr"/>
            <a:r>
              <a:rPr lang="zh-CN" sz="2700" dirty="0">
                <a:solidFill>
                  <a:srgbClr val="1A5276"/>
                </a:solidFill>
                <a:latin typeface="Arial"/>
                <a:ea typeface="Microsoft YaHei"/>
                <a:cs typeface="Arial"/>
              </a:rPr>
              <a:t>→</a:t>
            </a:r>
          </a:p>
        </p:txBody>
      </p:sp>
      <p:sp>
        <p:nvSpPr>
          <p:cNvPr id="55" name="Rectangle 55"/>
          <p:cNvSpPr/>
          <p:nvPr/>
        </p:nvSpPr>
        <p:spPr>
          <a:xfrm>
            <a:off x="6381750" y="4143375"/>
            <a:ext cx="5238750" cy="342900"/>
          </a:xfrm>
          <a:prstGeom prst="roundRect">
            <a:avLst>
              <a:gd name="adj" fmla="val 27778"/>
            </a:avLst>
          </a:prstGeom>
          <a:solidFill>
            <a:srgbClr val="1A5276">
              <a:alpha val="10000"/>
            </a:srgbClr>
          </a:solidFill>
          <a:ln>
            <a:noFill/>
          </a:ln>
        </p:spPr>
      </p:sp>
      <p:sp>
        <p:nvSpPr>
          <p:cNvPr id="56" name="TextBox 56"/>
          <p:cNvSpPr txBox="1"/>
          <p:nvPr/>
        </p:nvSpPr>
        <p:spPr>
          <a:xfrm>
            <a:off x="8713946" y="4216718"/>
            <a:ext cx="574358" cy="274320"/>
          </a:xfrm>
          <a:prstGeom prst="rect">
            <a:avLst/>
          </a:prstGeom>
          <a:noFill/>
          <a:ln>
            <a:noFill/>
          </a:ln>
        </p:spPr>
        <p:txBody>
          <a:bodyPr wrap="none" lIns="0" tIns="0" rIns="0" bIns="0" anchor="t" anchorCtr="0">
            <a:spAutoFit/>
          </a:bodyPr>
          <a:lstStyle/>
          <a:p>
            <a:pPr algn="ctr"/>
            <a:r>
              <a:rPr lang="zh-CN" sz="1350" dirty="0">
                <a:solidFill>
                  <a:srgbClr val="1A5276"/>
                </a:solidFill>
                <a:latin typeface="Georgia"/>
                <a:ea typeface="KaiTi"/>
                <a:cs typeface="Georgia"/>
              </a:rPr>
              <a:t>十年后</a:t>
            </a:r>
          </a:p>
        </p:txBody>
      </p:sp>
      <p:sp>
        <p:nvSpPr>
          <p:cNvPr id="57" name="Rectangle 57"/>
          <p:cNvSpPr/>
          <p:nvPr/>
        </p:nvSpPr>
        <p:spPr>
          <a:xfrm>
            <a:off x="6381750" y="4572000"/>
            <a:ext cx="5238750" cy="742950"/>
          </a:xfrm>
          <a:prstGeom prst="roundRect">
            <a:avLst>
              <a:gd name="adj" fmla="val 17949"/>
            </a:avLst>
          </a:prstGeom>
          <a:solidFill>
            <a:srgbClr val="FAFAF5"/>
          </a:solidFill>
          <a:ln w="14288">
            <a:solidFill>
              <a:srgbClr val="1E8449"/>
            </a:solidFill>
          </a:ln>
          <a:effectLst>
            <a:outerShdw blurRad="76200" dist="19050" dir="5400000" algn="ctr" rotWithShape="0">
              <a:srgbClr val="2C2C2C">
                <a:alpha val="4500"/>
              </a:srgbClr>
            </a:outerShdw>
          </a:effectLst>
        </p:spPr>
      </p:sp>
      <p:sp>
        <p:nvSpPr>
          <p:cNvPr id="58" name="Rectangle 58"/>
          <p:cNvSpPr/>
          <p:nvPr/>
        </p:nvSpPr>
        <p:spPr>
          <a:xfrm>
            <a:off x="6381750" y="4572000"/>
            <a:ext cx="47625" cy="742950"/>
          </a:xfrm>
          <a:prstGeom prst="roundRect">
            <a:avLst>
              <a:gd name="adj" fmla="val 50000"/>
            </a:avLst>
          </a:prstGeom>
          <a:solidFill>
            <a:srgbClr val="1E8449"/>
          </a:solidFill>
          <a:ln>
            <a:noFill/>
          </a:ln>
        </p:spPr>
      </p:sp>
      <p:sp>
        <p:nvSpPr>
          <p:cNvPr id="59" name="TextBox 59"/>
          <p:cNvSpPr txBox="1"/>
          <p:nvPr/>
        </p:nvSpPr>
        <p:spPr>
          <a:xfrm>
            <a:off x="6605588" y="4717256"/>
            <a:ext cx="501134"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消费者</a:t>
            </a:r>
          </a:p>
        </p:txBody>
      </p:sp>
      <p:sp>
        <p:nvSpPr>
          <p:cNvPr id="60" name="TextBox 60"/>
          <p:cNvSpPr txBox="1"/>
          <p:nvPr/>
        </p:nvSpPr>
        <p:spPr>
          <a:xfrm>
            <a:off x="7319010" y="4709160"/>
            <a:ext cx="179070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记得「我在哪家店买的」</a:t>
            </a:r>
          </a:p>
        </p:txBody>
      </p:sp>
      <p:sp>
        <p:nvSpPr>
          <p:cNvPr id="61" name="TextBox 61"/>
          <p:cNvSpPr txBox="1"/>
          <p:nvPr/>
        </p:nvSpPr>
        <p:spPr>
          <a:xfrm>
            <a:off x="6606540" y="4992052"/>
            <a:ext cx="2546985"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关系归属商家，消费者信任的是具体的店</a:t>
            </a:r>
          </a:p>
        </p:txBody>
      </p:sp>
      <p:sp>
        <p:nvSpPr>
          <p:cNvPr id="62" name="TextBox 62"/>
          <p:cNvSpPr txBox="1"/>
          <p:nvPr/>
        </p:nvSpPr>
        <p:spPr>
          <a:xfrm>
            <a:off x="10927080" y="4612005"/>
            <a:ext cx="207359" cy="426720"/>
          </a:xfrm>
          <a:prstGeom prst="rect">
            <a:avLst/>
          </a:prstGeom>
          <a:noFill/>
          <a:ln>
            <a:noFill/>
          </a:ln>
        </p:spPr>
        <p:txBody>
          <a:bodyPr wrap="none" lIns="0" tIns="0" rIns="0" bIns="0" anchor="t" anchorCtr="0">
            <a:spAutoFit/>
          </a:bodyPr>
          <a:lstStyle/>
          <a:p>
            <a:pPr algn="l"/>
            <a:r>
              <a:rPr lang="zh-CN" sz="2100" dirty="0">
                <a:solidFill>
                  <a:srgbClr val="1E8449"/>
                </a:solidFill>
                <a:latin typeface="Arial"/>
                <a:ea typeface="Microsoft YaHei"/>
                <a:cs typeface="Arial"/>
              </a:rPr>
              <a:t>✓</a:t>
            </a:r>
          </a:p>
        </p:txBody>
      </p:sp>
      <p:sp>
        <p:nvSpPr>
          <p:cNvPr id="63" name="Rectangle 63"/>
          <p:cNvSpPr/>
          <p:nvPr/>
        </p:nvSpPr>
        <p:spPr>
          <a:xfrm>
            <a:off x="6381750" y="5410200"/>
            <a:ext cx="5238750" cy="742950"/>
          </a:xfrm>
          <a:prstGeom prst="roundRect">
            <a:avLst>
              <a:gd name="adj" fmla="val 17949"/>
            </a:avLst>
          </a:prstGeom>
          <a:solidFill>
            <a:srgbClr val="FAFAF5"/>
          </a:solidFill>
          <a:ln w="14288">
            <a:solidFill>
              <a:srgbClr val="1E8449"/>
            </a:solidFill>
          </a:ln>
          <a:effectLst>
            <a:outerShdw blurRad="76200" dist="19050" dir="5400000" algn="ctr" rotWithShape="0">
              <a:srgbClr val="2C2C2C">
                <a:alpha val="4500"/>
              </a:srgbClr>
            </a:outerShdw>
          </a:effectLst>
        </p:spPr>
      </p:sp>
      <p:sp>
        <p:nvSpPr>
          <p:cNvPr id="64" name="Rectangle 64"/>
          <p:cNvSpPr/>
          <p:nvPr/>
        </p:nvSpPr>
        <p:spPr>
          <a:xfrm>
            <a:off x="6381750" y="5410200"/>
            <a:ext cx="47625" cy="742950"/>
          </a:xfrm>
          <a:prstGeom prst="roundRect">
            <a:avLst>
              <a:gd name="adj" fmla="val 50000"/>
            </a:avLst>
          </a:prstGeom>
          <a:solidFill>
            <a:srgbClr val="1E8449"/>
          </a:solidFill>
          <a:ln>
            <a:noFill/>
          </a:ln>
        </p:spPr>
      </p:sp>
      <p:sp>
        <p:nvSpPr>
          <p:cNvPr id="65" name="TextBox 65"/>
          <p:cNvSpPr txBox="1"/>
          <p:nvPr/>
        </p:nvSpPr>
        <p:spPr>
          <a:xfrm>
            <a:off x="6605588" y="5555456"/>
            <a:ext cx="343614"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商家</a:t>
            </a:r>
          </a:p>
        </p:txBody>
      </p:sp>
      <p:sp>
        <p:nvSpPr>
          <p:cNvPr id="66" name="TextBox 66"/>
          <p:cNvSpPr txBox="1"/>
          <p:nvPr/>
        </p:nvSpPr>
        <p:spPr>
          <a:xfrm>
            <a:off x="7128510" y="5547360"/>
            <a:ext cx="22707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晚上看「今天多了多少回头客」</a:t>
            </a:r>
          </a:p>
        </p:txBody>
      </p:sp>
      <p:sp>
        <p:nvSpPr>
          <p:cNvPr id="67" name="TextBox 67"/>
          <p:cNvSpPr txBox="1"/>
          <p:nvPr/>
        </p:nvSpPr>
        <p:spPr>
          <a:xfrm>
            <a:off x="6606540" y="5830252"/>
            <a:ext cx="2546985"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每天积累可沉淀、可复用的客户关系资产</a:t>
            </a:r>
          </a:p>
        </p:txBody>
      </p:sp>
      <p:sp>
        <p:nvSpPr>
          <p:cNvPr id="68" name="TextBox 68"/>
          <p:cNvSpPr txBox="1"/>
          <p:nvPr/>
        </p:nvSpPr>
        <p:spPr>
          <a:xfrm>
            <a:off x="10927080" y="5450205"/>
            <a:ext cx="207359" cy="426720"/>
          </a:xfrm>
          <a:prstGeom prst="rect">
            <a:avLst/>
          </a:prstGeom>
          <a:noFill/>
          <a:ln>
            <a:noFill/>
          </a:ln>
        </p:spPr>
        <p:txBody>
          <a:bodyPr wrap="none" lIns="0" tIns="0" rIns="0" bIns="0" anchor="t" anchorCtr="0">
            <a:spAutoFit/>
          </a:bodyPr>
          <a:lstStyle/>
          <a:p>
            <a:pPr algn="l"/>
            <a:r>
              <a:rPr lang="zh-CN" sz="2100" dirty="0">
                <a:solidFill>
                  <a:srgbClr val="1E8449"/>
                </a:solidFill>
                <a:latin typeface="Arial"/>
                <a:ea typeface="Microsoft YaHei"/>
                <a:cs typeface="Arial"/>
              </a:rPr>
              <a:t>✓</a:t>
            </a:r>
          </a:p>
        </p:txBody>
      </p:sp>
      <p:sp>
        <p:nvSpPr>
          <p:cNvPr id="69" name="TextBox 69"/>
          <p:cNvSpPr txBox="1"/>
          <p:nvPr/>
        </p:nvSpPr>
        <p:spPr>
          <a:xfrm>
            <a:off x="11477054" y="64750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11</a:t>
            </a:r>
          </a:p>
        </p:txBody>
      </p:sp>
      <p:sp>
        <p:nvSpPr>
          <p:cNvPr id="70" name="TextBox 70"/>
          <p:cNvSpPr txBox="1"/>
          <p:nvPr/>
        </p:nvSpPr>
        <p:spPr>
          <a:xfrm>
            <a:off x="560070" y="64750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77240" y="486728"/>
            <a:ext cx="9977009" cy="518160"/>
          </a:xfrm>
          <a:prstGeom prst="rect">
            <a:avLst/>
          </a:prstGeom>
          <a:noFill/>
          <a:ln>
            <a:noFill/>
          </a:ln>
        </p:spPr>
        <p:txBody>
          <a:bodyPr wrap="none" lIns="0" tIns="0" rIns="0" bIns="0" anchor="t" anchorCtr="0">
            <a:spAutoFit/>
          </a:bodyPr>
          <a:lstStyle/>
          <a:p>
            <a:pPr algn="l"/>
            <a:r>
              <a:rPr lang="zh-CN" sz="2550" dirty="0">
                <a:solidFill>
                  <a:srgbClr val="2C2C2C"/>
                </a:solidFill>
                <a:latin typeface="Georgia"/>
                <a:ea typeface="KaiTi"/>
                <a:cs typeface="Georgia"/>
              </a:rPr>
              <a:t>使命 → 愿景：从「结束每日归零」到「让信任在社区流动和沉淀」</a:t>
            </a:r>
          </a:p>
        </p:txBody>
      </p:sp>
      <p:sp>
        <p:nvSpPr>
          <p:cNvPr id="5" name="Line 5"/>
          <p:cNvSpPr/>
          <p:nvPr/>
        </p:nvSpPr>
        <p:spPr>
          <a:xfrm>
            <a:off x="571500" y="1000125"/>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 name="TextBox 6"/>
          <p:cNvSpPr txBox="1"/>
          <p:nvPr/>
        </p:nvSpPr>
        <p:spPr>
          <a:xfrm>
            <a:off x="4559022" y="1173956"/>
            <a:ext cx="307395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三步逻辑链：使命驱动 → 问题诊断 → 愿景牵引</a:t>
            </a:r>
          </a:p>
        </p:txBody>
      </p:sp>
      <p:sp>
        <p:nvSpPr>
          <p:cNvPr id="7" name="Rectangle 7"/>
          <p:cNvSpPr/>
          <p:nvPr/>
        </p:nvSpPr>
        <p:spPr>
          <a:xfrm>
            <a:off x="571500" y="1524000"/>
            <a:ext cx="11049000" cy="2286000"/>
          </a:xfrm>
          <a:prstGeom prst="roundRect">
            <a:avLst>
              <a:gd name="adj" fmla="val 8333"/>
            </a:avLst>
          </a:prstGeom>
          <a:gradFill>
            <a:gsLst>
              <a:gs pos="0">
                <a:srgbClr val="F5F0EA"/>
              </a:gs>
              <a:gs pos="50000">
                <a:srgbClr val="F0EDE8"/>
              </a:gs>
              <a:gs pos="100000">
                <a:srgbClr val="F5F0EA"/>
              </a:gs>
            </a:gsLst>
            <a:lin ang="0" scaled="1"/>
          </a:gradFill>
          <a:ln>
            <a:noFill/>
          </a:ln>
        </p:spPr>
      </p:sp>
      <p:sp>
        <p:nvSpPr>
          <p:cNvPr id="8" name="Rectangle 8"/>
          <p:cNvSpPr/>
          <p:nvPr/>
        </p:nvSpPr>
        <p:spPr>
          <a:xfrm>
            <a:off x="762000" y="1714500"/>
            <a:ext cx="3143250" cy="1905000"/>
          </a:xfrm>
          <a:prstGeom prst="roundRect">
            <a:avLst>
              <a:gd name="adj" fmla="val 8000"/>
            </a:avLst>
          </a:prstGeom>
          <a:solidFill>
            <a:srgbClr val="FAFAF5"/>
          </a:solidFill>
          <a:ln w="23812">
            <a:solidFill>
              <a:srgbClr val="E67E22"/>
            </a:solidFill>
          </a:ln>
          <a:effectLst>
            <a:outerShdw blurRad="76200" dist="19050" dir="5400000" algn="ctr" rotWithShape="0">
              <a:srgbClr val="2C2C2C">
                <a:alpha val="4500"/>
              </a:srgbClr>
            </a:outerShdw>
          </a:effectLst>
        </p:spPr>
      </p:sp>
      <p:sp>
        <p:nvSpPr>
          <p:cNvPr id="9" name="Rectangle 9"/>
          <p:cNvSpPr/>
          <p:nvPr/>
        </p:nvSpPr>
        <p:spPr>
          <a:xfrm>
            <a:off x="762000" y="1714500"/>
            <a:ext cx="3143250" cy="76200"/>
          </a:xfrm>
          <a:prstGeom prst="roundRect">
            <a:avLst>
              <a:gd name="adj" fmla="val 50000"/>
            </a:avLst>
          </a:prstGeom>
          <a:solidFill>
            <a:srgbClr val="E67E22"/>
          </a:solidFill>
          <a:ln>
            <a:noFill/>
          </a:ln>
        </p:spPr>
      </p:sp>
      <p:sp>
        <p:nvSpPr>
          <p:cNvPr id="10" name="Rectangle 10"/>
          <p:cNvSpPr/>
          <p:nvPr/>
        </p:nvSpPr>
        <p:spPr>
          <a:xfrm>
            <a:off x="1047750" y="1952625"/>
            <a:ext cx="381000" cy="381000"/>
          </a:xfrm>
          <a:prstGeom prst="roundRect">
            <a:avLst>
              <a:gd name="adj" fmla="val 50000"/>
            </a:avLst>
          </a:prstGeom>
          <a:solidFill>
            <a:srgbClr val="E67E22">
              <a:alpha val="12000"/>
            </a:srgbClr>
          </a:solidFill>
          <a:ln>
            <a:noFill/>
          </a:ln>
        </p:spPr>
      </p:sp>
      <p:sp>
        <p:nvSpPr>
          <p:cNvPr id="11" name="TextBox 11"/>
          <p:cNvSpPr txBox="1"/>
          <p:nvPr/>
        </p:nvSpPr>
        <p:spPr>
          <a:xfrm>
            <a:off x="1156787" y="2022158"/>
            <a:ext cx="162925" cy="335280"/>
          </a:xfrm>
          <a:prstGeom prst="rect">
            <a:avLst/>
          </a:prstGeom>
          <a:noFill/>
          <a:ln>
            <a:noFill/>
          </a:ln>
        </p:spPr>
        <p:txBody>
          <a:bodyPr wrap="none" lIns="0" tIns="0" rIns="0" bIns="0" anchor="t" anchorCtr="0">
            <a:spAutoFit/>
          </a:bodyPr>
          <a:lstStyle/>
          <a:p>
            <a:pPr algn="ctr"/>
            <a:r>
              <a:rPr lang="zh-CN" sz="1650" dirty="0">
                <a:solidFill>
                  <a:srgbClr val="E67E22"/>
                </a:solidFill>
                <a:latin typeface="Georgia"/>
                <a:ea typeface="KaiTi"/>
                <a:cs typeface="Georgia"/>
              </a:rPr>
              <a:t>1</a:t>
            </a:r>
          </a:p>
        </p:txBody>
      </p:sp>
      <p:sp>
        <p:nvSpPr>
          <p:cNvPr id="12" name="TextBox 12"/>
          <p:cNvSpPr txBox="1"/>
          <p:nvPr/>
        </p:nvSpPr>
        <p:spPr>
          <a:xfrm>
            <a:off x="2092643" y="2031682"/>
            <a:ext cx="481965" cy="335280"/>
          </a:xfrm>
          <a:prstGeom prst="rect">
            <a:avLst/>
          </a:prstGeom>
          <a:noFill/>
          <a:ln>
            <a:noFill/>
          </a:ln>
        </p:spPr>
        <p:txBody>
          <a:bodyPr wrap="none" lIns="0" tIns="0" rIns="0" bIns="0" anchor="t" anchorCtr="0">
            <a:spAutoFit/>
          </a:bodyPr>
          <a:lstStyle/>
          <a:p>
            <a:pPr algn="ctr"/>
            <a:r>
              <a:rPr lang="zh-CN" sz="1650" dirty="0">
                <a:solidFill>
                  <a:srgbClr val="E67E22"/>
                </a:solidFill>
                <a:latin typeface="Georgia"/>
                <a:ea typeface="KaiTi"/>
                <a:cs typeface="Georgia"/>
              </a:rPr>
              <a:t>使命</a:t>
            </a:r>
          </a:p>
        </p:txBody>
      </p:sp>
      <p:sp>
        <p:nvSpPr>
          <p:cNvPr id="13" name="Line 13"/>
          <p:cNvSpPr/>
          <p:nvPr/>
        </p:nvSpPr>
        <p:spPr>
          <a:xfrm>
            <a:off x="1047750" y="2381250"/>
            <a:ext cx="2571750" cy="9525"/>
          </a:xfrm>
          <a:custGeom>
            <a:avLst/>
            <a:gdLst/>
            <a:ahLst/>
            <a:cxnLst/>
            <a:rect l="l" t="t" r="r" b="b"/>
            <a:pathLst>
              <a:path w="2571750" h="9525">
                <a:moveTo>
                  <a:pt x="0" y="0"/>
                </a:moveTo>
                <a:lnTo>
                  <a:pt x="2571750" y="0"/>
                </a:lnTo>
              </a:path>
            </a:pathLst>
          </a:custGeom>
          <a:noFill/>
          <a:ln w="9525">
            <a:solidFill>
              <a:srgbClr val="E8E3DC"/>
            </a:solidFill>
          </a:ln>
        </p:spPr>
      </p:sp>
      <p:sp>
        <p:nvSpPr>
          <p:cNvPr id="14" name="TextBox 14"/>
          <p:cNvSpPr txBox="1"/>
          <p:nvPr/>
        </p:nvSpPr>
        <p:spPr>
          <a:xfrm>
            <a:off x="1807369" y="2529364"/>
            <a:ext cx="1052513" cy="259080"/>
          </a:xfrm>
          <a:prstGeom prst="rect">
            <a:avLst/>
          </a:prstGeom>
          <a:noFill/>
          <a:ln>
            <a:noFill/>
          </a:ln>
        </p:spPr>
        <p:txBody>
          <a:bodyPr wrap="none" lIns="0" tIns="0" rIns="0" bIns="0" anchor="t" anchorCtr="0">
            <a:spAutoFit/>
          </a:bodyPr>
          <a:lstStyle/>
          <a:p>
            <a:pPr algn="ctr"/>
            <a:r>
              <a:rPr lang="zh-CN" sz="1275" dirty="0">
                <a:solidFill>
                  <a:srgbClr val="2C2C2C"/>
                </a:solidFill>
                <a:latin typeface="Arial"/>
                <a:ea typeface="Microsoft YaHei"/>
                <a:cs typeface="Arial"/>
              </a:rPr>
              <a:t>不再从零开始</a:t>
            </a:r>
          </a:p>
        </p:txBody>
      </p:sp>
      <p:sp>
        <p:nvSpPr>
          <p:cNvPr id="15" name="TextBox 15"/>
          <p:cNvSpPr txBox="1"/>
          <p:nvPr/>
        </p:nvSpPr>
        <p:spPr>
          <a:xfrm>
            <a:off x="1892379" y="2767489"/>
            <a:ext cx="882491" cy="259080"/>
          </a:xfrm>
          <a:prstGeom prst="rect">
            <a:avLst/>
          </a:prstGeom>
          <a:noFill/>
          <a:ln>
            <a:noFill/>
          </a:ln>
        </p:spPr>
        <p:txBody>
          <a:bodyPr wrap="none" lIns="0" tIns="0" rIns="0" bIns="0" anchor="t" anchorCtr="0">
            <a:spAutoFit/>
          </a:bodyPr>
          <a:lstStyle/>
          <a:p>
            <a:pPr algn="ctr"/>
            <a:r>
              <a:rPr lang="zh-CN" sz="1275" dirty="0">
                <a:solidFill>
                  <a:srgbClr val="2C2C2C"/>
                </a:solidFill>
                <a:latin typeface="Arial"/>
                <a:ea typeface="Microsoft YaHei"/>
                <a:cs typeface="Arial"/>
              </a:rPr>
              <a:t>经营每一天</a:t>
            </a:r>
          </a:p>
        </p:txBody>
      </p:sp>
      <p:sp>
        <p:nvSpPr>
          <p:cNvPr id="16" name="TextBox 16"/>
          <p:cNvSpPr txBox="1"/>
          <p:nvPr/>
        </p:nvSpPr>
        <p:spPr>
          <a:xfrm>
            <a:off x="1606153" y="3180874"/>
            <a:ext cx="1454944"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以商家经营持续性为起点</a:t>
            </a:r>
          </a:p>
        </p:txBody>
      </p:sp>
      <p:sp>
        <p:nvSpPr>
          <p:cNvPr id="17" name="Rectangle 17"/>
          <p:cNvSpPr/>
          <p:nvPr/>
        </p:nvSpPr>
        <p:spPr>
          <a:xfrm>
            <a:off x="4000500" y="2524125"/>
            <a:ext cx="476250" cy="285750"/>
          </a:xfrm>
          <a:prstGeom prst="roundRect">
            <a:avLst>
              <a:gd name="adj" fmla="val 50000"/>
            </a:avLst>
          </a:prstGeom>
          <a:solidFill>
            <a:srgbClr val="F0EDE8"/>
          </a:solidFill>
          <a:ln w="9525">
            <a:solidFill>
              <a:srgbClr val="D4A574"/>
            </a:solidFill>
          </a:ln>
        </p:spPr>
      </p:sp>
      <p:sp>
        <p:nvSpPr>
          <p:cNvPr id="18" name="TextBox 18"/>
          <p:cNvSpPr txBox="1"/>
          <p:nvPr/>
        </p:nvSpPr>
        <p:spPr>
          <a:xfrm>
            <a:off x="4157162" y="2546032"/>
            <a:ext cx="162925" cy="335280"/>
          </a:xfrm>
          <a:prstGeom prst="rect">
            <a:avLst/>
          </a:prstGeom>
          <a:noFill/>
          <a:ln>
            <a:noFill/>
          </a:ln>
        </p:spPr>
        <p:txBody>
          <a:bodyPr wrap="none" lIns="0" tIns="0" rIns="0" bIns="0" anchor="t" anchorCtr="0">
            <a:spAutoFit/>
          </a:bodyPr>
          <a:lstStyle/>
          <a:p>
            <a:pPr algn="ctr"/>
            <a:r>
              <a:rPr lang="zh-CN" sz="1650" dirty="0">
                <a:solidFill>
                  <a:srgbClr val="D4A574"/>
                </a:solidFill>
                <a:latin typeface="Arial"/>
                <a:ea typeface="Microsoft YaHei"/>
                <a:cs typeface="Arial"/>
              </a:rPr>
              <a:t>→</a:t>
            </a:r>
          </a:p>
        </p:txBody>
      </p:sp>
      <p:sp>
        <p:nvSpPr>
          <p:cNvPr id="19" name="Rectangle 19"/>
          <p:cNvSpPr/>
          <p:nvPr/>
        </p:nvSpPr>
        <p:spPr>
          <a:xfrm>
            <a:off x="4524375" y="1714500"/>
            <a:ext cx="3143250" cy="1905000"/>
          </a:xfrm>
          <a:prstGeom prst="roundRect">
            <a:avLst>
              <a:gd name="adj" fmla="val 8000"/>
            </a:avLst>
          </a:prstGeom>
          <a:solidFill>
            <a:srgbClr val="FAFAF5"/>
          </a:solidFill>
          <a:ln w="23812">
            <a:solidFill>
              <a:srgbClr val="D4A574"/>
            </a:solidFill>
          </a:ln>
          <a:effectLst>
            <a:outerShdw blurRad="76200" dist="19050" dir="5400000" algn="ctr" rotWithShape="0">
              <a:srgbClr val="2C2C2C">
                <a:alpha val="4500"/>
              </a:srgbClr>
            </a:outerShdw>
          </a:effectLst>
        </p:spPr>
      </p:sp>
      <p:sp>
        <p:nvSpPr>
          <p:cNvPr id="20" name="Rectangle 20"/>
          <p:cNvSpPr/>
          <p:nvPr/>
        </p:nvSpPr>
        <p:spPr>
          <a:xfrm>
            <a:off x="4524375" y="1714500"/>
            <a:ext cx="3143250" cy="76200"/>
          </a:xfrm>
          <a:prstGeom prst="roundRect">
            <a:avLst>
              <a:gd name="adj" fmla="val 50000"/>
            </a:avLst>
          </a:prstGeom>
          <a:solidFill>
            <a:srgbClr val="D4A574"/>
          </a:solidFill>
          <a:ln>
            <a:noFill/>
          </a:ln>
        </p:spPr>
      </p:sp>
      <p:sp>
        <p:nvSpPr>
          <p:cNvPr id="21" name="Rectangle 21"/>
          <p:cNvSpPr/>
          <p:nvPr/>
        </p:nvSpPr>
        <p:spPr>
          <a:xfrm>
            <a:off x="4810125" y="1952625"/>
            <a:ext cx="381000" cy="381000"/>
          </a:xfrm>
          <a:prstGeom prst="roundRect">
            <a:avLst>
              <a:gd name="adj" fmla="val 50000"/>
            </a:avLst>
          </a:prstGeom>
          <a:solidFill>
            <a:srgbClr val="D4A574">
              <a:alpha val="15000"/>
            </a:srgbClr>
          </a:solidFill>
          <a:ln>
            <a:noFill/>
          </a:ln>
        </p:spPr>
      </p:sp>
      <p:sp>
        <p:nvSpPr>
          <p:cNvPr id="22" name="TextBox 22"/>
          <p:cNvSpPr txBox="1"/>
          <p:nvPr/>
        </p:nvSpPr>
        <p:spPr>
          <a:xfrm>
            <a:off x="4919162" y="2022158"/>
            <a:ext cx="162925" cy="335280"/>
          </a:xfrm>
          <a:prstGeom prst="rect">
            <a:avLst/>
          </a:prstGeom>
          <a:noFill/>
          <a:ln>
            <a:noFill/>
          </a:ln>
        </p:spPr>
        <p:txBody>
          <a:bodyPr wrap="none" lIns="0" tIns="0" rIns="0" bIns="0" anchor="t" anchorCtr="0">
            <a:spAutoFit/>
          </a:bodyPr>
          <a:lstStyle/>
          <a:p>
            <a:pPr algn="ctr"/>
            <a:r>
              <a:rPr lang="zh-CN" sz="1650" dirty="0">
                <a:solidFill>
                  <a:srgbClr val="D4A574"/>
                </a:solidFill>
                <a:latin typeface="Georgia"/>
                <a:ea typeface="KaiTi"/>
                <a:cs typeface="Georgia"/>
              </a:rPr>
              <a:t>2</a:t>
            </a:r>
          </a:p>
        </p:txBody>
      </p:sp>
      <p:sp>
        <p:nvSpPr>
          <p:cNvPr id="23" name="TextBox 23"/>
          <p:cNvSpPr txBox="1"/>
          <p:nvPr/>
        </p:nvSpPr>
        <p:spPr>
          <a:xfrm>
            <a:off x="5634990" y="2031682"/>
            <a:ext cx="922020" cy="335280"/>
          </a:xfrm>
          <a:prstGeom prst="rect">
            <a:avLst/>
          </a:prstGeom>
          <a:noFill/>
          <a:ln>
            <a:noFill/>
          </a:ln>
        </p:spPr>
        <p:txBody>
          <a:bodyPr wrap="none" lIns="0" tIns="0" rIns="0" bIns="0" anchor="t" anchorCtr="0">
            <a:spAutoFit/>
          </a:bodyPr>
          <a:lstStyle/>
          <a:p>
            <a:pPr algn="ctr"/>
            <a:r>
              <a:rPr lang="zh-CN" sz="1650" dirty="0">
                <a:solidFill>
                  <a:srgbClr val="D4A574"/>
                </a:solidFill>
                <a:latin typeface="Georgia"/>
                <a:ea typeface="KaiTi"/>
                <a:cs typeface="Georgia"/>
              </a:rPr>
              <a:t>诊断解决</a:t>
            </a:r>
          </a:p>
        </p:txBody>
      </p:sp>
      <p:sp>
        <p:nvSpPr>
          <p:cNvPr id="24" name="Line 24"/>
          <p:cNvSpPr/>
          <p:nvPr/>
        </p:nvSpPr>
        <p:spPr>
          <a:xfrm>
            <a:off x="4810125" y="2381250"/>
            <a:ext cx="2571750" cy="9525"/>
          </a:xfrm>
          <a:custGeom>
            <a:avLst/>
            <a:gdLst/>
            <a:ahLst/>
            <a:cxnLst/>
            <a:rect l="l" t="t" r="r" b="b"/>
            <a:pathLst>
              <a:path w="2571750" h="9525">
                <a:moveTo>
                  <a:pt x="0" y="0"/>
                </a:moveTo>
                <a:lnTo>
                  <a:pt x="2571750" y="0"/>
                </a:lnTo>
              </a:path>
            </a:pathLst>
          </a:custGeom>
          <a:noFill/>
          <a:ln w="9525">
            <a:solidFill>
              <a:srgbClr val="E8E3DC"/>
            </a:solidFill>
          </a:ln>
        </p:spPr>
      </p:sp>
      <p:sp>
        <p:nvSpPr>
          <p:cNvPr id="25" name="TextBox 25"/>
          <p:cNvSpPr txBox="1"/>
          <p:nvPr/>
        </p:nvSpPr>
        <p:spPr>
          <a:xfrm>
            <a:off x="5484733" y="2529364"/>
            <a:ext cx="1222534" cy="259080"/>
          </a:xfrm>
          <a:prstGeom prst="rect">
            <a:avLst/>
          </a:prstGeom>
          <a:noFill/>
          <a:ln>
            <a:noFill/>
          </a:ln>
        </p:spPr>
        <p:txBody>
          <a:bodyPr wrap="none" lIns="0" tIns="0" rIns="0" bIns="0" anchor="t" anchorCtr="0">
            <a:spAutoFit/>
          </a:bodyPr>
          <a:lstStyle/>
          <a:p>
            <a:pPr algn="ctr"/>
            <a:r>
              <a:rPr lang="zh-CN" sz="1275" dirty="0">
                <a:solidFill>
                  <a:srgbClr val="2C2C2C"/>
                </a:solidFill>
                <a:latin typeface="Arial"/>
                <a:ea typeface="Microsoft YaHei"/>
                <a:cs typeface="Arial"/>
              </a:rPr>
              <a:t>解决「关系每天</a:t>
            </a:r>
          </a:p>
        </p:txBody>
      </p:sp>
      <p:sp>
        <p:nvSpPr>
          <p:cNvPr id="26" name="TextBox 26"/>
          <p:cNvSpPr txBox="1"/>
          <p:nvPr/>
        </p:nvSpPr>
        <p:spPr>
          <a:xfrm>
            <a:off x="5399722" y="2767489"/>
            <a:ext cx="1392555" cy="259080"/>
          </a:xfrm>
          <a:prstGeom prst="rect">
            <a:avLst/>
          </a:prstGeom>
          <a:noFill/>
          <a:ln>
            <a:noFill/>
          </a:ln>
        </p:spPr>
        <p:txBody>
          <a:bodyPr wrap="none" lIns="0" tIns="0" rIns="0" bIns="0" anchor="t" anchorCtr="0">
            <a:spAutoFit/>
          </a:bodyPr>
          <a:lstStyle/>
          <a:p>
            <a:pPr algn="ctr"/>
            <a:r>
              <a:rPr lang="zh-CN" sz="1275" dirty="0">
                <a:solidFill>
                  <a:srgbClr val="2C2C2C"/>
                </a:solidFill>
                <a:latin typeface="Arial"/>
                <a:ea typeface="Microsoft YaHei"/>
                <a:cs typeface="Arial"/>
              </a:rPr>
              <a:t>都在消失」的痛点</a:t>
            </a:r>
          </a:p>
        </p:txBody>
      </p:sp>
      <p:sp>
        <p:nvSpPr>
          <p:cNvPr id="27" name="Rectangle 27"/>
          <p:cNvSpPr/>
          <p:nvPr/>
        </p:nvSpPr>
        <p:spPr>
          <a:xfrm>
            <a:off x="5572125" y="3124200"/>
            <a:ext cx="1047750" cy="247650"/>
          </a:xfrm>
          <a:prstGeom prst="roundRect">
            <a:avLst>
              <a:gd name="adj" fmla="val 50000"/>
            </a:avLst>
          </a:prstGeom>
          <a:solidFill>
            <a:srgbClr val="C0392B">
              <a:alpha val="10000"/>
            </a:srgbClr>
          </a:solidFill>
          <a:ln>
            <a:noFill/>
          </a:ln>
        </p:spPr>
      </p:sp>
      <p:sp>
        <p:nvSpPr>
          <p:cNvPr id="28" name="TextBox 28"/>
          <p:cNvSpPr txBox="1"/>
          <p:nvPr/>
        </p:nvSpPr>
        <p:spPr>
          <a:xfrm>
            <a:off x="5823585" y="3190399"/>
            <a:ext cx="544830" cy="198120"/>
          </a:xfrm>
          <a:prstGeom prst="rect">
            <a:avLst/>
          </a:prstGeom>
          <a:noFill/>
          <a:ln>
            <a:noFill/>
          </a:ln>
        </p:spPr>
        <p:txBody>
          <a:bodyPr wrap="none" lIns="0" tIns="0" rIns="0" bIns="0" anchor="t" anchorCtr="0">
            <a:spAutoFit/>
          </a:bodyPr>
          <a:lstStyle/>
          <a:p>
            <a:pPr algn="ctr"/>
            <a:r>
              <a:rPr lang="zh-CN" sz="975" dirty="0">
                <a:solidFill>
                  <a:srgbClr val="C0392B"/>
                </a:solidFill>
                <a:latin typeface="Arial"/>
                <a:ea typeface="Microsoft YaHei"/>
                <a:cs typeface="Arial"/>
              </a:rPr>
              <a:t>核心痛点</a:t>
            </a:r>
          </a:p>
        </p:txBody>
      </p:sp>
      <p:sp>
        <p:nvSpPr>
          <p:cNvPr id="29" name="Rectangle 29"/>
          <p:cNvSpPr/>
          <p:nvPr/>
        </p:nvSpPr>
        <p:spPr>
          <a:xfrm>
            <a:off x="7762875" y="2524125"/>
            <a:ext cx="476250" cy="285750"/>
          </a:xfrm>
          <a:prstGeom prst="roundRect">
            <a:avLst>
              <a:gd name="adj" fmla="val 50000"/>
            </a:avLst>
          </a:prstGeom>
          <a:solidFill>
            <a:srgbClr val="F0EDE8"/>
          </a:solidFill>
          <a:ln w="9525">
            <a:solidFill>
              <a:srgbClr val="1A5276"/>
            </a:solidFill>
          </a:ln>
        </p:spPr>
      </p:sp>
      <p:sp>
        <p:nvSpPr>
          <p:cNvPr id="30" name="TextBox 30"/>
          <p:cNvSpPr txBox="1"/>
          <p:nvPr/>
        </p:nvSpPr>
        <p:spPr>
          <a:xfrm>
            <a:off x="7919537" y="2546032"/>
            <a:ext cx="162925" cy="335280"/>
          </a:xfrm>
          <a:prstGeom prst="rect">
            <a:avLst/>
          </a:prstGeom>
          <a:noFill/>
          <a:ln>
            <a:noFill/>
          </a:ln>
        </p:spPr>
        <p:txBody>
          <a:bodyPr wrap="none" lIns="0" tIns="0" rIns="0" bIns="0" anchor="t" anchorCtr="0">
            <a:spAutoFit/>
          </a:bodyPr>
          <a:lstStyle/>
          <a:p>
            <a:pPr algn="ctr"/>
            <a:r>
              <a:rPr lang="zh-CN" sz="1650" dirty="0">
                <a:solidFill>
                  <a:srgbClr val="1A5276"/>
                </a:solidFill>
                <a:latin typeface="Arial"/>
                <a:ea typeface="Microsoft YaHei"/>
                <a:cs typeface="Arial"/>
              </a:rPr>
              <a:t>→</a:t>
            </a:r>
          </a:p>
        </p:txBody>
      </p:sp>
      <p:sp>
        <p:nvSpPr>
          <p:cNvPr id="31" name="Rectangle 31"/>
          <p:cNvSpPr/>
          <p:nvPr/>
        </p:nvSpPr>
        <p:spPr>
          <a:xfrm>
            <a:off x="8286750" y="1714500"/>
            <a:ext cx="3143250" cy="1905000"/>
          </a:xfrm>
          <a:prstGeom prst="roundRect">
            <a:avLst>
              <a:gd name="adj" fmla="val 8000"/>
            </a:avLst>
          </a:prstGeom>
          <a:solidFill>
            <a:srgbClr val="FAFAF5"/>
          </a:solidFill>
          <a:ln w="23812">
            <a:solidFill>
              <a:srgbClr val="1A5276"/>
            </a:solidFill>
          </a:ln>
          <a:effectLst>
            <a:outerShdw blurRad="76200" dist="19050" dir="5400000" algn="ctr" rotWithShape="0">
              <a:srgbClr val="2C2C2C">
                <a:alpha val="4500"/>
              </a:srgbClr>
            </a:outerShdw>
          </a:effectLst>
        </p:spPr>
      </p:sp>
      <p:sp>
        <p:nvSpPr>
          <p:cNvPr id="32" name="Rectangle 32"/>
          <p:cNvSpPr/>
          <p:nvPr/>
        </p:nvSpPr>
        <p:spPr>
          <a:xfrm>
            <a:off x="8286750" y="1714500"/>
            <a:ext cx="3143250" cy="76200"/>
          </a:xfrm>
          <a:prstGeom prst="roundRect">
            <a:avLst>
              <a:gd name="adj" fmla="val 50000"/>
            </a:avLst>
          </a:prstGeom>
          <a:solidFill>
            <a:srgbClr val="1A5276"/>
          </a:solidFill>
          <a:ln>
            <a:noFill/>
          </a:ln>
        </p:spPr>
      </p:sp>
      <p:sp>
        <p:nvSpPr>
          <p:cNvPr id="33" name="Rectangle 33"/>
          <p:cNvSpPr/>
          <p:nvPr/>
        </p:nvSpPr>
        <p:spPr>
          <a:xfrm>
            <a:off x="8572500" y="1952625"/>
            <a:ext cx="381000" cy="381000"/>
          </a:xfrm>
          <a:prstGeom prst="roundRect">
            <a:avLst>
              <a:gd name="adj" fmla="val 50000"/>
            </a:avLst>
          </a:prstGeom>
          <a:solidFill>
            <a:srgbClr val="1A5276">
              <a:alpha val="12000"/>
            </a:srgbClr>
          </a:solidFill>
          <a:ln>
            <a:noFill/>
          </a:ln>
        </p:spPr>
      </p:sp>
      <p:sp>
        <p:nvSpPr>
          <p:cNvPr id="34" name="TextBox 34"/>
          <p:cNvSpPr txBox="1"/>
          <p:nvPr/>
        </p:nvSpPr>
        <p:spPr>
          <a:xfrm>
            <a:off x="8681537" y="2022158"/>
            <a:ext cx="162925" cy="335280"/>
          </a:xfrm>
          <a:prstGeom prst="rect">
            <a:avLst/>
          </a:prstGeom>
          <a:noFill/>
          <a:ln>
            <a:noFill/>
          </a:ln>
        </p:spPr>
        <p:txBody>
          <a:bodyPr wrap="none" lIns="0" tIns="0" rIns="0" bIns="0" anchor="t" anchorCtr="0">
            <a:spAutoFit/>
          </a:bodyPr>
          <a:lstStyle/>
          <a:p>
            <a:pPr algn="ctr"/>
            <a:r>
              <a:rPr lang="zh-CN" sz="1650" dirty="0">
                <a:solidFill>
                  <a:srgbClr val="1A5276"/>
                </a:solidFill>
                <a:latin typeface="Georgia"/>
                <a:ea typeface="KaiTi"/>
                <a:cs typeface="Georgia"/>
              </a:rPr>
              <a:t>3</a:t>
            </a:r>
          </a:p>
        </p:txBody>
      </p:sp>
      <p:sp>
        <p:nvSpPr>
          <p:cNvPr id="35" name="TextBox 35"/>
          <p:cNvSpPr txBox="1"/>
          <p:nvPr/>
        </p:nvSpPr>
        <p:spPr>
          <a:xfrm>
            <a:off x="9617392" y="2031682"/>
            <a:ext cx="481965" cy="335280"/>
          </a:xfrm>
          <a:prstGeom prst="rect">
            <a:avLst/>
          </a:prstGeom>
          <a:noFill/>
          <a:ln>
            <a:noFill/>
          </a:ln>
        </p:spPr>
        <p:txBody>
          <a:bodyPr wrap="none" lIns="0" tIns="0" rIns="0" bIns="0" anchor="t" anchorCtr="0">
            <a:spAutoFit/>
          </a:bodyPr>
          <a:lstStyle/>
          <a:p>
            <a:pPr algn="ctr"/>
            <a:r>
              <a:rPr lang="zh-CN" sz="1650" dirty="0">
                <a:solidFill>
                  <a:srgbClr val="1A5276"/>
                </a:solidFill>
                <a:latin typeface="Georgia"/>
                <a:ea typeface="KaiTi"/>
                <a:cs typeface="Georgia"/>
              </a:rPr>
              <a:t>愿景</a:t>
            </a:r>
          </a:p>
        </p:txBody>
      </p:sp>
      <p:sp>
        <p:nvSpPr>
          <p:cNvPr id="36" name="Line 36"/>
          <p:cNvSpPr/>
          <p:nvPr/>
        </p:nvSpPr>
        <p:spPr>
          <a:xfrm>
            <a:off x="8572500" y="2381250"/>
            <a:ext cx="2571750" cy="9525"/>
          </a:xfrm>
          <a:custGeom>
            <a:avLst/>
            <a:gdLst/>
            <a:ahLst/>
            <a:cxnLst/>
            <a:rect l="l" t="t" r="r" b="b"/>
            <a:pathLst>
              <a:path w="2571750" h="9525">
                <a:moveTo>
                  <a:pt x="0" y="0"/>
                </a:moveTo>
                <a:lnTo>
                  <a:pt x="2571750" y="0"/>
                </a:lnTo>
              </a:path>
            </a:pathLst>
          </a:custGeom>
          <a:noFill/>
          <a:ln w="9525">
            <a:solidFill>
              <a:srgbClr val="E8E3DC"/>
            </a:solidFill>
          </a:ln>
        </p:spPr>
      </p:sp>
      <p:sp>
        <p:nvSpPr>
          <p:cNvPr id="37" name="TextBox 37"/>
          <p:cNvSpPr txBox="1"/>
          <p:nvPr/>
        </p:nvSpPr>
        <p:spPr>
          <a:xfrm>
            <a:off x="9247108" y="2529364"/>
            <a:ext cx="1222534" cy="259080"/>
          </a:xfrm>
          <a:prstGeom prst="rect">
            <a:avLst/>
          </a:prstGeom>
          <a:noFill/>
          <a:ln>
            <a:noFill/>
          </a:ln>
        </p:spPr>
        <p:txBody>
          <a:bodyPr wrap="none" lIns="0" tIns="0" rIns="0" bIns="0" anchor="t" anchorCtr="0">
            <a:spAutoFit/>
          </a:bodyPr>
          <a:lstStyle/>
          <a:p>
            <a:pPr algn="ctr"/>
            <a:r>
              <a:rPr lang="zh-CN" sz="1275" dirty="0">
                <a:solidFill>
                  <a:srgbClr val="2C2C2C"/>
                </a:solidFill>
                <a:latin typeface="Arial"/>
                <a:ea typeface="Microsoft YaHei"/>
                <a:cs typeface="Arial"/>
              </a:rPr>
              <a:t>让经营关系成为</a:t>
            </a:r>
          </a:p>
        </p:txBody>
      </p:sp>
      <p:sp>
        <p:nvSpPr>
          <p:cNvPr id="38" name="TextBox 38"/>
          <p:cNvSpPr txBox="1"/>
          <p:nvPr/>
        </p:nvSpPr>
        <p:spPr>
          <a:xfrm>
            <a:off x="9162098" y="2767489"/>
            <a:ext cx="1392555" cy="259080"/>
          </a:xfrm>
          <a:prstGeom prst="rect">
            <a:avLst/>
          </a:prstGeom>
          <a:noFill/>
          <a:ln>
            <a:noFill/>
          </a:ln>
        </p:spPr>
        <p:txBody>
          <a:bodyPr wrap="none" lIns="0" tIns="0" rIns="0" bIns="0" anchor="t" anchorCtr="0">
            <a:spAutoFit/>
          </a:bodyPr>
          <a:lstStyle/>
          <a:p>
            <a:pPr algn="ctr"/>
            <a:r>
              <a:rPr lang="zh-CN" sz="1275" dirty="0">
                <a:solidFill>
                  <a:srgbClr val="2C2C2C"/>
                </a:solidFill>
                <a:latin typeface="Arial"/>
                <a:ea typeface="Microsoft YaHei"/>
                <a:cs typeface="Arial"/>
              </a:rPr>
              <a:t>最重要的商业资产</a:t>
            </a:r>
          </a:p>
        </p:txBody>
      </p:sp>
      <p:sp>
        <p:nvSpPr>
          <p:cNvPr id="39" name="TextBox 39"/>
          <p:cNvSpPr txBox="1"/>
          <p:nvPr/>
        </p:nvSpPr>
        <p:spPr>
          <a:xfrm>
            <a:off x="9195911" y="3180874"/>
            <a:ext cx="1324928"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以社区信任网络为终点</a:t>
            </a:r>
          </a:p>
        </p:txBody>
      </p:sp>
      <p:sp>
        <p:nvSpPr>
          <p:cNvPr id="40" name="Rectangle 40"/>
          <p:cNvSpPr/>
          <p:nvPr/>
        </p:nvSpPr>
        <p:spPr>
          <a:xfrm>
            <a:off x="571500" y="4095750"/>
            <a:ext cx="11049000" cy="1047750"/>
          </a:xfrm>
          <a:prstGeom prst="roundRect">
            <a:avLst>
              <a:gd name="adj" fmla="val 14545"/>
            </a:avLst>
          </a:prstGeom>
          <a:solidFill>
            <a:srgbClr val="F5F0EA"/>
          </a:solidFill>
          <a:ln w="9525">
            <a:solidFill>
              <a:srgbClr val="D4A574"/>
            </a:solidFill>
          </a:ln>
          <a:effectLst>
            <a:outerShdw blurRad="76200" dist="19050" dir="5400000" algn="ctr" rotWithShape="0">
              <a:srgbClr val="2C2C2C">
                <a:alpha val="4500"/>
              </a:srgbClr>
            </a:outerShdw>
          </a:effectLst>
        </p:spPr>
      </p:sp>
      <p:sp>
        <p:nvSpPr>
          <p:cNvPr id="41" name="TextBox 41"/>
          <p:cNvSpPr txBox="1"/>
          <p:nvPr/>
        </p:nvSpPr>
        <p:spPr>
          <a:xfrm>
            <a:off x="4998720" y="4254818"/>
            <a:ext cx="2194560" cy="274320"/>
          </a:xfrm>
          <a:prstGeom prst="rect">
            <a:avLst/>
          </a:prstGeom>
          <a:noFill/>
          <a:ln>
            <a:noFill/>
          </a:ln>
        </p:spPr>
        <p:txBody>
          <a:bodyPr wrap="none" lIns="0" tIns="0" rIns="0" bIns="0" anchor="t" anchorCtr="0">
            <a:spAutoFit/>
          </a:bodyPr>
          <a:lstStyle/>
          <a:p>
            <a:pPr algn="ctr"/>
            <a:r>
              <a:rPr lang="zh-CN" sz="1350" dirty="0">
                <a:solidFill>
                  <a:srgbClr val="2C2C2C"/>
                </a:solidFill>
                <a:latin typeface="Georgia"/>
                <a:ea typeface="KaiTi"/>
                <a:cs typeface="Georgia"/>
              </a:rPr>
              <a:t>逻辑链底层：从交易到关系</a:t>
            </a:r>
          </a:p>
        </p:txBody>
      </p:sp>
      <p:sp>
        <p:nvSpPr>
          <p:cNvPr id="42" name="Rectangle 42"/>
          <p:cNvSpPr/>
          <p:nvPr/>
        </p:nvSpPr>
        <p:spPr>
          <a:xfrm>
            <a:off x="952500" y="4591050"/>
            <a:ext cx="2095500" cy="361950"/>
          </a:xfrm>
          <a:prstGeom prst="roundRect">
            <a:avLst>
              <a:gd name="adj" fmla="val 26316"/>
            </a:avLst>
          </a:prstGeom>
          <a:solidFill>
            <a:srgbClr val="FAFAF5"/>
          </a:solidFill>
          <a:ln w="9525">
            <a:solidFill>
              <a:srgbClr val="E8E3DC"/>
            </a:solidFill>
          </a:ln>
        </p:spPr>
      </p:sp>
      <p:sp>
        <p:nvSpPr>
          <p:cNvPr id="43" name="TextBox 43"/>
          <p:cNvSpPr txBox="1"/>
          <p:nvPr/>
        </p:nvSpPr>
        <p:spPr>
          <a:xfrm>
            <a:off x="1664970" y="4699635"/>
            <a:ext cx="670560"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Arial"/>
                <a:ea typeface="Microsoft YaHei"/>
                <a:cs typeface="Arial"/>
              </a:rPr>
              <a:t>交易关系</a:t>
            </a:r>
          </a:p>
        </p:txBody>
      </p:sp>
      <p:sp>
        <p:nvSpPr>
          <p:cNvPr id="44" name="TextBox 44"/>
          <p:cNvSpPr txBox="1"/>
          <p:nvPr/>
        </p:nvSpPr>
        <p:spPr>
          <a:xfrm>
            <a:off x="3230070" y="4602480"/>
            <a:ext cx="207359" cy="426720"/>
          </a:xfrm>
          <a:prstGeom prst="rect">
            <a:avLst/>
          </a:prstGeom>
          <a:noFill/>
          <a:ln>
            <a:noFill/>
          </a:ln>
        </p:spPr>
        <p:txBody>
          <a:bodyPr wrap="none" lIns="0" tIns="0" rIns="0" bIns="0" anchor="t" anchorCtr="0">
            <a:spAutoFit/>
          </a:bodyPr>
          <a:lstStyle/>
          <a:p>
            <a:pPr algn="ctr"/>
            <a:r>
              <a:rPr lang="zh-CN" sz="2100" dirty="0">
                <a:solidFill>
                  <a:srgbClr val="E67E22"/>
                </a:solidFill>
                <a:latin typeface="Arial"/>
                <a:ea typeface="Microsoft YaHei"/>
                <a:cs typeface="Arial"/>
              </a:rPr>
              <a:t>→</a:t>
            </a:r>
          </a:p>
        </p:txBody>
      </p:sp>
      <p:sp>
        <p:nvSpPr>
          <p:cNvPr id="45" name="Rectangle 45"/>
          <p:cNvSpPr/>
          <p:nvPr/>
        </p:nvSpPr>
        <p:spPr>
          <a:xfrm>
            <a:off x="3714750" y="4591050"/>
            <a:ext cx="2095500" cy="361950"/>
          </a:xfrm>
          <a:prstGeom prst="roundRect">
            <a:avLst>
              <a:gd name="adj" fmla="val 26316"/>
            </a:avLst>
          </a:prstGeom>
          <a:solidFill>
            <a:srgbClr val="FAFAF5"/>
          </a:solidFill>
          <a:ln w="9525">
            <a:solidFill>
              <a:srgbClr val="E8E3DC"/>
            </a:solidFill>
          </a:ln>
        </p:spPr>
      </p:sp>
      <p:sp>
        <p:nvSpPr>
          <p:cNvPr id="46" name="TextBox 46"/>
          <p:cNvSpPr txBox="1"/>
          <p:nvPr/>
        </p:nvSpPr>
        <p:spPr>
          <a:xfrm>
            <a:off x="4427220" y="4699635"/>
            <a:ext cx="670560"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Arial"/>
                <a:ea typeface="Microsoft YaHei"/>
                <a:cs typeface="Arial"/>
              </a:rPr>
              <a:t>经营关系</a:t>
            </a:r>
          </a:p>
        </p:txBody>
      </p:sp>
      <p:sp>
        <p:nvSpPr>
          <p:cNvPr id="47" name="TextBox 47"/>
          <p:cNvSpPr txBox="1"/>
          <p:nvPr/>
        </p:nvSpPr>
        <p:spPr>
          <a:xfrm>
            <a:off x="5992320" y="4602480"/>
            <a:ext cx="207359" cy="426720"/>
          </a:xfrm>
          <a:prstGeom prst="rect">
            <a:avLst/>
          </a:prstGeom>
          <a:noFill/>
          <a:ln>
            <a:noFill/>
          </a:ln>
        </p:spPr>
        <p:txBody>
          <a:bodyPr wrap="none" lIns="0" tIns="0" rIns="0" bIns="0" anchor="t" anchorCtr="0">
            <a:spAutoFit/>
          </a:bodyPr>
          <a:lstStyle/>
          <a:p>
            <a:pPr algn="ctr"/>
            <a:r>
              <a:rPr lang="zh-CN" sz="2100" dirty="0">
                <a:solidFill>
                  <a:srgbClr val="D4A574"/>
                </a:solidFill>
                <a:latin typeface="Arial"/>
                <a:ea typeface="Microsoft YaHei"/>
                <a:cs typeface="Arial"/>
              </a:rPr>
              <a:t>→</a:t>
            </a:r>
          </a:p>
        </p:txBody>
      </p:sp>
      <p:sp>
        <p:nvSpPr>
          <p:cNvPr id="48" name="Rectangle 48"/>
          <p:cNvSpPr/>
          <p:nvPr/>
        </p:nvSpPr>
        <p:spPr>
          <a:xfrm>
            <a:off x="6477000" y="4552950"/>
            <a:ext cx="2286000" cy="438150"/>
          </a:xfrm>
          <a:prstGeom prst="roundRect">
            <a:avLst>
              <a:gd name="adj" fmla="val 26087"/>
            </a:avLst>
          </a:prstGeom>
          <a:solidFill>
            <a:srgbClr val="1A5276">
              <a:alpha val="8000"/>
            </a:srgbClr>
          </a:solidFill>
          <a:ln w="14288">
            <a:solidFill>
              <a:srgbClr val="1A5276"/>
            </a:solidFill>
          </a:ln>
        </p:spPr>
      </p:sp>
      <p:sp>
        <p:nvSpPr>
          <p:cNvPr id="49" name="TextBox 49"/>
          <p:cNvSpPr txBox="1"/>
          <p:nvPr/>
        </p:nvSpPr>
        <p:spPr>
          <a:xfrm>
            <a:off x="6932676" y="4699635"/>
            <a:ext cx="1374648" cy="243840"/>
          </a:xfrm>
          <a:prstGeom prst="rect">
            <a:avLst/>
          </a:prstGeom>
          <a:noFill/>
          <a:ln>
            <a:noFill/>
          </a:ln>
        </p:spPr>
        <p:txBody>
          <a:bodyPr wrap="none" lIns="0" tIns="0" rIns="0" bIns="0" anchor="t" anchorCtr="0">
            <a:spAutoFit/>
          </a:bodyPr>
          <a:lstStyle/>
          <a:p>
            <a:pPr algn="ctr"/>
            <a:r>
              <a:rPr lang="zh-CN" sz="1200" b="1" dirty="0">
                <a:solidFill>
                  <a:srgbClr val="1A5276"/>
                </a:solidFill>
                <a:latin typeface="Arial"/>
                <a:ea typeface="Microsoft YaHei"/>
                <a:cs typeface="Arial"/>
              </a:rPr>
              <a:t>社区信任基础设施</a:t>
            </a:r>
          </a:p>
        </p:txBody>
      </p:sp>
      <p:sp>
        <p:nvSpPr>
          <p:cNvPr id="50" name="TextBox 50"/>
          <p:cNvSpPr txBox="1"/>
          <p:nvPr/>
        </p:nvSpPr>
        <p:spPr>
          <a:xfrm>
            <a:off x="9128760" y="4699635"/>
            <a:ext cx="1766697"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 社区商业最重要的资产</a:t>
            </a:r>
          </a:p>
        </p:txBody>
      </p:sp>
      <p:sp>
        <p:nvSpPr>
          <p:cNvPr id="51" name="TextBox 51"/>
          <p:cNvSpPr txBox="1"/>
          <p:nvPr/>
        </p:nvSpPr>
        <p:spPr>
          <a:xfrm>
            <a:off x="4052411" y="5411152"/>
            <a:ext cx="4087178"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每一笔交易都是一次关系的建立；每一次消费都是一次信任的投票</a:t>
            </a:r>
          </a:p>
        </p:txBody>
      </p:sp>
      <p:sp>
        <p:nvSpPr>
          <p:cNvPr id="52" name="TextBox 52"/>
          <p:cNvSpPr txBox="1"/>
          <p:nvPr/>
        </p:nvSpPr>
        <p:spPr>
          <a:xfrm>
            <a:off x="11477054" y="64750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12</a:t>
            </a:r>
          </a:p>
        </p:txBody>
      </p:sp>
      <p:sp>
        <p:nvSpPr>
          <p:cNvPr id="53" name="TextBox 53"/>
          <p:cNvSpPr txBox="1"/>
          <p:nvPr/>
        </p:nvSpPr>
        <p:spPr>
          <a:xfrm>
            <a:off x="560070" y="64750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E8449"/>
          </a:solidFill>
          <a:ln>
            <a:noFill/>
          </a:ln>
        </p:spPr>
      </p:sp>
      <p:sp>
        <p:nvSpPr>
          <p:cNvPr id="4" name="TextBox 4"/>
          <p:cNvSpPr txBox="1"/>
          <p:nvPr/>
        </p:nvSpPr>
        <p:spPr>
          <a:xfrm>
            <a:off x="777240" y="486728"/>
            <a:ext cx="8905875" cy="518160"/>
          </a:xfrm>
          <a:prstGeom prst="rect">
            <a:avLst/>
          </a:prstGeom>
          <a:noFill/>
          <a:ln>
            <a:noFill/>
          </a:ln>
        </p:spPr>
        <p:txBody>
          <a:bodyPr wrap="none" lIns="0" tIns="0" rIns="0" bIns="0" anchor="t" anchorCtr="0">
            <a:spAutoFit/>
          </a:bodyPr>
          <a:lstStyle/>
          <a:p>
            <a:pPr algn="l"/>
            <a:r>
              <a:rPr lang="zh-CN" sz="2550" dirty="0">
                <a:solidFill>
                  <a:srgbClr val="2C2C2C"/>
                </a:solidFill>
                <a:latin typeface="Georgia"/>
                <a:ea typeface="KaiTi"/>
                <a:cs typeface="Georgia"/>
              </a:rPr>
              <a:t>价值观不是你说了什么，而是你面对诱惑时真的拒绝了什么</a:t>
            </a:r>
          </a:p>
        </p:txBody>
      </p:sp>
      <p:sp>
        <p:nvSpPr>
          <p:cNvPr id="5" name="Line 5"/>
          <p:cNvSpPr/>
          <p:nvPr/>
        </p:nvSpPr>
        <p:spPr>
          <a:xfrm>
            <a:off x="571500" y="1000125"/>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 name="TextBox 6"/>
          <p:cNvSpPr txBox="1"/>
          <p:nvPr/>
        </p:nvSpPr>
        <p:spPr>
          <a:xfrm>
            <a:off x="4345245" y="1116806"/>
            <a:ext cx="3501509"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四条核心价值观 · 每一条都与商业利益有过正面交锋</a:t>
            </a:r>
          </a:p>
        </p:txBody>
      </p:sp>
      <p:sp>
        <p:nvSpPr>
          <p:cNvPr id="7" name="Rectangle 7"/>
          <p:cNvSpPr/>
          <p:nvPr/>
        </p:nvSpPr>
        <p:spPr>
          <a:xfrm>
            <a:off x="571500" y="1428750"/>
            <a:ext cx="5334000" cy="1381125"/>
          </a:xfrm>
          <a:prstGeom prst="roundRect">
            <a:avLst>
              <a:gd name="adj" fmla="val 9655"/>
            </a:avLst>
          </a:prstGeom>
          <a:solidFill>
            <a:srgbClr val="FAFAF5"/>
          </a:solidFill>
          <a:ln w="14288">
            <a:solidFill>
              <a:srgbClr val="E8E3DC"/>
            </a:solidFill>
          </a:ln>
          <a:effectLst>
            <a:outerShdw blurRad="76200" dist="19050" dir="5400000" algn="ctr" rotWithShape="0">
              <a:srgbClr val="2C2C2C">
                <a:alpha val="4500"/>
              </a:srgbClr>
            </a:outerShdw>
          </a:effectLst>
        </p:spPr>
      </p:sp>
      <p:sp>
        <p:nvSpPr>
          <p:cNvPr id="8" name="Rectangle 8"/>
          <p:cNvSpPr/>
          <p:nvPr/>
        </p:nvSpPr>
        <p:spPr>
          <a:xfrm>
            <a:off x="762000" y="1619250"/>
            <a:ext cx="495300" cy="495300"/>
          </a:xfrm>
          <a:prstGeom prst="roundRect">
            <a:avLst>
              <a:gd name="adj" fmla="val 50000"/>
            </a:avLst>
          </a:prstGeom>
          <a:solidFill>
            <a:srgbClr val="1E8449">
              <a:alpha val="10000"/>
            </a:srgbClr>
          </a:solidFill>
          <a:ln>
            <a:noFill/>
          </a:ln>
        </p:spPr>
      </p:sp>
      <p:sp>
        <p:nvSpPr>
          <p:cNvPr id="9" name="TextBox 9"/>
          <p:cNvSpPr txBox="1"/>
          <p:nvPr/>
        </p:nvSpPr>
        <p:spPr>
          <a:xfrm>
            <a:off x="1423035" y="1675448"/>
            <a:ext cx="192548" cy="396240"/>
          </a:xfrm>
          <a:prstGeom prst="rect">
            <a:avLst/>
          </a:prstGeom>
          <a:noFill/>
          <a:ln>
            <a:noFill/>
          </a:ln>
        </p:spPr>
        <p:txBody>
          <a:bodyPr wrap="none" lIns="0" tIns="0" rIns="0" bIns="0" anchor="t" anchorCtr="0">
            <a:spAutoFit/>
          </a:bodyPr>
          <a:lstStyle/>
          <a:p>
            <a:pPr algn="l"/>
            <a:r>
              <a:rPr lang="zh-CN" sz="1950" dirty="0">
                <a:solidFill>
                  <a:srgbClr val="1E8449"/>
                </a:solidFill>
                <a:latin typeface="Georgia"/>
                <a:ea typeface="KaiTi"/>
                <a:cs typeface="Georgia"/>
              </a:rPr>
              <a:t>1</a:t>
            </a:r>
          </a:p>
        </p:txBody>
      </p:sp>
      <p:sp>
        <p:nvSpPr>
          <p:cNvPr id="10" name="TextBox 10"/>
          <p:cNvSpPr txBox="1"/>
          <p:nvPr/>
        </p:nvSpPr>
        <p:spPr>
          <a:xfrm>
            <a:off x="1743075" y="1743075"/>
            <a:ext cx="2138362"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真实交易优于增长幻觉</a:t>
            </a:r>
          </a:p>
        </p:txBody>
      </p:sp>
      <p:sp>
        <p:nvSpPr>
          <p:cNvPr id="11" name="TextBox 11"/>
          <p:cNvSpPr txBox="1"/>
          <p:nvPr/>
        </p:nvSpPr>
        <p:spPr>
          <a:xfrm>
            <a:off x="747712" y="2164556"/>
            <a:ext cx="245887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不做金融化——坚持"消费金五不"原则</a:t>
            </a:r>
          </a:p>
        </p:txBody>
      </p:sp>
      <p:sp>
        <p:nvSpPr>
          <p:cNvPr id="12" name="Rectangle 12"/>
          <p:cNvSpPr/>
          <p:nvPr/>
        </p:nvSpPr>
        <p:spPr>
          <a:xfrm>
            <a:off x="762000" y="2457450"/>
            <a:ext cx="4953000" cy="247650"/>
          </a:xfrm>
          <a:prstGeom prst="roundRect">
            <a:avLst>
              <a:gd name="adj" fmla="val 23077"/>
            </a:avLst>
          </a:prstGeom>
          <a:solidFill>
            <a:srgbClr val="F0EDE8"/>
          </a:solidFill>
          <a:ln>
            <a:noFill/>
          </a:ln>
        </p:spPr>
      </p:sp>
      <p:sp>
        <p:nvSpPr>
          <p:cNvPr id="13" name="TextBox 13"/>
          <p:cNvSpPr txBox="1"/>
          <p:nvPr/>
        </p:nvSpPr>
        <p:spPr>
          <a:xfrm>
            <a:off x="1502950" y="2515552"/>
            <a:ext cx="3471100"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不充值 · 不设资金池 · 不计息 · 不提现 · 不设兑换通道</a:t>
            </a:r>
          </a:p>
        </p:txBody>
      </p:sp>
      <p:sp>
        <p:nvSpPr>
          <p:cNvPr id="14" name="Rectangle 14"/>
          <p:cNvSpPr/>
          <p:nvPr/>
        </p:nvSpPr>
        <p:spPr>
          <a:xfrm>
            <a:off x="6191250" y="1428750"/>
            <a:ext cx="5381625" cy="1381125"/>
          </a:xfrm>
          <a:prstGeom prst="roundRect">
            <a:avLst>
              <a:gd name="adj" fmla="val 9655"/>
            </a:avLst>
          </a:prstGeom>
          <a:solidFill>
            <a:srgbClr val="FAFAF5"/>
          </a:solidFill>
          <a:ln w="14288">
            <a:solidFill>
              <a:srgbClr val="E8E3DC"/>
            </a:solidFill>
          </a:ln>
          <a:effectLst>
            <a:outerShdw blurRad="76200" dist="19050" dir="5400000" algn="ctr" rotWithShape="0">
              <a:srgbClr val="2C2C2C">
                <a:alpha val="4500"/>
              </a:srgbClr>
            </a:outerShdw>
          </a:effectLst>
        </p:spPr>
      </p:sp>
      <p:sp>
        <p:nvSpPr>
          <p:cNvPr id="15" name="Rectangle 15"/>
          <p:cNvSpPr/>
          <p:nvPr/>
        </p:nvSpPr>
        <p:spPr>
          <a:xfrm>
            <a:off x="6381750" y="1619250"/>
            <a:ext cx="495300" cy="495300"/>
          </a:xfrm>
          <a:prstGeom prst="roundRect">
            <a:avLst>
              <a:gd name="adj" fmla="val 50000"/>
            </a:avLst>
          </a:prstGeom>
          <a:solidFill>
            <a:srgbClr val="1E8449">
              <a:alpha val="10000"/>
            </a:srgbClr>
          </a:solidFill>
          <a:ln>
            <a:noFill/>
          </a:ln>
        </p:spPr>
      </p:sp>
      <p:sp>
        <p:nvSpPr>
          <p:cNvPr id="16" name="TextBox 16"/>
          <p:cNvSpPr txBox="1"/>
          <p:nvPr/>
        </p:nvSpPr>
        <p:spPr>
          <a:xfrm>
            <a:off x="7042785" y="1675448"/>
            <a:ext cx="192548" cy="396240"/>
          </a:xfrm>
          <a:prstGeom prst="rect">
            <a:avLst/>
          </a:prstGeom>
          <a:noFill/>
          <a:ln>
            <a:noFill/>
          </a:ln>
        </p:spPr>
        <p:txBody>
          <a:bodyPr wrap="none" lIns="0" tIns="0" rIns="0" bIns="0" anchor="t" anchorCtr="0">
            <a:spAutoFit/>
          </a:bodyPr>
          <a:lstStyle/>
          <a:p>
            <a:pPr algn="l"/>
            <a:r>
              <a:rPr lang="zh-CN" sz="1950" dirty="0">
                <a:solidFill>
                  <a:srgbClr val="1E8449"/>
                </a:solidFill>
                <a:latin typeface="Georgia"/>
                <a:ea typeface="KaiTi"/>
                <a:cs typeface="Georgia"/>
              </a:rPr>
              <a:t>2</a:t>
            </a:r>
          </a:p>
        </p:txBody>
      </p:sp>
      <p:sp>
        <p:nvSpPr>
          <p:cNvPr id="17" name="TextBox 17"/>
          <p:cNvSpPr txBox="1"/>
          <p:nvPr/>
        </p:nvSpPr>
        <p:spPr>
          <a:xfrm>
            <a:off x="7362825" y="1743075"/>
            <a:ext cx="2138362"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长期信任优于短期收益</a:t>
            </a:r>
          </a:p>
        </p:txBody>
      </p:sp>
      <p:sp>
        <p:nvSpPr>
          <p:cNvPr id="18" name="TextBox 18"/>
          <p:cNvSpPr txBox="1"/>
          <p:nvPr/>
        </p:nvSpPr>
        <p:spPr>
          <a:xfrm>
            <a:off x="6367462" y="2164556"/>
            <a:ext cx="214383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不碰资金——汇付天下直接清结算</a:t>
            </a:r>
          </a:p>
        </p:txBody>
      </p:sp>
      <p:sp>
        <p:nvSpPr>
          <p:cNvPr id="19" name="Rectangle 19"/>
          <p:cNvSpPr/>
          <p:nvPr/>
        </p:nvSpPr>
        <p:spPr>
          <a:xfrm>
            <a:off x="6381750" y="2457450"/>
            <a:ext cx="5000625" cy="247650"/>
          </a:xfrm>
          <a:prstGeom prst="roundRect">
            <a:avLst>
              <a:gd name="adj" fmla="val 23077"/>
            </a:avLst>
          </a:prstGeom>
          <a:solidFill>
            <a:srgbClr val="F0EDE8"/>
          </a:solidFill>
          <a:ln>
            <a:noFill/>
          </a:ln>
        </p:spPr>
      </p:sp>
      <p:sp>
        <p:nvSpPr>
          <p:cNvPr id="20" name="TextBox 20"/>
          <p:cNvSpPr txBox="1"/>
          <p:nvPr/>
        </p:nvSpPr>
        <p:spPr>
          <a:xfrm>
            <a:off x="7082242" y="2515552"/>
            <a:ext cx="3590115"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资金直达各方账户 · 平台不经手 · 零资金池 · 不构成二清</a:t>
            </a:r>
          </a:p>
        </p:txBody>
      </p:sp>
      <p:sp>
        <p:nvSpPr>
          <p:cNvPr id="21" name="Rectangle 21"/>
          <p:cNvSpPr/>
          <p:nvPr/>
        </p:nvSpPr>
        <p:spPr>
          <a:xfrm>
            <a:off x="571500" y="3000375"/>
            <a:ext cx="5334000" cy="1381125"/>
          </a:xfrm>
          <a:prstGeom prst="roundRect">
            <a:avLst>
              <a:gd name="adj" fmla="val 9655"/>
            </a:avLst>
          </a:prstGeom>
          <a:solidFill>
            <a:srgbClr val="FAFAF5"/>
          </a:solidFill>
          <a:ln w="14288">
            <a:solidFill>
              <a:srgbClr val="E8E3DC"/>
            </a:solidFill>
          </a:ln>
          <a:effectLst>
            <a:outerShdw blurRad="76200" dist="19050" dir="5400000" algn="ctr" rotWithShape="0">
              <a:srgbClr val="2C2C2C">
                <a:alpha val="4500"/>
              </a:srgbClr>
            </a:outerShdw>
          </a:effectLst>
        </p:spPr>
      </p:sp>
      <p:sp>
        <p:nvSpPr>
          <p:cNvPr id="22" name="Rectangle 22"/>
          <p:cNvSpPr/>
          <p:nvPr/>
        </p:nvSpPr>
        <p:spPr>
          <a:xfrm>
            <a:off x="762000" y="3190875"/>
            <a:ext cx="495300" cy="495300"/>
          </a:xfrm>
          <a:prstGeom prst="roundRect">
            <a:avLst>
              <a:gd name="adj" fmla="val 50000"/>
            </a:avLst>
          </a:prstGeom>
          <a:solidFill>
            <a:srgbClr val="1E8449">
              <a:alpha val="10000"/>
            </a:srgbClr>
          </a:solidFill>
          <a:ln>
            <a:noFill/>
          </a:ln>
        </p:spPr>
      </p:sp>
      <p:sp>
        <p:nvSpPr>
          <p:cNvPr id="23" name="TextBox 23"/>
          <p:cNvSpPr txBox="1"/>
          <p:nvPr/>
        </p:nvSpPr>
        <p:spPr>
          <a:xfrm>
            <a:off x="1423035" y="3247072"/>
            <a:ext cx="192548" cy="396240"/>
          </a:xfrm>
          <a:prstGeom prst="rect">
            <a:avLst/>
          </a:prstGeom>
          <a:noFill/>
          <a:ln>
            <a:noFill/>
          </a:ln>
        </p:spPr>
        <p:txBody>
          <a:bodyPr wrap="none" lIns="0" tIns="0" rIns="0" bIns="0" anchor="t" anchorCtr="0">
            <a:spAutoFit/>
          </a:bodyPr>
          <a:lstStyle/>
          <a:p>
            <a:pPr algn="l"/>
            <a:r>
              <a:rPr lang="zh-CN" sz="1950" dirty="0">
                <a:solidFill>
                  <a:srgbClr val="1E8449"/>
                </a:solidFill>
                <a:latin typeface="Georgia"/>
                <a:ea typeface="KaiTi"/>
                <a:cs typeface="Georgia"/>
              </a:rPr>
              <a:t>3</a:t>
            </a:r>
          </a:p>
        </p:txBody>
      </p:sp>
      <p:sp>
        <p:nvSpPr>
          <p:cNvPr id="24" name="TextBox 24"/>
          <p:cNvSpPr txBox="1"/>
          <p:nvPr/>
        </p:nvSpPr>
        <p:spPr>
          <a:xfrm>
            <a:off x="1743075" y="3314700"/>
            <a:ext cx="255841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商家经营自主优于平台控制</a:t>
            </a:r>
          </a:p>
        </p:txBody>
      </p:sp>
      <p:sp>
        <p:nvSpPr>
          <p:cNvPr id="25" name="TextBox 25"/>
          <p:cNvSpPr txBox="1"/>
          <p:nvPr/>
        </p:nvSpPr>
        <p:spPr>
          <a:xfrm>
            <a:off x="747712" y="3736181"/>
            <a:ext cx="304395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不做竞价排名——商家自然排序，拒绝流量竞价</a:t>
            </a:r>
          </a:p>
        </p:txBody>
      </p:sp>
      <p:sp>
        <p:nvSpPr>
          <p:cNvPr id="26" name="Rectangle 26"/>
          <p:cNvSpPr/>
          <p:nvPr/>
        </p:nvSpPr>
        <p:spPr>
          <a:xfrm>
            <a:off x="762000" y="4029075"/>
            <a:ext cx="4953000" cy="247650"/>
          </a:xfrm>
          <a:prstGeom prst="roundRect">
            <a:avLst>
              <a:gd name="adj" fmla="val 23077"/>
            </a:avLst>
          </a:prstGeom>
          <a:solidFill>
            <a:srgbClr val="F0EDE8"/>
          </a:solidFill>
          <a:ln>
            <a:noFill/>
          </a:ln>
        </p:spPr>
      </p:sp>
      <p:sp>
        <p:nvSpPr>
          <p:cNvPr id="27" name="TextBox 27"/>
          <p:cNvSpPr txBox="1"/>
          <p:nvPr/>
        </p:nvSpPr>
        <p:spPr>
          <a:xfrm>
            <a:off x="1373434" y="4087178"/>
            <a:ext cx="3730133"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软性优先级引导 · 搜索排序透明 · 商家自主定价 · 千面千店</a:t>
            </a:r>
          </a:p>
        </p:txBody>
      </p:sp>
      <p:sp>
        <p:nvSpPr>
          <p:cNvPr id="28" name="Rectangle 28"/>
          <p:cNvSpPr/>
          <p:nvPr/>
        </p:nvSpPr>
        <p:spPr>
          <a:xfrm>
            <a:off x="6191250" y="3000375"/>
            <a:ext cx="5381625" cy="1381125"/>
          </a:xfrm>
          <a:prstGeom prst="roundRect">
            <a:avLst>
              <a:gd name="adj" fmla="val 9655"/>
            </a:avLst>
          </a:prstGeom>
          <a:solidFill>
            <a:srgbClr val="FAFAF5"/>
          </a:solidFill>
          <a:ln w="19050">
            <a:solidFill>
              <a:srgbClr val="1E8449"/>
            </a:solidFill>
          </a:ln>
          <a:effectLst>
            <a:outerShdw blurRad="76200" dist="19050" dir="5400000" algn="ctr" rotWithShape="0">
              <a:srgbClr val="2C2C2C">
                <a:alpha val="4500"/>
              </a:srgbClr>
            </a:outerShdw>
          </a:effectLst>
        </p:spPr>
      </p:sp>
      <p:sp>
        <p:nvSpPr>
          <p:cNvPr id="29" name="Rectangle 29"/>
          <p:cNvSpPr/>
          <p:nvPr/>
        </p:nvSpPr>
        <p:spPr>
          <a:xfrm>
            <a:off x="6191250" y="3000375"/>
            <a:ext cx="57150" cy="1381125"/>
          </a:xfrm>
          <a:prstGeom prst="roundRect">
            <a:avLst>
              <a:gd name="adj" fmla="val 50000"/>
            </a:avLst>
          </a:prstGeom>
          <a:solidFill>
            <a:srgbClr val="1E8449"/>
          </a:solidFill>
          <a:ln>
            <a:noFill/>
          </a:ln>
        </p:spPr>
      </p:sp>
      <p:sp>
        <p:nvSpPr>
          <p:cNvPr id="30" name="Rectangle 30"/>
          <p:cNvSpPr/>
          <p:nvPr/>
        </p:nvSpPr>
        <p:spPr>
          <a:xfrm>
            <a:off x="6438900" y="3190875"/>
            <a:ext cx="495300" cy="495300"/>
          </a:xfrm>
          <a:prstGeom prst="roundRect">
            <a:avLst>
              <a:gd name="adj" fmla="val 50000"/>
            </a:avLst>
          </a:prstGeom>
          <a:solidFill>
            <a:srgbClr val="1E8449">
              <a:alpha val="10000"/>
            </a:srgbClr>
          </a:solidFill>
          <a:ln>
            <a:noFill/>
          </a:ln>
        </p:spPr>
      </p:sp>
      <p:sp>
        <p:nvSpPr>
          <p:cNvPr id="31" name="TextBox 31"/>
          <p:cNvSpPr txBox="1"/>
          <p:nvPr/>
        </p:nvSpPr>
        <p:spPr>
          <a:xfrm>
            <a:off x="7099935" y="3247072"/>
            <a:ext cx="192548" cy="396240"/>
          </a:xfrm>
          <a:prstGeom prst="rect">
            <a:avLst/>
          </a:prstGeom>
          <a:noFill/>
          <a:ln>
            <a:noFill/>
          </a:ln>
        </p:spPr>
        <p:txBody>
          <a:bodyPr wrap="none" lIns="0" tIns="0" rIns="0" bIns="0" anchor="t" anchorCtr="0">
            <a:spAutoFit/>
          </a:bodyPr>
          <a:lstStyle/>
          <a:p>
            <a:pPr algn="l"/>
            <a:r>
              <a:rPr lang="zh-CN" sz="1950" dirty="0">
                <a:solidFill>
                  <a:srgbClr val="1E8449"/>
                </a:solidFill>
                <a:latin typeface="Georgia"/>
                <a:ea typeface="KaiTi"/>
                <a:cs typeface="Georgia"/>
              </a:rPr>
              <a:t>4</a:t>
            </a:r>
          </a:p>
        </p:txBody>
      </p:sp>
      <p:sp>
        <p:nvSpPr>
          <p:cNvPr id="32" name="TextBox 32"/>
          <p:cNvSpPr txBox="1"/>
          <p:nvPr/>
        </p:nvSpPr>
        <p:spPr>
          <a:xfrm>
            <a:off x="7419975" y="3314700"/>
            <a:ext cx="2138362"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生态健康高于单方利益</a:t>
            </a:r>
          </a:p>
        </p:txBody>
      </p:sp>
      <p:sp>
        <p:nvSpPr>
          <p:cNvPr id="33" name="TextBox 33"/>
          <p:cNvSpPr txBox="1"/>
          <p:nvPr/>
        </p:nvSpPr>
        <p:spPr>
          <a:xfrm>
            <a:off x="6424612" y="3736181"/>
            <a:ext cx="292393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前三条的裁判规则——当①②③冲突时，以④裁决</a:t>
            </a:r>
          </a:p>
        </p:txBody>
      </p:sp>
      <p:sp>
        <p:nvSpPr>
          <p:cNvPr id="34" name="Rectangle 34"/>
          <p:cNvSpPr/>
          <p:nvPr/>
        </p:nvSpPr>
        <p:spPr>
          <a:xfrm>
            <a:off x="6438900" y="4029075"/>
            <a:ext cx="4943475" cy="247650"/>
          </a:xfrm>
          <a:prstGeom prst="roundRect">
            <a:avLst>
              <a:gd name="adj" fmla="val 23077"/>
            </a:avLst>
          </a:prstGeom>
          <a:solidFill>
            <a:srgbClr val="1E8449">
              <a:alpha val="8000"/>
            </a:srgbClr>
          </a:solidFill>
          <a:ln>
            <a:noFill/>
          </a:ln>
        </p:spPr>
      </p:sp>
      <p:sp>
        <p:nvSpPr>
          <p:cNvPr id="35" name="TextBox 35"/>
          <p:cNvSpPr txBox="1"/>
          <p:nvPr/>
        </p:nvSpPr>
        <p:spPr>
          <a:xfrm>
            <a:off x="7751397" y="4087178"/>
            <a:ext cx="2308955" cy="213360"/>
          </a:xfrm>
          <a:prstGeom prst="rect">
            <a:avLst/>
          </a:prstGeom>
          <a:noFill/>
          <a:ln>
            <a:noFill/>
          </a:ln>
        </p:spPr>
        <p:txBody>
          <a:bodyPr wrap="none" lIns="0" tIns="0" rIns="0" bIns="0" anchor="t" anchorCtr="0">
            <a:spAutoFit/>
          </a:bodyPr>
          <a:lstStyle/>
          <a:p>
            <a:pPr algn="ctr"/>
            <a:r>
              <a:rPr lang="zh-CN" sz="1050" dirty="0">
                <a:solidFill>
                  <a:srgbClr val="1E8449"/>
                </a:solidFill>
                <a:latin typeface="Arial"/>
                <a:ea typeface="Microsoft YaHei"/>
                <a:cs typeface="Arial"/>
              </a:rPr>
              <a:t>生态整体利益 &gt; 平台利益 &gt; 单方利益</a:t>
            </a:r>
          </a:p>
        </p:txBody>
      </p:sp>
      <p:sp>
        <p:nvSpPr>
          <p:cNvPr id="36" name="Rectangle 36"/>
          <p:cNvSpPr/>
          <p:nvPr/>
        </p:nvSpPr>
        <p:spPr>
          <a:xfrm>
            <a:off x="571500" y="4619625"/>
            <a:ext cx="11049000" cy="381000"/>
          </a:xfrm>
          <a:prstGeom prst="roundRect">
            <a:avLst>
              <a:gd name="adj" fmla="val 25000"/>
            </a:avLst>
          </a:prstGeom>
          <a:solidFill>
            <a:srgbClr val="F0EDE8"/>
          </a:solidFill>
          <a:ln>
            <a:noFill/>
          </a:ln>
        </p:spPr>
      </p:sp>
      <p:sp>
        <p:nvSpPr>
          <p:cNvPr id="37" name="TextBox 37"/>
          <p:cNvSpPr txBox="1"/>
          <p:nvPr/>
        </p:nvSpPr>
        <p:spPr>
          <a:xfrm>
            <a:off x="5178742" y="4721542"/>
            <a:ext cx="1834515" cy="274320"/>
          </a:xfrm>
          <a:prstGeom prst="rect">
            <a:avLst/>
          </a:prstGeom>
          <a:noFill/>
          <a:ln>
            <a:noFill/>
          </a:ln>
        </p:spPr>
        <p:txBody>
          <a:bodyPr wrap="none" lIns="0" tIns="0" rIns="0" bIns="0" anchor="t" anchorCtr="0">
            <a:spAutoFit/>
          </a:bodyPr>
          <a:lstStyle/>
          <a:p>
            <a:pPr algn="ctr"/>
            <a:r>
              <a:rPr lang="zh-CN" sz="1350" dirty="0">
                <a:solidFill>
                  <a:srgbClr val="2C2C2C"/>
                </a:solidFill>
                <a:latin typeface="Georgia"/>
                <a:ea typeface="KaiTi"/>
                <a:cs typeface="Georgia"/>
              </a:rPr>
              <a:t>三个未来的价值观测试</a:t>
            </a:r>
          </a:p>
        </p:txBody>
      </p:sp>
      <p:sp>
        <p:nvSpPr>
          <p:cNvPr id="38" name="Rectangle 38"/>
          <p:cNvSpPr/>
          <p:nvPr/>
        </p:nvSpPr>
        <p:spPr>
          <a:xfrm>
            <a:off x="571500" y="5124450"/>
            <a:ext cx="3524250" cy="685800"/>
          </a:xfrm>
          <a:prstGeom prst="roundRect">
            <a:avLst>
              <a:gd name="adj" fmla="val 16667"/>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39" name="Rectangle 39"/>
          <p:cNvSpPr/>
          <p:nvPr/>
        </p:nvSpPr>
        <p:spPr>
          <a:xfrm>
            <a:off x="571500" y="5124450"/>
            <a:ext cx="47625" cy="685800"/>
          </a:xfrm>
          <a:prstGeom prst="roundRect">
            <a:avLst>
              <a:gd name="adj" fmla="val 50000"/>
            </a:avLst>
          </a:prstGeom>
          <a:solidFill>
            <a:srgbClr val="C0392B"/>
          </a:solidFill>
          <a:ln>
            <a:noFill/>
          </a:ln>
        </p:spPr>
      </p:sp>
      <p:sp>
        <p:nvSpPr>
          <p:cNvPr id="40" name="TextBox 40"/>
          <p:cNvSpPr txBox="1"/>
          <p:nvPr/>
        </p:nvSpPr>
        <p:spPr>
          <a:xfrm>
            <a:off x="766762" y="5231606"/>
            <a:ext cx="2162967"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测试1：商家出价买更高排名？</a:t>
            </a:r>
          </a:p>
        </p:txBody>
      </p:sp>
      <p:sp>
        <p:nvSpPr>
          <p:cNvPr id="41" name="TextBox 41"/>
          <p:cNvSpPr txBox="1"/>
          <p:nvPr/>
        </p:nvSpPr>
        <p:spPr>
          <a:xfrm>
            <a:off x="767715" y="5487352"/>
            <a:ext cx="1902905" cy="213360"/>
          </a:xfrm>
          <a:prstGeom prst="rect">
            <a:avLst/>
          </a:prstGeom>
          <a:noFill/>
          <a:ln>
            <a:noFill/>
          </a:ln>
        </p:spPr>
        <p:txBody>
          <a:bodyPr wrap="none" lIns="0" tIns="0" rIns="0" bIns="0" anchor="t" anchorCtr="0">
            <a:spAutoFit/>
          </a:bodyPr>
          <a:lstStyle/>
          <a:p>
            <a:pPr algn="l"/>
            <a:r>
              <a:rPr lang="zh-CN" sz="1050" dirty="0">
                <a:solidFill>
                  <a:srgbClr val="C0392B"/>
                </a:solidFill>
                <a:latin typeface="Arial"/>
                <a:ea typeface="Microsoft YaHei"/>
                <a:cs typeface="Arial"/>
              </a:rPr>
              <a:t>→ 拒绝，不损害④（生态健康）</a:t>
            </a:r>
          </a:p>
        </p:txBody>
      </p:sp>
      <p:sp>
        <p:nvSpPr>
          <p:cNvPr id="42" name="TextBox 42"/>
          <p:cNvSpPr txBox="1"/>
          <p:nvPr/>
        </p:nvSpPr>
        <p:spPr>
          <a:xfrm>
            <a:off x="769620" y="5655945"/>
            <a:ext cx="1733074"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违背③商家经营自主 + ④生态公平</a:t>
            </a:r>
          </a:p>
        </p:txBody>
      </p:sp>
      <p:sp>
        <p:nvSpPr>
          <p:cNvPr id="43" name="Rectangle 43"/>
          <p:cNvSpPr/>
          <p:nvPr/>
        </p:nvSpPr>
        <p:spPr>
          <a:xfrm>
            <a:off x="4333875" y="5124450"/>
            <a:ext cx="3524250" cy="685800"/>
          </a:xfrm>
          <a:prstGeom prst="roundRect">
            <a:avLst>
              <a:gd name="adj" fmla="val 16667"/>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44" name="Rectangle 44"/>
          <p:cNvSpPr/>
          <p:nvPr/>
        </p:nvSpPr>
        <p:spPr>
          <a:xfrm>
            <a:off x="4333875" y="5124450"/>
            <a:ext cx="47625" cy="685800"/>
          </a:xfrm>
          <a:prstGeom prst="roundRect">
            <a:avLst>
              <a:gd name="adj" fmla="val 50000"/>
            </a:avLst>
          </a:prstGeom>
          <a:solidFill>
            <a:srgbClr val="C0392B"/>
          </a:solidFill>
          <a:ln>
            <a:noFill/>
          </a:ln>
        </p:spPr>
      </p:sp>
      <p:sp>
        <p:nvSpPr>
          <p:cNvPr id="45" name="TextBox 45"/>
          <p:cNvSpPr txBox="1"/>
          <p:nvPr/>
        </p:nvSpPr>
        <p:spPr>
          <a:xfrm>
            <a:off x="4529138" y="5231606"/>
            <a:ext cx="2107835"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测试2：T+7沉淀资金做理财？</a:t>
            </a:r>
          </a:p>
        </p:txBody>
      </p:sp>
      <p:sp>
        <p:nvSpPr>
          <p:cNvPr id="46" name="TextBox 46"/>
          <p:cNvSpPr txBox="1"/>
          <p:nvPr/>
        </p:nvSpPr>
        <p:spPr>
          <a:xfrm>
            <a:off x="4530090" y="5487352"/>
            <a:ext cx="1545860" cy="213360"/>
          </a:xfrm>
          <a:prstGeom prst="rect">
            <a:avLst/>
          </a:prstGeom>
          <a:noFill/>
          <a:ln>
            <a:noFill/>
          </a:ln>
        </p:spPr>
        <p:txBody>
          <a:bodyPr wrap="none" lIns="0" tIns="0" rIns="0" bIns="0" anchor="t" anchorCtr="0">
            <a:spAutoFit/>
          </a:bodyPr>
          <a:lstStyle/>
          <a:p>
            <a:pPr algn="l"/>
            <a:r>
              <a:rPr lang="zh-CN" sz="1050" dirty="0">
                <a:solidFill>
                  <a:srgbClr val="C0392B"/>
                </a:solidFill>
                <a:latin typeface="Arial"/>
                <a:ea typeface="Microsoft YaHei"/>
                <a:cs typeface="Arial"/>
              </a:rPr>
              <a:t>→ 拒绝，资金不经过平台</a:t>
            </a:r>
          </a:p>
        </p:txBody>
      </p:sp>
      <p:sp>
        <p:nvSpPr>
          <p:cNvPr id="47" name="TextBox 47"/>
          <p:cNvSpPr txBox="1"/>
          <p:nvPr/>
        </p:nvSpPr>
        <p:spPr>
          <a:xfrm>
            <a:off x="4531995" y="5655945"/>
            <a:ext cx="1667065"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违背②长期信任 + 汇付直清架构</a:t>
            </a:r>
          </a:p>
        </p:txBody>
      </p:sp>
      <p:sp>
        <p:nvSpPr>
          <p:cNvPr id="48" name="Rectangle 48"/>
          <p:cNvSpPr/>
          <p:nvPr/>
        </p:nvSpPr>
        <p:spPr>
          <a:xfrm>
            <a:off x="8096250" y="5124450"/>
            <a:ext cx="3524250" cy="685800"/>
          </a:xfrm>
          <a:prstGeom prst="roundRect">
            <a:avLst>
              <a:gd name="adj" fmla="val 16667"/>
            </a:avLst>
          </a:prstGeom>
          <a:solidFill>
            <a:srgbClr val="FAFAF5"/>
          </a:solidFill>
          <a:ln w="9525">
            <a:solidFill>
              <a:srgbClr val="E8E3DC"/>
            </a:solidFill>
          </a:ln>
          <a:effectLst>
            <a:outerShdw blurRad="76200" dist="19050" dir="5400000" algn="ctr" rotWithShape="0">
              <a:srgbClr val="2C2C2C">
                <a:alpha val="4500"/>
              </a:srgbClr>
            </a:outerShdw>
          </a:effectLst>
        </p:spPr>
      </p:sp>
      <p:sp>
        <p:nvSpPr>
          <p:cNvPr id="49" name="Rectangle 49"/>
          <p:cNvSpPr/>
          <p:nvPr/>
        </p:nvSpPr>
        <p:spPr>
          <a:xfrm>
            <a:off x="8096250" y="5124450"/>
            <a:ext cx="47625" cy="685800"/>
          </a:xfrm>
          <a:prstGeom prst="roundRect">
            <a:avLst>
              <a:gd name="adj" fmla="val 50000"/>
            </a:avLst>
          </a:prstGeom>
          <a:solidFill>
            <a:srgbClr val="C0392B"/>
          </a:solidFill>
          <a:ln>
            <a:noFill/>
          </a:ln>
        </p:spPr>
      </p:sp>
      <p:sp>
        <p:nvSpPr>
          <p:cNvPr id="50" name="TextBox 50"/>
          <p:cNvSpPr txBox="1"/>
          <p:nvPr/>
        </p:nvSpPr>
        <p:spPr>
          <a:xfrm>
            <a:off x="8291512" y="5231606"/>
            <a:ext cx="2611898"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测试3：代金券抵扣上限提高到50%？</a:t>
            </a:r>
          </a:p>
        </p:txBody>
      </p:sp>
      <p:sp>
        <p:nvSpPr>
          <p:cNvPr id="51" name="TextBox 51"/>
          <p:cNvSpPr txBox="1"/>
          <p:nvPr/>
        </p:nvSpPr>
        <p:spPr>
          <a:xfrm>
            <a:off x="8292465" y="5487352"/>
            <a:ext cx="1916906" cy="213360"/>
          </a:xfrm>
          <a:prstGeom prst="rect">
            <a:avLst/>
          </a:prstGeom>
          <a:noFill/>
          <a:ln>
            <a:noFill/>
          </a:ln>
        </p:spPr>
        <p:txBody>
          <a:bodyPr wrap="none" lIns="0" tIns="0" rIns="0" bIns="0" anchor="t" anchorCtr="0">
            <a:spAutoFit/>
          </a:bodyPr>
          <a:lstStyle/>
          <a:p>
            <a:pPr algn="l"/>
            <a:r>
              <a:rPr lang="zh-CN" sz="1050" dirty="0">
                <a:solidFill>
                  <a:srgbClr val="C0392B"/>
                </a:solidFill>
                <a:latin typeface="Arial"/>
                <a:ea typeface="Microsoft YaHei"/>
                <a:cs typeface="Arial"/>
              </a:rPr>
              <a:t>→ 拒绝，保护商家利益（②+③）</a:t>
            </a:r>
          </a:p>
        </p:txBody>
      </p:sp>
      <p:sp>
        <p:nvSpPr>
          <p:cNvPr id="52" name="TextBox 52"/>
          <p:cNvSpPr txBox="1"/>
          <p:nvPr/>
        </p:nvSpPr>
        <p:spPr>
          <a:xfrm>
            <a:off x="8294370" y="5655945"/>
            <a:ext cx="2213134"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违背②长期信任 + ③商家自主（挤压利润）</a:t>
            </a:r>
          </a:p>
        </p:txBody>
      </p:sp>
      <p:sp>
        <p:nvSpPr>
          <p:cNvPr id="53" name="Line 53"/>
          <p:cNvSpPr/>
          <p:nvPr/>
        </p:nvSpPr>
        <p:spPr>
          <a:xfrm>
            <a:off x="2333625" y="5810250"/>
            <a:ext cx="9525" cy="190500"/>
          </a:xfrm>
          <a:custGeom>
            <a:avLst/>
            <a:gdLst/>
            <a:ahLst/>
            <a:cxnLst/>
            <a:rect l="l" t="t" r="r" b="b"/>
            <a:pathLst>
              <a:path w="9525" h="190500">
                <a:moveTo>
                  <a:pt x="0" y="0"/>
                </a:moveTo>
                <a:lnTo>
                  <a:pt x="0" y="190500"/>
                </a:lnTo>
              </a:path>
            </a:pathLst>
          </a:custGeom>
          <a:noFill/>
          <a:ln w="9525">
            <a:solidFill>
              <a:srgbClr val="C0392B"/>
            </a:solidFill>
            <a:custDash>
              <a:ds d="300000" sp="300000"/>
            </a:custDash>
          </a:ln>
        </p:spPr>
      </p:sp>
      <p:sp>
        <p:nvSpPr>
          <p:cNvPr id="54" name="Line 54"/>
          <p:cNvSpPr/>
          <p:nvPr/>
        </p:nvSpPr>
        <p:spPr>
          <a:xfrm>
            <a:off x="6096000" y="5810250"/>
            <a:ext cx="9525" cy="190500"/>
          </a:xfrm>
          <a:custGeom>
            <a:avLst/>
            <a:gdLst/>
            <a:ahLst/>
            <a:cxnLst/>
            <a:rect l="l" t="t" r="r" b="b"/>
            <a:pathLst>
              <a:path w="9525" h="190500">
                <a:moveTo>
                  <a:pt x="0" y="0"/>
                </a:moveTo>
                <a:lnTo>
                  <a:pt x="0" y="190500"/>
                </a:lnTo>
              </a:path>
            </a:pathLst>
          </a:custGeom>
          <a:noFill/>
          <a:ln w="9525">
            <a:solidFill>
              <a:srgbClr val="C0392B"/>
            </a:solidFill>
            <a:custDash>
              <a:ds d="300000" sp="300000"/>
            </a:custDash>
          </a:ln>
        </p:spPr>
      </p:sp>
      <p:sp>
        <p:nvSpPr>
          <p:cNvPr id="55" name="Line 55"/>
          <p:cNvSpPr/>
          <p:nvPr/>
        </p:nvSpPr>
        <p:spPr>
          <a:xfrm>
            <a:off x="9858375" y="5810250"/>
            <a:ext cx="9525" cy="190500"/>
          </a:xfrm>
          <a:custGeom>
            <a:avLst/>
            <a:gdLst/>
            <a:ahLst/>
            <a:cxnLst/>
            <a:rect l="l" t="t" r="r" b="b"/>
            <a:pathLst>
              <a:path w="9525" h="190500">
                <a:moveTo>
                  <a:pt x="0" y="0"/>
                </a:moveTo>
                <a:lnTo>
                  <a:pt x="0" y="190500"/>
                </a:lnTo>
              </a:path>
            </a:pathLst>
          </a:custGeom>
          <a:noFill/>
          <a:ln w="9525">
            <a:solidFill>
              <a:srgbClr val="C0392B"/>
            </a:solidFill>
            <a:custDash>
              <a:ds d="300000" sp="300000"/>
            </a:custDash>
          </a:ln>
        </p:spPr>
      </p:sp>
      <p:sp>
        <p:nvSpPr>
          <p:cNvPr id="56" name="TextBox 56"/>
          <p:cNvSpPr txBox="1"/>
          <p:nvPr/>
        </p:nvSpPr>
        <p:spPr>
          <a:xfrm>
            <a:off x="3982402" y="6077902"/>
            <a:ext cx="4227195"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价值观的真正考验：当商业利益与原则冲突时，拒绝的才是真价值观</a:t>
            </a:r>
          </a:p>
        </p:txBody>
      </p:sp>
      <p:sp>
        <p:nvSpPr>
          <p:cNvPr id="57" name="TextBox 57"/>
          <p:cNvSpPr txBox="1"/>
          <p:nvPr/>
        </p:nvSpPr>
        <p:spPr>
          <a:xfrm>
            <a:off x="11477054" y="64750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13</a:t>
            </a:r>
          </a:p>
        </p:txBody>
      </p:sp>
      <p:sp>
        <p:nvSpPr>
          <p:cNvPr id="58" name="TextBox 58"/>
          <p:cNvSpPr txBox="1"/>
          <p:nvPr/>
        </p:nvSpPr>
        <p:spPr>
          <a:xfrm>
            <a:off x="560070" y="64750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D4A574"/>
          </a:solidFill>
          <a:ln>
            <a:noFill/>
          </a:ln>
        </p:spPr>
      </p:sp>
      <p:sp>
        <p:nvSpPr>
          <p:cNvPr id="4" name="TextBox 4"/>
          <p:cNvSpPr txBox="1"/>
          <p:nvPr/>
        </p:nvSpPr>
        <p:spPr>
          <a:xfrm>
            <a:off x="778192" y="494824"/>
            <a:ext cx="9584555" cy="502920"/>
          </a:xfrm>
          <a:prstGeom prst="rect">
            <a:avLst/>
          </a:prstGeom>
          <a:noFill/>
          <a:ln>
            <a:noFill/>
          </a:ln>
        </p:spPr>
        <p:txBody>
          <a:bodyPr wrap="none" lIns="0" tIns="0" rIns="0" bIns="0" anchor="t" anchorCtr="0">
            <a:spAutoFit/>
          </a:bodyPr>
          <a:lstStyle/>
          <a:p>
            <a:pPr algn="l"/>
            <a:r>
              <a:rPr lang="zh-CN" sz="2475" dirty="0">
                <a:solidFill>
                  <a:srgbClr val="2C2C2C"/>
                </a:solidFill>
                <a:latin typeface="Georgia"/>
                <a:ea typeface="KaiTi"/>
                <a:cs typeface="Georgia"/>
              </a:rPr>
              <a:t>品牌人格：老街坊组织者——38-45岁，有耐心，擅长连接，不控制</a:t>
            </a:r>
          </a:p>
        </p:txBody>
      </p:sp>
      <p:sp>
        <p:nvSpPr>
          <p:cNvPr id="5" name="Line 5"/>
          <p:cNvSpPr/>
          <p:nvPr/>
        </p:nvSpPr>
        <p:spPr>
          <a:xfrm>
            <a:off x="571500" y="1000125"/>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 name="TextBox 6"/>
          <p:cNvSpPr txBox="1"/>
          <p:nvPr/>
        </p:nvSpPr>
        <p:spPr>
          <a:xfrm>
            <a:off x="3973949" y="1116806"/>
            <a:ext cx="4244102"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品牌如人——清晰的品牌人格让团队在所有沟通中保持一致的语调</a:t>
            </a:r>
          </a:p>
        </p:txBody>
      </p:sp>
      <p:sp>
        <p:nvSpPr>
          <p:cNvPr id="7" name="Rectangle 7"/>
          <p:cNvSpPr/>
          <p:nvPr/>
        </p:nvSpPr>
        <p:spPr>
          <a:xfrm>
            <a:off x="571500" y="1428750"/>
            <a:ext cx="6477000" cy="3619500"/>
          </a:xfrm>
          <a:prstGeom prst="roundRect">
            <a:avLst>
              <a:gd name="adj" fmla="val 4211"/>
            </a:avLst>
          </a:prstGeom>
          <a:solidFill>
            <a:srgbClr val="F5F0EA"/>
          </a:solidFill>
          <a:ln w="14288">
            <a:solidFill>
              <a:srgbClr val="D4A574"/>
            </a:solidFill>
          </a:ln>
          <a:effectLst>
            <a:outerShdw blurRad="76200" dist="19050" dir="5400000" algn="ctr" rotWithShape="0">
              <a:srgbClr val="2C2C2C">
                <a:alpha val="4500"/>
              </a:srgbClr>
            </a:outerShdw>
          </a:effectLst>
        </p:spPr>
      </p:sp>
      <p:sp>
        <p:nvSpPr>
          <p:cNvPr id="8" name="Rectangle 8"/>
          <p:cNvSpPr/>
          <p:nvPr/>
        </p:nvSpPr>
        <p:spPr>
          <a:xfrm>
            <a:off x="571500" y="1428750"/>
            <a:ext cx="6477000" cy="438150"/>
          </a:xfrm>
          <a:prstGeom prst="roundRect">
            <a:avLst>
              <a:gd name="adj" fmla="val 34783"/>
            </a:avLst>
          </a:prstGeom>
          <a:solidFill>
            <a:srgbClr val="D4A574">
              <a:alpha val="12000"/>
            </a:srgbClr>
          </a:solidFill>
          <a:ln>
            <a:noFill/>
          </a:ln>
        </p:spPr>
      </p:sp>
      <p:sp>
        <p:nvSpPr>
          <p:cNvPr id="9" name="Rectangle 9"/>
          <p:cNvSpPr/>
          <p:nvPr/>
        </p:nvSpPr>
        <p:spPr>
          <a:xfrm>
            <a:off x="571500" y="1733550"/>
            <a:ext cx="6477000" cy="133350"/>
          </a:xfrm>
          <a:prstGeom prst="rect">
            <a:avLst/>
          </a:prstGeom>
          <a:solidFill>
            <a:srgbClr val="D4A574">
              <a:alpha val="12000"/>
            </a:srgbClr>
          </a:solidFill>
          <a:ln>
            <a:noFill/>
          </a:ln>
        </p:spPr>
      </p:sp>
      <p:sp>
        <p:nvSpPr>
          <p:cNvPr id="10" name="TextBox 10"/>
          <p:cNvSpPr txBox="1"/>
          <p:nvPr/>
        </p:nvSpPr>
        <p:spPr>
          <a:xfrm>
            <a:off x="1173480" y="1568768"/>
            <a:ext cx="1474470" cy="274320"/>
          </a:xfrm>
          <a:prstGeom prst="rect">
            <a:avLst/>
          </a:prstGeom>
          <a:noFill/>
          <a:ln>
            <a:noFill/>
          </a:ln>
        </p:spPr>
        <p:txBody>
          <a:bodyPr wrap="none" lIns="0" tIns="0" rIns="0" bIns="0" anchor="t" anchorCtr="0">
            <a:spAutoFit/>
          </a:bodyPr>
          <a:lstStyle/>
          <a:p>
            <a:pPr algn="l"/>
            <a:r>
              <a:rPr lang="zh-CN" sz="1350" dirty="0">
                <a:solidFill>
                  <a:srgbClr val="D4A574"/>
                </a:solidFill>
                <a:latin typeface="Georgia"/>
                <a:ea typeface="KaiTi"/>
                <a:cs typeface="Georgia"/>
              </a:rPr>
              <a:t>品牌人格六维画像</a:t>
            </a:r>
          </a:p>
        </p:txBody>
      </p:sp>
      <p:sp>
        <p:nvSpPr>
          <p:cNvPr id="11" name="Rectangle 11"/>
          <p:cNvSpPr/>
          <p:nvPr/>
        </p:nvSpPr>
        <p:spPr>
          <a:xfrm>
            <a:off x="762000" y="1952625"/>
            <a:ext cx="2952750" cy="857250"/>
          </a:xfrm>
          <a:prstGeom prst="roundRect">
            <a:avLst>
              <a:gd name="adj" fmla="val 13333"/>
            </a:avLst>
          </a:prstGeom>
          <a:solidFill>
            <a:srgbClr val="FAFAF5"/>
          </a:solidFill>
          <a:ln w="9525">
            <a:solidFill>
              <a:srgbClr val="E8E3DC"/>
            </a:solidFill>
          </a:ln>
        </p:spPr>
      </p:sp>
      <p:sp>
        <p:nvSpPr>
          <p:cNvPr id="12" name="TextBox 12"/>
          <p:cNvSpPr txBox="1"/>
          <p:nvPr/>
        </p:nvSpPr>
        <p:spPr>
          <a:xfrm>
            <a:off x="939165" y="2077402"/>
            <a:ext cx="30670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原型</a:t>
            </a:r>
          </a:p>
        </p:txBody>
      </p:sp>
      <p:sp>
        <p:nvSpPr>
          <p:cNvPr id="13" name="TextBox 13"/>
          <p:cNvSpPr txBox="1"/>
          <p:nvPr/>
        </p:nvSpPr>
        <p:spPr>
          <a:xfrm>
            <a:off x="933450" y="2295525"/>
            <a:ext cx="668179"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组织者</a:t>
            </a:r>
          </a:p>
        </p:txBody>
      </p:sp>
      <p:sp>
        <p:nvSpPr>
          <p:cNvPr id="14" name="TextBox 14"/>
          <p:cNvSpPr txBox="1"/>
          <p:nvPr/>
        </p:nvSpPr>
        <p:spPr>
          <a:xfrm>
            <a:off x="940118" y="2561749"/>
            <a:ext cx="249507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非管家（上下关系）、非教练（教导关系）</a:t>
            </a:r>
          </a:p>
        </p:txBody>
      </p:sp>
      <p:sp>
        <p:nvSpPr>
          <p:cNvPr id="15" name="Rectangle 15"/>
          <p:cNvSpPr/>
          <p:nvPr/>
        </p:nvSpPr>
        <p:spPr>
          <a:xfrm>
            <a:off x="3905250" y="1952625"/>
            <a:ext cx="2952750" cy="857250"/>
          </a:xfrm>
          <a:prstGeom prst="roundRect">
            <a:avLst>
              <a:gd name="adj" fmla="val 13333"/>
            </a:avLst>
          </a:prstGeom>
          <a:solidFill>
            <a:srgbClr val="FAFAF5"/>
          </a:solidFill>
          <a:ln w="9525">
            <a:solidFill>
              <a:srgbClr val="E8E3DC"/>
            </a:solidFill>
          </a:ln>
        </p:spPr>
      </p:sp>
      <p:sp>
        <p:nvSpPr>
          <p:cNvPr id="16" name="TextBox 16"/>
          <p:cNvSpPr txBox="1"/>
          <p:nvPr/>
        </p:nvSpPr>
        <p:spPr>
          <a:xfrm>
            <a:off x="4082415" y="2077402"/>
            <a:ext cx="446722"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年龄感</a:t>
            </a:r>
          </a:p>
        </p:txBody>
      </p:sp>
      <p:sp>
        <p:nvSpPr>
          <p:cNvPr id="17" name="TextBox 17"/>
          <p:cNvSpPr txBox="1"/>
          <p:nvPr/>
        </p:nvSpPr>
        <p:spPr>
          <a:xfrm>
            <a:off x="4076700" y="2295525"/>
            <a:ext cx="825698"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38-45岁</a:t>
            </a:r>
          </a:p>
        </p:txBody>
      </p:sp>
      <p:sp>
        <p:nvSpPr>
          <p:cNvPr id="18" name="TextBox 18"/>
          <p:cNvSpPr txBox="1"/>
          <p:nvPr/>
        </p:nvSpPr>
        <p:spPr>
          <a:xfrm>
            <a:off x="4083368" y="2561749"/>
            <a:ext cx="158496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有阅历但不油腻，成熟可靠</a:t>
            </a:r>
          </a:p>
        </p:txBody>
      </p:sp>
      <p:sp>
        <p:nvSpPr>
          <p:cNvPr id="19" name="Rectangle 19"/>
          <p:cNvSpPr/>
          <p:nvPr/>
        </p:nvSpPr>
        <p:spPr>
          <a:xfrm>
            <a:off x="762000" y="2952750"/>
            <a:ext cx="2952750" cy="857250"/>
          </a:xfrm>
          <a:prstGeom prst="roundRect">
            <a:avLst>
              <a:gd name="adj" fmla="val 13333"/>
            </a:avLst>
          </a:prstGeom>
          <a:solidFill>
            <a:srgbClr val="FAFAF5"/>
          </a:solidFill>
          <a:ln w="9525">
            <a:solidFill>
              <a:srgbClr val="E8E3DC"/>
            </a:solidFill>
          </a:ln>
        </p:spPr>
      </p:sp>
      <p:sp>
        <p:nvSpPr>
          <p:cNvPr id="20" name="TextBox 20"/>
          <p:cNvSpPr txBox="1"/>
          <p:nvPr/>
        </p:nvSpPr>
        <p:spPr>
          <a:xfrm>
            <a:off x="939165" y="3077528"/>
            <a:ext cx="30670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穿着</a:t>
            </a:r>
          </a:p>
        </p:txBody>
      </p:sp>
      <p:sp>
        <p:nvSpPr>
          <p:cNvPr id="21" name="TextBox 21"/>
          <p:cNvSpPr txBox="1"/>
          <p:nvPr/>
        </p:nvSpPr>
        <p:spPr>
          <a:xfrm>
            <a:off x="933450" y="3295650"/>
            <a:ext cx="1088231"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舒适的棉麻</a:t>
            </a:r>
          </a:p>
        </p:txBody>
      </p:sp>
      <p:sp>
        <p:nvSpPr>
          <p:cNvPr id="22" name="TextBox 22"/>
          <p:cNvSpPr txBox="1"/>
          <p:nvPr/>
        </p:nvSpPr>
        <p:spPr>
          <a:xfrm>
            <a:off x="940118" y="3561874"/>
            <a:ext cx="158496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不是西装革履，亲和接地气</a:t>
            </a:r>
          </a:p>
        </p:txBody>
      </p:sp>
      <p:sp>
        <p:nvSpPr>
          <p:cNvPr id="23" name="Rectangle 23"/>
          <p:cNvSpPr/>
          <p:nvPr/>
        </p:nvSpPr>
        <p:spPr>
          <a:xfrm>
            <a:off x="3905250" y="2952750"/>
            <a:ext cx="2952750" cy="857250"/>
          </a:xfrm>
          <a:prstGeom prst="roundRect">
            <a:avLst>
              <a:gd name="adj" fmla="val 13333"/>
            </a:avLst>
          </a:prstGeom>
          <a:solidFill>
            <a:srgbClr val="FAFAF5"/>
          </a:solidFill>
          <a:ln w="9525">
            <a:solidFill>
              <a:srgbClr val="E8E3DC"/>
            </a:solidFill>
          </a:ln>
        </p:spPr>
      </p:sp>
      <p:sp>
        <p:nvSpPr>
          <p:cNvPr id="24" name="TextBox 24"/>
          <p:cNvSpPr txBox="1"/>
          <p:nvPr/>
        </p:nvSpPr>
        <p:spPr>
          <a:xfrm>
            <a:off x="4082415" y="3077528"/>
            <a:ext cx="586740"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说话方式</a:t>
            </a:r>
          </a:p>
        </p:txBody>
      </p:sp>
      <p:sp>
        <p:nvSpPr>
          <p:cNvPr id="25" name="TextBox 25"/>
          <p:cNvSpPr txBox="1"/>
          <p:nvPr/>
        </p:nvSpPr>
        <p:spPr>
          <a:xfrm>
            <a:off x="4076700" y="3295650"/>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平等商量</a:t>
            </a:r>
          </a:p>
        </p:txBody>
      </p:sp>
      <p:sp>
        <p:nvSpPr>
          <p:cNvPr id="26" name="TextBox 26"/>
          <p:cNvSpPr txBox="1"/>
          <p:nvPr/>
        </p:nvSpPr>
        <p:spPr>
          <a:xfrm>
            <a:off x="4083368" y="3561874"/>
            <a:ext cx="158496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不是命令或教导，有商有量</a:t>
            </a:r>
          </a:p>
        </p:txBody>
      </p:sp>
      <p:sp>
        <p:nvSpPr>
          <p:cNvPr id="27" name="Rectangle 27"/>
          <p:cNvSpPr/>
          <p:nvPr/>
        </p:nvSpPr>
        <p:spPr>
          <a:xfrm>
            <a:off x="762000" y="3952875"/>
            <a:ext cx="2952750" cy="857250"/>
          </a:xfrm>
          <a:prstGeom prst="roundRect">
            <a:avLst>
              <a:gd name="adj" fmla="val 13333"/>
            </a:avLst>
          </a:prstGeom>
          <a:solidFill>
            <a:srgbClr val="FAFAF5"/>
          </a:solidFill>
          <a:ln w="9525">
            <a:solidFill>
              <a:srgbClr val="D4A574"/>
            </a:solidFill>
          </a:ln>
        </p:spPr>
      </p:sp>
      <p:sp>
        <p:nvSpPr>
          <p:cNvPr id="28" name="TextBox 28"/>
          <p:cNvSpPr txBox="1"/>
          <p:nvPr/>
        </p:nvSpPr>
        <p:spPr>
          <a:xfrm>
            <a:off x="939165" y="4077652"/>
            <a:ext cx="1006792"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最常说的一句话</a:t>
            </a:r>
          </a:p>
        </p:txBody>
      </p:sp>
      <p:sp>
        <p:nvSpPr>
          <p:cNvPr id="29" name="TextBox 29"/>
          <p:cNvSpPr txBox="1"/>
          <p:nvPr/>
        </p:nvSpPr>
        <p:spPr>
          <a:xfrm>
            <a:off x="935355" y="4311968"/>
            <a:ext cx="2425439" cy="274320"/>
          </a:xfrm>
          <a:prstGeom prst="rect">
            <a:avLst/>
          </a:prstGeom>
          <a:noFill/>
          <a:ln>
            <a:noFill/>
          </a:ln>
        </p:spPr>
        <p:txBody>
          <a:bodyPr wrap="none" lIns="0" tIns="0" rIns="0" bIns="0" anchor="t" anchorCtr="0">
            <a:spAutoFit/>
          </a:bodyPr>
          <a:lstStyle/>
          <a:p>
            <a:pPr algn="l"/>
            <a:r>
              <a:rPr lang="zh-CN" sz="1350" b="1" dirty="0">
                <a:solidFill>
                  <a:srgbClr val="D4A574"/>
                </a:solidFill>
                <a:latin typeface="Arial"/>
                <a:ea typeface="Microsoft YaHei"/>
                <a:cs typeface="Arial"/>
              </a:rPr>
              <a:t>「来，我给你介绍一下...」</a:t>
            </a:r>
          </a:p>
        </p:txBody>
      </p:sp>
      <p:sp>
        <p:nvSpPr>
          <p:cNvPr id="30" name="TextBox 30"/>
          <p:cNvSpPr txBox="1"/>
          <p:nvPr/>
        </p:nvSpPr>
        <p:spPr>
          <a:xfrm>
            <a:off x="940118" y="4561999"/>
            <a:ext cx="159796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连接者角色——撮合，不主导</a:t>
            </a:r>
          </a:p>
        </p:txBody>
      </p:sp>
      <p:sp>
        <p:nvSpPr>
          <p:cNvPr id="31" name="Rectangle 31"/>
          <p:cNvSpPr/>
          <p:nvPr/>
        </p:nvSpPr>
        <p:spPr>
          <a:xfrm>
            <a:off x="3905250" y="3952875"/>
            <a:ext cx="2952750" cy="857250"/>
          </a:xfrm>
          <a:prstGeom prst="roundRect">
            <a:avLst>
              <a:gd name="adj" fmla="val 13333"/>
            </a:avLst>
          </a:prstGeom>
          <a:solidFill>
            <a:srgbClr val="FAFAF5"/>
          </a:solidFill>
          <a:ln w="9525">
            <a:solidFill>
              <a:srgbClr val="D4A574"/>
            </a:solidFill>
          </a:ln>
        </p:spPr>
      </p:sp>
      <p:sp>
        <p:nvSpPr>
          <p:cNvPr id="32" name="TextBox 32"/>
          <p:cNvSpPr txBox="1"/>
          <p:nvPr/>
        </p:nvSpPr>
        <p:spPr>
          <a:xfrm>
            <a:off x="4082415" y="4077652"/>
            <a:ext cx="586740"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现实原型</a:t>
            </a:r>
          </a:p>
        </p:txBody>
      </p:sp>
      <p:sp>
        <p:nvSpPr>
          <p:cNvPr id="33" name="TextBox 33"/>
          <p:cNvSpPr txBox="1"/>
          <p:nvPr/>
        </p:nvSpPr>
        <p:spPr>
          <a:xfrm>
            <a:off x="4078605" y="4311968"/>
            <a:ext cx="979408"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社区老街坊</a:t>
            </a:r>
          </a:p>
        </p:txBody>
      </p:sp>
      <p:sp>
        <p:nvSpPr>
          <p:cNvPr id="34" name="TextBox 34"/>
          <p:cNvSpPr txBox="1"/>
          <p:nvPr/>
        </p:nvSpPr>
        <p:spPr>
          <a:xfrm>
            <a:off x="4083368" y="4561999"/>
            <a:ext cx="171497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谁都认识、谁家有困难都帮忙</a:t>
            </a:r>
          </a:p>
        </p:txBody>
      </p:sp>
      <p:sp>
        <p:nvSpPr>
          <p:cNvPr id="35" name="Rectangle 35"/>
          <p:cNvSpPr/>
          <p:nvPr/>
        </p:nvSpPr>
        <p:spPr>
          <a:xfrm>
            <a:off x="7286625" y="1428750"/>
            <a:ext cx="4286250" cy="3619500"/>
          </a:xfrm>
          <a:prstGeom prst="roundRect">
            <a:avLst>
              <a:gd name="adj" fmla="val 4211"/>
            </a:avLst>
          </a:prstGeom>
          <a:solidFill>
            <a:srgbClr val="FAFAF5"/>
          </a:solidFill>
          <a:ln w="14288">
            <a:solidFill>
              <a:srgbClr val="E8E3DC"/>
            </a:solidFill>
          </a:ln>
          <a:effectLst>
            <a:outerShdw blurRad="76200" dist="19050" dir="5400000" algn="ctr" rotWithShape="0">
              <a:srgbClr val="2C2C2C">
                <a:alpha val="4500"/>
              </a:srgbClr>
            </a:outerShdw>
          </a:effectLst>
        </p:spPr>
      </p:sp>
      <p:sp>
        <p:nvSpPr>
          <p:cNvPr id="36" name="Rectangle 36"/>
          <p:cNvSpPr/>
          <p:nvPr/>
        </p:nvSpPr>
        <p:spPr>
          <a:xfrm>
            <a:off x="7286625" y="1428750"/>
            <a:ext cx="4286250" cy="438150"/>
          </a:xfrm>
          <a:prstGeom prst="roundRect">
            <a:avLst>
              <a:gd name="adj" fmla="val 34783"/>
            </a:avLst>
          </a:prstGeom>
          <a:solidFill>
            <a:srgbClr val="C0392B">
              <a:alpha val="6000"/>
            </a:srgbClr>
          </a:solidFill>
          <a:ln>
            <a:noFill/>
          </a:ln>
        </p:spPr>
      </p:sp>
      <p:sp>
        <p:nvSpPr>
          <p:cNvPr id="37" name="Rectangle 37"/>
          <p:cNvSpPr/>
          <p:nvPr/>
        </p:nvSpPr>
        <p:spPr>
          <a:xfrm>
            <a:off x="7286625" y="1733550"/>
            <a:ext cx="4286250" cy="133350"/>
          </a:xfrm>
          <a:prstGeom prst="rect">
            <a:avLst/>
          </a:prstGeom>
          <a:solidFill>
            <a:srgbClr val="C0392B">
              <a:alpha val="6000"/>
            </a:srgbClr>
          </a:solidFill>
          <a:ln>
            <a:noFill/>
          </a:ln>
        </p:spPr>
      </p:sp>
      <p:sp>
        <p:nvSpPr>
          <p:cNvPr id="38" name="TextBox 38"/>
          <p:cNvSpPr txBox="1"/>
          <p:nvPr/>
        </p:nvSpPr>
        <p:spPr>
          <a:xfrm>
            <a:off x="9052560" y="1549718"/>
            <a:ext cx="754380" cy="274320"/>
          </a:xfrm>
          <a:prstGeom prst="rect">
            <a:avLst/>
          </a:prstGeom>
          <a:noFill/>
          <a:ln>
            <a:noFill/>
          </a:ln>
        </p:spPr>
        <p:txBody>
          <a:bodyPr wrap="none" lIns="0" tIns="0" rIns="0" bIns="0" anchor="t" anchorCtr="0">
            <a:spAutoFit/>
          </a:bodyPr>
          <a:lstStyle/>
          <a:p>
            <a:pPr algn="ctr"/>
            <a:r>
              <a:rPr lang="zh-CN" sz="1350" dirty="0">
                <a:solidFill>
                  <a:srgbClr val="C0392B"/>
                </a:solidFill>
                <a:latin typeface="Georgia"/>
                <a:ea typeface="KaiTi"/>
                <a:cs typeface="Georgia"/>
              </a:rPr>
              <a:t>关键修正</a:t>
            </a:r>
          </a:p>
        </p:txBody>
      </p:sp>
      <p:sp>
        <p:nvSpPr>
          <p:cNvPr id="39" name="Rectangle 39"/>
          <p:cNvSpPr/>
          <p:nvPr/>
        </p:nvSpPr>
        <p:spPr>
          <a:xfrm>
            <a:off x="8382000" y="1485900"/>
            <a:ext cx="952500" cy="228600"/>
          </a:xfrm>
          <a:prstGeom prst="roundRect">
            <a:avLst>
              <a:gd name="adj" fmla="val 50000"/>
            </a:avLst>
          </a:prstGeom>
          <a:solidFill>
            <a:srgbClr val="C0392B">
              <a:alpha val="10000"/>
            </a:srgbClr>
          </a:solidFill>
          <a:ln>
            <a:noFill/>
          </a:ln>
        </p:spPr>
      </p:sp>
      <p:sp>
        <p:nvSpPr>
          <p:cNvPr id="40" name="TextBox 40"/>
          <p:cNvSpPr txBox="1"/>
          <p:nvPr/>
        </p:nvSpPr>
        <p:spPr>
          <a:xfrm>
            <a:off x="8273748" y="1550670"/>
            <a:ext cx="1169003" cy="182880"/>
          </a:xfrm>
          <a:prstGeom prst="rect">
            <a:avLst/>
          </a:prstGeom>
          <a:noFill/>
          <a:ln>
            <a:noFill/>
          </a:ln>
        </p:spPr>
        <p:txBody>
          <a:bodyPr wrap="none" lIns="0" tIns="0" rIns="0" bIns="0" anchor="t" anchorCtr="0">
            <a:spAutoFit/>
          </a:bodyPr>
          <a:lstStyle/>
          <a:p>
            <a:pPr algn="ctr"/>
            <a:r>
              <a:rPr lang="zh-CN" sz="900" dirty="0">
                <a:solidFill>
                  <a:srgbClr val="C0392B"/>
                </a:solidFill>
                <a:latin typeface="Arial"/>
                <a:ea typeface="Microsoft YaHei"/>
                <a:cs typeface="Arial"/>
              </a:rPr>
              <a:t>「管家」→「组织者」</a:t>
            </a:r>
          </a:p>
        </p:txBody>
      </p:sp>
      <p:sp>
        <p:nvSpPr>
          <p:cNvPr id="41" name="Rectangle 41"/>
          <p:cNvSpPr/>
          <p:nvPr/>
        </p:nvSpPr>
        <p:spPr>
          <a:xfrm>
            <a:off x="7477125" y="2019300"/>
            <a:ext cx="3905250" cy="952500"/>
          </a:xfrm>
          <a:prstGeom prst="roundRect">
            <a:avLst>
              <a:gd name="adj" fmla="val 12000"/>
            </a:avLst>
          </a:prstGeom>
          <a:solidFill>
            <a:srgbClr val="C0392B">
              <a:alpha val="4000"/>
            </a:srgbClr>
          </a:solidFill>
          <a:ln w="9525">
            <a:solidFill>
              <a:srgbClr val="C0392B"/>
            </a:solidFill>
            <a:prstDash val="dash"/>
          </a:ln>
        </p:spPr>
      </p:sp>
      <p:sp>
        <p:nvSpPr>
          <p:cNvPr id="42" name="TextBox 42"/>
          <p:cNvSpPr txBox="1"/>
          <p:nvPr/>
        </p:nvSpPr>
        <p:spPr>
          <a:xfrm>
            <a:off x="7700010" y="2156460"/>
            <a:ext cx="366522" cy="243840"/>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管家</a:t>
            </a:r>
          </a:p>
        </p:txBody>
      </p:sp>
      <p:sp>
        <p:nvSpPr>
          <p:cNvPr id="43" name="TextBox 43"/>
          <p:cNvSpPr txBox="1"/>
          <p:nvPr/>
        </p:nvSpPr>
        <p:spPr>
          <a:xfrm>
            <a:off x="9326070" y="2059305"/>
            <a:ext cx="207359" cy="426720"/>
          </a:xfrm>
          <a:prstGeom prst="rect">
            <a:avLst/>
          </a:prstGeom>
          <a:noFill/>
          <a:ln>
            <a:noFill/>
          </a:ln>
        </p:spPr>
        <p:txBody>
          <a:bodyPr wrap="none" lIns="0" tIns="0" rIns="0" bIns="0" anchor="t" anchorCtr="0">
            <a:spAutoFit/>
          </a:bodyPr>
          <a:lstStyle/>
          <a:p>
            <a:pPr algn="ctr"/>
            <a:r>
              <a:rPr lang="zh-CN" sz="2100" dirty="0">
                <a:solidFill>
                  <a:srgbClr val="C0392B"/>
                </a:solidFill>
                <a:latin typeface="Arial"/>
                <a:ea typeface="Microsoft YaHei"/>
                <a:cs typeface="Arial"/>
              </a:rPr>
              <a:t>✕</a:t>
            </a:r>
          </a:p>
        </p:txBody>
      </p:sp>
      <p:sp>
        <p:nvSpPr>
          <p:cNvPr id="44" name="TextBox 44"/>
          <p:cNvSpPr txBox="1"/>
          <p:nvPr/>
        </p:nvSpPr>
        <p:spPr>
          <a:xfrm>
            <a:off x="7701915" y="2439352"/>
            <a:ext cx="212693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有上下级关系，暗示「我来管你」</a:t>
            </a:r>
          </a:p>
        </p:txBody>
      </p:sp>
      <p:sp>
        <p:nvSpPr>
          <p:cNvPr id="45" name="TextBox 45"/>
          <p:cNvSpPr txBox="1"/>
          <p:nvPr/>
        </p:nvSpPr>
        <p:spPr>
          <a:xfrm>
            <a:off x="7701915" y="2667952"/>
            <a:ext cx="256098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商家是被管理者→平台是上级→关系不对等</a:t>
            </a:r>
          </a:p>
        </p:txBody>
      </p:sp>
      <p:sp>
        <p:nvSpPr>
          <p:cNvPr id="46" name="TextBox 46"/>
          <p:cNvSpPr txBox="1"/>
          <p:nvPr/>
        </p:nvSpPr>
        <p:spPr>
          <a:xfrm>
            <a:off x="9311259" y="2979420"/>
            <a:ext cx="236982" cy="487680"/>
          </a:xfrm>
          <a:prstGeom prst="rect">
            <a:avLst/>
          </a:prstGeom>
          <a:noFill/>
          <a:ln>
            <a:noFill/>
          </a:ln>
        </p:spPr>
        <p:txBody>
          <a:bodyPr wrap="none" lIns="0" tIns="0" rIns="0" bIns="0" anchor="t" anchorCtr="0">
            <a:spAutoFit/>
          </a:bodyPr>
          <a:lstStyle/>
          <a:p>
            <a:pPr algn="ctr"/>
            <a:r>
              <a:rPr lang="zh-CN" sz="2400" dirty="0">
                <a:solidFill>
                  <a:srgbClr val="D4A574"/>
                </a:solidFill>
                <a:latin typeface="Arial"/>
                <a:ea typeface="Microsoft YaHei"/>
                <a:cs typeface="Arial"/>
              </a:rPr>
              <a:t>↓</a:t>
            </a:r>
          </a:p>
        </p:txBody>
      </p:sp>
      <p:sp>
        <p:nvSpPr>
          <p:cNvPr id="47" name="Rectangle 47"/>
          <p:cNvSpPr/>
          <p:nvPr/>
        </p:nvSpPr>
        <p:spPr>
          <a:xfrm>
            <a:off x="7477125" y="3409950"/>
            <a:ext cx="3905250" cy="952500"/>
          </a:xfrm>
          <a:prstGeom prst="roundRect">
            <a:avLst>
              <a:gd name="adj" fmla="val 12000"/>
            </a:avLst>
          </a:prstGeom>
          <a:solidFill>
            <a:srgbClr val="1E8449">
              <a:alpha val="4000"/>
            </a:srgbClr>
          </a:solidFill>
          <a:ln w="14288">
            <a:solidFill>
              <a:srgbClr val="1E8449"/>
            </a:solidFill>
          </a:ln>
        </p:spPr>
      </p:sp>
      <p:sp>
        <p:nvSpPr>
          <p:cNvPr id="48" name="TextBox 48"/>
          <p:cNvSpPr txBox="1"/>
          <p:nvPr/>
        </p:nvSpPr>
        <p:spPr>
          <a:xfrm>
            <a:off x="7700010" y="3547110"/>
            <a:ext cx="534543"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组织者</a:t>
            </a:r>
          </a:p>
        </p:txBody>
      </p:sp>
      <p:sp>
        <p:nvSpPr>
          <p:cNvPr id="49" name="TextBox 49"/>
          <p:cNvSpPr txBox="1"/>
          <p:nvPr/>
        </p:nvSpPr>
        <p:spPr>
          <a:xfrm>
            <a:off x="9326070" y="3449955"/>
            <a:ext cx="207359" cy="426720"/>
          </a:xfrm>
          <a:prstGeom prst="rect">
            <a:avLst/>
          </a:prstGeom>
          <a:noFill/>
          <a:ln>
            <a:noFill/>
          </a:ln>
        </p:spPr>
        <p:txBody>
          <a:bodyPr wrap="none" lIns="0" tIns="0" rIns="0" bIns="0" anchor="t" anchorCtr="0">
            <a:spAutoFit/>
          </a:bodyPr>
          <a:lstStyle/>
          <a:p>
            <a:pPr algn="ctr"/>
            <a:r>
              <a:rPr lang="zh-CN" sz="2100" dirty="0">
                <a:solidFill>
                  <a:srgbClr val="1E8449"/>
                </a:solidFill>
                <a:latin typeface="Arial"/>
                <a:ea typeface="Microsoft YaHei"/>
                <a:cs typeface="Arial"/>
              </a:rPr>
              <a:t>✓</a:t>
            </a:r>
          </a:p>
        </p:txBody>
      </p:sp>
      <p:sp>
        <p:nvSpPr>
          <p:cNvPr id="50" name="TextBox 50"/>
          <p:cNvSpPr txBox="1"/>
          <p:nvPr/>
        </p:nvSpPr>
        <p:spPr>
          <a:xfrm>
            <a:off x="7701915" y="3830002"/>
            <a:ext cx="3121057"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平等、连接、成全——「我给你介绍，你自己经营」</a:t>
            </a:r>
          </a:p>
        </p:txBody>
      </p:sp>
      <p:sp>
        <p:nvSpPr>
          <p:cNvPr id="51" name="TextBox 51"/>
          <p:cNvSpPr txBox="1"/>
          <p:nvPr/>
        </p:nvSpPr>
        <p:spPr>
          <a:xfrm>
            <a:off x="7701915" y="4058602"/>
            <a:ext cx="2701004"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商家是独立经营者→平台是服务者→关系平等</a:t>
            </a:r>
          </a:p>
        </p:txBody>
      </p:sp>
      <p:sp>
        <p:nvSpPr>
          <p:cNvPr id="52" name="TextBox 52"/>
          <p:cNvSpPr txBox="1"/>
          <p:nvPr/>
        </p:nvSpPr>
        <p:spPr>
          <a:xfrm>
            <a:off x="8377238" y="4657249"/>
            <a:ext cx="2105025"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品牌人格决定品牌与用户的权力关系</a:t>
            </a:r>
          </a:p>
        </p:txBody>
      </p:sp>
      <p:sp>
        <p:nvSpPr>
          <p:cNvPr id="53" name="Rectangle 53"/>
          <p:cNvSpPr/>
          <p:nvPr/>
        </p:nvSpPr>
        <p:spPr>
          <a:xfrm>
            <a:off x="571500" y="5238750"/>
            <a:ext cx="11049000" cy="361950"/>
          </a:xfrm>
          <a:prstGeom prst="roundRect">
            <a:avLst>
              <a:gd name="adj" fmla="val 26316"/>
            </a:avLst>
          </a:prstGeom>
          <a:solidFill>
            <a:srgbClr val="F0EDE8"/>
          </a:solidFill>
          <a:ln>
            <a:noFill/>
          </a:ln>
        </p:spPr>
      </p:sp>
      <p:sp>
        <p:nvSpPr>
          <p:cNvPr id="54" name="TextBox 54"/>
          <p:cNvSpPr txBox="1"/>
          <p:nvPr/>
        </p:nvSpPr>
        <p:spPr>
          <a:xfrm>
            <a:off x="4708588" y="5337810"/>
            <a:ext cx="2774823"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Georgia"/>
                <a:ea typeface="KaiTi"/>
                <a:cs typeface="Georgia"/>
              </a:rPr>
              <a:t>三个说话方式示例对照（错误 → 正确）</a:t>
            </a:r>
          </a:p>
        </p:txBody>
      </p:sp>
      <p:sp>
        <p:nvSpPr>
          <p:cNvPr id="55" name="Rectangle 55"/>
          <p:cNvSpPr/>
          <p:nvPr/>
        </p:nvSpPr>
        <p:spPr>
          <a:xfrm>
            <a:off x="571500" y="5715000"/>
            <a:ext cx="3524250" cy="457200"/>
          </a:xfrm>
          <a:prstGeom prst="roundRect">
            <a:avLst>
              <a:gd name="adj" fmla="val 20833"/>
            </a:avLst>
          </a:prstGeom>
          <a:solidFill>
            <a:srgbClr val="FAFAF5"/>
          </a:solidFill>
          <a:ln w="9525">
            <a:solidFill>
              <a:srgbClr val="E8E3DC"/>
            </a:solidFill>
          </a:ln>
        </p:spPr>
      </p:sp>
      <p:sp>
        <p:nvSpPr>
          <p:cNvPr id="56" name="TextBox 56"/>
          <p:cNvSpPr txBox="1"/>
          <p:nvPr/>
        </p:nvSpPr>
        <p:spPr>
          <a:xfrm>
            <a:off x="749618" y="5819299"/>
            <a:ext cx="1064895"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「平台帮你管店」</a:t>
            </a:r>
          </a:p>
        </p:txBody>
      </p:sp>
      <p:sp>
        <p:nvSpPr>
          <p:cNvPr id="57" name="TextBox 57"/>
          <p:cNvSpPr txBox="1"/>
          <p:nvPr/>
        </p:nvSpPr>
        <p:spPr>
          <a:xfrm>
            <a:off x="2461260" y="5795010"/>
            <a:ext cx="118491" cy="243840"/>
          </a:xfrm>
          <a:prstGeom prst="rect">
            <a:avLst/>
          </a:prstGeom>
          <a:noFill/>
          <a:ln>
            <a:noFill/>
          </a:ln>
        </p:spPr>
        <p:txBody>
          <a:bodyPr wrap="none" lIns="0" tIns="0" rIns="0" bIns="0" anchor="t" anchorCtr="0">
            <a:spAutoFit/>
          </a:bodyPr>
          <a:lstStyle/>
          <a:p>
            <a:pPr algn="l"/>
            <a:r>
              <a:rPr lang="zh-CN" sz="1200" dirty="0">
                <a:solidFill>
                  <a:srgbClr val="D4A574"/>
                </a:solidFill>
                <a:latin typeface="Arial"/>
                <a:ea typeface="Microsoft YaHei"/>
                <a:cs typeface="Arial"/>
              </a:rPr>
              <a:t>→</a:t>
            </a:r>
          </a:p>
        </p:txBody>
      </p:sp>
      <p:sp>
        <p:nvSpPr>
          <p:cNvPr id="58" name="TextBox 58"/>
          <p:cNvSpPr txBox="1"/>
          <p:nvPr/>
        </p:nvSpPr>
        <p:spPr>
          <a:xfrm>
            <a:off x="2654618" y="5819299"/>
            <a:ext cx="1844992"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「平台帮你多留住几个回头客」</a:t>
            </a:r>
          </a:p>
        </p:txBody>
      </p:sp>
      <p:sp>
        <p:nvSpPr>
          <p:cNvPr id="59" name="Rectangle 59"/>
          <p:cNvSpPr/>
          <p:nvPr/>
        </p:nvSpPr>
        <p:spPr>
          <a:xfrm>
            <a:off x="4333875" y="5715000"/>
            <a:ext cx="3524250" cy="457200"/>
          </a:xfrm>
          <a:prstGeom prst="roundRect">
            <a:avLst>
              <a:gd name="adj" fmla="val 20833"/>
            </a:avLst>
          </a:prstGeom>
          <a:solidFill>
            <a:srgbClr val="FAFAF5"/>
          </a:solidFill>
          <a:ln w="9525">
            <a:solidFill>
              <a:srgbClr val="E8E3DC"/>
            </a:solidFill>
          </a:ln>
        </p:spPr>
      </p:sp>
      <p:sp>
        <p:nvSpPr>
          <p:cNvPr id="60" name="TextBox 60"/>
          <p:cNvSpPr txBox="1"/>
          <p:nvPr/>
        </p:nvSpPr>
        <p:spPr>
          <a:xfrm>
            <a:off x="4511992" y="5819299"/>
            <a:ext cx="1324928"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「我们有最好的算法」</a:t>
            </a:r>
          </a:p>
        </p:txBody>
      </p:sp>
      <p:sp>
        <p:nvSpPr>
          <p:cNvPr id="61" name="TextBox 61"/>
          <p:cNvSpPr txBox="1"/>
          <p:nvPr/>
        </p:nvSpPr>
        <p:spPr>
          <a:xfrm>
            <a:off x="6223635" y="5795010"/>
            <a:ext cx="118491" cy="243840"/>
          </a:xfrm>
          <a:prstGeom prst="rect">
            <a:avLst/>
          </a:prstGeom>
          <a:noFill/>
          <a:ln>
            <a:noFill/>
          </a:ln>
        </p:spPr>
        <p:txBody>
          <a:bodyPr wrap="none" lIns="0" tIns="0" rIns="0" bIns="0" anchor="t" anchorCtr="0">
            <a:spAutoFit/>
          </a:bodyPr>
          <a:lstStyle/>
          <a:p>
            <a:pPr algn="l"/>
            <a:r>
              <a:rPr lang="zh-CN" sz="1200" dirty="0">
                <a:solidFill>
                  <a:srgbClr val="D4A574"/>
                </a:solidFill>
                <a:latin typeface="Arial"/>
                <a:ea typeface="Microsoft YaHei"/>
                <a:cs typeface="Arial"/>
              </a:rPr>
              <a:t>→</a:t>
            </a:r>
          </a:p>
        </p:txBody>
      </p:sp>
      <p:sp>
        <p:nvSpPr>
          <p:cNvPr id="62" name="TextBox 62"/>
          <p:cNvSpPr txBox="1"/>
          <p:nvPr/>
        </p:nvSpPr>
        <p:spPr>
          <a:xfrm>
            <a:off x="6416992" y="5819299"/>
            <a:ext cx="2365058"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「我们让隔壁店的老顾客也能来你这儿」</a:t>
            </a:r>
          </a:p>
        </p:txBody>
      </p:sp>
      <p:sp>
        <p:nvSpPr>
          <p:cNvPr id="63" name="Rectangle 63"/>
          <p:cNvSpPr/>
          <p:nvPr/>
        </p:nvSpPr>
        <p:spPr>
          <a:xfrm>
            <a:off x="8096250" y="5715000"/>
            <a:ext cx="3524250" cy="457200"/>
          </a:xfrm>
          <a:prstGeom prst="roundRect">
            <a:avLst>
              <a:gd name="adj" fmla="val 20833"/>
            </a:avLst>
          </a:prstGeom>
          <a:solidFill>
            <a:srgbClr val="FAFAF5"/>
          </a:solidFill>
          <a:ln w="9525">
            <a:solidFill>
              <a:srgbClr val="E8E3DC"/>
            </a:solidFill>
          </a:ln>
        </p:spPr>
      </p:sp>
      <p:sp>
        <p:nvSpPr>
          <p:cNvPr id="64" name="TextBox 64"/>
          <p:cNvSpPr txBox="1"/>
          <p:nvPr/>
        </p:nvSpPr>
        <p:spPr>
          <a:xfrm>
            <a:off x="8274368" y="5819299"/>
            <a:ext cx="1324928"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「加入平台做大做强」</a:t>
            </a:r>
          </a:p>
        </p:txBody>
      </p:sp>
      <p:sp>
        <p:nvSpPr>
          <p:cNvPr id="65" name="TextBox 65"/>
          <p:cNvSpPr txBox="1"/>
          <p:nvPr/>
        </p:nvSpPr>
        <p:spPr>
          <a:xfrm>
            <a:off x="9986010" y="5795010"/>
            <a:ext cx="118491" cy="243840"/>
          </a:xfrm>
          <a:prstGeom prst="rect">
            <a:avLst/>
          </a:prstGeom>
          <a:noFill/>
          <a:ln>
            <a:noFill/>
          </a:ln>
        </p:spPr>
        <p:txBody>
          <a:bodyPr wrap="none" lIns="0" tIns="0" rIns="0" bIns="0" anchor="t" anchorCtr="0">
            <a:spAutoFit/>
          </a:bodyPr>
          <a:lstStyle/>
          <a:p>
            <a:pPr algn="l"/>
            <a:r>
              <a:rPr lang="zh-CN" sz="1200" dirty="0">
                <a:solidFill>
                  <a:srgbClr val="D4A574"/>
                </a:solidFill>
                <a:latin typeface="Arial"/>
                <a:ea typeface="Microsoft YaHei"/>
                <a:cs typeface="Arial"/>
              </a:rPr>
              <a:t>→</a:t>
            </a:r>
          </a:p>
        </p:txBody>
      </p:sp>
      <p:sp>
        <p:nvSpPr>
          <p:cNvPr id="66" name="TextBox 66"/>
          <p:cNvSpPr txBox="1"/>
          <p:nvPr/>
        </p:nvSpPr>
        <p:spPr>
          <a:xfrm>
            <a:off x="10179368" y="5819299"/>
            <a:ext cx="2365058"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「来，我给你介绍一下这条街上的街坊」</a:t>
            </a:r>
          </a:p>
        </p:txBody>
      </p:sp>
      <p:sp>
        <p:nvSpPr>
          <p:cNvPr id="67" name="TextBox 67"/>
          <p:cNvSpPr txBox="1"/>
          <p:nvPr/>
        </p:nvSpPr>
        <p:spPr>
          <a:xfrm>
            <a:off x="11477054" y="64750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14</a:t>
            </a:r>
          </a:p>
        </p:txBody>
      </p:sp>
      <p:sp>
        <p:nvSpPr>
          <p:cNvPr id="68" name="TextBox 68"/>
          <p:cNvSpPr txBox="1"/>
          <p:nvPr/>
        </p:nvSpPr>
        <p:spPr>
          <a:xfrm>
            <a:off x="560070" y="64750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77240" y="486728"/>
            <a:ext cx="7494699" cy="518160"/>
          </a:xfrm>
          <a:prstGeom prst="rect">
            <a:avLst/>
          </a:prstGeom>
          <a:noFill/>
          <a:ln>
            <a:noFill/>
          </a:ln>
        </p:spPr>
        <p:txBody>
          <a:bodyPr wrap="none" lIns="0" tIns="0" rIns="0" bIns="0" anchor="t" anchorCtr="0">
            <a:spAutoFit/>
          </a:bodyPr>
          <a:lstStyle/>
          <a:p>
            <a:pPr algn="l"/>
            <a:r>
              <a:rPr lang="zh-CN" sz="2550" dirty="0">
                <a:solidFill>
                  <a:srgbClr val="2C2C2C"/>
                </a:solidFill>
                <a:latin typeface="Georgia"/>
                <a:ea typeface="KaiTi"/>
                <a:cs typeface="Georgia"/>
              </a:rPr>
              <a:t>品牌故事：那个「必须做」的瞬间 ⚠待创始人确认</a:t>
            </a:r>
          </a:p>
        </p:txBody>
      </p:sp>
      <p:sp>
        <p:nvSpPr>
          <p:cNvPr id="5" name="Line 5"/>
          <p:cNvSpPr/>
          <p:nvPr/>
        </p:nvSpPr>
        <p:spPr>
          <a:xfrm>
            <a:off x="571500" y="1000125"/>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 name="TextBox 6"/>
          <p:cNvSpPr txBox="1"/>
          <p:nvPr/>
        </p:nvSpPr>
        <p:spPr>
          <a:xfrm>
            <a:off x="3748921" y="1116806"/>
            <a:ext cx="4694158"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品牌故事是品牌与用户之间的情感桥梁——好的品牌故事让战略有了温度</a:t>
            </a:r>
          </a:p>
        </p:txBody>
      </p:sp>
      <p:sp>
        <p:nvSpPr>
          <p:cNvPr id="7" name="Rectangle 7"/>
          <p:cNvSpPr/>
          <p:nvPr/>
        </p:nvSpPr>
        <p:spPr>
          <a:xfrm>
            <a:off x="952500" y="1428750"/>
            <a:ext cx="10287000" cy="2000250"/>
          </a:xfrm>
          <a:prstGeom prst="roundRect">
            <a:avLst>
              <a:gd name="adj" fmla="val 8571"/>
            </a:avLst>
          </a:prstGeom>
          <a:solidFill>
            <a:srgbClr val="FAFAF5"/>
          </a:solidFill>
          <a:ln w="23812">
            <a:solidFill>
              <a:srgbClr val="E67E22"/>
            </a:solidFill>
          </a:ln>
          <a:effectLst>
            <a:outerShdw blurRad="76200" dist="19050" dir="5400000" algn="ctr" rotWithShape="0">
              <a:srgbClr val="2C2C2C">
                <a:alpha val="4500"/>
              </a:srgbClr>
            </a:outerShdw>
          </a:effectLst>
        </p:spPr>
      </p:sp>
      <p:sp>
        <p:nvSpPr>
          <p:cNvPr id="8" name="Rectangle 8"/>
          <p:cNvSpPr/>
          <p:nvPr/>
        </p:nvSpPr>
        <p:spPr>
          <a:xfrm>
            <a:off x="952500" y="1428750"/>
            <a:ext cx="10287000" cy="495300"/>
          </a:xfrm>
          <a:prstGeom prst="roundRect">
            <a:avLst>
              <a:gd name="adj" fmla="val 34615"/>
            </a:avLst>
          </a:prstGeom>
          <a:solidFill>
            <a:srgbClr val="E67E22">
              <a:alpha val="6000"/>
            </a:srgbClr>
          </a:solidFill>
          <a:ln>
            <a:noFill/>
          </a:ln>
        </p:spPr>
      </p:sp>
      <p:sp>
        <p:nvSpPr>
          <p:cNvPr id="9" name="Rectangle 9"/>
          <p:cNvSpPr/>
          <p:nvPr/>
        </p:nvSpPr>
        <p:spPr>
          <a:xfrm>
            <a:off x="952500" y="1790700"/>
            <a:ext cx="10287000" cy="133350"/>
          </a:xfrm>
          <a:prstGeom prst="rect">
            <a:avLst/>
          </a:prstGeom>
          <a:solidFill>
            <a:srgbClr val="E67E22">
              <a:alpha val="6000"/>
            </a:srgbClr>
          </a:solidFill>
          <a:ln>
            <a:noFill/>
          </a:ln>
        </p:spPr>
      </p:sp>
      <p:sp>
        <p:nvSpPr>
          <p:cNvPr id="10" name="Rectangle 10"/>
          <p:cNvSpPr/>
          <p:nvPr/>
        </p:nvSpPr>
        <p:spPr>
          <a:xfrm>
            <a:off x="1238250" y="1543050"/>
            <a:ext cx="1714500" cy="285750"/>
          </a:xfrm>
          <a:prstGeom prst="roundRect">
            <a:avLst>
              <a:gd name="adj" fmla="val 50000"/>
            </a:avLst>
          </a:prstGeom>
          <a:solidFill>
            <a:srgbClr val="E67E22">
              <a:alpha val="12000"/>
            </a:srgbClr>
          </a:solidFill>
          <a:ln>
            <a:noFill/>
          </a:ln>
        </p:spPr>
      </p:sp>
      <p:sp>
        <p:nvSpPr>
          <p:cNvPr id="11" name="TextBox 11"/>
          <p:cNvSpPr txBox="1"/>
          <p:nvPr/>
        </p:nvSpPr>
        <p:spPr>
          <a:xfrm>
            <a:off x="1699227" y="1621631"/>
            <a:ext cx="792545" cy="228600"/>
          </a:xfrm>
          <a:prstGeom prst="rect">
            <a:avLst/>
          </a:prstGeom>
          <a:noFill/>
          <a:ln>
            <a:noFill/>
          </a:ln>
        </p:spPr>
        <p:txBody>
          <a:bodyPr wrap="none" lIns="0" tIns="0" rIns="0" bIns="0" anchor="t" anchorCtr="0">
            <a:spAutoFit/>
          </a:bodyPr>
          <a:lstStyle/>
          <a:p>
            <a:pPr algn="ctr"/>
            <a:r>
              <a:rPr lang="zh-CN" sz="1125" b="1" dirty="0">
                <a:solidFill>
                  <a:srgbClr val="E67E22"/>
                </a:solidFill>
                <a:latin typeface="Arial"/>
                <a:ea typeface="Microsoft YaHei"/>
                <a:cs typeface="Arial"/>
              </a:rPr>
              <a:t>⚠ 重要提示</a:t>
            </a:r>
          </a:p>
        </p:txBody>
      </p:sp>
      <p:sp>
        <p:nvSpPr>
          <p:cNvPr id="12" name="TextBox 12"/>
          <p:cNvSpPr txBox="1"/>
          <p:nvPr/>
        </p:nvSpPr>
        <p:spPr>
          <a:xfrm>
            <a:off x="3987641" y="2132171"/>
            <a:ext cx="4216718" cy="289560"/>
          </a:xfrm>
          <a:prstGeom prst="rect">
            <a:avLst/>
          </a:prstGeom>
          <a:noFill/>
          <a:ln>
            <a:noFill/>
          </a:ln>
        </p:spPr>
        <p:txBody>
          <a:bodyPr wrap="none" lIns="0" tIns="0" rIns="0" bIns="0" anchor="t" anchorCtr="0">
            <a:spAutoFit/>
          </a:bodyPr>
          <a:lstStyle/>
          <a:p>
            <a:pPr algn="ctr"/>
            <a:r>
              <a:rPr lang="zh-CN" sz="1425" dirty="0">
                <a:solidFill>
                  <a:srgbClr val="E67E22"/>
                </a:solidFill>
                <a:latin typeface="Georgia"/>
                <a:ea typeface="KaiTi"/>
                <a:cs typeface="Georgia"/>
              </a:rPr>
              <a:t>品牌故事是整个体系中唯一不能推演和编造的模块</a:t>
            </a:r>
          </a:p>
        </p:txBody>
      </p:sp>
      <p:sp>
        <p:nvSpPr>
          <p:cNvPr id="13" name="Line 13"/>
          <p:cNvSpPr/>
          <p:nvPr/>
        </p:nvSpPr>
        <p:spPr>
          <a:xfrm>
            <a:off x="1714500" y="2476500"/>
            <a:ext cx="8763000" cy="9525"/>
          </a:xfrm>
          <a:custGeom>
            <a:avLst/>
            <a:gdLst/>
            <a:ahLst/>
            <a:cxnLst/>
            <a:rect l="l" t="t" r="r" b="b"/>
            <a:pathLst>
              <a:path w="8763000" h="9525">
                <a:moveTo>
                  <a:pt x="0" y="0"/>
                </a:moveTo>
                <a:lnTo>
                  <a:pt x="8763000" y="0"/>
                </a:lnTo>
              </a:path>
            </a:pathLst>
          </a:custGeom>
          <a:noFill/>
          <a:ln w="9525">
            <a:solidFill>
              <a:srgbClr val="E8E3DC"/>
            </a:solidFill>
          </a:ln>
        </p:spPr>
      </p:sp>
      <p:sp>
        <p:nvSpPr>
          <p:cNvPr id="14" name="TextBox 14"/>
          <p:cNvSpPr txBox="1"/>
          <p:nvPr/>
        </p:nvSpPr>
        <p:spPr>
          <a:xfrm>
            <a:off x="5040630" y="2689860"/>
            <a:ext cx="2110740"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Arial"/>
                <a:ea typeface="Microsoft YaHei"/>
                <a:cs typeface="Arial"/>
              </a:rPr>
              <a:t>推荐故事框架（概率最高）：</a:t>
            </a:r>
          </a:p>
        </p:txBody>
      </p:sp>
      <p:sp>
        <p:nvSpPr>
          <p:cNvPr id="15" name="Rectangle 15"/>
          <p:cNvSpPr/>
          <p:nvPr/>
        </p:nvSpPr>
        <p:spPr>
          <a:xfrm>
            <a:off x="1714500" y="3000375"/>
            <a:ext cx="8763000" cy="285750"/>
          </a:xfrm>
          <a:prstGeom prst="roundRect">
            <a:avLst>
              <a:gd name="adj" fmla="val 26667"/>
            </a:avLst>
          </a:prstGeom>
          <a:solidFill>
            <a:srgbClr val="F5F0EA"/>
          </a:solidFill>
          <a:ln>
            <a:noFill/>
          </a:ln>
        </p:spPr>
      </p:sp>
      <p:sp>
        <p:nvSpPr>
          <p:cNvPr id="16" name="TextBox 16"/>
          <p:cNvSpPr txBox="1"/>
          <p:nvPr/>
        </p:nvSpPr>
        <p:spPr>
          <a:xfrm>
            <a:off x="2952369" y="3070860"/>
            <a:ext cx="6287262"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Arial"/>
                <a:ea typeface="Microsoft YaHei"/>
                <a:cs typeface="Arial"/>
              </a:rPr>
              <a:t>看到认真经营的小店老板，服务了无数顾客却留不住任何关系——这就是链邦赋商通的起源</a:t>
            </a:r>
          </a:p>
        </p:txBody>
      </p:sp>
      <p:sp>
        <p:nvSpPr>
          <p:cNvPr id="17" name="TextBox 17"/>
          <p:cNvSpPr txBox="1"/>
          <p:nvPr/>
        </p:nvSpPr>
        <p:spPr>
          <a:xfrm>
            <a:off x="5358765" y="3664268"/>
            <a:ext cx="1474470" cy="274320"/>
          </a:xfrm>
          <a:prstGeom prst="rect">
            <a:avLst/>
          </a:prstGeom>
          <a:noFill/>
          <a:ln>
            <a:noFill/>
          </a:ln>
        </p:spPr>
        <p:txBody>
          <a:bodyPr wrap="none" lIns="0" tIns="0" rIns="0" bIns="0" anchor="t" anchorCtr="0">
            <a:spAutoFit/>
          </a:bodyPr>
          <a:lstStyle/>
          <a:p>
            <a:pPr algn="ctr"/>
            <a:r>
              <a:rPr lang="zh-CN" sz="1350" dirty="0">
                <a:solidFill>
                  <a:srgbClr val="2C2C2C"/>
                </a:solidFill>
                <a:latin typeface="Georgia"/>
                <a:ea typeface="KaiTi"/>
                <a:cs typeface="Georgia"/>
              </a:rPr>
              <a:t>三个候选故事原点</a:t>
            </a:r>
          </a:p>
        </p:txBody>
      </p:sp>
      <p:sp>
        <p:nvSpPr>
          <p:cNvPr id="18" name="Rectangle 18"/>
          <p:cNvSpPr/>
          <p:nvPr/>
        </p:nvSpPr>
        <p:spPr>
          <a:xfrm>
            <a:off x="571500" y="4000500"/>
            <a:ext cx="3524250" cy="1143000"/>
          </a:xfrm>
          <a:prstGeom prst="roundRect">
            <a:avLst>
              <a:gd name="adj" fmla="val 11667"/>
            </a:avLst>
          </a:prstGeom>
          <a:solidFill>
            <a:srgbClr val="FAFAF5"/>
          </a:solidFill>
          <a:ln w="19050">
            <a:solidFill>
              <a:srgbClr val="E67E22"/>
            </a:solidFill>
          </a:ln>
          <a:effectLst>
            <a:outerShdw blurRad="76200" dist="19050" dir="5400000" algn="ctr" rotWithShape="0">
              <a:srgbClr val="2C2C2C">
                <a:alpha val="4500"/>
              </a:srgbClr>
            </a:outerShdw>
          </a:effectLst>
        </p:spPr>
      </p:sp>
      <p:sp>
        <p:nvSpPr>
          <p:cNvPr id="19" name="Rectangle 19"/>
          <p:cNvSpPr/>
          <p:nvPr/>
        </p:nvSpPr>
        <p:spPr>
          <a:xfrm>
            <a:off x="2381250" y="4000500"/>
            <a:ext cx="1714500" cy="266700"/>
          </a:xfrm>
          <a:prstGeom prst="roundRect">
            <a:avLst>
              <a:gd name="adj" fmla="val 50000"/>
            </a:avLst>
          </a:prstGeom>
          <a:solidFill>
            <a:srgbClr val="E67E22"/>
          </a:solidFill>
          <a:ln>
            <a:noFill/>
          </a:ln>
        </p:spPr>
      </p:sp>
      <p:sp>
        <p:nvSpPr>
          <p:cNvPr id="20" name="TextBox 20"/>
          <p:cNvSpPr txBox="1"/>
          <p:nvPr/>
        </p:nvSpPr>
        <p:spPr>
          <a:xfrm>
            <a:off x="2771061" y="4076224"/>
            <a:ext cx="934879" cy="198120"/>
          </a:xfrm>
          <a:prstGeom prst="rect">
            <a:avLst/>
          </a:prstGeom>
          <a:noFill/>
          <a:ln>
            <a:noFill/>
          </a:ln>
        </p:spPr>
        <p:txBody>
          <a:bodyPr wrap="none" lIns="0" tIns="0" rIns="0" bIns="0" anchor="t" anchorCtr="0">
            <a:spAutoFit/>
          </a:bodyPr>
          <a:lstStyle/>
          <a:p>
            <a:pPr algn="ctr"/>
            <a:r>
              <a:rPr lang="zh-CN" sz="975" dirty="0">
                <a:solidFill>
                  <a:srgbClr val="FAFAF5"/>
                </a:solidFill>
                <a:latin typeface="Arial"/>
                <a:ea typeface="Microsoft YaHei"/>
                <a:cs typeface="Arial"/>
              </a:rPr>
              <a:t>推荐（概率高）</a:t>
            </a:r>
          </a:p>
        </p:txBody>
      </p:sp>
      <p:sp>
        <p:nvSpPr>
          <p:cNvPr id="21" name="TextBox 21"/>
          <p:cNvSpPr txBox="1"/>
          <p:nvPr/>
        </p:nvSpPr>
        <p:spPr>
          <a:xfrm>
            <a:off x="792480" y="4350068"/>
            <a:ext cx="133302" cy="274320"/>
          </a:xfrm>
          <a:prstGeom prst="rect">
            <a:avLst/>
          </a:prstGeom>
          <a:noFill/>
          <a:ln>
            <a:noFill/>
          </a:ln>
        </p:spPr>
        <p:txBody>
          <a:bodyPr wrap="none" lIns="0" tIns="0" rIns="0" bIns="0" anchor="t" anchorCtr="0">
            <a:spAutoFit/>
          </a:bodyPr>
          <a:lstStyle/>
          <a:p>
            <a:pPr algn="l"/>
            <a:r>
              <a:rPr lang="zh-CN" sz="1350" dirty="0">
                <a:solidFill>
                  <a:srgbClr val="E67E22"/>
                </a:solidFill>
                <a:latin typeface="Georgia"/>
                <a:ea typeface="KaiTi"/>
                <a:cs typeface="Georgia"/>
              </a:rPr>
              <a:t>A</a:t>
            </a:r>
          </a:p>
        </p:txBody>
      </p:sp>
      <p:sp>
        <p:nvSpPr>
          <p:cNvPr id="22" name="TextBox 22"/>
          <p:cNvSpPr txBox="1"/>
          <p:nvPr/>
        </p:nvSpPr>
        <p:spPr>
          <a:xfrm>
            <a:off x="1032510" y="4385310"/>
            <a:ext cx="1878711"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社区面馆老板的真实经历</a:t>
            </a:r>
          </a:p>
        </p:txBody>
      </p:sp>
      <p:sp>
        <p:nvSpPr>
          <p:cNvPr id="23" name="TextBox 23"/>
          <p:cNvSpPr txBox="1"/>
          <p:nvPr/>
        </p:nvSpPr>
        <p:spPr>
          <a:xfrm>
            <a:off x="796290" y="4668202"/>
            <a:ext cx="240696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经营十几年，熟客无数，但每天打烊后</a:t>
            </a:r>
          </a:p>
        </p:txBody>
      </p:sp>
      <p:sp>
        <p:nvSpPr>
          <p:cNvPr id="24" name="TextBox 24"/>
          <p:cNvSpPr txBox="1"/>
          <p:nvPr/>
        </p:nvSpPr>
        <p:spPr>
          <a:xfrm>
            <a:off x="796290" y="4877752"/>
            <a:ext cx="228095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关系清零。最真实的"每日归零"故事</a:t>
            </a:r>
          </a:p>
        </p:txBody>
      </p:sp>
      <p:sp>
        <p:nvSpPr>
          <p:cNvPr id="25" name="Rectangle 25"/>
          <p:cNvSpPr/>
          <p:nvPr/>
        </p:nvSpPr>
        <p:spPr>
          <a:xfrm>
            <a:off x="4333875" y="4000500"/>
            <a:ext cx="3524250" cy="1143000"/>
          </a:xfrm>
          <a:prstGeom prst="roundRect">
            <a:avLst>
              <a:gd name="adj" fmla="val 11667"/>
            </a:avLst>
          </a:prstGeom>
          <a:solidFill>
            <a:srgbClr val="FAFAF5"/>
          </a:solidFill>
          <a:ln w="14288">
            <a:solidFill>
              <a:srgbClr val="E8E3DC"/>
            </a:solidFill>
          </a:ln>
          <a:effectLst>
            <a:outerShdw blurRad="76200" dist="19050" dir="5400000" algn="ctr" rotWithShape="0">
              <a:srgbClr val="2C2C2C">
                <a:alpha val="4500"/>
              </a:srgbClr>
            </a:outerShdw>
          </a:effectLst>
        </p:spPr>
      </p:sp>
      <p:sp>
        <p:nvSpPr>
          <p:cNvPr id="26" name="Rectangle 26"/>
          <p:cNvSpPr/>
          <p:nvPr/>
        </p:nvSpPr>
        <p:spPr>
          <a:xfrm>
            <a:off x="6143625" y="4000500"/>
            <a:ext cx="1714500" cy="266700"/>
          </a:xfrm>
          <a:prstGeom prst="roundRect">
            <a:avLst>
              <a:gd name="adj" fmla="val 50000"/>
            </a:avLst>
          </a:prstGeom>
          <a:solidFill>
            <a:srgbClr val="D4A574">
              <a:alpha val="30000"/>
            </a:srgbClr>
          </a:solidFill>
          <a:ln>
            <a:noFill/>
          </a:ln>
        </p:spPr>
      </p:sp>
      <p:sp>
        <p:nvSpPr>
          <p:cNvPr id="27" name="TextBox 27"/>
          <p:cNvSpPr txBox="1"/>
          <p:nvPr/>
        </p:nvSpPr>
        <p:spPr>
          <a:xfrm>
            <a:off x="6793468" y="4076224"/>
            <a:ext cx="414814" cy="198120"/>
          </a:xfrm>
          <a:prstGeom prst="rect">
            <a:avLst/>
          </a:prstGeom>
          <a:noFill/>
          <a:ln>
            <a:noFill/>
          </a:ln>
        </p:spPr>
        <p:txBody>
          <a:bodyPr wrap="none" lIns="0" tIns="0" rIns="0" bIns="0" anchor="t" anchorCtr="0">
            <a:spAutoFit/>
          </a:bodyPr>
          <a:lstStyle/>
          <a:p>
            <a:pPr algn="ctr"/>
            <a:r>
              <a:rPr lang="zh-CN" sz="975" dirty="0">
                <a:solidFill>
                  <a:srgbClr val="D4A574"/>
                </a:solidFill>
                <a:latin typeface="Arial"/>
                <a:ea typeface="Microsoft YaHei"/>
                <a:cs typeface="Arial"/>
              </a:rPr>
              <a:t>概率中</a:t>
            </a:r>
          </a:p>
        </p:txBody>
      </p:sp>
      <p:sp>
        <p:nvSpPr>
          <p:cNvPr id="28" name="TextBox 28"/>
          <p:cNvSpPr txBox="1"/>
          <p:nvPr/>
        </p:nvSpPr>
        <p:spPr>
          <a:xfrm>
            <a:off x="4554855" y="4350068"/>
            <a:ext cx="133302" cy="274320"/>
          </a:xfrm>
          <a:prstGeom prst="rect">
            <a:avLst/>
          </a:prstGeom>
          <a:noFill/>
          <a:ln>
            <a:noFill/>
          </a:ln>
        </p:spPr>
        <p:txBody>
          <a:bodyPr wrap="none" lIns="0" tIns="0" rIns="0" bIns="0" anchor="t" anchorCtr="0">
            <a:spAutoFit/>
          </a:bodyPr>
          <a:lstStyle/>
          <a:p>
            <a:pPr algn="l"/>
            <a:r>
              <a:rPr lang="zh-CN" sz="1350" dirty="0">
                <a:solidFill>
                  <a:srgbClr val="D4A574"/>
                </a:solidFill>
                <a:latin typeface="Georgia"/>
                <a:ea typeface="KaiTi"/>
                <a:cs typeface="Georgia"/>
              </a:rPr>
              <a:t>B</a:t>
            </a:r>
          </a:p>
        </p:txBody>
      </p:sp>
      <p:sp>
        <p:nvSpPr>
          <p:cNvPr id="29" name="TextBox 29"/>
          <p:cNvSpPr txBox="1"/>
          <p:nvPr/>
        </p:nvSpPr>
        <p:spPr>
          <a:xfrm>
            <a:off x="4794885" y="4385310"/>
            <a:ext cx="2214753"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创始人自己作为消费者的体验</a:t>
            </a:r>
          </a:p>
        </p:txBody>
      </p:sp>
      <p:sp>
        <p:nvSpPr>
          <p:cNvPr id="30" name="TextBox 30"/>
          <p:cNvSpPr txBox="1"/>
          <p:nvPr/>
        </p:nvSpPr>
        <p:spPr>
          <a:xfrm>
            <a:off x="4558665" y="4668202"/>
            <a:ext cx="226695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作为顾客发现好店但下次忘记在哪，</a:t>
            </a:r>
          </a:p>
        </p:txBody>
      </p:sp>
      <p:sp>
        <p:nvSpPr>
          <p:cNvPr id="31" name="TextBox 31"/>
          <p:cNvSpPr txBox="1"/>
          <p:nvPr/>
        </p:nvSpPr>
        <p:spPr>
          <a:xfrm>
            <a:off x="4558665" y="4877752"/>
            <a:ext cx="1860899"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意识到"消费者也在丢失关系"</a:t>
            </a:r>
          </a:p>
        </p:txBody>
      </p:sp>
      <p:sp>
        <p:nvSpPr>
          <p:cNvPr id="32" name="Rectangle 32"/>
          <p:cNvSpPr/>
          <p:nvPr/>
        </p:nvSpPr>
        <p:spPr>
          <a:xfrm>
            <a:off x="8096250" y="4000500"/>
            <a:ext cx="3524250" cy="1143000"/>
          </a:xfrm>
          <a:prstGeom prst="roundRect">
            <a:avLst>
              <a:gd name="adj" fmla="val 11667"/>
            </a:avLst>
          </a:prstGeom>
          <a:solidFill>
            <a:srgbClr val="FAFAF5"/>
          </a:solidFill>
          <a:ln w="14288">
            <a:solidFill>
              <a:srgbClr val="E8E3DC"/>
            </a:solidFill>
          </a:ln>
          <a:effectLst>
            <a:outerShdw blurRad="76200" dist="19050" dir="5400000" algn="ctr" rotWithShape="0">
              <a:srgbClr val="2C2C2C">
                <a:alpha val="4500"/>
              </a:srgbClr>
            </a:outerShdw>
          </a:effectLst>
        </p:spPr>
      </p:sp>
      <p:sp>
        <p:nvSpPr>
          <p:cNvPr id="33" name="Rectangle 33"/>
          <p:cNvSpPr/>
          <p:nvPr/>
        </p:nvSpPr>
        <p:spPr>
          <a:xfrm>
            <a:off x="9906000" y="4000500"/>
            <a:ext cx="1714500" cy="266700"/>
          </a:xfrm>
          <a:prstGeom prst="roundRect">
            <a:avLst>
              <a:gd name="adj" fmla="val 50000"/>
            </a:avLst>
          </a:prstGeom>
          <a:solidFill>
            <a:srgbClr val="A0A0A0">
              <a:alpha val="20000"/>
            </a:srgbClr>
          </a:solidFill>
          <a:ln>
            <a:noFill/>
          </a:ln>
        </p:spPr>
      </p:sp>
      <p:sp>
        <p:nvSpPr>
          <p:cNvPr id="34" name="TextBox 34"/>
          <p:cNvSpPr txBox="1"/>
          <p:nvPr/>
        </p:nvSpPr>
        <p:spPr>
          <a:xfrm>
            <a:off x="10555843" y="4076224"/>
            <a:ext cx="414814" cy="198120"/>
          </a:xfrm>
          <a:prstGeom prst="rect">
            <a:avLst/>
          </a:prstGeom>
          <a:noFill/>
          <a:ln>
            <a:noFill/>
          </a:ln>
        </p:spPr>
        <p:txBody>
          <a:bodyPr wrap="none" lIns="0" tIns="0" rIns="0" bIns="0" anchor="t" anchorCtr="0">
            <a:spAutoFit/>
          </a:bodyPr>
          <a:lstStyle/>
          <a:p>
            <a:pPr algn="ctr"/>
            <a:r>
              <a:rPr lang="zh-CN" sz="975" dirty="0">
                <a:solidFill>
                  <a:srgbClr val="A0A0A0"/>
                </a:solidFill>
                <a:latin typeface="Arial"/>
                <a:ea typeface="Microsoft YaHei"/>
                <a:cs typeface="Arial"/>
              </a:rPr>
              <a:t>概率低</a:t>
            </a:r>
          </a:p>
        </p:txBody>
      </p:sp>
      <p:sp>
        <p:nvSpPr>
          <p:cNvPr id="35" name="TextBox 35"/>
          <p:cNvSpPr txBox="1"/>
          <p:nvPr/>
        </p:nvSpPr>
        <p:spPr>
          <a:xfrm>
            <a:off x="8317230" y="4350068"/>
            <a:ext cx="133302" cy="274320"/>
          </a:xfrm>
          <a:prstGeom prst="rect">
            <a:avLst/>
          </a:prstGeom>
          <a:noFill/>
          <a:ln>
            <a:noFill/>
          </a:ln>
        </p:spPr>
        <p:txBody>
          <a:bodyPr wrap="none" lIns="0" tIns="0" rIns="0" bIns="0" anchor="t" anchorCtr="0">
            <a:spAutoFit/>
          </a:bodyPr>
          <a:lstStyle/>
          <a:p>
            <a:pPr algn="l"/>
            <a:r>
              <a:rPr lang="zh-CN" sz="1350" dirty="0">
                <a:solidFill>
                  <a:srgbClr val="A0A0A0"/>
                </a:solidFill>
                <a:latin typeface="Georgia"/>
                <a:ea typeface="KaiTi"/>
                <a:cs typeface="Georgia"/>
              </a:rPr>
              <a:t>C</a:t>
            </a:r>
          </a:p>
        </p:txBody>
      </p:sp>
      <p:sp>
        <p:nvSpPr>
          <p:cNvPr id="36" name="TextBox 36"/>
          <p:cNvSpPr txBox="1"/>
          <p:nvPr/>
        </p:nvSpPr>
        <p:spPr>
          <a:xfrm>
            <a:off x="8557260" y="4385310"/>
            <a:ext cx="1878711"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方法论推导出的最佳叙事</a:t>
            </a:r>
          </a:p>
        </p:txBody>
      </p:sp>
      <p:sp>
        <p:nvSpPr>
          <p:cNvPr id="37" name="TextBox 37"/>
          <p:cNvSpPr txBox="1"/>
          <p:nvPr/>
        </p:nvSpPr>
        <p:spPr>
          <a:xfrm>
            <a:off x="8321040" y="4668202"/>
            <a:ext cx="212693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从品牌定位反向推导的故事框架，</a:t>
            </a:r>
          </a:p>
        </p:txBody>
      </p:sp>
      <p:sp>
        <p:nvSpPr>
          <p:cNvPr id="38" name="TextBox 38"/>
          <p:cNvSpPr txBox="1"/>
          <p:nvPr/>
        </p:nvSpPr>
        <p:spPr>
          <a:xfrm>
            <a:off x="8321040" y="4877752"/>
            <a:ext cx="184689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逻辑完整但缺乏真实情感力量</a:t>
            </a:r>
          </a:p>
        </p:txBody>
      </p:sp>
      <p:sp>
        <p:nvSpPr>
          <p:cNvPr id="39" name="Rectangle 39"/>
          <p:cNvSpPr/>
          <p:nvPr/>
        </p:nvSpPr>
        <p:spPr>
          <a:xfrm>
            <a:off x="571500" y="5353050"/>
            <a:ext cx="11049000" cy="342900"/>
          </a:xfrm>
          <a:prstGeom prst="roundRect">
            <a:avLst>
              <a:gd name="adj" fmla="val 27778"/>
            </a:avLst>
          </a:prstGeom>
          <a:solidFill>
            <a:srgbClr val="F0EDE8"/>
          </a:solidFill>
          <a:ln>
            <a:noFill/>
          </a:ln>
        </p:spPr>
      </p:sp>
      <p:sp>
        <p:nvSpPr>
          <p:cNvPr id="40" name="TextBox 40"/>
          <p:cNvSpPr txBox="1"/>
          <p:nvPr/>
        </p:nvSpPr>
        <p:spPr>
          <a:xfrm>
            <a:off x="5481638" y="5460206"/>
            <a:ext cx="1228725"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Georgia"/>
                <a:ea typeface="KaiTi"/>
                <a:cs typeface="Georgia"/>
              </a:rPr>
              <a:t>经典品牌故事参照</a:t>
            </a:r>
          </a:p>
        </p:txBody>
      </p:sp>
      <p:sp>
        <p:nvSpPr>
          <p:cNvPr id="41" name="Rectangle 41"/>
          <p:cNvSpPr/>
          <p:nvPr/>
        </p:nvSpPr>
        <p:spPr>
          <a:xfrm>
            <a:off x="571500" y="5810250"/>
            <a:ext cx="3524250" cy="476250"/>
          </a:xfrm>
          <a:prstGeom prst="roundRect">
            <a:avLst>
              <a:gd name="adj" fmla="val 20000"/>
            </a:avLst>
          </a:prstGeom>
          <a:solidFill>
            <a:srgbClr val="FAFAF5"/>
          </a:solidFill>
          <a:ln w="9525">
            <a:solidFill>
              <a:srgbClr val="E8E3DC"/>
            </a:solidFill>
          </a:ln>
        </p:spPr>
      </p:sp>
      <p:sp>
        <p:nvSpPr>
          <p:cNvPr id="42" name="TextBox 42"/>
          <p:cNvSpPr txBox="1"/>
          <p:nvPr/>
        </p:nvSpPr>
        <p:spPr>
          <a:xfrm>
            <a:off x="795338" y="5917406"/>
            <a:ext cx="509010"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Airbnb</a:t>
            </a:r>
          </a:p>
        </p:txBody>
      </p:sp>
      <p:sp>
        <p:nvSpPr>
          <p:cNvPr id="43" name="TextBox 43"/>
          <p:cNvSpPr txBox="1"/>
          <p:nvPr/>
        </p:nvSpPr>
        <p:spPr>
          <a:xfrm>
            <a:off x="1558290" y="5944552"/>
            <a:ext cx="284102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「付不起房租」——创始人在自家客厅放气垫床</a:t>
            </a:r>
          </a:p>
        </p:txBody>
      </p:sp>
      <p:sp>
        <p:nvSpPr>
          <p:cNvPr id="44" name="Rectangle 44"/>
          <p:cNvSpPr/>
          <p:nvPr/>
        </p:nvSpPr>
        <p:spPr>
          <a:xfrm>
            <a:off x="4333875" y="5810250"/>
            <a:ext cx="3524250" cy="476250"/>
          </a:xfrm>
          <a:prstGeom prst="roundRect">
            <a:avLst>
              <a:gd name="adj" fmla="val 20000"/>
            </a:avLst>
          </a:prstGeom>
          <a:solidFill>
            <a:srgbClr val="FAFAF5"/>
          </a:solidFill>
          <a:ln w="9525">
            <a:solidFill>
              <a:srgbClr val="E8E3DC"/>
            </a:solidFill>
          </a:ln>
        </p:spPr>
      </p:sp>
      <p:sp>
        <p:nvSpPr>
          <p:cNvPr id="45" name="TextBox 45"/>
          <p:cNvSpPr txBox="1"/>
          <p:nvPr/>
        </p:nvSpPr>
        <p:spPr>
          <a:xfrm>
            <a:off x="4557712" y="5917406"/>
            <a:ext cx="768918"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Patagonia</a:t>
            </a:r>
          </a:p>
        </p:txBody>
      </p:sp>
      <p:sp>
        <p:nvSpPr>
          <p:cNvPr id="46" name="TextBox 46"/>
          <p:cNvSpPr txBox="1"/>
          <p:nvPr/>
        </p:nvSpPr>
        <p:spPr>
          <a:xfrm>
            <a:off x="5558790" y="5944552"/>
            <a:ext cx="214093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「我们拯救地球」——真实环保使命</a:t>
            </a:r>
          </a:p>
        </p:txBody>
      </p:sp>
      <p:sp>
        <p:nvSpPr>
          <p:cNvPr id="47" name="Rectangle 47"/>
          <p:cNvSpPr/>
          <p:nvPr/>
        </p:nvSpPr>
        <p:spPr>
          <a:xfrm>
            <a:off x="8096250" y="5810250"/>
            <a:ext cx="3524250" cy="476250"/>
          </a:xfrm>
          <a:prstGeom prst="roundRect">
            <a:avLst>
              <a:gd name="adj" fmla="val 20000"/>
            </a:avLst>
          </a:prstGeom>
          <a:solidFill>
            <a:srgbClr val="FAFAF5"/>
          </a:solidFill>
          <a:ln w="9525">
            <a:solidFill>
              <a:srgbClr val="E8E3DC"/>
            </a:solidFill>
          </a:ln>
        </p:spPr>
      </p:sp>
      <p:sp>
        <p:nvSpPr>
          <p:cNvPr id="48" name="TextBox 48"/>
          <p:cNvSpPr txBox="1"/>
          <p:nvPr/>
        </p:nvSpPr>
        <p:spPr>
          <a:xfrm>
            <a:off x="8320088" y="5917406"/>
            <a:ext cx="501134"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拼多多</a:t>
            </a:r>
          </a:p>
        </p:txBody>
      </p:sp>
      <p:sp>
        <p:nvSpPr>
          <p:cNvPr id="49" name="TextBox 49"/>
          <p:cNvSpPr txBox="1"/>
          <p:nvPr/>
        </p:nvSpPr>
        <p:spPr>
          <a:xfrm>
            <a:off x="9035415" y="5944552"/>
            <a:ext cx="170688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「让普通人买得起好东西」</a:t>
            </a:r>
          </a:p>
        </p:txBody>
      </p:sp>
      <p:sp>
        <p:nvSpPr>
          <p:cNvPr id="50" name="TextBox 50"/>
          <p:cNvSpPr txBox="1"/>
          <p:nvPr/>
        </p:nvSpPr>
        <p:spPr>
          <a:xfrm>
            <a:off x="4276392" y="6390799"/>
            <a:ext cx="3639217" cy="198120"/>
          </a:xfrm>
          <a:prstGeom prst="rect">
            <a:avLst/>
          </a:prstGeom>
          <a:noFill/>
          <a:ln>
            <a:noFill/>
          </a:ln>
        </p:spPr>
        <p:txBody>
          <a:bodyPr wrap="none" lIns="0" tIns="0" rIns="0" bIns="0" anchor="t" anchorCtr="0">
            <a:spAutoFit/>
          </a:bodyPr>
          <a:lstStyle/>
          <a:p>
            <a:pPr algn="ctr"/>
            <a:r>
              <a:rPr lang="zh-CN" sz="975" dirty="0">
                <a:solidFill>
                  <a:srgbClr val="A0A0A0"/>
                </a:solidFill>
                <a:latin typeface="Arial"/>
                <a:ea typeface="Microsoft YaHei"/>
                <a:cs typeface="Arial"/>
              </a:rPr>
              <a:t>共同点：创始人亲自经历的真实瞬间 —— 不是编的，是"必须做"</a:t>
            </a:r>
          </a:p>
        </p:txBody>
      </p:sp>
      <p:sp>
        <p:nvSpPr>
          <p:cNvPr id="51" name="TextBox 51"/>
          <p:cNvSpPr txBox="1"/>
          <p:nvPr/>
        </p:nvSpPr>
        <p:spPr>
          <a:xfrm>
            <a:off x="11477054" y="64750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15</a:t>
            </a:r>
          </a:p>
        </p:txBody>
      </p:sp>
      <p:sp>
        <p:nvSpPr>
          <p:cNvPr id="52" name="TextBox 52"/>
          <p:cNvSpPr txBox="1"/>
          <p:nvPr/>
        </p:nvSpPr>
        <p:spPr>
          <a:xfrm>
            <a:off x="560070" y="64750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D4A574"/>
          </a:solidFill>
          <a:ln>
            <a:noFill/>
          </a:ln>
        </p:spPr>
      </p:sp>
      <p:sp>
        <p:nvSpPr>
          <p:cNvPr id="4" name="TextBox 4"/>
          <p:cNvSpPr txBox="1"/>
          <p:nvPr/>
        </p:nvSpPr>
        <p:spPr>
          <a:xfrm>
            <a:off x="775335" y="470535"/>
            <a:ext cx="6117336"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视觉方向：傍晚六点半的社区商业街</a:t>
            </a:r>
          </a:p>
        </p:txBody>
      </p:sp>
      <p:sp>
        <p:nvSpPr>
          <p:cNvPr id="5" name="TextBox 5"/>
          <p:cNvSpPr txBox="1"/>
          <p:nvPr/>
        </p:nvSpPr>
        <p:spPr>
          <a:xfrm>
            <a:off x="795338" y="926306"/>
            <a:ext cx="578929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色彩体系重构：从金融科技灰蓝到社区商业暖调——第一眼感受排序：可信 → 亲切 → 专业</a:t>
            </a:r>
          </a:p>
        </p:txBody>
      </p:sp>
      <p:sp>
        <p:nvSpPr>
          <p:cNvPr id="6" name="Rectangle 6"/>
          <p:cNvSpPr/>
          <p:nvPr/>
        </p:nvSpPr>
        <p:spPr>
          <a:xfrm>
            <a:off x="571500" y="1285875"/>
            <a:ext cx="5334000" cy="4667250"/>
          </a:xfrm>
          <a:prstGeom prst="roundRect">
            <a:avLst>
              <a:gd name="adj" fmla="val 2857"/>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285875"/>
            <a:ext cx="5334000" cy="476250"/>
          </a:xfrm>
          <a:prstGeom prst="roundRect">
            <a:avLst>
              <a:gd name="adj" fmla="val 28000"/>
            </a:avLst>
          </a:prstGeom>
          <a:solidFill>
            <a:srgbClr val="7F8C8D"/>
          </a:solidFill>
          <a:ln>
            <a:noFill/>
          </a:ln>
        </p:spPr>
      </p:sp>
      <p:sp>
        <p:nvSpPr>
          <p:cNvPr id="8" name="Rectangle 8"/>
          <p:cNvSpPr/>
          <p:nvPr/>
        </p:nvSpPr>
        <p:spPr>
          <a:xfrm>
            <a:off x="571500" y="1628775"/>
            <a:ext cx="5334000" cy="133350"/>
          </a:xfrm>
          <a:prstGeom prst="rect">
            <a:avLst/>
          </a:prstGeom>
          <a:solidFill>
            <a:srgbClr val="7F8C8D"/>
          </a:solidFill>
          <a:ln>
            <a:noFill/>
          </a:ln>
        </p:spPr>
      </p:sp>
      <p:sp>
        <p:nvSpPr>
          <p:cNvPr id="9" name="TextBox 9"/>
          <p:cNvSpPr txBox="1"/>
          <p:nvPr/>
        </p:nvSpPr>
        <p:spPr>
          <a:xfrm>
            <a:off x="1691509" y="1428750"/>
            <a:ext cx="309398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旧色彩体系（金融科技感·冷调）</a:t>
            </a:r>
          </a:p>
        </p:txBody>
      </p:sp>
      <p:sp>
        <p:nvSpPr>
          <p:cNvPr id="10" name="Rectangle 10"/>
          <p:cNvSpPr/>
          <p:nvPr/>
        </p:nvSpPr>
        <p:spPr>
          <a:xfrm>
            <a:off x="762000" y="1905000"/>
            <a:ext cx="4953000" cy="571500"/>
          </a:xfrm>
          <a:prstGeom prst="roundRect">
            <a:avLst>
              <a:gd name="adj" fmla="val 16667"/>
            </a:avLst>
          </a:prstGeom>
          <a:solidFill>
            <a:srgbClr val="1A5276">
              <a:alpha val="15000"/>
            </a:srgbClr>
          </a:solidFill>
          <a:ln>
            <a:noFill/>
          </a:ln>
        </p:spPr>
      </p:sp>
      <p:sp>
        <p:nvSpPr>
          <p:cNvPr id="11" name="Rectangle 11"/>
          <p:cNvSpPr/>
          <p:nvPr/>
        </p:nvSpPr>
        <p:spPr>
          <a:xfrm>
            <a:off x="762000" y="1905000"/>
            <a:ext cx="2971800" cy="571500"/>
          </a:xfrm>
          <a:prstGeom prst="roundRect">
            <a:avLst>
              <a:gd name="adj" fmla="val 16667"/>
            </a:avLst>
          </a:prstGeom>
          <a:solidFill>
            <a:srgbClr val="1A5276">
              <a:alpha val="30000"/>
            </a:srgbClr>
          </a:solidFill>
          <a:ln>
            <a:noFill/>
          </a:ln>
        </p:spPr>
      </p:sp>
      <p:sp>
        <p:nvSpPr>
          <p:cNvPr id="12" name="TextBox 12"/>
          <p:cNvSpPr txBox="1"/>
          <p:nvPr/>
        </p:nvSpPr>
        <p:spPr>
          <a:xfrm>
            <a:off x="887730" y="2102168"/>
            <a:ext cx="2576658"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a:ea typeface="Microsoft YaHei"/>
                <a:cs typeface="Arial"/>
              </a:rPr>
              <a:t>60% 深海蓝 #1A5276 — 主背景</a:t>
            </a:r>
          </a:p>
        </p:txBody>
      </p:sp>
      <p:sp>
        <p:nvSpPr>
          <p:cNvPr id="13" name="TextBox 13"/>
          <p:cNvSpPr txBox="1"/>
          <p:nvPr/>
        </p:nvSpPr>
        <p:spPr>
          <a:xfrm>
            <a:off x="4034790" y="2134552"/>
            <a:ext cx="80376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压抑·机构感</a:t>
            </a:r>
          </a:p>
        </p:txBody>
      </p:sp>
      <p:sp>
        <p:nvSpPr>
          <p:cNvPr id="14" name="Rectangle 14"/>
          <p:cNvSpPr/>
          <p:nvPr/>
        </p:nvSpPr>
        <p:spPr>
          <a:xfrm>
            <a:off x="762000" y="2619375"/>
            <a:ext cx="4953000" cy="571500"/>
          </a:xfrm>
          <a:prstGeom prst="roundRect">
            <a:avLst>
              <a:gd name="adj" fmla="val 16667"/>
            </a:avLst>
          </a:prstGeom>
          <a:solidFill>
            <a:srgbClr val="1F5EFF">
              <a:alpha val="12000"/>
            </a:srgbClr>
          </a:solidFill>
          <a:ln>
            <a:noFill/>
          </a:ln>
        </p:spPr>
      </p:sp>
      <p:sp>
        <p:nvSpPr>
          <p:cNvPr id="15" name="Rectangle 15"/>
          <p:cNvSpPr/>
          <p:nvPr/>
        </p:nvSpPr>
        <p:spPr>
          <a:xfrm>
            <a:off x="762000" y="2619375"/>
            <a:ext cx="1485900" cy="571500"/>
          </a:xfrm>
          <a:prstGeom prst="roundRect">
            <a:avLst>
              <a:gd name="adj" fmla="val 16667"/>
            </a:avLst>
          </a:prstGeom>
          <a:solidFill>
            <a:srgbClr val="1F5EFF">
              <a:alpha val="25000"/>
            </a:srgbClr>
          </a:solidFill>
          <a:ln>
            <a:noFill/>
          </a:ln>
        </p:spPr>
      </p:sp>
      <p:sp>
        <p:nvSpPr>
          <p:cNvPr id="16" name="TextBox 16"/>
          <p:cNvSpPr txBox="1"/>
          <p:nvPr/>
        </p:nvSpPr>
        <p:spPr>
          <a:xfrm>
            <a:off x="887730" y="2816542"/>
            <a:ext cx="2387634" cy="274320"/>
          </a:xfrm>
          <a:prstGeom prst="rect">
            <a:avLst/>
          </a:prstGeom>
          <a:noFill/>
          <a:ln>
            <a:noFill/>
          </a:ln>
        </p:spPr>
        <p:txBody>
          <a:bodyPr wrap="none" lIns="0" tIns="0" rIns="0" bIns="0" anchor="t" anchorCtr="0">
            <a:spAutoFit/>
          </a:bodyPr>
          <a:lstStyle/>
          <a:p>
            <a:pPr algn="l"/>
            <a:r>
              <a:rPr lang="zh-CN" sz="1350" b="1" dirty="0">
                <a:solidFill>
                  <a:srgbClr val="1F5EFF"/>
                </a:solidFill>
                <a:latin typeface="Arial"/>
                <a:ea typeface="Microsoft YaHei"/>
                <a:cs typeface="Arial"/>
              </a:rPr>
              <a:t>30% 科技蓝 #1F5EFF — 强调</a:t>
            </a:r>
          </a:p>
        </p:txBody>
      </p:sp>
      <p:sp>
        <p:nvSpPr>
          <p:cNvPr id="17" name="TextBox 17"/>
          <p:cNvSpPr txBox="1"/>
          <p:nvPr/>
        </p:nvSpPr>
        <p:spPr>
          <a:xfrm>
            <a:off x="4034790" y="2848928"/>
            <a:ext cx="80376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冷感·金融味</a:t>
            </a:r>
          </a:p>
        </p:txBody>
      </p:sp>
      <p:sp>
        <p:nvSpPr>
          <p:cNvPr id="18" name="Rectangle 18"/>
          <p:cNvSpPr/>
          <p:nvPr/>
        </p:nvSpPr>
        <p:spPr>
          <a:xfrm>
            <a:off x="762000" y="3333750"/>
            <a:ext cx="4953000" cy="571500"/>
          </a:xfrm>
          <a:prstGeom prst="roundRect">
            <a:avLst>
              <a:gd name="adj" fmla="val 16667"/>
            </a:avLst>
          </a:prstGeom>
          <a:solidFill>
            <a:srgbClr val="FFFFFF">
              <a:alpha val="9000"/>
            </a:srgbClr>
          </a:solidFill>
          <a:ln>
            <a:noFill/>
          </a:ln>
        </p:spPr>
      </p:sp>
      <p:sp>
        <p:nvSpPr>
          <p:cNvPr id="19" name="Rectangle 19"/>
          <p:cNvSpPr/>
          <p:nvPr/>
        </p:nvSpPr>
        <p:spPr>
          <a:xfrm>
            <a:off x="762000" y="3333750"/>
            <a:ext cx="495300" cy="571500"/>
          </a:xfrm>
          <a:prstGeom prst="roundRect">
            <a:avLst>
              <a:gd name="adj" fmla="val 19231"/>
            </a:avLst>
          </a:prstGeom>
          <a:solidFill>
            <a:srgbClr val="FFFFFF">
              <a:alpha val="15000"/>
            </a:srgbClr>
          </a:solidFill>
          <a:ln w="9525">
            <a:solidFill>
              <a:srgbClr val="D0D0D0"/>
            </a:solidFill>
          </a:ln>
        </p:spPr>
      </p:sp>
      <p:sp>
        <p:nvSpPr>
          <p:cNvPr id="20" name="TextBox 20"/>
          <p:cNvSpPr txBox="1"/>
          <p:nvPr/>
        </p:nvSpPr>
        <p:spPr>
          <a:xfrm>
            <a:off x="887730" y="3530918"/>
            <a:ext cx="1225139" cy="274320"/>
          </a:xfrm>
          <a:prstGeom prst="rect">
            <a:avLst/>
          </a:prstGeom>
          <a:noFill/>
          <a:ln>
            <a:noFill/>
          </a:ln>
        </p:spPr>
        <p:txBody>
          <a:bodyPr wrap="none" lIns="0" tIns="0" rIns="0" bIns="0" anchor="t" anchorCtr="0">
            <a:spAutoFit/>
          </a:bodyPr>
          <a:lstStyle/>
          <a:p>
            <a:pPr algn="l"/>
            <a:r>
              <a:rPr lang="zh-CN" sz="1350" b="1" dirty="0">
                <a:solidFill>
                  <a:srgbClr val="999999"/>
                </a:solidFill>
                <a:latin typeface="Arial"/>
                <a:ea typeface="Microsoft YaHei"/>
                <a:cs typeface="Arial"/>
              </a:rPr>
              <a:t>10% 白 — 留白</a:t>
            </a:r>
          </a:p>
        </p:txBody>
      </p:sp>
      <p:sp>
        <p:nvSpPr>
          <p:cNvPr id="21" name="TextBox 21"/>
          <p:cNvSpPr txBox="1"/>
          <p:nvPr/>
        </p:nvSpPr>
        <p:spPr>
          <a:xfrm>
            <a:off x="4034790" y="3563302"/>
            <a:ext cx="80376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单调·无温度</a:t>
            </a:r>
          </a:p>
        </p:txBody>
      </p:sp>
      <p:sp>
        <p:nvSpPr>
          <p:cNvPr id="22" name="Polygon 22"/>
          <p:cNvSpPr/>
          <p:nvPr/>
        </p:nvSpPr>
        <p:spPr>
          <a:xfrm>
            <a:off x="5524500" y="3762375"/>
            <a:ext cx="190500" cy="142875"/>
          </a:xfrm>
          <a:custGeom>
            <a:avLst/>
            <a:gdLst/>
            <a:ahLst/>
            <a:cxnLst/>
            <a:rect l="l" t="t" r="r" b="b"/>
            <a:pathLst>
              <a:path w="190500" h="142875">
                <a:moveTo>
                  <a:pt x="0" y="142875"/>
                </a:moveTo>
                <a:lnTo>
                  <a:pt x="190500" y="0"/>
                </a:lnTo>
                <a:lnTo>
                  <a:pt x="190500" y="95250"/>
                </a:lnTo>
                <a:lnTo>
                  <a:pt x="0" y="142875"/>
                </a:lnTo>
                <a:close/>
              </a:path>
            </a:pathLst>
          </a:custGeom>
          <a:solidFill>
            <a:srgbClr val="D4A574"/>
          </a:solidFill>
          <a:ln>
            <a:noFill/>
          </a:ln>
        </p:spPr>
      </p:sp>
      <p:sp>
        <p:nvSpPr>
          <p:cNvPr id="23" name="Rectangle 23"/>
          <p:cNvSpPr/>
          <p:nvPr/>
        </p:nvSpPr>
        <p:spPr>
          <a:xfrm>
            <a:off x="5715000" y="3771900"/>
            <a:ext cx="381000" cy="76200"/>
          </a:xfrm>
          <a:prstGeom prst="roundRect">
            <a:avLst>
              <a:gd name="adj" fmla="val 50000"/>
            </a:avLst>
          </a:prstGeom>
          <a:solidFill>
            <a:srgbClr val="D4A574"/>
          </a:solidFill>
          <a:ln>
            <a:noFill/>
          </a:ln>
        </p:spPr>
      </p:sp>
      <p:sp>
        <p:nvSpPr>
          <p:cNvPr id="24" name="Polygon 24"/>
          <p:cNvSpPr/>
          <p:nvPr/>
        </p:nvSpPr>
        <p:spPr>
          <a:xfrm>
            <a:off x="6096000" y="3619500"/>
            <a:ext cx="142875" cy="381000"/>
          </a:xfrm>
          <a:custGeom>
            <a:avLst/>
            <a:gdLst/>
            <a:ahLst/>
            <a:cxnLst/>
            <a:rect l="l" t="t" r="r" b="b"/>
            <a:pathLst>
              <a:path w="142875" h="381000">
                <a:moveTo>
                  <a:pt x="0" y="190500"/>
                </a:moveTo>
                <a:lnTo>
                  <a:pt x="0" y="0"/>
                </a:lnTo>
                <a:lnTo>
                  <a:pt x="142875" y="190500"/>
                </a:lnTo>
                <a:lnTo>
                  <a:pt x="0" y="381000"/>
                </a:lnTo>
                <a:close/>
              </a:path>
            </a:pathLst>
          </a:custGeom>
          <a:solidFill>
            <a:srgbClr val="D4A574"/>
          </a:solidFill>
          <a:ln>
            <a:noFill/>
          </a:ln>
        </p:spPr>
      </p:sp>
      <p:sp>
        <p:nvSpPr>
          <p:cNvPr id="25" name="Rectangle 25"/>
          <p:cNvSpPr/>
          <p:nvPr/>
        </p:nvSpPr>
        <p:spPr>
          <a:xfrm>
            <a:off x="762000" y="4238625"/>
            <a:ext cx="4953000" cy="476250"/>
          </a:xfrm>
          <a:prstGeom prst="roundRect">
            <a:avLst>
              <a:gd name="adj" fmla="val 28000"/>
            </a:avLst>
          </a:prstGeom>
          <a:solidFill>
            <a:srgbClr val="E67E22"/>
          </a:solidFill>
          <a:ln>
            <a:noFill/>
          </a:ln>
        </p:spPr>
      </p:sp>
      <p:sp>
        <p:nvSpPr>
          <p:cNvPr id="26" name="Rectangle 26"/>
          <p:cNvSpPr/>
          <p:nvPr/>
        </p:nvSpPr>
        <p:spPr>
          <a:xfrm>
            <a:off x="762000" y="4581525"/>
            <a:ext cx="4953000" cy="133350"/>
          </a:xfrm>
          <a:prstGeom prst="rect">
            <a:avLst/>
          </a:prstGeom>
          <a:solidFill>
            <a:srgbClr val="E67E22"/>
          </a:solidFill>
          <a:ln>
            <a:noFill/>
          </a:ln>
        </p:spPr>
      </p:sp>
      <p:sp>
        <p:nvSpPr>
          <p:cNvPr id="27" name="TextBox 27"/>
          <p:cNvSpPr txBox="1"/>
          <p:nvPr/>
        </p:nvSpPr>
        <p:spPr>
          <a:xfrm>
            <a:off x="1691509" y="4381500"/>
            <a:ext cx="309398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新色彩体系（社区商业感·暖调）</a:t>
            </a:r>
          </a:p>
        </p:txBody>
      </p:sp>
      <p:sp>
        <p:nvSpPr>
          <p:cNvPr id="28" name="Rectangle 28"/>
          <p:cNvSpPr/>
          <p:nvPr/>
        </p:nvSpPr>
        <p:spPr>
          <a:xfrm>
            <a:off x="952500" y="4857750"/>
            <a:ext cx="4572000" cy="457200"/>
          </a:xfrm>
          <a:prstGeom prst="roundRect">
            <a:avLst>
              <a:gd name="adj" fmla="val 20833"/>
            </a:avLst>
          </a:prstGeom>
          <a:solidFill>
            <a:srgbClr val="FAFAF5"/>
          </a:solidFill>
          <a:ln>
            <a:noFill/>
          </a:ln>
        </p:spPr>
      </p:sp>
      <p:sp>
        <p:nvSpPr>
          <p:cNvPr id="29" name="TextBox 29"/>
          <p:cNvSpPr txBox="1"/>
          <p:nvPr/>
        </p:nvSpPr>
        <p:spPr>
          <a:xfrm>
            <a:off x="1079182" y="5005864"/>
            <a:ext cx="2254988"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60% 暖白 #FAFAF5 — 主背景</a:t>
            </a:r>
          </a:p>
        </p:txBody>
      </p:sp>
      <p:sp>
        <p:nvSpPr>
          <p:cNvPr id="30" name="TextBox 30"/>
          <p:cNvSpPr txBox="1"/>
          <p:nvPr/>
        </p:nvSpPr>
        <p:spPr>
          <a:xfrm>
            <a:off x="4178618" y="5038249"/>
            <a:ext cx="616339"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温暖·透气</a:t>
            </a:r>
          </a:p>
        </p:txBody>
      </p:sp>
      <p:sp>
        <p:nvSpPr>
          <p:cNvPr id="31" name="Rectangle 31"/>
          <p:cNvSpPr/>
          <p:nvPr/>
        </p:nvSpPr>
        <p:spPr>
          <a:xfrm>
            <a:off x="952500" y="5410200"/>
            <a:ext cx="4572000" cy="457200"/>
          </a:xfrm>
          <a:prstGeom prst="roundRect">
            <a:avLst>
              <a:gd name="adj" fmla="val 20833"/>
            </a:avLst>
          </a:prstGeom>
          <a:solidFill>
            <a:srgbClr val="F0EDE8"/>
          </a:solidFill>
          <a:ln>
            <a:noFill/>
          </a:ln>
        </p:spPr>
      </p:sp>
      <p:sp>
        <p:nvSpPr>
          <p:cNvPr id="32" name="TextBox 32"/>
          <p:cNvSpPr txBox="1"/>
          <p:nvPr/>
        </p:nvSpPr>
        <p:spPr>
          <a:xfrm>
            <a:off x="1079182" y="5558314"/>
            <a:ext cx="2638811"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25% 木色 + 暖橙 #E67E22 — 强调</a:t>
            </a:r>
          </a:p>
        </p:txBody>
      </p:sp>
      <p:sp>
        <p:nvSpPr>
          <p:cNvPr id="33" name="TextBox 33"/>
          <p:cNvSpPr txBox="1"/>
          <p:nvPr/>
        </p:nvSpPr>
        <p:spPr>
          <a:xfrm>
            <a:off x="4178618" y="5590699"/>
            <a:ext cx="616339"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亲和·信赖</a:t>
            </a:r>
          </a:p>
        </p:txBody>
      </p:sp>
      <p:sp>
        <p:nvSpPr>
          <p:cNvPr id="34" name="Rectangle 34"/>
          <p:cNvSpPr/>
          <p:nvPr/>
        </p:nvSpPr>
        <p:spPr>
          <a:xfrm>
            <a:off x="6096000" y="1285875"/>
            <a:ext cx="5524500" cy="2238375"/>
          </a:xfrm>
          <a:prstGeom prst="roundRect">
            <a:avLst>
              <a:gd name="adj" fmla="val 5957"/>
            </a:avLst>
          </a:prstGeom>
          <a:solidFill>
            <a:srgbClr val="FFFFFF"/>
          </a:solidFill>
          <a:ln>
            <a:noFill/>
          </a:ln>
          <a:effectLst>
            <a:outerShdw blurRad="76200" dist="19050" dir="5400000" algn="ctr" rotWithShape="0">
              <a:srgbClr val="2C2C2C">
                <a:alpha val="4500"/>
              </a:srgbClr>
            </a:outerShdw>
          </a:effectLst>
        </p:spPr>
      </p:sp>
      <p:sp>
        <p:nvSpPr>
          <p:cNvPr id="35" name="TextBox 35"/>
          <p:cNvSpPr txBox="1"/>
          <p:nvPr/>
        </p:nvSpPr>
        <p:spPr>
          <a:xfrm>
            <a:off x="6309360" y="1408748"/>
            <a:ext cx="1960769" cy="396240"/>
          </a:xfrm>
          <a:prstGeom prst="rect">
            <a:avLst/>
          </a:prstGeom>
          <a:noFill/>
          <a:ln>
            <a:noFill/>
          </a:ln>
        </p:spPr>
        <p:txBody>
          <a:bodyPr wrap="none" lIns="0" tIns="0" rIns="0" bIns="0" anchor="t" anchorCtr="0">
            <a:spAutoFit/>
          </a:bodyPr>
          <a:lstStyle/>
          <a:p>
            <a:pPr algn="l"/>
            <a:r>
              <a:rPr lang="zh-CN" sz="1950" b="1" dirty="0">
                <a:solidFill>
                  <a:srgbClr val="2C2C2C"/>
                </a:solidFill>
                <a:latin typeface="Georgia"/>
                <a:ea typeface="KaiTi"/>
                <a:cs typeface="Georgia"/>
              </a:rPr>
              <a:t>第一眼感受排序</a:t>
            </a:r>
          </a:p>
        </p:txBody>
      </p:sp>
      <p:sp>
        <p:nvSpPr>
          <p:cNvPr id="36" name="Rectangle 36"/>
          <p:cNvSpPr/>
          <p:nvPr/>
        </p:nvSpPr>
        <p:spPr>
          <a:xfrm>
            <a:off x="6334125" y="1857375"/>
            <a:ext cx="1524000" cy="619125"/>
          </a:xfrm>
          <a:prstGeom prst="roundRect">
            <a:avLst>
              <a:gd name="adj" fmla="val 18462"/>
            </a:avLst>
          </a:prstGeom>
          <a:solidFill>
            <a:srgbClr val="E67E22"/>
          </a:solidFill>
          <a:ln>
            <a:noFill/>
          </a:ln>
        </p:spPr>
      </p:sp>
      <p:sp>
        <p:nvSpPr>
          <p:cNvPr id="37" name="TextBox 37"/>
          <p:cNvSpPr txBox="1"/>
          <p:nvPr/>
        </p:nvSpPr>
        <p:spPr>
          <a:xfrm>
            <a:off x="6867049" y="1981200"/>
            <a:ext cx="45815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可信</a:t>
            </a:r>
          </a:p>
        </p:txBody>
      </p:sp>
      <p:sp>
        <p:nvSpPr>
          <p:cNvPr id="38" name="TextBox 38"/>
          <p:cNvSpPr txBox="1"/>
          <p:nvPr/>
        </p:nvSpPr>
        <p:spPr>
          <a:xfrm>
            <a:off x="6664440" y="2256949"/>
            <a:ext cx="863370"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Arial"/>
                <a:ea typeface="Microsoft YaHei"/>
                <a:cs typeface="Arial"/>
              </a:rPr>
              <a:t>TRUSTWORTHY</a:t>
            </a:r>
          </a:p>
        </p:txBody>
      </p:sp>
      <p:sp>
        <p:nvSpPr>
          <p:cNvPr id="39" name="TextBox 39"/>
          <p:cNvSpPr txBox="1"/>
          <p:nvPr/>
        </p:nvSpPr>
        <p:spPr>
          <a:xfrm>
            <a:off x="7897320" y="2011680"/>
            <a:ext cx="207359" cy="426720"/>
          </a:xfrm>
          <a:prstGeom prst="rect">
            <a:avLst/>
          </a:prstGeom>
          <a:noFill/>
          <a:ln>
            <a:noFill/>
          </a:ln>
        </p:spPr>
        <p:txBody>
          <a:bodyPr wrap="none" lIns="0" tIns="0" rIns="0" bIns="0" anchor="t" anchorCtr="0">
            <a:spAutoFit/>
          </a:bodyPr>
          <a:lstStyle/>
          <a:p>
            <a:pPr algn="ctr"/>
            <a:r>
              <a:rPr lang="zh-CN" sz="2100" dirty="0">
                <a:solidFill>
                  <a:srgbClr val="D4A574"/>
                </a:solidFill>
                <a:latin typeface="Arial"/>
                <a:ea typeface="Microsoft YaHei"/>
                <a:cs typeface="Arial"/>
              </a:rPr>
              <a:t>→</a:t>
            </a:r>
          </a:p>
        </p:txBody>
      </p:sp>
      <p:sp>
        <p:nvSpPr>
          <p:cNvPr id="40" name="Rectangle 40"/>
          <p:cNvSpPr/>
          <p:nvPr/>
        </p:nvSpPr>
        <p:spPr>
          <a:xfrm>
            <a:off x="8191500" y="1857375"/>
            <a:ext cx="1524000" cy="619125"/>
          </a:xfrm>
          <a:prstGeom prst="roundRect">
            <a:avLst>
              <a:gd name="adj" fmla="val 18462"/>
            </a:avLst>
          </a:prstGeom>
          <a:solidFill>
            <a:srgbClr val="D4A574"/>
          </a:solidFill>
          <a:ln>
            <a:noFill/>
          </a:ln>
        </p:spPr>
      </p:sp>
      <p:sp>
        <p:nvSpPr>
          <p:cNvPr id="41" name="TextBox 41"/>
          <p:cNvSpPr txBox="1"/>
          <p:nvPr/>
        </p:nvSpPr>
        <p:spPr>
          <a:xfrm>
            <a:off x="8724424" y="1981200"/>
            <a:ext cx="45815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亲切</a:t>
            </a:r>
          </a:p>
        </p:txBody>
      </p:sp>
      <p:sp>
        <p:nvSpPr>
          <p:cNvPr id="42" name="TextBox 42"/>
          <p:cNvSpPr txBox="1"/>
          <p:nvPr/>
        </p:nvSpPr>
        <p:spPr>
          <a:xfrm>
            <a:off x="8499062" y="2256949"/>
            <a:ext cx="908876"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Arial"/>
                <a:ea typeface="Microsoft YaHei"/>
                <a:cs typeface="Arial"/>
              </a:rPr>
              <a:t>APPROACHABLE</a:t>
            </a:r>
          </a:p>
        </p:txBody>
      </p:sp>
      <p:sp>
        <p:nvSpPr>
          <p:cNvPr id="43" name="TextBox 43"/>
          <p:cNvSpPr txBox="1"/>
          <p:nvPr/>
        </p:nvSpPr>
        <p:spPr>
          <a:xfrm>
            <a:off x="9754695" y="2011680"/>
            <a:ext cx="207359" cy="426720"/>
          </a:xfrm>
          <a:prstGeom prst="rect">
            <a:avLst/>
          </a:prstGeom>
          <a:noFill/>
          <a:ln>
            <a:noFill/>
          </a:ln>
        </p:spPr>
        <p:txBody>
          <a:bodyPr wrap="none" lIns="0" tIns="0" rIns="0" bIns="0" anchor="t" anchorCtr="0">
            <a:spAutoFit/>
          </a:bodyPr>
          <a:lstStyle/>
          <a:p>
            <a:pPr algn="ctr"/>
            <a:r>
              <a:rPr lang="zh-CN" sz="2100" dirty="0">
                <a:solidFill>
                  <a:srgbClr val="D4A574"/>
                </a:solidFill>
                <a:latin typeface="Arial"/>
                <a:ea typeface="Microsoft YaHei"/>
                <a:cs typeface="Arial"/>
              </a:rPr>
              <a:t>→</a:t>
            </a:r>
          </a:p>
        </p:txBody>
      </p:sp>
      <p:sp>
        <p:nvSpPr>
          <p:cNvPr id="44" name="Rectangle 44"/>
          <p:cNvSpPr/>
          <p:nvPr/>
        </p:nvSpPr>
        <p:spPr>
          <a:xfrm>
            <a:off x="10048875" y="1857375"/>
            <a:ext cx="1333500" cy="619125"/>
          </a:xfrm>
          <a:prstGeom prst="roundRect">
            <a:avLst>
              <a:gd name="adj" fmla="val 18462"/>
            </a:avLst>
          </a:prstGeom>
          <a:solidFill>
            <a:srgbClr val="1A5276"/>
          </a:solidFill>
          <a:ln>
            <a:noFill/>
          </a:ln>
        </p:spPr>
      </p:sp>
      <p:sp>
        <p:nvSpPr>
          <p:cNvPr id="45" name="TextBox 45"/>
          <p:cNvSpPr txBox="1"/>
          <p:nvPr/>
        </p:nvSpPr>
        <p:spPr>
          <a:xfrm>
            <a:off x="10486549" y="1981200"/>
            <a:ext cx="45815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专业</a:t>
            </a:r>
          </a:p>
        </p:txBody>
      </p:sp>
      <p:sp>
        <p:nvSpPr>
          <p:cNvPr id="46" name="TextBox 46"/>
          <p:cNvSpPr txBox="1"/>
          <p:nvPr/>
        </p:nvSpPr>
        <p:spPr>
          <a:xfrm>
            <a:off x="10488716" y="2256949"/>
            <a:ext cx="45381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Arial"/>
                <a:ea typeface="Microsoft YaHei"/>
                <a:cs typeface="Arial"/>
              </a:rPr>
              <a:t>EXPERT</a:t>
            </a:r>
          </a:p>
        </p:txBody>
      </p:sp>
      <p:sp>
        <p:nvSpPr>
          <p:cNvPr id="47" name="TextBox 47"/>
          <p:cNvSpPr txBox="1"/>
          <p:nvPr/>
        </p:nvSpPr>
        <p:spPr>
          <a:xfrm>
            <a:off x="6319838" y="2640806"/>
            <a:ext cx="394406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可信先行，专业为底——信任建立于温度之上，而非技术之上</a:t>
            </a:r>
          </a:p>
        </p:txBody>
      </p:sp>
      <p:sp>
        <p:nvSpPr>
          <p:cNvPr id="48" name="Rectangle 48"/>
          <p:cNvSpPr/>
          <p:nvPr/>
        </p:nvSpPr>
        <p:spPr>
          <a:xfrm>
            <a:off x="6096000" y="3667125"/>
            <a:ext cx="5524500" cy="1047750"/>
          </a:xfrm>
          <a:prstGeom prst="roundRect">
            <a:avLst>
              <a:gd name="adj" fmla="val 12727"/>
            </a:avLst>
          </a:prstGeom>
          <a:solidFill>
            <a:srgbClr val="C0392B">
              <a:alpha val="6000"/>
            </a:srgbClr>
          </a:solidFill>
          <a:ln>
            <a:noFill/>
          </a:ln>
        </p:spPr>
      </p:sp>
      <p:sp>
        <p:nvSpPr>
          <p:cNvPr id="49" name="Rectangle 49"/>
          <p:cNvSpPr/>
          <p:nvPr/>
        </p:nvSpPr>
        <p:spPr>
          <a:xfrm>
            <a:off x="6096000" y="3667125"/>
            <a:ext cx="5524500" cy="1047750"/>
          </a:xfrm>
          <a:prstGeom prst="roundRect">
            <a:avLst>
              <a:gd name="adj" fmla="val 12727"/>
            </a:avLst>
          </a:prstGeom>
          <a:noFill/>
          <a:ln w="14288">
            <a:solidFill>
              <a:srgbClr val="C0392B"/>
            </a:solidFill>
          </a:ln>
        </p:spPr>
      </p:sp>
      <p:sp>
        <p:nvSpPr>
          <p:cNvPr id="50" name="TextBox 50"/>
          <p:cNvSpPr txBox="1"/>
          <p:nvPr/>
        </p:nvSpPr>
        <p:spPr>
          <a:xfrm>
            <a:off x="6315075" y="3790950"/>
            <a:ext cx="1056727" cy="304800"/>
          </a:xfrm>
          <a:prstGeom prst="rect">
            <a:avLst/>
          </a:prstGeom>
          <a:noFill/>
          <a:ln>
            <a:noFill/>
          </a:ln>
        </p:spPr>
        <p:txBody>
          <a:bodyPr wrap="none" lIns="0" tIns="0" rIns="0" bIns="0" anchor="t" anchorCtr="0">
            <a:spAutoFit/>
          </a:bodyPr>
          <a:lstStyle/>
          <a:p>
            <a:pPr algn="l"/>
            <a:r>
              <a:rPr lang="zh-CN" sz="1500" b="1" dirty="0">
                <a:solidFill>
                  <a:srgbClr val="C0392B"/>
                </a:solidFill>
                <a:latin typeface="Arial"/>
                <a:ea typeface="Microsoft YaHei"/>
                <a:cs typeface="Arial"/>
              </a:rPr>
              <a:t>⚠ 关键洞察</a:t>
            </a:r>
          </a:p>
        </p:txBody>
      </p:sp>
      <p:sp>
        <p:nvSpPr>
          <p:cNvPr id="51" name="TextBox 51"/>
          <p:cNvSpPr txBox="1"/>
          <p:nvPr/>
        </p:nvSpPr>
        <p:spPr>
          <a:xfrm>
            <a:off x="6316980" y="4092892"/>
            <a:ext cx="2194560" cy="274320"/>
          </a:xfrm>
          <a:prstGeom prst="rect">
            <a:avLst/>
          </a:prstGeom>
          <a:noFill/>
          <a:ln>
            <a:noFill/>
          </a:ln>
        </p:spPr>
        <p:txBody>
          <a:bodyPr wrap="none" lIns="0" tIns="0" rIns="0" bIns="0" anchor="t" anchorCtr="0">
            <a:spAutoFit/>
          </a:bodyPr>
          <a:lstStyle/>
          <a:p>
            <a:pPr algn="l"/>
            <a:r>
              <a:rPr lang="zh-CN" sz="1350" dirty="0">
                <a:solidFill>
                  <a:srgbClr val="2C2C2C"/>
                </a:solidFill>
                <a:latin typeface="Arial"/>
                <a:ea typeface="Microsoft YaHei"/>
                <a:cs typeface="Arial"/>
              </a:rPr>
              <a:t>最大风险不是不好看，而是</a:t>
            </a:r>
          </a:p>
        </p:txBody>
      </p:sp>
      <p:sp>
        <p:nvSpPr>
          <p:cNvPr id="52" name="TextBox 52"/>
          <p:cNvSpPr txBox="1"/>
          <p:nvPr/>
        </p:nvSpPr>
        <p:spPr>
          <a:xfrm>
            <a:off x="6316980" y="4092892"/>
            <a:ext cx="1924526" cy="274320"/>
          </a:xfrm>
          <a:prstGeom prst="rect">
            <a:avLst/>
          </a:prstGeom>
          <a:noFill/>
          <a:ln>
            <a:noFill/>
          </a:ln>
        </p:spPr>
        <p:txBody>
          <a:bodyPr wrap="none" lIns="0" tIns="0" rIns="0" bIns="0" anchor="t" anchorCtr="0">
            <a:spAutoFit/>
          </a:bodyPr>
          <a:lstStyle/>
          <a:p>
            <a:pPr algn="l"/>
            <a:r>
              <a:rPr lang="zh-CN" sz="1350" b="1" dirty="0">
                <a:solidFill>
                  <a:srgbClr val="C0392B"/>
                </a:solidFill>
                <a:latin typeface="Arial"/>
                <a:ea typeface="Microsoft YaHei"/>
                <a:cs typeface="Arial"/>
              </a:rPr>
              <a:t>看起来像金融科技平台</a:t>
            </a:r>
          </a:p>
        </p:txBody>
      </p:sp>
      <p:sp>
        <p:nvSpPr>
          <p:cNvPr id="53" name="TextBox 53"/>
          <p:cNvSpPr txBox="1"/>
          <p:nvPr/>
        </p:nvSpPr>
        <p:spPr>
          <a:xfrm>
            <a:off x="6319838" y="4402931"/>
            <a:ext cx="335149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金融冷感 → 社区暖调：色彩是品牌信任的第一触点</a:t>
            </a:r>
          </a:p>
        </p:txBody>
      </p:sp>
      <p:sp>
        <p:nvSpPr>
          <p:cNvPr id="54" name="Rectangle 54"/>
          <p:cNvSpPr/>
          <p:nvPr/>
        </p:nvSpPr>
        <p:spPr>
          <a:xfrm>
            <a:off x="6096000" y="4857750"/>
            <a:ext cx="5524500" cy="1095375"/>
          </a:xfrm>
          <a:prstGeom prst="roundRect">
            <a:avLst>
              <a:gd name="adj" fmla="val 12174"/>
            </a:avLst>
          </a:prstGeom>
          <a:solidFill>
            <a:srgbClr val="FFFFFF"/>
          </a:solidFill>
          <a:ln>
            <a:noFill/>
          </a:ln>
          <a:effectLst>
            <a:outerShdw blurRad="76200" dist="19050" dir="5400000" algn="ctr" rotWithShape="0">
              <a:srgbClr val="2C2C2C">
                <a:alpha val="4500"/>
              </a:srgbClr>
            </a:outerShdw>
          </a:effectLst>
        </p:spPr>
      </p:sp>
      <p:sp>
        <p:nvSpPr>
          <p:cNvPr id="55" name="TextBox 55"/>
          <p:cNvSpPr txBox="1"/>
          <p:nvPr/>
        </p:nvSpPr>
        <p:spPr>
          <a:xfrm>
            <a:off x="6315075" y="5029200"/>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视觉参考</a:t>
            </a:r>
          </a:p>
        </p:txBody>
      </p:sp>
      <p:sp>
        <p:nvSpPr>
          <p:cNvPr id="56" name="Rectangle 56"/>
          <p:cNvSpPr/>
          <p:nvPr/>
        </p:nvSpPr>
        <p:spPr>
          <a:xfrm>
            <a:off x="6334125" y="5353050"/>
            <a:ext cx="1562100" cy="457200"/>
          </a:xfrm>
          <a:prstGeom prst="roundRect">
            <a:avLst>
              <a:gd name="adj" fmla="val 20833"/>
            </a:avLst>
          </a:prstGeom>
          <a:solidFill>
            <a:srgbClr val="F0EDE8"/>
          </a:solidFill>
          <a:ln>
            <a:noFill/>
          </a:ln>
        </p:spPr>
      </p:sp>
      <p:sp>
        <p:nvSpPr>
          <p:cNvPr id="57" name="TextBox 57"/>
          <p:cNvSpPr txBox="1"/>
          <p:nvPr/>
        </p:nvSpPr>
        <p:spPr>
          <a:xfrm>
            <a:off x="6939617" y="5422106"/>
            <a:ext cx="351115"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MUJI</a:t>
            </a:r>
          </a:p>
        </p:txBody>
      </p:sp>
      <p:sp>
        <p:nvSpPr>
          <p:cNvPr id="58" name="TextBox 58"/>
          <p:cNvSpPr txBox="1"/>
          <p:nvPr/>
        </p:nvSpPr>
        <p:spPr>
          <a:xfrm>
            <a:off x="6609636" y="5625941"/>
            <a:ext cx="1011079"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自然材质的诚实表达</a:t>
            </a:r>
          </a:p>
        </p:txBody>
      </p:sp>
      <p:sp>
        <p:nvSpPr>
          <p:cNvPr id="59" name="Rectangle 59"/>
          <p:cNvSpPr/>
          <p:nvPr/>
        </p:nvSpPr>
        <p:spPr>
          <a:xfrm>
            <a:off x="8001000" y="5353050"/>
            <a:ext cx="1562100" cy="457200"/>
          </a:xfrm>
          <a:prstGeom prst="roundRect">
            <a:avLst>
              <a:gd name="adj" fmla="val 20833"/>
            </a:avLst>
          </a:prstGeom>
          <a:solidFill>
            <a:srgbClr val="F0EDE8"/>
          </a:solidFill>
          <a:ln>
            <a:noFill/>
          </a:ln>
        </p:spPr>
      </p:sp>
      <p:sp>
        <p:nvSpPr>
          <p:cNvPr id="60" name="TextBox 60"/>
          <p:cNvSpPr txBox="1"/>
          <p:nvPr/>
        </p:nvSpPr>
        <p:spPr>
          <a:xfrm>
            <a:off x="8167688" y="5422106"/>
            <a:ext cx="1228725"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星巴克早期社区店</a:t>
            </a:r>
          </a:p>
        </p:txBody>
      </p:sp>
      <p:sp>
        <p:nvSpPr>
          <p:cNvPr id="61" name="TextBox 61"/>
          <p:cNvSpPr txBox="1"/>
          <p:nvPr/>
        </p:nvSpPr>
        <p:spPr>
          <a:xfrm>
            <a:off x="8276511" y="5625941"/>
            <a:ext cx="1011079"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第三空间的温暖亲切</a:t>
            </a:r>
          </a:p>
        </p:txBody>
      </p:sp>
      <p:sp>
        <p:nvSpPr>
          <p:cNvPr id="62" name="Rectangle 62"/>
          <p:cNvSpPr/>
          <p:nvPr/>
        </p:nvSpPr>
        <p:spPr>
          <a:xfrm>
            <a:off x="9667875" y="5353050"/>
            <a:ext cx="1809750" cy="457200"/>
          </a:xfrm>
          <a:prstGeom prst="roundRect">
            <a:avLst>
              <a:gd name="adj" fmla="val 20833"/>
            </a:avLst>
          </a:prstGeom>
          <a:solidFill>
            <a:srgbClr val="F0EDE8"/>
          </a:solidFill>
          <a:ln>
            <a:noFill/>
          </a:ln>
        </p:spPr>
      </p:sp>
      <p:sp>
        <p:nvSpPr>
          <p:cNvPr id="63" name="TextBox 63"/>
          <p:cNvSpPr txBox="1"/>
          <p:nvPr/>
        </p:nvSpPr>
        <p:spPr>
          <a:xfrm>
            <a:off x="10108406" y="5422106"/>
            <a:ext cx="928688"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傍晚六点半的</a:t>
            </a:r>
          </a:p>
        </p:txBody>
      </p:sp>
      <p:sp>
        <p:nvSpPr>
          <p:cNvPr id="64" name="TextBox 64"/>
          <p:cNvSpPr txBox="1"/>
          <p:nvPr/>
        </p:nvSpPr>
        <p:spPr>
          <a:xfrm>
            <a:off x="10183416" y="5593556"/>
            <a:ext cx="778669" cy="228600"/>
          </a:xfrm>
          <a:prstGeom prst="rect">
            <a:avLst/>
          </a:prstGeom>
          <a:noFill/>
          <a:ln>
            <a:noFill/>
          </a:ln>
        </p:spPr>
        <p:txBody>
          <a:bodyPr wrap="none" lIns="0" tIns="0" rIns="0" bIns="0" anchor="t" anchorCtr="0">
            <a:spAutoFit/>
          </a:bodyPr>
          <a:lstStyle/>
          <a:p>
            <a:pPr algn="ctr"/>
            <a:r>
              <a:rPr lang="zh-CN" sz="1125" dirty="0">
                <a:solidFill>
                  <a:srgbClr val="2C2C2C"/>
                </a:solidFill>
                <a:latin typeface="Arial"/>
                <a:ea typeface="Microsoft YaHei"/>
                <a:cs typeface="Arial"/>
              </a:rPr>
              <a:t>社区商业街</a:t>
            </a:r>
          </a:p>
        </p:txBody>
      </p:sp>
      <p:sp>
        <p:nvSpPr>
          <p:cNvPr id="65" name="TextBox 65"/>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66" name="TextBox 66"/>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16</a:t>
            </a:r>
          </a:p>
        </p:txBody>
      </p:sp>
      <p:sp>
        <p:nvSpPr>
          <p:cNvPr id="67" name="TextBox 67"/>
          <p:cNvSpPr txBox="1"/>
          <p:nvPr/>
        </p:nvSpPr>
        <p:spPr>
          <a:xfrm>
            <a:off x="11169968" y="6483191"/>
            <a:ext cx="461010" cy="167640"/>
          </a:xfrm>
          <a:prstGeom prst="rect">
            <a:avLst/>
          </a:prstGeom>
          <a:noFill/>
          <a:ln>
            <a:noFill/>
          </a:ln>
        </p:spPr>
        <p:txBody>
          <a:bodyPr wrap="none" lIns="0" tIns="0" rIns="0" bIns="0" anchor="t" anchorCtr="0">
            <a:spAutoFit/>
          </a:bodyPr>
          <a:lstStyle/>
          <a:p>
            <a:pPr algn="r"/>
            <a:r>
              <a:rPr lang="zh-CN" sz="825" dirty="0">
                <a:solidFill>
                  <a:srgbClr val="A0A0A0"/>
                </a:solidFill>
                <a:latin typeface="Arial"/>
                <a:ea typeface="Microsoft YaHei"/>
                <a:cs typeface="Arial"/>
              </a:rPr>
              <a:t>视觉方向</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75335" y="470535"/>
            <a:ext cx="7667330"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广告语：三层沟通——定位语对内，广告语对外</a:t>
            </a:r>
          </a:p>
        </p:txBody>
      </p:sp>
      <p:sp>
        <p:nvSpPr>
          <p:cNvPr id="5" name="TextBox 5"/>
          <p:cNvSpPr txBox="1"/>
          <p:nvPr/>
        </p:nvSpPr>
        <p:spPr>
          <a:xfrm>
            <a:off x="795338" y="926306"/>
            <a:ext cx="517421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品牌沟通金字塔：战略层对齐组织 → 用户层触达消费者 → 信仰层沉淀品牌资产</a:t>
            </a:r>
          </a:p>
        </p:txBody>
      </p:sp>
      <p:sp>
        <p:nvSpPr>
          <p:cNvPr id="6" name="Rectangle 6"/>
          <p:cNvSpPr/>
          <p:nvPr/>
        </p:nvSpPr>
        <p:spPr>
          <a:xfrm>
            <a:off x="571500" y="1238250"/>
            <a:ext cx="5334000" cy="4857750"/>
          </a:xfrm>
          <a:prstGeom prst="roundRect">
            <a:avLst>
              <a:gd name="adj" fmla="val 2745"/>
            </a:avLst>
          </a:prstGeom>
          <a:solidFill>
            <a:srgbClr val="FFFFFF"/>
          </a:solidFill>
          <a:ln>
            <a:noFill/>
          </a:ln>
          <a:effectLst>
            <a:outerShdw blurRad="76200" dist="19050" dir="5400000" algn="ctr" rotWithShape="0">
              <a:srgbClr val="2C2C2C">
                <a:alpha val="4500"/>
              </a:srgbClr>
            </a:outerShdw>
          </a:effectLst>
        </p:spPr>
      </p:sp>
      <p:sp>
        <p:nvSpPr>
          <p:cNvPr id="7" name="TextBox 7"/>
          <p:cNvSpPr txBox="1"/>
          <p:nvPr/>
        </p:nvSpPr>
        <p:spPr>
          <a:xfrm>
            <a:off x="693420" y="1393508"/>
            <a:ext cx="1659112"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品牌沟通金字塔</a:t>
            </a:r>
          </a:p>
        </p:txBody>
      </p:sp>
      <p:sp>
        <p:nvSpPr>
          <p:cNvPr id="8" name="TextBox 8"/>
          <p:cNvSpPr txBox="1"/>
          <p:nvPr/>
        </p:nvSpPr>
        <p:spPr>
          <a:xfrm>
            <a:off x="701040" y="1715452"/>
            <a:ext cx="254698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从上到下：从战略到传播，从内部到外部</a:t>
            </a:r>
          </a:p>
        </p:txBody>
      </p:sp>
      <p:sp>
        <p:nvSpPr>
          <p:cNvPr id="9" name="Rectangle 9"/>
          <p:cNvSpPr/>
          <p:nvPr/>
        </p:nvSpPr>
        <p:spPr>
          <a:xfrm>
            <a:off x="1238250" y="2000250"/>
            <a:ext cx="4000500" cy="1095375"/>
          </a:xfrm>
          <a:prstGeom prst="roundRect">
            <a:avLst>
              <a:gd name="adj" fmla="val 12174"/>
            </a:avLst>
          </a:prstGeom>
          <a:solidFill>
            <a:srgbClr val="1A5276"/>
          </a:solidFill>
          <a:ln>
            <a:noFill/>
          </a:ln>
        </p:spPr>
      </p:sp>
      <p:sp>
        <p:nvSpPr>
          <p:cNvPr id="10" name="TextBox 10"/>
          <p:cNvSpPr txBox="1"/>
          <p:nvPr/>
        </p:nvSpPr>
        <p:spPr>
          <a:xfrm>
            <a:off x="2503560" y="2145506"/>
            <a:ext cx="146988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品牌定位语 · 战略层</a:t>
            </a:r>
          </a:p>
        </p:txBody>
      </p:sp>
      <p:sp>
        <p:nvSpPr>
          <p:cNvPr id="11" name="TextBox 11"/>
          <p:cNvSpPr txBox="1"/>
          <p:nvPr/>
        </p:nvSpPr>
        <p:spPr>
          <a:xfrm>
            <a:off x="2020919" y="2379345"/>
            <a:ext cx="2435162" cy="182880"/>
          </a:xfrm>
          <a:prstGeom prst="rect">
            <a:avLst/>
          </a:prstGeom>
          <a:noFill/>
          <a:ln>
            <a:noFill/>
          </a:ln>
        </p:spPr>
        <p:txBody>
          <a:bodyPr wrap="none" lIns="0" tIns="0" rIns="0" bIns="0" anchor="t" anchorCtr="0">
            <a:spAutoFit/>
          </a:bodyPr>
          <a:lstStyle/>
          <a:p>
            <a:pPr algn="ctr"/>
            <a:r>
              <a:rPr lang="zh-CN" sz="900" dirty="0">
                <a:solidFill>
                  <a:srgbClr val="D4A574"/>
                </a:solidFill>
                <a:latin typeface="Arial"/>
                <a:ea typeface="Microsoft YaHei"/>
                <a:cs typeface="Arial"/>
              </a:rPr>
              <a:t>对内对齐——只在内部文档和重大战略会议使用</a:t>
            </a:r>
          </a:p>
        </p:txBody>
      </p:sp>
      <p:sp>
        <p:nvSpPr>
          <p:cNvPr id="12" name="TextBox 12"/>
          <p:cNvSpPr txBox="1"/>
          <p:nvPr/>
        </p:nvSpPr>
        <p:spPr>
          <a:xfrm>
            <a:off x="1498997" y="2640806"/>
            <a:ext cx="3479006"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Georgia"/>
                <a:ea typeface="KaiTi"/>
                <a:cs typeface="Georgia"/>
              </a:rPr>
              <a:t>我是社区商业数字经营生态，为认真经营的社区商家</a:t>
            </a:r>
          </a:p>
        </p:txBody>
      </p:sp>
      <p:sp>
        <p:nvSpPr>
          <p:cNvPr id="13" name="TextBox 13"/>
          <p:cNvSpPr txBox="1"/>
          <p:nvPr/>
        </p:nvSpPr>
        <p:spPr>
          <a:xfrm>
            <a:off x="2249091" y="2850356"/>
            <a:ext cx="1978819"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Georgia"/>
                <a:ea typeface="KaiTi"/>
                <a:cs typeface="Georgia"/>
              </a:rPr>
              <a:t>提供经营关系建立与沉淀能力</a:t>
            </a:r>
          </a:p>
        </p:txBody>
      </p:sp>
      <p:sp>
        <p:nvSpPr>
          <p:cNvPr id="14" name="Polygon 14"/>
          <p:cNvSpPr/>
          <p:nvPr/>
        </p:nvSpPr>
        <p:spPr>
          <a:xfrm>
            <a:off x="2952750" y="3190875"/>
            <a:ext cx="571500" cy="190500"/>
          </a:xfrm>
          <a:custGeom>
            <a:avLst/>
            <a:gdLst/>
            <a:ahLst/>
            <a:cxnLst/>
            <a:rect l="l" t="t" r="r" b="b"/>
            <a:pathLst>
              <a:path w="571500" h="190500">
                <a:moveTo>
                  <a:pt x="285750" y="0"/>
                </a:moveTo>
                <a:lnTo>
                  <a:pt x="571500" y="190500"/>
                </a:lnTo>
                <a:lnTo>
                  <a:pt x="0" y="190500"/>
                </a:lnTo>
                <a:close/>
              </a:path>
            </a:pathLst>
          </a:custGeom>
          <a:solidFill>
            <a:srgbClr val="D4A574"/>
          </a:solidFill>
          <a:ln>
            <a:noFill/>
          </a:ln>
        </p:spPr>
      </p:sp>
      <p:sp>
        <p:nvSpPr>
          <p:cNvPr id="15" name="Rectangle 15"/>
          <p:cNvSpPr/>
          <p:nvPr/>
        </p:nvSpPr>
        <p:spPr>
          <a:xfrm>
            <a:off x="762000" y="3429000"/>
            <a:ext cx="4953000" cy="857250"/>
          </a:xfrm>
          <a:prstGeom prst="roundRect">
            <a:avLst>
              <a:gd name="adj" fmla="val 15556"/>
            </a:avLst>
          </a:prstGeom>
          <a:solidFill>
            <a:srgbClr val="E67E22"/>
          </a:solidFill>
          <a:ln>
            <a:noFill/>
          </a:ln>
        </p:spPr>
      </p:sp>
      <p:sp>
        <p:nvSpPr>
          <p:cNvPr id="16" name="TextBox 16"/>
          <p:cNvSpPr txBox="1"/>
          <p:nvPr/>
        </p:nvSpPr>
        <p:spPr>
          <a:xfrm>
            <a:off x="2661080" y="3593306"/>
            <a:ext cx="115484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广告语 · 用户层</a:t>
            </a:r>
          </a:p>
        </p:txBody>
      </p:sp>
      <p:sp>
        <p:nvSpPr>
          <p:cNvPr id="17" name="TextBox 17"/>
          <p:cNvSpPr txBox="1"/>
          <p:nvPr/>
        </p:nvSpPr>
        <p:spPr>
          <a:xfrm>
            <a:off x="2140934" y="3827145"/>
            <a:ext cx="2195132" cy="182880"/>
          </a:xfrm>
          <a:prstGeom prst="rect">
            <a:avLst/>
          </a:prstGeom>
          <a:noFill/>
          <a:ln>
            <a:noFill/>
          </a:ln>
        </p:spPr>
        <p:txBody>
          <a:bodyPr wrap="none" lIns="0" tIns="0" rIns="0" bIns="0" anchor="t" anchorCtr="0">
            <a:spAutoFit/>
          </a:bodyPr>
          <a:lstStyle/>
          <a:p>
            <a:pPr algn="ctr"/>
            <a:r>
              <a:rPr lang="zh-CN" sz="900" dirty="0">
                <a:solidFill>
                  <a:srgbClr val="FFFFFF">
                    <a:alphaMod val="85000"/>
                  </a:srgbClr>
                </a:solidFill>
                <a:latin typeface="Arial"/>
                <a:ea typeface="Microsoft YaHei"/>
                <a:cs typeface="Arial"/>
              </a:rPr>
              <a:t>对外传播——所有消费者触点的核心传播语</a:t>
            </a:r>
          </a:p>
        </p:txBody>
      </p:sp>
      <p:sp>
        <p:nvSpPr>
          <p:cNvPr id="18" name="TextBox 18"/>
          <p:cNvSpPr txBox="1"/>
          <p:nvPr/>
        </p:nvSpPr>
        <p:spPr>
          <a:xfrm>
            <a:off x="1715857" y="3993832"/>
            <a:ext cx="304528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KaiTi"/>
                <a:cs typeface="Georgia"/>
              </a:rPr>
              <a:t>让每一次消费，都留下点什么</a:t>
            </a:r>
          </a:p>
        </p:txBody>
      </p:sp>
      <p:sp>
        <p:nvSpPr>
          <p:cNvPr id="19" name="Polygon 19"/>
          <p:cNvSpPr/>
          <p:nvPr/>
        </p:nvSpPr>
        <p:spPr>
          <a:xfrm>
            <a:off x="2952750" y="4381500"/>
            <a:ext cx="571500" cy="190500"/>
          </a:xfrm>
          <a:custGeom>
            <a:avLst/>
            <a:gdLst/>
            <a:ahLst/>
            <a:cxnLst/>
            <a:rect l="l" t="t" r="r" b="b"/>
            <a:pathLst>
              <a:path w="571500" h="190500">
                <a:moveTo>
                  <a:pt x="285750" y="0"/>
                </a:moveTo>
                <a:lnTo>
                  <a:pt x="571500" y="190500"/>
                </a:lnTo>
                <a:lnTo>
                  <a:pt x="0" y="190500"/>
                </a:lnTo>
                <a:close/>
              </a:path>
            </a:pathLst>
          </a:custGeom>
          <a:solidFill>
            <a:srgbClr val="D4A574"/>
          </a:solidFill>
          <a:ln>
            <a:noFill/>
          </a:ln>
        </p:spPr>
      </p:sp>
      <p:sp>
        <p:nvSpPr>
          <p:cNvPr id="20" name="Rectangle 20"/>
          <p:cNvSpPr/>
          <p:nvPr/>
        </p:nvSpPr>
        <p:spPr>
          <a:xfrm>
            <a:off x="571500" y="4619625"/>
            <a:ext cx="5334000" cy="904875"/>
          </a:xfrm>
          <a:prstGeom prst="roundRect">
            <a:avLst>
              <a:gd name="adj" fmla="val 14737"/>
            </a:avLst>
          </a:prstGeom>
          <a:solidFill>
            <a:srgbClr val="D4A574"/>
          </a:solidFill>
          <a:ln>
            <a:noFill/>
          </a:ln>
        </p:spPr>
      </p:sp>
      <p:sp>
        <p:nvSpPr>
          <p:cNvPr id="21" name="TextBox 21"/>
          <p:cNvSpPr txBox="1"/>
          <p:nvPr/>
        </p:nvSpPr>
        <p:spPr>
          <a:xfrm>
            <a:off x="2503560" y="4764881"/>
            <a:ext cx="146988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品牌片语言 · 信仰层</a:t>
            </a:r>
          </a:p>
        </p:txBody>
      </p:sp>
      <p:sp>
        <p:nvSpPr>
          <p:cNvPr id="22" name="TextBox 22"/>
          <p:cNvSpPr txBox="1"/>
          <p:nvPr/>
        </p:nvSpPr>
        <p:spPr>
          <a:xfrm>
            <a:off x="2260949" y="4998720"/>
            <a:ext cx="1955102" cy="182880"/>
          </a:xfrm>
          <a:prstGeom prst="rect">
            <a:avLst/>
          </a:prstGeom>
          <a:noFill/>
          <a:ln>
            <a:noFill/>
          </a:ln>
        </p:spPr>
        <p:txBody>
          <a:bodyPr wrap="none" lIns="0" tIns="0" rIns="0" bIns="0" anchor="t" anchorCtr="0">
            <a:spAutoFit/>
          </a:bodyPr>
          <a:lstStyle/>
          <a:p>
            <a:pPr algn="ctr"/>
            <a:r>
              <a:rPr lang="zh-CN" sz="900" dirty="0">
                <a:solidFill>
                  <a:srgbClr val="FFFFFF">
                    <a:alphaMod val="85000"/>
                  </a:srgbClr>
                </a:solidFill>
                <a:latin typeface="Arial"/>
                <a:ea typeface="Microsoft YaHei"/>
                <a:cs typeface="Arial"/>
              </a:rPr>
              <a:t>长线沉淀——品牌片结尾的价值观定调</a:t>
            </a:r>
          </a:p>
        </p:txBody>
      </p:sp>
      <p:sp>
        <p:nvSpPr>
          <p:cNvPr id="23" name="TextBox 23"/>
          <p:cNvSpPr txBox="1"/>
          <p:nvPr/>
        </p:nvSpPr>
        <p:spPr>
          <a:xfrm>
            <a:off x="2226123" y="5211604"/>
            <a:ext cx="202475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Georgia"/>
                <a:ea typeface="KaiTi"/>
                <a:cs typeface="Georgia"/>
              </a:rPr>
              <a:t>让好生意，留在社区</a:t>
            </a:r>
          </a:p>
        </p:txBody>
      </p:sp>
      <p:sp>
        <p:nvSpPr>
          <p:cNvPr id="24" name="Rectangle 24"/>
          <p:cNvSpPr/>
          <p:nvPr/>
        </p:nvSpPr>
        <p:spPr>
          <a:xfrm>
            <a:off x="6096000" y="1238250"/>
            <a:ext cx="5524500"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25" name="TextBox 25"/>
          <p:cNvSpPr txBox="1"/>
          <p:nvPr/>
        </p:nvSpPr>
        <p:spPr>
          <a:xfrm>
            <a:off x="6313170" y="1393508"/>
            <a:ext cx="1890141"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广告语二选一对比</a:t>
            </a:r>
          </a:p>
        </p:txBody>
      </p:sp>
      <p:sp>
        <p:nvSpPr>
          <p:cNvPr id="26" name="Rectangle 26"/>
          <p:cNvSpPr/>
          <p:nvPr/>
        </p:nvSpPr>
        <p:spPr>
          <a:xfrm>
            <a:off x="6334125" y="1762125"/>
            <a:ext cx="5095875" cy="762000"/>
          </a:xfrm>
          <a:prstGeom prst="roundRect">
            <a:avLst>
              <a:gd name="adj" fmla="val 15000"/>
            </a:avLst>
          </a:prstGeom>
          <a:solidFill>
            <a:srgbClr val="E67E22">
              <a:alpha val="8000"/>
            </a:srgbClr>
          </a:solidFill>
          <a:ln>
            <a:noFill/>
          </a:ln>
        </p:spPr>
      </p:sp>
      <p:sp>
        <p:nvSpPr>
          <p:cNvPr id="27" name="Rectangle 27"/>
          <p:cNvSpPr/>
          <p:nvPr/>
        </p:nvSpPr>
        <p:spPr>
          <a:xfrm>
            <a:off x="6334125" y="1762125"/>
            <a:ext cx="57150" cy="762000"/>
          </a:xfrm>
          <a:prstGeom prst="roundRect">
            <a:avLst>
              <a:gd name="adj" fmla="val 50000"/>
            </a:avLst>
          </a:prstGeom>
          <a:solidFill>
            <a:srgbClr val="E67E22"/>
          </a:solidFill>
          <a:ln>
            <a:noFill/>
          </a:ln>
        </p:spPr>
      </p:sp>
      <p:sp>
        <p:nvSpPr>
          <p:cNvPr id="28" name="TextBox 28"/>
          <p:cNvSpPr txBox="1"/>
          <p:nvPr/>
        </p:nvSpPr>
        <p:spPr>
          <a:xfrm>
            <a:off x="6557010" y="1889760"/>
            <a:ext cx="122892"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A</a:t>
            </a:r>
          </a:p>
        </p:txBody>
      </p:sp>
      <p:sp>
        <p:nvSpPr>
          <p:cNvPr id="29" name="TextBox 29"/>
          <p:cNvSpPr txBox="1"/>
          <p:nvPr/>
        </p:nvSpPr>
        <p:spPr>
          <a:xfrm>
            <a:off x="6741795" y="1841182"/>
            <a:ext cx="3507343"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「让每一次消费，都留下点什么」</a:t>
            </a:r>
          </a:p>
        </p:txBody>
      </p:sp>
      <p:sp>
        <p:nvSpPr>
          <p:cNvPr id="30" name="TextBox 30"/>
          <p:cNvSpPr txBox="1"/>
          <p:nvPr/>
        </p:nvSpPr>
        <p:spPr>
          <a:xfrm>
            <a:off x="6558915" y="2172652"/>
            <a:ext cx="3275076"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消费者视角 · 感性自然 · 适合C端传播 · 记忆度9/10</a:t>
            </a:r>
          </a:p>
        </p:txBody>
      </p:sp>
      <p:sp>
        <p:nvSpPr>
          <p:cNvPr id="31" name="TextBox 31"/>
          <p:cNvSpPr txBox="1"/>
          <p:nvPr/>
        </p:nvSpPr>
        <p:spPr>
          <a:xfrm>
            <a:off x="6558915" y="2344102"/>
            <a:ext cx="1020794"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优选——第一推荐</a:t>
            </a:r>
          </a:p>
        </p:txBody>
      </p:sp>
      <p:sp>
        <p:nvSpPr>
          <p:cNvPr id="32" name="Rectangle 32"/>
          <p:cNvSpPr/>
          <p:nvPr/>
        </p:nvSpPr>
        <p:spPr>
          <a:xfrm>
            <a:off x="6334125" y="2619375"/>
            <a:ext cx="5095875" cy="762000"/>
          </a:xfrm>
          <a:prstGeom prst="roundRect">
            <a:avLst>
              <a:gd name="adj" fmla="val 15000"/>
            </a:avLst>
          </a:prstGeom>
          <a:solidFill>
            <a:srgbClr val="1A5276">
              <a:alpha val="6000"/>
            </a:srgbClr>
          </a:solidFill>
          <a:ln>
            <a:noFill/>
          </a:ln>
        </p:spPr>
      </p:sp>
      <p:sp>
        <p:nvSpPr>
          <p:cNvPr id="33" name="Rectangle 33"/>
          <p:cNvSpPr/>
          <p:nvPr/>
        </p:nvSpPr>
        <p:spPr>
          <a:xfrm>
            <a:off x="6334125" y="2619375"/>
            <a:ext cx="57150" cy="762000"/>
          </a:xfrm>
          <a:prstGeom prst="roundRect">
            <a:avLst>
              <a:gd name="adj" fmla="val 50000"/>
            </a:avLst>
          </a:prstGeom>
          <a:solidFill>
            <a:srgbClr val="1A5276"/>
          </a:solidFill>
          <a:ln>
            <a:noFill/>
          </a:ln>
        </p:spPr>
      </p:sp>
      <p:sp>
        <p:nvSpPr>
          <p:cNvPr id="34" name="TextBox 34"/>
          <p:cNvSpPr txBox="1"/>
          <p:nvPr/>
        </p:nvSpPr>
        <p:spPr>
          <a:xfrm>
            <a:off x="6557010" y="2747010"/>
            <a:ext cx="122892"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B</a:t>
            </a:r>
          </a:p>
        </p:txBody>
      </p:sp>
      <p:sp>
        <p:nvSpPr>
          <p:cNvPr id="35" name="TextBox 35"/>
          <p:cNvSpPr txBox="1"/>
          <p:nvPr/>
        </p:nvSpPr>
        <p:spPr>
          <a:xfrm>
            <a:off x="6741795" y="2698432"/>
            <a:ext cx="2583228"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「让好生意，留在社区」</a:t>
            </a:r>
          </a:p>
        </p:txBody>
      </p:sp>
      <p:sp>
        <p:nvSpPr>
          <p:cNvPr id="36" name="TextBox 36"/>
          <p:cNvSpPr txBox="1"/>
          <p:nvPr/>
        </p:nvSpPr>
        <p:spPr>
          <a:xfrm>
            <a:off x="6558915" y="3029902"/>
            <a:ext cx="333808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社区视角 · 战略高度 · 适合品牌片结尾 · 记忆度7/10</a:t>
            </a:r>
          </a:p>
        </p:txBody>
      </p:sp>
      <p:sp>
        <p:nvSpPr>
          <p:cNvPr id="37" name="TextBox 37"/>
          <p:cNvSpPr txBox="1"/>
          <p:nvPr/>
        </p:nvSpPr>
        <p:spPr>
          <a:xfrm>
            <a:off x="6558915" y="3201352"/>
            <a:ext cx="1300829" cy="213360"/>
          </a:xfrm>
          <a:prstGeom prst="rect">
            <a:avLst/>
          </a:prstGeom>
          <a:noFill/>
          <a:ln>
            <a:noFill/>
          </a:ln>
        </p:spPr>
        <p:txBody>
          <a:bodyPr wrap="none" lIns="0" tIns="0" rIns="0" bIns="0" anchor="t" anchorCtr="0">
            <a:spAutoFit/>
          </a:bodyPr>
          <a:lstStyle/>
          <a:p>
            <a:pPr algn="l"/>
            <a:r>
              <a:rPr lang="zh-CN" sz="1050" dirty="0">
                <a:solidFill>
                  <a:srgbClr val="1A5276"/>
                </a:solidFill>
                <a:latin typeface="Arial"/>
                <a:ea typeface="Microsoft YaHei"/>
                <a:cs typeface="Arial"/>
              </a:rPr>
              <a:t>保留——品牌片定调语</a:t>
            </a:r>
          </a:p>
        </p:txBody>
      </p:sp>
      <p:sp>
        <p:nvSpPr>
          <p:cNvPr id="38" name="Rectangle 38"/>
          <p:cNvSpPr/>
          <p:nvPr/>
        </p:nvSpPr>
        <p:spPr>
          <a:xfrm>
            <a:off x="6096000" y="3667125"/>
            <a:ext cx="5524500" cy="2428875"/>
          </a:xfrm>
          <a:prstGeom prst="roundRect">
            <a:avLst>
              <a:gd name="adj" fmla="val 5490"/>
            </a:avLst>
          </a:prstGeom>
          <a:solidFill>
            <a:srgbClr val="FFFFFF"/>
          </a:solidFill>
          <a:ln>
            <a:noFill/>
          </a:ln>
          <a:effectLst>
            <a:outerShdw blurRad="76200" dist="19050" dir="5400000" algn="ctr" rotWithShape="0">
              <a:srgbClr val="2C2C2C">
                <a:alpha val="4500"/>
              </a:srgbClr>
            </a:outerShdw>
          </a:effectLst>
        </p:spPr>
      </p:sp>
      <p:sp>
        <p:nvSpPr>
          <p:cNvPr id="39" name="TextBox 39"/>
          <p:cNvSpPr txBox="1"/>
          <p:nvPr/>
        </p:nvSpPr>
        <p:spPr>
          <a:xfrm>
            <a:off x="6316980" y="3835718"/>
            <a:ext cx="1924526"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九条候选广告语全记录</a:t>
            </a:r>
          </a:p>
        </p:txBody>
      </p:sp>
      <p:sp>
        <p:nvSpPr>
          <p:cNvPr id="40" name="TextBox 40"/>
          <p:cNvSpPr txBox="1"/>
          <p:nvPr/>
        </p:nvSpPr>
        <p:spPr>
          <a:xfrm>
            <a:off x="6321742" y="4161949"/>
            <a:ext cx="367172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1.「让每一次消费，都留下点什么」——消费者视角，感性自然 ✅</a:t>
            </a:r>
          </a:p>
        </p:txBody>
      </p:sp>
      <p:sp>
        <p:nvSpPr>
          <p:cNvPr id="41" name="TextBox 41"/>
          <p:cNvSpPr txBox="1"/>
          <p:nvPr/>
        </p:nvSpPr>
        <p:spPr>
          <a:xfrm>
            <a:off x="6321742" y="4371499"/>
            <a:ext cx="337268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2.「经营你的社区，而非你的流量」——商家视角，B端共鸣</a:t>
            </a:r>
          </a:p>
        </p:txBody>
      </p:sp>
      <p:sp>
        <p:nvSpPr>
          <p:cNvPr id="42" name="TextBox 42"/>
          <p:cNvSpPr txBox="1"/>
          <p:nvPr/>
        </p:nvSpPr>
        <p:spPr>
          <a:xfrm>
            <a:off x="6321742" y="4581049"/>
            <a:ext cx="369122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3.「好生意，从好关系开始」——关系导向，链邦赋商通核心理念</a:t>
            </a:r>
          </a:p>
        </p:txBody>
      </p:sp>
      <p:sp>
        <p:nvSpPr>
          <p:cNvPr id="43" name="TextBox 43"/>
          <p:cNvSpPr txBox="1"/>
          <p:nvPr/>
        </p:nvSpPr>
        <p:spPr>
          <a:xfrm>
            <a:off x="6321742" y="4790599"/>
            <a:ext cx="408127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4.「让社区商业，回到人与人之间」——暖调定位，差异化于互联网平台</a:t>
            </a:r>
          </a:p>
        </p:txBody>
      </p:sp>
      <p:sp>
        <p:nvSpPr>
          <p:cNvPr id="44" name="TextBox 44"/>
          <p:cNvSpPr txBox="1"/>
          <p:nvPr/>
        </p:nvSpPr>
        <p:spPr>
          <a:xfrm>
            <a:off x="6321742" y="5000149"/>
            <a:ext cx="3301175"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5.「你的社区，你的生意经」——口语化，服务站场景适用</a:t>
            </a:r>
          </a:p>
        </p:txBody>
      </p:sp>
      <p:sp>
        <p:nvSpPr>
          <p:cNvPr id="45" name="TextBox 45"/>
          <p:cNvSpPr txBox="1"/>
          <p:nvPr/>
        </p:nvSpPr>
        <p:spPr>
          <a:xfrm>
            <a:off x="6321742" y="5209699"/>
            <a:ext cx="312565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6.「消费有温度，经营有厚度」——双面沟通，C+B整合</a:t>
            </a:r>
          </a:p>
        </p:txBody>
      </p:sp>
      <p:sp>
        <p:nvSpPr>
          <p:cNvPr id="46" name="TextBox 46"/>
          <p:cNvSpPr txBox="1"/>
          <p:nvPr/>
        </p:nvSpPr>
        <p:spPr>
          <a:xfrm>
            <a:off x="6321742" y="5419249"/>
            <a:ext cx="315165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7.「让好生意，留在社区」——品牌信仰层，长线沉淀 ✅</a:t>
            </a:r>
          </a:p>
        </p:txBody>
      </p:sp>
      <p:sp>
        <p:nvSpPr>
          <p:cNvPr id="47" name="TextBox 47"/>
          <p:cNvSpPr txBox="1"/>
          <p:nvPr/>
        </p:nvSpPr>
        <p:spPr>
          <a:xfrm>
            <a:off x="6321742" y="5628799"/>
            <a:ext cx="299563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8.「不止交易，更是关系」——简洁有力，PPT传播语</a:t>
            </a:r>
          </a:p>
        </p:txBody>
      </p:sp>
      <p:sp>
        <p:nvSpPr>
          <p:cNvPr id="48" name="TextBox 48"/>
          <p:cNvSpPr txBox="1"/>
          <p:nvPr/>
        </p:nvSpPr>
        <p:spPr>
          <a:xfrm>
            <a:off x="6321742" y="5838349"/>
            <a:ext cx="343119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9.「链接你的社区生活」——轻量版，小程序首页副标题候选</a:t>
            </a:r>
          </a:p>
        </p:txBody>
      </p:sp>
      <p:sp>
        <p:nvSpPr>
          <p:cNvPr id="49" name="Rectangle 49"/>
          <p:cNvSpPr/>
          <p:nvPr/>
        </p:nvSpPr>
        <p:spPr>
          <a:xfrm>
            <a:off x="6667500" y="5286375"/>
            <a:ext cx="1238250" cy="381000"/>
          </a:xfrm>
          <a:prstGeom prst="roundRect">
            <a:avLst>
              <a:gd name="adj" fmla="val 20000"/>
            </a:avLst>
          </a:prstGeom>
          <a:solidFill>
            <a:srgbClr val="F0EDE8">
              <a:alpha val="0"/>
            </a:srgbClr>
          </a:solidFill>
          <a:ln>
            <a:noFill/>
          </a:ln>
        </p:spPr>
      </p:sp>
      <p:sp>
        <p:nvSpPr>
          <p:cNvPr id="50" name="TextBox 50"/>
          <p:cNvSpPr txBox="1"/>
          <p:nvPr/>
        </p:nvSpPr>
        <p:spPr>
          <a:xfrm>
            <a:off x="8637842" y="3868102"/>
            <a:ext cx="614744" cy="213360"/>
          </a:xfrm>
          <a:prstGeom prst="rect">
            <a:avLst/>
          </a:prstGeom>
          <a:noFill/>
          <a:ln>
            <a:noFill/>
          </a:ln>
        </p:spPr>
        <p:txBody>
          <a:bodyPr wrap="none" lIns="0" tIns="0" rIns="0" bIns="0" anchor="t" anchorCtr="0">
            <a:spAutoFit/>
          </a:bodyPr>
          <a:lstStyle/>
          <a:p>
            <a:pPr algn="r"/>
            <a:r>
              <a:rPr lang="zh-CN" sz="1050" b="1" dirty="0">
                <a:solidFill>
                  <a:srgbClr val="7F8C8D"/>
                </a:solidFill>
                <a:latin typeface="Arial"/>
                <a:ea typeface="Microsoft YaHei"/>
                <a:cs typeface="Arial"/>
              </a:rPr>
              <a:t>竞品对照</a:t>
            </a:r>
          </a:p>
        </p:txBody>
      </p:sp>
      <p:sp>
        <p:nvSpPr>
          <p:cNvPr id="51" name="TextBox 51"/>
          <p:cNvSpPr txBox="1"/>
          <p:nvPr/>
        </p:nvSpPr>
        <p:spPr>
          <a:xfrm>
            <a:off x="7175563" y="4093845"/>
            <a:ext cx="207511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有赞：「做生意，找有赞」——工具导向</a:t>
            </a:r>
          </a:p>
        </p:txBody>
      </p:sp>
      <p:sp>
        <p:nvSpPr>
          <p:cNvPr id="52" name="TextBox 52"/>
          <p:cNvSpPr txBox="1"/>
          <p:nvPr/>
        </p:nvSpPr>
        <p:spPr>
          <a:xfrm>
            <a:off x="7295578" y="4265295"/>
            <a:ext cx="1955102"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微盟：「让商业更智慧」——平台导向</a:t>
            </a:r>
          </a:p>
        </p:txBody>
      </p:sp>
      <p:sp>
        <p:nvSpPr>
          <p:cNvPr id="53" name="TextBox 53"/>
          <p:cNvSpPr txBox="1"/>
          <p:nvPr/>
        </p:nvSpPr>
        <p:spPr>
          <a:xfrm>
            <a:off x="7415594" y="4436745"/>
            <a:ext cx="1835086"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美团：「美好生活」——消费者导向</a:t>
            </a:r>
          </a:p>
        </p:txBody>
      </p:sp>
      <p:sp>
        <p:nvSpPr>
          <p:cNvPr id="54" name="TextBox 54"/>
          <p:cNvSpPr txBox="1"/>
          <p:nvPr/>
        </p:nvSpPr>
        <p:spPr>
          <a:xfrm>
            <a:off x="7055548" y="4608195"/>
            <a:ext cx="2195132"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链邦赋商通：「关系导向」——差异化空位</a:t>
            </a:r>
          </a:p>
        </p:txBody>
      </p:sp>
      <p:sp>
        <p:nvSpPr>
          <p:cNvPr id="55" name="TextBox 55"/>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56" name="TextBox 56"/>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17</a:t>
            </a:r>
          </a:p>
        </p:txBody>
      </p:sp>
      <p:sp>
        <p:nvSpPr>
          <p:cNvPr id="57" name="TextBox 57"/>
          <p:cNvSpPr txBox="1"/>
          <p:nvPr/>
        </p:nvSpPr>
        <p:spPr>
          <a:xfrm>
            <a:off x="11059954" y="6483191"/>
            <a:ext cx="571024" cy="167640"/>
          </a:xfrm>
          <a:prstGeom prst="rect">
            <a:avLst/>
          </a:prstGeom>
          <a:noFill/>
          <a:ln>
            <a:noFill/>
          </a:ln>
        </p:spPr>
        <p:txBody>
          <a:bodyPr wrap="none" lIns="0" tIns="0" rIns="0" bIns="0" anchor="t" anchorCtr="0">
            <a:spAutoFit/>
          </a:bodyPr>
          <a:lstStyle/>
          <a:p>
            <a:pPr algn="r"/>
            <a:r>
              <a:rPr lang="zh-CN" sz="825" dirty="0">
                <a:solidFill>
                  <a:srgbClr val="A0A0A0"/>
                </a:solidFill>
                <a:latin typeface="Arial"/>
                <a:ea typeface="Microsoft YaHei"/>
                <a:cs typeface="Arial"/>
              </a:rPr>
              <a:t>广告语体系</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75335" y="470535"/>
            <a:ext cx="7232575"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命名：链邦赋商通（B端）× 链生活（C端）</a:t>
            </a:r>
          </a:p>
        </p:txBody>
      </p:sp>
      <p:sp>
        <p:nvSpPr>
          <p:cNvPr id="5" name="TextBox 5"/>
          <p:cNvSpPr txBox="1"/>
          <p:nvPr/>
        </p:nvSpPr>
        <p:spPr>
          <a:xfrm>
            <a:off x="795338" y="926306"/>
            <a:ext cx="585680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双品牌架构：企业/平台名建立可信度 · 消费者品牌进入日常生活 · 口语传播名降低门槛</a:t>
            </a:r>
          </a:p>
        </p:txBody>
      </p:sp>
      <p:sp>
        <p:nvSpPr>
          <p:cNvPr id="6" name="Rectangle 6"/>
          <p:cNvSpPr/>
          <p:nvPr/>
        </p:nvSpPr>
        <p:spPr>
          <a:xfrm>
            <a:off x="571500" y="1285875"/>
            <a:ext cx="5334000" cy="4572000"/>
          </a:xfrm>
          <a:prstGeom prst="roundRect">
            <a:avLst>
              <a:gd name="adj" fmla="val 2917"/>
            </a:avLst>
          </a:prstGeom>
          <a:solidFill>
            <a:srgbClr val="FFFFFF"/>
          </a:solidFill>
          <a:ln>
            <a:noFill/>
          </a:ln>
          <a:effectLst>
            <a:outerShdw blurRad="76200" dist="19050" dir="5400000" algn="ctr" rotWithShape="0">
              <a:srgbClr val="2C2C2C">
                <a:alpha val="4500"/>
              </a:srgbClr>
            </a:outerShdw>
          </a:effectLst>
        </p:spPr>
      </p:sp>
      <p:sp>
        <p:nvSpPr>
          <p:cNvPr id="7" name="TextBox 7"/>
          <p:cNvSpPr txBox="1"/>
          <p:nvPr/>
        </p:nvSpPr>
        <p:spPr>
          <a:xfrm>
            <a:off x="741045" y="1441132"/>
            <a:ext cx="1428083"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三层命名架构</a:t>
            </a:r>
          </a:p>
        </p:txBody>
      </p:sp>
      <p:sp>
        <p:nvSpPr>
          <p:cNvPr id="8" name="Rectangle 8"/>
          <p:cNvSpPr/>
          <p:nvPr/>
        </p:nvSpPr>
        <p:spPr>
          <a:xfrm>
            <a:off x="1047750" y="1857375"/>
            <a:ext cx="4381500" cy="952500"/>
          </a:xfrm>
          <a:prstGeom prst="roundRect">
            <a:avLst>
              <a:gd name="adj" fmla="val 14000"/>
            </a:avLst>
          </a:prstGeom>
          <a:solidFill>
            <a:srgbClr val="1A5276"/>
          </a:solidFill>
          <a:ln>
            <a:noFill/>
          </a:ln>
        </p:spPr>
      </p:sp>
      <p:sp>
        <p:nvSpPr>
          <p:cNvPr id="9" name="TextBox 9"/>
          <p:cNvSpPr txBox="1"/>
          <p:nvPr/>
        </p:nvSpPr>
        <p:spPr>
          <a:xfrm>
            <a:off x="2180645" y="2021681"/>
            <a:ext cx="2115711" cy="228600"/>
          </a:xfrm>
          <a:prstGeom prst="rect">
            <a:avLst/>
          </a:prstGeom>
          <a:noFill/>
          <a:ln>
            <a:noFill/>
          </a:ln>
        </p:spPr>
        <p:txBody>
          <a:bodyPr wrap="none" lIns="0" tIns="0" rIns="0" bIns="0" anchor="t" anchorCtr="0">
            <a:spAutoFit/>
          </a:bodyPr>
          <a:lstStyle/>
          <a:p>
            <a:pPr algn="ctr"/>
            <a:r>
              <a:rPr lang="zh-CN" sz="1125" b="1" dirty="0">
                <a:solidFill>
                  <a:srgbClr val="D4A574"/>
                </a:solidFill>
                <a:latin typeface="Arial"/>
                <a:ea typeface="Microsoft YaHei"/>
                <a:cs typeface="Arial"/>
              </a:rPr>
              <a:t>企业/平台名 · B端建立可信度</a:t>
            </a:r>
          </a:p>
        </p:txBody>
      </p:sp>
      <p:sp>
        <p:nvSpPr>
          <p:cNvPr id="10" name="TextBox 10"/>
          <p:cNvSpPr txBox="1"/>
          <p:nvPr/>
        </p:nvSpPr>
        <p:spPr>
          <a:xfrm>
            <a:off x="2476738" y="2173605"/>
            <a:ext cx="1523524"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Georgia"/>
                <a:ea typeface="KaiTi"/>
                <a:cs typeface="Georgia"/>
              </a:rPr>
              <a:t>链邦赋商通</a:t>
            </a:r>
          </a:p>
        </p:txBody>
      </p:sp>
      <p:sp>
        <p:nvSpPr>
          <p:cNvPr id="11" name="TextBox 11"/>
          <p:cNvSpPr txBox="1"/>
          <p:nvPr/>
        </p:nvSpPr>
        <p:spPr>
          <a:xfrm>
            <a:off x="1990963" y="2561749"/>
            <a:ext cx="2495074" cy="198120"/>
          </a:xfrm>
          <a:prstGeom prst="rect">
            <a:avLst/>
          </a:prstGeom>
          <a:noFill/>
          <a:ln>
            <a:noFill/>
          </a:ln>
        </p:spPr>
        <p:txBody>
          <a:bodyPr wrap="none" lIns="0" tIns="0" rIns="0" bIns="0" anchor="t" anchorCtr="0">
            <a:spAutoFit/>
          </a:bodyPr>
          <a:lstStyle/>
          <a:p>
            <a:pPr algn="ctr"/>
            <a:r>
              <a:rPr lang="zh-CN" sz="975" dirty="0">
                <a:solidFill>
                  <a:srgbClr val="FFFFFF">
                    <a:alphaMod val="80000"/>
                  </a:srgbClr>
                </a:solidFill>
                <a:latin typeface="Arial"/>
                <a:ea typeface="Microsoft YaHei"/>
                <a:cs typeface="Arial"/>
              </a:rPr>
              <a:t>B端合同 · 资质文件 · 商户协议 · 官方对外</a:t>
            </a:r>
          </a:p>
        </p:txBody>
      </p:sp>
      <p:sp>
        <p:nvSpPr>
          <p:cNvPr id="12" name="Polygon 12"/>
          <p:cNvSpPr/>
          <p:nvPr/>
        </p:nvSpPr>
        <p:spPr>
          <a:xfrm>
            <a:off x="2952750" y="2905125"/>
            <a:ext cx="571500" cy="190500"/>
          </a:xfrm>
          <a:custGeom>
            <a:avLst/>
            <a:gdLst/>
            <a:ahLst/>
            <a:cxnLst/>
            <a:rect l="l" t="t" r="r" b="b"/>
            <a:pathLst>
              <a:path w="571500" h="190500">
                <a:moveTo>
                  <a:pt x="285750" y="0"/>
                </a:moveTo>
                <a:lnTo>
                  <a:pt x="571500" y="190500"/>
                </a:lnTo>
                <a:lnTo>
                  <a:pt x="0" y="190500"/>
                </a:lnTo>
                <a:close/>
              </a:path>
            </a:pathLst>
          </a:custGeom>
          <a:solidFill>
            <a:srgbClr val="D4A574"/>
          </a:solidFill>
          <a:ln>
            <a:noFill/>
          </a:ln>
        </p:spPr>
      </p:sp>
      <p:sp>
        <p:nvSpPr>
          <p:cNvPr id="13" name="Rectangle 13"/>
          <p:cNvSpPr/>
          <p:nvPr/>
        </p:nvSpPr>
        <p:spPr>
          <a:xfrm>
            <a:off x="1238250" y="3162300"/>
            <a:ext cx="4000500" cy="857250"/>
          </a:xfrm>
          <a:prstGeom prst="roundRect">
            <a:avLst>
              <a:gd name="adj" fmla="val 15556"/>
            </a:avLst>
          </a:prstGeom>
          <a:solidFill>
            <a:srgbClr val="E67E22"/>
          </a:solidFill>
          <a:ln>
            <a:noFill/>
          </a:ln>
        </p:spPr>
      </p:sp>
      <p:sp>
        <p:nvSpPr>
          <p:cNvPr id="14" name="TextBox 14"/>
          <p:cNvSpPr txBox="1"/>
          <p:nvPr/>
        </p:nvSpPr>
        <p:spPr>
          <a:xfrm>
            <a:off x="2145203" y="3307556"/>
            <a:ext cx="2186595" cy="228600"/>
          </a:xfrm>
          <a:prstGeom prst="rect">
            <a:avLst/>
          </a:prstGeom>
          <a:noFill/>
          <a:ln>
            <a:noFill/>
          </a:ln>
        </p:spPr>
        <p:txBody>
          <a:bodyPr wrap="none" lIns="0" tIns="0" rIns="0" bIns="0" anchor="t" anchorCtr="0">
            <a:spAutoFit/>
          </a:bodyPr>
          <a:lstStyle/>
          <a:p>
            <a:pPr algn="ctr"/>
            <a:r>
              <a:rPr lang="zh-CN" sz="1125" b="1" dirty="0">
                <a:solidFill>
                  <a:srgbClr val="FFFFFF">
                    <a:alphaMod val="90000"/>
                  </a:srgbClr>
                </a:solidFill>
                <a:latin typeface="Arial"/>
                <a:ea typeface="Microsoft YaHei"/>
                <a:cs typeface="Arial"/>
              </a:rPr>
              <a:t>消费者品牌 · C端进入日常生活</a:t>
            </a:r>
          </a:p>
        </p:txBody>
      </p:sp>
      <p:sp>
        <p:nvSpPr>
          <p:cNvPr id="15" name="TextBox 15"/>
          <p:cNvSpPr txBox="1"/>
          <p:nvPr/>
        </p:nvSpPr>
        <p:spPr>
          <a:xfrm>
            <a:off x="2804184" y="3485198"/>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Georgia"/>
                <a:ea typeface="KaiTi"/>
                <a:cs typeface="Georgia"/>
              </a:rPr>
              <a:t>链生活</a:t>
            </a:r>
          </a:p>
        </p:txBody>
      </p:sp>
      <p:sp>
        <p:nvSpPr>
          <p:cNvPr id="16" name="TextBox 16"/>
          <p:cNvSpPr txBox="1"/>
          <p:nvPr/>
        </p:nvSpPr>
        <p:spPr>
          <a:xfrm>
            <a:off x="2189238" y="3819049"/>
            <a:ext cx="2098524" cy="198120"/>
          </a:xfrm>
          <a:prstGeom prst="rect">
            <a:avLst/>
          </a:prstGeom>
          <a:noFill/>
          <a:ln>
            <a:noFill/>
          </a:ln>
        </p:spPr>
        <p:txBody>
          <a:bodyPr wrap="none" lIns="0" tIns="0" rIns="0" bIns="0" anchor="t" anchorCtr="0">
            <a:spAutoFit/>
          </a:bodyPr>
          <a:lstStyle/>
          <a:p>
            <a:pPr algn="ctr"/>
            <a:r>
              <a:rPr lang="zh-CN" sz="975" dirty="0">
                <a:solidFill>
                  <a:srgbClr val="FFFFFF">
                    <a:alphaMod val="80000"/>
                  </a:srgbClr>
                </a:solidFill>
                <a:latin typeface="Arial"/>
                <a:ea typeface="Microsoft YaHei"/>
                <a:cs typeface="Arial"/>
              </a:rPr>
              <a:t>小程序名称 · App名称 · 消费者触点</a:t>
            </a:r>
          </a:p>
        </p:txBody>
      </p:sp>
      <p:sp>
        <p:nvSpPr>
          <p:cNvPr id="17" name="Polygon 17"/>
          <p:cNvSpPr/>
          <p:nvPr/>
        </p:nvSpPr>
        <p:spPr>
          <a:xfrm>
            <a:off x="2952750" y="4114800"/>
            <a:ext cx="571500" cy="190500"/>
          </a:xfrm>
          <a:custGeom>
            <a:avLst/>
            <a:gdLst/>
            <a:ahLst/>
            <a:cxnLst/>
            <a:rect l="l" t="t" r="r" b="b"/>
            <a:pathLst>
              <a:path w="571500" h="190500">
                <a:moveTo>
                  <a:pt x="285750" y="0"/>
                </a:moveTo>
                <a:lnTo>
                  <a:pt x="571500" y="190500"/>
                </a:lnTo>
                <a:lnTo>
                  <a:pt x="0" y="190500"/>
                </a:lnTo>
                <a:close/>
              </a:path>
            </a:pathLst>
          </a:custGeom>
          <a:solidFill>
            <a:srgbClr val="D4A574"/>
          </a:solidFill>
          <a:ln>
            <a:noFill/>
          </a:ln>
        </p:spPr>
      </p:sp>
      <p:sp>
        <p:nvSpPr>
          <p:cNvPr id="18" name="Rectangle 18"/>
          <p:cNvSpPr/>
          <p:nvPr/>
        </p:nvSpPr>
        <p:spPr>
          <a:xfrm>
            <a:off x="1524000" y="4381500"/>
            <a:ext cx="3429000" cy="762000"/>
          </a:xfrm>
          <a:prstGeom prst="roundRect">
            <a:avLst>
              <a:gd name="adj" fmla="val 17500"/>
            </a:avLst>
          </a:prstGeom>
          <a:solidFill>
            <a:srgbClr val="D4A574"/>
          </a:solidFill>
          <a:ln>
            <a:noFill/>
          </a:ln>
        </p:spPr>
      </p:sp>
      <p:sp>
        <p:nvSpPr>
          <p:cNvPr id="19" name="TextBox 19"/>
          <p:cNvSpPr txBox="1"/>
          <p:nvPr/>
        </p:nvSpPr>
        <p:spPr>
          <a:xfrm>
            <a:off x="2109761" y="4526756"/>
            <a:ext cx="2257479" cy="228600"/>
          </a:xfrm>
          <a:prstGeom prst="rect">
            <a:avLst/>
          </a:prstGeom>
          <a:noFill/>
          <a:ln>
            <a:noFill/>
          </a:ln>
        </p:spPr>
        <p:txBody>
          <a:bodyPr wrap="none" lIns="0" tIns="0" rIns="0" bIns="0" anchor="t" anchorCtr="0">
            <a:spAutoFit/>
          </a:bodyPr>
          <a:lstStyle/>
          <a:p>
            <a:pPr algn="ctr"/>
            <a:r>
              <a:rPr lang="zh-CN" sz="1125" b="1" dirty="0">
                <a:solidFill>
                  <a:srgbClr val="FFFFFF">
                    <a:alphaMod val="90000"/>
                  </a:srgbClr>
                </a:solidFill>
                <a:latin typeface="Arial"/>
                <a:ea typeface="Microsoft YaHei"/>
                <a:cs typeface="Arial"/>
              </a:rPr>
              <a:t>口语传播名 · 日常沟通降低门槛</a:t>
            </a:r>
          </a:p>
        </p:txBody>
      </p:sp>
      <p:sp>
        <p:nvSpPr>
          <p:cNvPr id="20" name="TextBox 20"/>
          <p:cNvSpPr txBox="1"/>
          <p:nvPr/>
        </p:nvSpPr>
        <p:spPr>
          <a:xfrm>
            <a:off x="2507131" y="4736782"/>
            <a:ext cx="1462738"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链商 / 赋商通</a:t>
            </a:r>
          </a:p>
        </p:txBody>
      </p:sp>
      <p:sp>
        <p:nvSpPr>
          <p:cNvPr id="21" name="TextBox 21"/>
          <p:cNvSpPr txBox="1"/>
          <p:nvPr/>
        </p:nvSpPr>
        <p:spPr>
          <a:xfrm>
            <a:off x="2368963" y="4998720"/>
            <a:ext cx="1739075"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Arial"/>
                <a:ea typeface="Microsoft YaHei"/>
                <a:cs typeface="Arial"/>
              </a:rPr>
              <a:t>商务交流 · 电话介绍 · 口头传播</a:t>
            </a:r>
          </a:p>
        </p:txBody>
      </p:sp>
      <p:sp>
        <p:nvSpPr>
          <p:cNvPr id="22" name="Rectangle 22"/>
          <p:cNvSpPr/>
          <p:nvPr/>
        </p:nvSpPr>
        <p:spPr>
          <a:xfrm>
            <a:off x="6096000" y="1285875"/>
            <a:ext cx="5524500" cy="4572000"/>
          </a:xfrm>
          <a:prstGeom prst="roundRect">
            <a:avLst>
              <a:gd name="adj" fmla="val 2917"/>
            </a:avLst>
          </a:prstGeom>
          <a:solidFill>
            <a:srgbClr val="FFFFFF"/>
          </a:solidFill>
          <a:ln>
            <a:noFill/>
          </a:ln>
          <a:effectLst>
            <a:outerShdw blurRad="76200" dist="19050" dir="5400000" algn="ctr" rotWithShape="0">
              <a:srgbClr val="2C2C2C">
                <a:alpha val="4500"/>
              </a:srgbClr>
            </a:outerShdw>
          </a:effectLst>
        </p:spPr>
      </p:sp>
      <p:sp>
        <p:nvSpPr>
          <p:cNvPr id="23" name="TextBox 23"/>
          <p:cNvSpPr txBox="1"/>
          <p:nvPr/>
        </p:nvSpPr>
        <p:spPr>
          <a:xfrm>
            <a:off x="6313170" y="1441132"/>
            <a:ext cx="3414932"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五字拆解：链 · 邦 · 赋 · 商 · 通</a:t>
            </a:r>
          </a:p>
        </p:txBody>
      </p:sp>
      <p:sp>
        <p:nvSpPr>
          <p:cNvPr id="24" name="TextBox 24"/>
          <p:cNvSpPr txBox="1"/>
          <p:nvPr/>
        </p:nvSpPr>
        <p:spPr>
          <a:xfrm>
            <a:off x="6320790" y="1772602"/>
            <a:ext cx="256098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每个字都是战略选择——不是包装，是定义</a:t>
            </a:r>
          </a:p>
        </p:txBody>
      </p:sp>
      <p:sp>
        <p:nvSpPr>
          <p:cNvPr id="25" name="Rectangle 25"/>
          <p:cNvSpPr/>
          <p:nvPr/>
        </p:nvSpPr>
        <p:spPr>
          <a:xfrm>
            <a:off x="6334125" y="2047875"/>
            <a:ext cx="5095875" cy="457200"/>
          </a:xfrm>
          <a:prstGeom prst="roundRect">
            <a:avLst>
              <a:gd name="adj" fmla="val 20833"/>
            </a:avLst>
          </a:prstGeom>
          <a:solidFill>
            <a:srgbClr val="F0EDE8"/>
          </a:solidFill>
          <a:ln>
            <a:noFill/>
          </a:ln>
        </p:spPr>
      </p:sp>
      <p:sp>
        <p:nvSpPr>
          <p:cNvPr id="26" name="Rectangle 26"/>
          <p:cNvSpPr/>
          <p:nvPr/>
        </p:nvSpPr>
        <p:spPr>
          <a:xfrm>
            <a:off x="6334125" y="2047875"/>
            <a:ext cx="457200" cy="457200"/>
          </a:xfrm>
          <a:prstGeom prst="roundRect">
            <a:avLst>
              <a:gd name="adj" fmla="val 20833"/>
            </a:avLst>
          </a:prstGeom>
          <a:solidFill>
            <a:srgbClr val="1A5276"/>
          </a:solidFill>
          <a:ln>
            <a:noFill/>
          </a:ln>
        </p:spPr>
      </p:sp>
      <p:sp>
        <p:nvSpPr>
          <p:cNvPr id="27" name="TextBox 27"/>
          <p:cNvSpPr txBox="1"/>
          <p:nvPr/>
        </p:nvSpPr>
        <p:spPr>
          <a:xfrm>
            <a:off x="6401443" y="2132648"/>
            <a:ext cx="322564"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Georgia"/>
                <a:ea typeface="KaiTi"/>
                <a:cs typeface="Georgia"/>
              </a:rPr>
              <a:t>链</a:t>
            </a:r>
          </a:p>
        </p:txBody>
      </p:sp>
      <p:sp>
        <p:nvSpPr>
          <p:cNvPr id="28" name="TextBox 28"/>
          <p:cNvSpPr txBox="1"/>
          <p:nvPr/>
        </p:nvSpPr>
        <p:spPr>
          <a:xfrm>
            <a:off x="6937058" y="2129314"/>
            <a:ext cx="1817608"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连接关系，非控制关系</a:t>
            </a:r>
          </a:p>
        </p:txBody>
      </p:sp>
      <p:sp>
        <p:nvSpPr>
          <p:cNvPr id="29" name="TextBox 29"/>
          <p:cNvSpPr txBox="1"/>
          <p:nvPr/>
        </p:nvSpPr>
        <p:spPr>
          <a:xfrm>
            <a:off x="6940868" y="2333149"/>
            <a:ext cx="415928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开放连接 vs 平台锁定——链邦赋商通连接商家与消费者，不控制任何一方</a:t>
            </a:r>
          </a:p>
        </p:txBody>
      </p:sp>
      <p:sp>
        <p:nvSpPr>
          <p:cNvPr id="30" name="Rectangle 30"/>
          <p:cNvSpPr/>
          <p:nvPr/>
        </p:nvSpPr>
        <p:spPr>
          <a:xfrm>
            <a:off x="6334125" y="2600325"/>
            <a:ext cx="5095875" cy="457200"/>
          </a:xfrm>
          <a:prstGeom prst="roundRect">
            <a:avLst>
              <a:gd name="adj" fmla="val 20833"/>
            </a:avLst>
          </a:prstGeom>
          <a:solidFill>
            <a:srgbClr val="F0EDE8"/>
          </a:solidFill>
          <a:ln>
            <a:noFill/>
          </a:ln>
        </p:spPr>
      </p:sp>
      <p:sp>
        <p:nvSpPr>
          <p:cNvPr id="31" name="Rectangle 31"/>
          <p:cNvSpPr/>
          <p:nvPr/>
        </p:nvSpPr>
        <p:spPr>
          <a:xfrm>
            <a:off x="6334125" y="2600325"/>
            <a:ext cx="457200" cy="457200"/>
          </a:xfrm>
          <a:prstGeom prst="roundRect">
            <a:avLst>
              <a:gd name="adj" fmla="val 20833"/>
            </a:avLst>
          </a:prstGeom>
          <a:solidFill>
            <a:srgbClr val="E67E22"/>
          </a:solidFill>
          <a:ln>
            <a:noFill/>
          </a:ln>
        </p:spPr>
      </p:sp>
      <p:sp>
        <p:nvSpPr>
          <p:cNvPr id="32" name="TextBox 32"/>
          <p:cNvSpPr txBox="1"/>
          <p:nvPr/>
        </p:nvSpPr>
        <p:spPr>
          <a:xfrm>
            <a:off x="6401443" y="2685098"/>
            <a:ext cx="322564"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Georgia"/>
                <a:ea typeface="KaiTi"/>
                <a:cs typeface="Georgia"/>
              </a:rPr>
              <a:t>邦</a:t>
            </a:r>
          </a:p>
        </p:txBody>
      </p:sp>
      <p:sp>
        <p:nvSpPr>
          <p:cNvPr id="33" name="TextBox 33"/>
          <p:cNvSpPr txBox="1"/>
          <p:nvPr/>
        </p:nvSpPr>
        <p:spPr>
          <a:xfrm>
            <a:off x="6937058" y="2681764"/>
            <a:ext cx="1996130"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社区共同体，非竞争个体</a:t>
            </a:r>
          </a:p>
        </p:txBody>
      </p:sp>
      <p:sp>
        <p:nvSpPr>
          <p:cNvPr id="34" name="TextBox 34"/>
          <p:cNvSpPr txBox="1"/>
          <p:nvPr/>
        </p:nvSpPr>
        <p:spPr>
          <a:xfrm>
            <a:off x="6940868" y="2885599"/>
            <a:ext cx="3249168"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社区商业生态共赢 vs 零和博弈——商家互补，非竞争关系</a:t>
            </a:r>
          </a:p>
        </p:txBody>
      </p:sp>
      <p:sp>
        <p:nvSpPr>
          <p:cNvPr id="35" name="Rectangle 35"/>
          <p:cNvSpPr/>
          <p:nvPr/>
        </p:nvSpPr>
        <p:spPr>
          <a:xfrm>
            <a:off x="6334125" y="3152775"/>
            <a:ext cx="5095875" cy="457200"/>
          </a:xfrm>
          <a:prstGeom prst="roundRect">
            <a:avLst>
              <a:gd name="adj" fmla="val 20833"/>
            </a:avLst>
          </a:prstGeom>
          <a:solidFill>
            <a:srgbClr val="F0EDE8"/>
          </a:solidFill>
          <a:ln>
            <a:noFill/>
          </a:ln>
        </p:spPr>
      </p:sp>
      <p:sp>
        <p:nvSpPr>
          <p:cNvPr id="36" name="Rectangle 36"/>
          <p:cNvSpPr/>
          <p:nvPr/>
        </p:nvSpPr>
        <p:spPr>
          <a:xfrm>
            <a:off x="6334125" y="3152775"/>
            <a:ext cx="457200" cy="457200"/>
          </a:xfrm>
          <a:prstGeom prst="roundRect">
            <a:avLst>
              <a:gd name="adj" fmla="val 20833"/>
            </a:avLst>
          </a:prstGeom>
          <a:solidFill>
            <a:srgbClr val="1E8449"/>
          </a:solidFill>
          <a:ln>
            <a:noFill/>
          </a:ln>
        </p:spPr>
      </p:sp>
      <p:sp>
        <p:nvSpPr>
          <p:cNvPr id="37" name="TextBox 37"/>
          <p:cNvSpPr txBox="1"/>
          <p:nvPr/>
        </p:nvSpPr>
        <p:spPr>
          <a:xfrm>
            <a:off x="6401443" y="3237548"/>
            <a:ext cx="322564"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Georgia"/>
                <a:ea typeface="KaiTi"/>
                <a:cs typeface="Georgia"/>
              </a:rPr>
              <a:t>赋</a:t>
            </a:r>
          </a:p>
        </p:txBody>
      </p:sp>
      <p:sp>
        <p:nvSpPr>
          <p:cNvPr id="38" name="TextBox 38"/>
          <p:cNvSpPr txBox="1"/>
          <p:nvPr/>
        </p:nvSpPr>
        <p:spPr>
          <a:xfrm>
            <a:off x="6937058" y="3234214"/>
            <a:ext cx="1817608"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赋予能力，非替代能力</a:t>
            </a:r>
          </a:p>
        </p:txBody>
      </p:sp>
      <p:sp>
        <p:nvSpPr>
          <p:cNvPr id="39" name="TextBox 39"/>
          <p:cNvSpPr txBox="1"/>
          <p:nvPr/>
        </p:nvSpPr>
        <p:spPr>
          <a:xfrm>
            <a:off x="6940868" y="3438049"/>
            <a:ext cx="389924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赋能商家自主经营 vs 替代商家决策——平台退后一步，商家站在前面</a:t>
            </a:r>
          </a:p>
        </p:txBody>
      </p:sp>
      <p:sp>
        <p:nvSpPr>
          <p:cNvPr id="40" name="Rectangle 40"/>
          <p:cNvSpPr/>
          <p:nvPr/>
        </p:nvSpPr>
        <p:spPr>
          <a:xfrm>
            <a:off x="6334125" y="3705225"/>
            <a:ext cx="5095875" cy="457200"/>
          </a:xfrm>
          <a:prstGeom prst="roundRect">
            <a:avLst>
              <a:gd name="adj" fmla="val 20833"/>
            </a:avLst>
          </a:prstGeom>
          <a:solidFill>
            <a:srgbClr val="F0EDE8"/>
          </a:solidFill>
          <a:ln>
            <a:noFill/>
          </a:ln>
        </p:spPr>
      </p:sp>
      <p:sp>
        <p:nvSpPr>
          <p:cNvPr id="41" name="Rectangle 41"/>
          <p:cNvSpPr/>
          <p:nvPr/>
        </p:nvSpPr>
        <p:spPr>
          <a:xfrm>
            <a:off x="6334125" y="3705225"/>
            <a:ext cx="457200" cy="457200"/>
          </a:xfrm>
          <a:prstGeom prst="roundRect">
            <a:avLst>
              <a:gd name="adj" fmla="val 20833"/>
            </a:avLst>
          </a:prstGeom>
          <a:solidFill>
            <a:srgbClr val="D4A574"/>
          </a:solidFill>
          <a:ln>
            <a:noFill/>
          </a:ln>
        </p:spPr>
      </p:sp>
      <p:sp>
        <p:nvSpPr>
          <p:cNvPr id="42" name="TextBox 42"/>
          <p:cNvSpPr txBox="1"/>
          <p:nvPr/>
        </p:nvSpPr>
        <p:spPr>
          <a:xfrm>
            <a:off x="6401443" y="3789998"/>
            <a:ext cx="322564"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Georgia"/>
                <a:ea typeface="KaiTi"/>
                <a:cs typeface="Georgia"/>
              </a:rPr>
              <a:t>商</a:t>
            </a:r>
          </a:p>
        </p:txBody>
      </p:sp>
      <p:sp>
        <p:nvSpPr>
          <p:cNvPr id="43" name="TextBox 43"/>
          <p:cNvSpPr txBox="1"/>
          <p:nvPr/>
        </p:nvSpPr>
        <p:spPr>
          <a:xfrm>
            <a:off x="6937058" y="3786664"/>
            <a:ext cx="1817608"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商业经营，非消费购物</a:t>
            </a:r>
          </a:p>
        </p:txBody>
      </p:sp>
      <p:sp>
        <p:nvSpPr>
          <p:cNvPr id="44" name="TextBox 44"/>
          <p:cNvSpPr txBox="1"/>
          <p:nvPr/>
        </p:nvSpPr>
        <p:spPr>
          <a:xfrm>
            <a:off x="6940868" y="3990499"/>
            <a:ext cx="404226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B端经营平台定位 vs C端购物平台——帮商家经营，不只是帮消费者省钱</a:t>
            </a:r>
          </a:p>
        </p:txBody>
      </p:sp>
      <p:sp>
        <p:nvSpPr>
          <p:cNvPr id="45" name="Rectangle 45"/>
          <p:cNvSpPr/>
          <p:nvPr/>
        </p:nvSpPr>
        <p:spPr>
          <a:xfrm>
            <a:off x="6334125" y="4257675"/>
            <a:ext cx="5095875" cy="457200"/>
          </a:xfrm>
          <a:prstGeom prst="roundRect">
            <a:avLst>
              <a:gd name="adj" fmla="val 20833"/>
            </a:avLst>
          </a:prstGeom>
          <a:solidFill>
            <a:srgbClr val="F0EDE8"/>
          </a:solidFill>
          <a:ln>
            <a:noFill/>
          </a:ln>
        </p:spPr>
      </p:sp>
      <p:sp>
        <p:nvSpPr>
          <p:cNvPr id="46" name="Rectangle 46"/>
          <p:cNvSpPr/>
          <p:nvPr/>
        </p:nvSpPr>
        <p:spPr>
          <a:xfrm>
            <a:off x="6334125" y="4257675"/>
            <a:ext cx="457200" cy="457200"/>
          </a:xfrm>
          <a:prstGeom prst="roundRect">
            <a:avLst>
              <a:gd name="adj" fmla="val 20833"/>
            </a:avLst>
          </a:prstGeom>
          <a:solidFill>
            <a:srgbClr val="1A5276"/>
          </a:solidFill>
          <a:ln>
            <a:noFill/>
          </a:ln>
        </p:spPr>
      </p:sp>
      <p:sp>
        <p:nvSpPr>
          <p:cNvPr id="47" name="TextBox 47"/>
          <p:cNvSpPr txBox="1"/>
          <p:nvPr/>
        </p:nvSpPr>
        <p:spPr>
          <a:xfrm>
            <a:off x="6401443" y="4342448"/>
            <a:ext cx="322564"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Georgia"/>
                <a:ea typeface="KaiTi"/>
                <a:cs typeface="Georgia"/>
              </a:rPr>
              <a:t>通</a:t>
            </a:r>
          </a:p>
        </p:txBody>
      </p:sp>
      <p:sp>
        <p:nvSpPr>
          <p:cNvPr id="48" name="TextBox 48"/>
          <p:cNvSpPr txBox="1"/>
          <p:nvPr/>
        </p:nvSpPr>
        <p:spPr>
          <a:xfrm>
            <a:off x="6937058" y="4339114"/>
            <a:ext cx="1817608"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全域通达，非封闭平台</a:t>
            </a:r>
          </a:p>
        </p:txBody>
      </p:sp>
      <p:sp>
        <p:nvSpPr>
          <p:cNvPr id="49" name="TextBox 49"/>
          <p:cNvSpPr txBox="1"/>
          <p:nvPr/>
        </p:nvSpPr>
        <p:spPr>
          <a:xfrm>
            <a:off x="6940868" y="4542949"/>
            <a:ext cx="319716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跨店通兑 · 全平台权益互通 · 消费流转——打破封闭生态</a:t>
            </a:r>
          </a:p>
        </p:txBody>
      </p:sp>
      <p:sp>
        <p:nvSpPr>
          <p:cNvPr id="50" name="TextBox 50"/>
          <p:cNvSpPr txBox="1"/>
          <p:nvPr/>
        </p:nvSpPr>
        <p:spPr>
          <a:xfrm>
            <a:off x="6319838" y="4907756"/>
            <a:ext cx="973693"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命名迭代路径</a:t>
            </a:r>
          </a:p>
        </p:txBody>
      </p:sp>
      <p:sp>
        <p:nvSpPr>
          <p:cNvPr id="51" name="TextBox 51"/>
          <p:cNvSpPr txBox="1"/>
          <p:nvPr/>
        </p:nvSpPr>
        <p:spPr>
          <a:xfrm>
            <a:off x="6320790" y="5163502"/>
            <a:ext cx="8518731"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V2（链商2.0）→ V3（近商联/店营通/商域达）→ V4（赋业初/砚璞启/耕赋源）→ 赋商版（赋商联/赋商通/赋商汇）→ 链邦赋商通（最终）</a:t>
            </a:r>
          </a:p>
        </p:txBody>
      </p:sp>
      <p:sp>
        <p:nvSpPr>
          <p:cNvPr id="52" name="TextBox 52"/>
          <p:cNvSpPr txBox="1"/>
          <p:nvPr/>
        </p:nvSpPr>
        <p:spPr>
          <a:xfrm>
            <a:off x="6319838" y="5498306"/>
            <a:ext cx="816173" cy="228600"/>
          </a:xfrm>
          <a:prstGeom prst="rect">
            <a:avLst/>
          </a:prstGeom>
          <a:noFill/>
          <a:ln>
            <a:noFill/>
          </a:ln>
        </p:spPr>
        <p:txBody>
          <a:bodyPr wrap="none" lIns="0" tIns="0" rIns="0" bIns="0" anchor="t" anchorCtr="0">
            <a:spAutoFit/>
          </a:bodyPr>
          <a:lstStyle/>
          <a:p>
            <a:pPr algn="l"/>
            <a:r>
              <a:rPr lang="zh-CN" sz="1125" b="1" dirty="0">
                <a:solidFill>
                  <a:srgbClr val="2C2C2C"/>
                </a:solidFill>
                <a:latin typeface="Arial"/>
                <a:ea typeface="Microsoft YaHei"/>
                <a:cs typeface="Arial"/>
              </a:rPr>
              <a:t>一致性校验</a:t>
            </a:r>
          </a:p>
        </p:txBody>
      </p:sp>
      <p:sp>
        <p:nvSpPr>
          <p:cNvPr id="53" name="Rectangle 53"/>
          <p:cNvSpPr/>
          <p:nvPr/>
        </p:nvSpPr>
        <p:spPr>
          <a:xfrm>
            <a:off x="6334125" y="5695950"/>
            <a:ext cx="2190750" cy="285750"/>
          </a:xfrm>
          <a:prstGeom prst="roundRect">
            <a:avLst>
              <a:gd name="adj" fmla="val 26667"/>
            </a:avLst>
          </a:prstGeom>
          <a:solidFill>
            <a:srgbClr val="1E8449">
              <a:alpha val="12000"/>
            </a:srgbClr>
          </a:solidFill>
          <a:ln>
            <a:noFill/>
          </a:ln>
        </p:spPr>
      </p:sp>
      <p:sp>
        <p:nvSpPr>
          <p:cNvPr id="54" name="TextBox 54"/>
          <p:cNvSpPr txBox="1"/>
          <p:nvPr/>
        </p:nvSpPr>
        <p:spPr>
          <a:xfrm>
            <a:off x="6510338" y="5774531"/>
            <a:ext cx="2571393"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 全部通过——与定位、使命、视觉一致</a:t>
            </a:r>
          </a:p>
        </p:txBody>
      </p:sp>
      <p:sp>
        <p:nvSpPr>
          <p:cNvPr id="55" name="TextBox 55"/>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56" name="TextBox 56"/>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18</a:t>
            </a:r>
          </a:p>
        </p:txBody>
      </p:sp>
      <p:sp>
        <p:nvSpPr>
          <p:cNvPr id="57" name="TextBox 57"/>
          <p:cNvSpPr txBox="1"/>
          <p:nvPr/>
        </p:nvSpPr>
        <p:spPr>
          <a:xfrm>
            <a:off x="11169968" y="6483191"/>
            <a:ext cx="461010" cy="167640"/>
          </a:xfrm>
          <a:prstGeom prst="rect">
            <a:avLst/>
          </a:prstGeom>
          <a:noFill/>
          <a:ln>
            <a:noFill/>
          </a:ln>
        </p:spPr>
        <p:txBody>
          <a:bodyPr wrap="none" lIns="0" tIns="0" rIns="0" bIns="0" anchor="t" anchorCtr="0">
            <a:spAutoFit/>
          </a:bodyPr>
          <a:lstStyle/>
          <a:p>
            <a:pPr algn="r"/>
            <a:r>
              <a:rPr lang="zh-CN" sz="825" dirty="0">
                <a:solidFill>
                  <a:srgbClr val="A0A0A0"/>
                </a:solidFill>
                <a:latin typeface="Arial"/>
                <a:ea typeface="Microsoft YaHei"/>
                <a:cs typeface="Arial"/>
              </a:rPr>
              <a:t>命名体系</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75335" y="470535"/>
            <a:ext cx="7950865"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品牌价值体系全景：一致性交叉检验全部通过 ✅</a:t>
            </a:r>
          </a:p>
        </p:txBody>
      </p:sp>
      <p:sp>
        <p:nvSpPr>
          <p:cNvPr id="5" name="TextBox 5"/>
          <p:cNvSpPr txBox="1"/>
          <p:nvPr/>
        </p:nvSpPr>
        <p:spPr>
          <a:xfrm>
            <a:off x="795338" y="926306"/>
            <a:ext cx="627685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9大品牌要素一致性交叉检验——唯一缺口：品牌故事待创始人确认（润色缺口，非结构性矛盾）</a:t>
            </a:r>
          </a:p>
        </p:txBody>
      </p:sp>
      <p:sp>
        <p:nvSpPr>
          <p:cNvPr id="6" name="Rectangle 6"/>
          <p:cNvSpPr/>
          <p:nvPr/>
        </p:nvSpPr>
        <p:spPr>
          <a:xfrm>
            <a:off x="571500" y="1285875"/>
            <a:ext cx="4000500" cy="4857750"/>
          </a:xfrm>
          <a:prstGeom prst="roundRect">
            <a:avLst>
              <a:gd name="adj" fmla="val 3333"/>
            </a:avLst>
          </a:prstGeom>
          <a:solidFill>
            <a:srgbClr val="FFFFFF"/>
          </a:solidFill>
          <a:ln>
            <a:noFill/>
          </a:ln>
          <a:effectLst>
            <a:outerShdw blurRad="76200" dist="19050" dir="5400000" algn="ctr" rotWithShape="0">
              <a:srgbClr val="2C2C2C">
                <a:alpha val="4500"/>
              </a:srgbClr>
            </a:outerShdw>
          </a:effectLst>
        </p:spPr>
      </p:sp>
      <p:sp>
        <p:nvSpPr>
          <p:cNvPr id="7" name="TextBox 7"/>
          <p:cNvSpPr txBox="1"/>
          <p:nvPr/>
        </p:nvSpPr>
        <p:spPr>
          <a:xfrm>
            <a:off x="788670" y="1441132"/>
            <a:ext cx="2386853"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品牌价值链 · 自上而下</a:t>
            </a:r>
          </a:p>
        </p:txBody>
      </p:sp>
      <p:sp>
        <p:nvSpPr>
          <p:cNvPr id="8" name="Rectangle 8"/>
          <p:cNvSpPr/>
          <p:nvPr/>
        </p:nvSpPr>
        <p:spPr>
          <a:xfrm>
            <a:off x="952500" y="1809750"/>
            <a:ext cx="3238500" cy="419100"/>
          </a:xfrm>
          <a:prstGeom prst="roundRect">
            <a:avLst>
              <a:gd name="adj" fmla="val 27273"/>
            </a:avLst>
          </a:prstGeom>
          <a:solidFill>
            <a:srgbClr val="1A5276"/>
          </a:solidFill>
          <a:ln>
            <a:noFill/>
          </a:ln>
        </p:spPr>
      </p:sp>
      <p:sp>
        <p:nvSpPr>
          <p:cNvPr id="9" name="TextBox 9"/>
          <p:cNvSpPr txBox="1"/>
          <p:nvPr/>
        </p:nvSpPr>
        <p:spPr>
          <a:xfrm>
            <a:off x="1325951" y="1930718"/>
            <a:ext cx="24915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定位：社区商业数字经营平台</a:t>
            </a:r>
          </a:p>
        </p:txBody>
      </p:sp>
      <p:sp>
        <p:nvSpPr>
          <p:cNvPr id="10" name="Line 10"/>
          <p:cNvSpPr/>
          <p:nvPr/>
        </p:nvSpPr>
        <p:spPr>
          <a:xfrm>
            <a:off x="2571750" y="2228850"/>
            <a:ext cx="9525" cy="152400"/>
          </a:xfrm>
          <a:custGeom>
            <a:avLst/>
            <a:gdLst/>
            <a:ahLst/>
            <a:cxnLst/>
            <a:rect l="l" t="t" r="r" b="b"/>
            <a:pathLst>
              <a:path w="9525" h="152400">
                <a:moveTo>
                  <a:pt x="0" y="0"/>
                </a:moveTo>
                <a:lnTo>
                  <a:pt x="0" y="152400"/>
                </a:lnTo>
              </a:path>
            </a:pathLst>
          </a:custGeom>
          <a:noFill/>
          <a:ln w="19050">
            <a:solidFill>
              <a:srgbClr val="D4A574"/>
            </a:solidFill>
          </a:ln>
        </p:spPr>
      </p:sp>
      <p:sp>
        <p:nvSpPr>
          <p:cNvPr id="11" name="Polygon 11"/>
          <p:cNvSpPr/>
          <p:nvPr/>
        </p:nvSpPr>
        <p:spPr>
          <a:xfrm>
            <a:off x="2495550" y="230505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12" name="Rectangle 12"/>
          <p:cNvSpPr/>
          <p:nvPr/>
        </p:nvSpPr>
        <p:spPr>
          <a:xfrm>
            <a:off x="952500" y="2409825"/>
            <a:ext cx="3238500" cy="419100"/>
          </a:xfrm>
          <a:prstGeom prst="roundRect">
            <a:avLst>
              <a:gd name="adj" fmla="val 27273"/>
            </a:avLst>
          </a:prstGeom>
          <a:solidFill>
            <a:srgbClr val="E67E22"/>
          </a:solidFill>
          <a:ln>
            <a:noFill/>
          </a:ln>
        </p:spPr>
      </p:sp>
      <p:sp>
        <p:nvSpPr>
          <p:cNvPr id="13" name="TextBox 13"/>
          <p:cNvSpPr txBox="1"/>
          <p:nvPr/>
        </p:nvSpPr>
        <p:spPr>
          <a:xfrm>
            <a:off x="1514975" y="2530792"/>
            <a:ext cx="2113550"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使命：帮商家提升复购率</a:t>
            </a:r>
          </a:p>
        </p:txBody>
      </p:sp>
      <p:sp>
        <p:nvSpPr>
          <p:cNvPr id="14" name="Line 14"/>
          <p:cNvSpPr/>
          <p:nvPr/>
        </p:nvSpPr>
        <p:spPr>
          <a:xfrm>
            <a:off x="2571750" y="2828925"/>
            <a:ext cx="9525" cy="152400"/>
          </a:xfrm>
          <a:custGeom>
            <a:avLst/>
            <a:gdLst/>
            <a:ahLst/>
            <a:cxnLst/>
            <a:rect l="l" t="t" r="r" b="b"/>
            <a:pathLst>
              <a:path w="9525" h="152400">
                <a:moveTo>
                  <a:pt x="0" y="0"/>
                </a:moveTo>
                <a:lnTo>
                  <a:pt x="0" y="152400"/>
                </a:lnTo>
              </a:path>
            </a:pathLst>
          </a:custGeom>
          <a:noFill/>
          <a:ln w="19050">
            <a:solidFill>
              <a:srgbClr val="D4A574"/>
            </a:solidFill>
          </a:ln>
        </p:spPr>
      </p:sp>
      <p:sp>
        <p:nvSpPr>
          <p:cNvPr id="15" name="Polygon 15"/>
          <p:cNvSpPr/>
          <p:nvPr/>
        </p:nvSpPr>
        <p:spPr>
          <a:xfrm>
            <a:off x="2495550" y="2905125"/>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16" name="Rectangle 16"/>
          <p:cNvSpPr/>
          <p:nvPr/>
        </p:nvSpPr>
        <p:spPr>
          <a:xfrm>
            <a:off x="952500" y="3009900"/>
            <a:ext cx="3238500" cy="419100"/>
          </a:xfrm>
          <a:prstGeom prst="roundRect">
            <a:avLst>
              <a:gd name="adj" fmla="val 27273"/>
            </a:avLst>
          </a:prstGeom>
          <a:solidFill>
            <a:srgbClr val="D4A574"/>
          </a:solidFill>
          <a:ln>
            <a:noFill/>
          </a:ln>
        </p:spPr>
      </p:sp>
      <p:sp>
        <p:nvSpPr>
          <p:cNvPr id="17" name="TextBox 17"/>
          <p:cNvSpPr txBox="1"/>
          <p:nvPr/>
        </p:nvSpPr>
        <p:spPr>
          <a:xfrm>
            <a:off x="1231440" y="3130868"/>
            <a:ext cx="268062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愿景：形成可持续社区商业循环</a:t>
            </a:r>
          </a:p>
        </p:txBody>
      </p:sp>
      <p:sp>
        <p:nvSpPr>
          <p:cNvPr id="18" name="Line 18"/>
          <p:cNvSpPr/>
          <p:nvPr/>
        </p:nvSpPr>
        <p:spPr>
          <a:xfrm>
            <a:off x="2571750" y="3429000"/>
            <a:ext cx="9525" cy="152400"/>
          </a:xfrm>
          <a:custGeom>
            <a:avLst/>
            <a:gdLst/>
            <a:ahLst/>
            <a:cxnLst/>
            <a:rect l="l" t="t" r="r" b="b"/>
            <a:pathLst>
              <a:path w="9525" h="152400">
                <a:moveTo>
                  <a:pt x="0" y="0"/>
                </a:moveTo>
                <a:lnTo>
                  <a:pt x="0" y="152400"/>
                </a:lnTo>
              </a:path>
            </a:pathLst>
          </a:custGeom>
          <a:noFill/>
          <a:ln w="19050">
            <a:solidFill>
              <a:srgbClr val="D4A574"/>
            </a:solidFill>
          </a:ln>
        </p:spPr>
      </p:sp>
      <p:sp>
        <p:nvSpPr>
          <p:cNvPr id="19" name="Polygon 19"/>
          <p:cNvSpPr/>
          <p:nvPr/>
        </p:nvSpPr>
        <p:spPr>
          <a:xfrm>
            <a:off x="2495550" y="350520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20" name="Rectangle 20"/>
          <p:cNvSpPr/>
          <p:nvPr/>
        </p:nvSpPr>
        <p:spPr>
          <a:xfrm>
            <a:off x="952500" y="3609975"/>
            <a:ext cx="3238500" cy="419100"/>
          </a:xfrm>
          <a:prstGeom prst="roundRect">
            <a:avLst>
              <a:gd name="adj" fmla="val 27273"/>
            </a:avLst>
          </a:prstGeom>
          <a:solidFill>
            <a:srgbClr val="F0EDE8"/>
          </a:solidFill>
          <a:ln>
            <a:noFill/>
          </a:ln>
        </p:spPr>
      </p:sp>
      <p:sp>
        <p:nvSpPr>
          <p:cNvPr id="21" name="TextBox 21"/>
          <p:cNvSpPr txBox="1"/>
          <p:nvPr/>
        </p:nvSpPr>
        <p:spPr>
          <a:xfrm>
            <a:off x="947904" y="3730942"/>
            <a:ext cx="3247692" cy="274320"/>
          </a:xfrm>
          <a:prstGeom prst="rect">
            <a:avLst/>
          </a:prstGeom>
          <a:noFill/>
          <a:ln>
            <a:noFill/>
          </a:ln>
        </p:spPr>
        <p:txBody>
          <a:bodyPr wrap="none" lIns="0" tIns="0" rIns="0" bIns="0" anchor="t" anchorCtr="0">
            <a:spAutoFit/>
          </a:bodyPr>
          <a:lstStyle/>
          <a:p>
            <a:pPr algn="ctr"/>
            <a:r>
              <a:rPr lang="zh-CN" sz="1350" b="1" dirty="0">
                <a:solidFill>
                  <a:srgbClr val="2C2C2C"/>
                </a:solidFill>
                <a:latin typeface="Arial"/>
                <a:ea typeface="Microsoft YaHei"/>
                <a:cs typeface="Arial"/>
              </a:rPr>
              <a:t>价值观：商家拥有关系，平台退后一步</a:t>
            </a:r>
          </a:p>
        </p:txBody>
      </p:sp>
      <p:sp>
        <p:nvSpPr>
          <p:cNvPr id="22" name="Line 22"/>
          <p:cNvSpPr/>
          <p:nvPr/>
        </p:nvSpPr>
        <p:spPr>
          <a:xfrm>
            <a:off x="2571750" y="4029075"/>
            <a:ext cx="9525" cy="152400"/>
          </a:xfrm>
          <a:custGeom>
            <a:avLst/>
            <a:gdLst/>
            <a:ahLst/>
            <a:cxnLst/>
            <a:rect l="l" t="t" r="r" b="b"/>
            <a:pathLst>
              <a:path w="9525" h="152400">
                <a:moveTo>
                  <a:pt x="0" y="0"/>
                </a:moveTo>
                <a:lnTo>
                  <a:pt x="0" y="152400"/>
                </a:lnTo>
              </a:path>
            </a:pathLst>
          </a:custGeom>
          <a:noFill/>
          <a:ln w="19050">
            <a:solidFill>
              <a:srgbClr val="D4A574"/>
            </a:solidFill>
          </a:ln>
        </p:spPr>
      </p:sp>
      <p:sp>
        <p:nvSpPr>
          <p:cNvPr id="23" name="Polygon 23"/>
          <p:cNvSpPr/>
          <p:nvPr/>
        </p:nvSpPr>
        <p:spPr>
          <a:xfrm>
            <a:off x="2495550" y="4105275"/>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24" name="Rectangle 24"/>
          <p:cNvSpPr/>
          <p:nvPr/>
        </p:nvSpPr>
        <p:spPr>
          <a:xfrm>
            <a:off x="952500" y="4210050"/>
            <a:ext cx="3238500" cy="419100"/>
          </a:xfrm>
          <a:prstGeom prst="roundRect">
            <a:avLst>
              <a:gd name="adj" fmla="val 27273"/>
            </a:avLst>
          </a:prstGeom>
          <a:solidFill>
            <a:srgbClr val="C0392B">
              <a:alpha val="8000"/>
            </a:srgbClr>
          </a:solidFill>
          <a:ln>
            <a:noFill/>
          </a:ln>
        </p:spPr>
      </p:sp>
      <p:sp>
        <p:nvSpPr>
          <p:cNvPr id="25" name="Rectangle 25"/>
          <p:cNvSpPr/>
          <p:nvPr/>
        </p:nvSpPr>
        <p:spPr>
          <a:xfrm>
            <a:off x="952500" y="4210050"/>
            <a:ext cx="3238500" cy="419100"/>
          </a:xfrm>
          <a:prstGeom prst="roundRect">
            <a:avLst>
              <a:gd name="adj" fmla="val 27273"/>
            </a:avLst>
          </a:prstGeom>
          <a:noFill/>
          <a:ln w="14288">
            <a:solidFill>
              <a:srgbClr val="C0392B"/>
            </a:solidFill>
            <a:custDash>
              <a:ds d="266666" sp="200000"/>
            </a:custDash>
          </a:ln>
        </p:spPr>
      </p:sp>
      <p:sp>
        <p:nvSpPr>
          <p:cNvPr id="26" name="TextBox 26"/>
          <p:cNvSpPr txBox="1"/>
          <p:nvPr/>
        </p:nvSpPr>
        <p:spPr>
          <a:xfrm>
            <a:off x="1623664" y="4331018"/>
            <a:ext cx="1896173" cy="274320"/>
          </a:xfrm>
          <a:prstGeom prst="rect">
            <a:avLst/>
          </a:prstGeom>
          <a:noFill/>
          <a:ln>
            <a:noFill/>
          </a:ln>
        </p:spPr>
        <p:txBody>
          <a:bodyPr wrap="none" lIns="0" tIns="0" rIns="0" bIns="0" anchor="t" anchorCtr="0">
            <a:spAutoFit/>
          </a:bodyPr>
          <a:lstStyle/>
          <a:p>
            <a:pPr algn="ctr"/>
            <a:r>
              <a:rPr lang="zh-CN" sz="1350" b="1" dirty="0">
                <a:solidFill>
                  <a:srgbClr val="C0392B"/>
                </a:solidFill>
                <a:latin typeface="Arial"/>
                <a:ea typeface="Microsoft YaHei"/>
                <a:cs typeface="Arial"/>
              </a:rPr>
              <a:t>⚠ 故事：待创始人确认</a:t>
            </a:r>
          </a:p>
        </p:txBody>
      </p:sp>
      <p:sp>
        <p:nvSpPr>
          <p:cNvPr id="27" name="Line 27"/>
          <p:cNvSpPr/>
          <p:nvPr/>
        </p:nvSpPr>
        <p:spPr>
          <a:xfrm>
            <a:off x="2571750" y="4629150"/>
            <a:ext cx="9525" cy="152400"/>
          </a:xfrm>
          <a:custGeom>
            <a:avLst/>
            <a:gdLst/>
            <a:ahLst/>
            <a:cxnLst/>
            <a:rect l="l" t="t" r="r" b="b"/>
            <a:pathLst>
              <a:path w="9525" h="152400">
                <a:moveTo>
                  <a:pt x="0" y="0"/>
                </a:moveTo>
                <a:lnTo>
                  <a:pt x="0" y="152400"/>
                </a:lnTo>
              </a:path>
            </a:pathLst>
          </a:custGeom>
          <a:noFill/>
          <a:ln w="19050">
            <a:solidFill>
              <a:srgbClr val="D4A574"/>
            </a:solidFill>
          </a:ln>
        </p:spPr>
      </p:sp>
      <p:sp>
        <p:nvSpPr>
          <p:cNvPr id="28" name="Polygon 28"/>
          <p:cNvSpPr/>
          <p:nvPr/>
        </p:nvSpPr>
        <p:spPr>
          <a:xfrm>
            <a:off x="2495550" y="470535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29" name="Rectangle 29"/>
          <p:cNvSpPr/>
          <p:nvPr/>
        </p:nvSpPr>
        <p:spPr>
          <a:xfrm>
            <a:off x="952500" y="4810125"/>
            <a:ext cx="3238500" cy="419100"/>
          </a:xfrm>
          <a:prstGeom prst="roundRect">
            <a:avLst>
              <a:gd name="adj" fmla="val 27273"/>
            </a:avLst>
          </a:prstGeom>
          <a:solidFill>
            <a:srgbClr val="1A5276"/>
          </a:solidFill>
          <a:ln>
            <a:noFill/>
          </a:ln>
        </p:spPr>
      </p:sp>
      <p:sp>
        <p:nvSpPr>
          <p:cNvPr id="30" name="TextBox 30"/>
          <p:cNvSpPr txBox="1"/>
          <p:nvPr/>
        </p:nvSpPr>
        <p:spPr>
          <a:xfrm>
            <a:off x="1486622" y="4931092"/>
            <a:ext cx="217025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人格：可信 · 亲切 · 专业</a:t>
            </a:r>
          </a:p>
        </p:txBody>
      </p:sp>
      <p:sp>
        <p:nvSpPr>
          <p:cNvPr id="31" name="Line 31"/>
          <p:cNvSpPr/>
          <p:nvPr/>
        </p:nvSpPr>
        <p:spPr>
          <a:xfrm>
            <a:off x="2571750" y="5229225"/>
            <a:ext cx="9525" cy="152400"/>
          </a:xfrm>
          <a:custGeom>
            <a:avLst/>
            <a:gdLst/>
            <a:ahLst/>
            <a:cxnLst/>
            <a:rect l="l" t="t" r="r" b="b"/>
            <a:pathLst>
              <a:path w="9525" h="152400">
                <a:moveTo>
                  <a:pt x="0" y="0"/>
                </a:moveTo>
                <a:lnTo>
                  <a:pt x="0" y="152400"/>
                </a:lnTo>
              </a:path>
            </a:pathLst>
          </a:custGeom>
          <a:noFill/>
          <a:ln w="19050">
            <a:solidFill>
              <a:srgbClr val="D4A574"/>
            </a:solidFill>
          </a:ln>
        </p:spPr>
      </p:sp>
      <p:sp>
        <p:nvSpPr>
          <p:cNvPr id="32" name="Polygon 32"/>
          <p:cNvSpPr/>
          <p:nvPr/>
        </p:nvSpPr>
        <p:spPr>
          <a:xfrm>
            <a:off x="2495550" y="5305425"/>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33" name="Rectangle 33"/>
          <p:cNvSpPr/>
          <p:nvPr/>
        </p:nvSpPr>
        <p:spPr>
          <a:xfrm>
            <a:off x="952500" y="5429250"/>
            <a:ext cx="1000125" cy="419100"/>
          </a:xfrm>
          <a:prstGeom prst="roundRect">
            <a:avLst>
              <a:gd name="adj" fmla="val 22727"/>
            </a:avLst>
          </a:prstGeom>
          <a:solidFill>
            <a:srgbClr val="D4A574"/>
          </a:solidFill>
          <a:ln>
            <a:noFill/>
          </a:ln>
        </p:spPr>
      </p:sp>
      <p:sp>
        <p:nvSpPr>
          <p:cNvPr id="34" name="TextBox 34"/>
          <p:cNvSpPr txBox="1"/>
          <p:nvPr/>
        </p:nvSpPr>
        <p:spPr>
          <a:xfrm>
            <a:off x="1275993" y="5574506"/>
            <a:ext cx="34361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视觉</a:t>
            </a:r>
          </a:p>
        </p:txBody>
      </p:sp>
      <p:sp>
        <p:nvSpPr>
          <p:cNvPr id="35" name="TextBox 35"/>
          <p:cNvSpPr txBox="1"/>
          <p:nvPr/>
        </p:nvSpPr>
        <p:spPr>
          <a:xfrm>
            <a:off x="1996035" y="5582602"/>
            <a:ext cx="103680"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a:t>
            </a:r>
          </a:p>
        </p:txBody>
      </p:sp>
      <p:sp>
        <p:nvSpPr>
          <p:cNvPr id="36" name="Rectangle 36"/>
          <p:cNvSpPr/>
          <p:nvPr/>
        </p:nvSpPr>
        <p:spPr>
          <a:xfrm>
            <a:off x="2190750" y="5429250"/>
            <a:ext cx="1000125" cy="419100"/>
          </a:xfrm>
          <a:prstGeom prst="roundRect">
            <a:avLst>
              <a:gd name="adj" fmla="val 22727"/>
            </a:avLst>
          </a:prstGeom>
          <a:solidFill>
            <a:srgbClr val="E67E22"/>
          </a:solidFill>
          <a:ln>
            <a:noFill/>
          </a:ln>
        </p:spPr>
      </p:sp>
      <p:sp>
        <p:nvSpPr>
          <p:cNvPr id="37" name="TextBox 37"/>
          <p:cNvSpPr txBox="1"/>
          <p:nvPr/>
        </p:nvSpPr>
        <p:spPr>
          <a:xfrm>
            <a:off x="2435483" y="5574506"/>
            <a:ext cx="5011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广告语</a:t>
            </a:r>
          </a:p>
        </p:txBody>
      </p:sp>
      <p:sp>
        <p:nvSpPr>
          <p:cNvPr id="38" name="TextBox 38"/>
          <p:cNvSpPr txBox="1"/>
          <p:nvPr/>
        </p:nvSpPr>
        <p:spPr>
          <a:xfrm>
            <a:off x="3234285" y="5582602"/>
            <a:ext cx="103680"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a:t>
            </a:r>
          </a:p>
        </p:txBody>
      </p:sp>
      <p:sp>
        <p:nvSpPr>
          <p:cNvPr id="39" name="Rectangle 39"/>
          <p:cNvSpPr/>
          <p:nvPr/>
        </p:nvSpPr>
        <p:spPr>
          <a:xfrm>
            <a:off x="3429000" y="5429250"/>
            <a:ext cx="762000" cy="419100"/>
          </a:xfrm>
          <a:prstGeom prst="roundRect">
            <a:avLst>
              <a:gd name="adj" fmla="val 22727"/>
            </a:avLst>
          </a:prstGeom>
          <a:solidFill>
            <a:srgbClr val="1A5276"/>
          </a:solidFill>
          <a:ln>
            <a:noFill/>
          </a:ln>
        </p:spPr>
      </p:sp>
      <p:sp>
        <p:nvSpPr>
          <p:cNvPr id="40" name="TextBox 40"/>
          <p:cNvSpPr txBox="1"/>
          <p:nvPr/>
        </p:nvSpPr>
        <p:spPr>
          <a:xfrm>
            <a:off x="3638193" y="5574506"/>
            <a:ext cx="34361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命名</a:t>
            </a:r>
          </a:p>
        </p:txBody>
      </p:sp>
      <p:sp>
        <p:nvSpPr>
          <p:cNvPr id="41" name="Rectangle 41"/>
          <p:cNvSpPr/>
          <p:nvPr/>
        </p:nvSpPr>
        <p:spPr>
          <a:xfrm>
            <a:off x="4762500" y="1285875"/>
            <a:ext cx="6858000" cy="4857750"/>
          </a:xfrm>
          <a:prstGeom prst="roundRect">
            <a:avLst>
              <a:gd name="adj" fmla="val 2745"/>
            </a:avLst>
          </a:prstGeom>
          <a:solidFill>
            <a:srgbClr val="FFFFFF"/>
          </a:solidFill>
          <a:ln>
            <a:noFill/>
          </a:ln>
          <a:effectLst>
            <a:outerShdw blurRad="76200" dist="19050" dir="5400000" algn="ctr" rotWithShape="0">
              <a:srgbClr val="2C2C2C">
                <a:alpha val="4500"/>
              </a:srgbClr>
            </a:outerShdw>
          </a:effectLst>
        </p:spPr>
      </p:sp>
      <p:sp>
        <p:nvSpPr>
          <p:cNvPr id="42" name="TextBox 42"/>
          <p:cNvSpPr txBox="1"/>
          <p:nvPr/>
        </p:nvSpPr>
        <p:spPr>
          <a:xfrm>
            <a:off x="4979670" y="1441132"/>
            <a:ext cx="3565100"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Georgia"/>
                <a:ea typeface="KaiTi"/>
                <a:cs typeface="Georgia"/>
              </a:rPr>
              <a:t>品牌一致性交叉检验矩阵（9 × 9）</a:t>
            </a:r>
          </a:p>
        </p:txBody>
      </p:sp>
      <p:sp>
        <p:nvSpPr>
          <p:cNvPr id="43" name="TextBox 43"/>
          <p:cNvSpPr txBox="1"/>
          <p:nvPr/>
        </p:nvSpPr>
        <p:spPr>
          <a:xfrm>
            <a:off x="4987290" y="1772602"/>
            <a:ext cx="4997291"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行=源 · 列=目标 · 每格代表"源对目标是否一致" · ✅ 通过 · ⚠ 待确认 · ✗ 不一致</a:t>
            </a:r>
          </a:p>
        </p:txBody>
      </p:sp>
      <p:sp>
        <p:nvSpPr>
          <p:cNvPr id="44" name="Rectangle 44"/>
          <p:cNvSpPr/>
          <p:nvPr/>
        </p:nvSpPr>
        <p:spPr>
          <a:xfrm>
            <a:off x="5000625" y="2019300"/>
            <a:ext cx="514350" cy="209550"/>
          </a:xfrm>
          <a:prstGeom prst="roundRect">
            <a:avLst>
              <a:gd name="adj" fmla="val 18182"/>
            </a:avLst>
          </a:prstGeom>
          <a:solidFill>
            <a:srgbClr val="F0EDE8"/>
          </a:solidFill>
          <a:ln>
            <a:noFill/>
          </a:ln>
        </p:spPr>
      </p:sp>
      <p:sp>
        <p:nvSpPr>
          <p:cNvPr id="45" name="TextBox 45"/>
          <p:cNvSpPr txBox="1"/>
          <p:nvPr/>
        </p:nvSpPr>
        <p:spPr>
          <a:xfrm>
            <a:off x="513730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定位</a:t>
            </a:r>
          </a:p>
        </p:txBody>
      </p:sp>
      <p:sp>
        <p:nvSpPr>
          <p:cNvPr id="46" name="Rectangle 46"/>
          <p:cNvSpPr/>
          <p:nvPr/>
        </p:nvSpPr>
        <p:spPr>
          <a:xfrm>
            <a:off x="5553075" y="2019300"/>
            <a:ext cx="514350" cy="209550"/>
          </a:xfrm>
          <a:prstGeom prst="roundRect">
            <a:avLst>
              <a:gd name="adj" fmla="val 18182"/>
            </a:avLst>
          </a:prstGeom>
          <a:solidFill>
            <a:srgbClr val="F0EDE8"/>
          </a:solidFill>
          <a:ln>
            <a:noFill/>
          </a:ln>
        </p:spPr>
      </p:sp>
      <p:sp>
        <p:nvSpPr>
          <p:cNvPr id="47" name="TextBox 47"/>
          <p:cNvSpPr txBox="1"/>
          <p:nvPr/>
        </p:nvSpPr>
        <p:spPr>
          <a:xfrm>
            <a:off x="568975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使命</a:t>
            </a:r>
          </a:p>
        </p:txBody>
      </p:sp>
      <p:sp>
        <p:nvSpPr>
          <p:cNvPr id="48" name="Rectangle 48"/>
          <p:cNvSpPr/>
          <p:nvPr/>
        </p:nvSpPr>
        <p:spPr>
          <a:xfrm>
            <a:off x="6105525" y="2019300"/>
            <a:ext cx="514350" cy="209550"/>
          </a:xfrm>
          <a:prstGeom prst="roundRect">
            <a:avLst>
              <a:gd name="adj" fmla="val 18182"/>
            </a:avLst>
          </a:prstGeom>
          <a:solidFill>
            <a:srgbClr val="F0EDE8"/>
          </a:solidFill>
          <a:ln>
            <a:noFill/>
          </a:ln>
        </p:spPr>
      </p:sp>
      <p:sp>
        <p:nvSpPr>
          <p:cNvPr id="49" name="TextBox 49"/>
          <p:cNvSpPr txBox="1"/>
          <p:nvPr/>
        </p:nvSpPr>
        <p:spPr>
          <a:xfrm>
            <a:off x="624220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愿景</a:t>
            </a:r>
          </a:p>
        </p:txBody>
      </p:sp>
      <p:sp>
        <p:nvSpPr>
          <p:cNvPr id="50" name="Rectangle 50"/>
          <p:cNvSpPr/>
          <p:nvPr/>
        </p:nvSpPr>
        <p:spPr>
          <a:xfrm>
            <a:off x="6657975" y="2019300"/>
            <a:ext cx="514350" cy="209550"/>
          </a:xfrm>
          <a:prstGeom prst="roundRect">
            <a:avLst>
              <a:gd name="adj" fmla="val 18182"/>
            </a:avLst>
          </a:prstGeom>
          <a:solidFill>
            <a:srgbClr val="F0EDE8"/>
          </a:solidFill>
          <a:ln>
            <a:noFill/>
          </a:ln>
        </p:spPr>
      </p:sp>
      <p:sp>
        <p:nvSpPr>
          <p:cNvPr id="51" name="TextBox 51"/>
          <p:cNvSpPr txBox="1"/>
          <p:nvPr/>
        </p:nvSpPr>
        <p:spPr>
          <a:xfrm>
            <a:off x="6739652" y="2082641"/>
            <a:ext cx="350996"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价值观</a:t>
            </a:r>
          </a:p>
        </p:txBody>
      </p:sp>
      <p:sp>
        <p:nvSpPr>
          <p:cNvPr id="52" name="Rectangle 52"/>
          <p:cNvSpPr/>
          <p:nvPr/>
        </p:nvSpPr>
        <p:spPr>
          <a:xfrm>
            <a:off x="7210425" y="2019300"/>
            <a:ext cx="514350" cy="209550"/>
          </a:xfrm>
          <a:prstGeom prst="roundRect">
            <a:avLst>
              <a:gd name="adj" fmla="val 18182"/>
            </a:avLst>
          </a:prstGeom>
          <a:solidFill>
            <a:srgbClr val="FFF3E0"/>
          </a:solidFill>
          <a:ln>
            <a:noFill/>
          </a:ln>
        </p:spPr>
      </p:sp>
      <p:sp>
        <p:nvSpPr>
          <p:cNvPr id="53" name="TextBox 53"/>
          <p:cNvSpPr txBox="1"/>
          <p:nvPr/>
        </p:nvSpPr>
        <p:spPr>
          <a:xfrm>
            <a:off x="7347109" y="2082641"/>
            <a:ext cx="240982"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故事</a:t>
            </a:r>
          </a:p>
        </p:txBody>
      </p:sp>
      <p:sp>
        <p:nvSpPr>
          <p:cNvPr id="54" name="Rectangle 54"/>
          <p:cNvSpPr/>
          <p:nvPr/>
        </p:nvSpPr>
        <p:spPr>
          <a:xfrm>
            <a:off x="7762875" y="2019300"/>
            <a:ext cx="514350" cy="209550"/>
          </a:xfrm>
          <a:prstGeom prst="roundRect">
            <a:avLst>
              <a:gd name="adj" fmla="val 18182"/>
            </a:avLst>
          </a:prstGeom>
          <a:solidFill>
            <a:srgbClr val="F0EDE8"/>
          </a:solidFill>
          <a:ln>
            <a:noFill/>
          </a:ln>
        </p:spPr>
      </p:sp>
      <p:sp>
        <p:nvSpPr>
          <p:cNvPr id="55" name="TextBox 55"/>
          <p:cNvSpPr txBox="1"/>
          <p:nvPr/>
        </p:nvSpPr>
        <p:spPr>
          <a:xfrm>
            <a:off x="789955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人格</a:t>
            </a:r>
          </a:p>
        </p:txBody>
      </p:sp>
      <p:sp>
        <p:nvSpPr>
          <p:cNvPr id="56" name="Rectangle 56"/>
          <p:cNvSpPr/>
          <p:nvPr/>
        </p:nvSpPr>
        <p:spPr>
          <a:xfrm>
            <a:off x="8315325" y="2019300"/>
            <a:ext cx="514350" cy="209550"/>
          </a:xfrm>
          <a:prstGeom prst="roundRect">
            <a:avLst>
              <a:gd name="adj" fmla="val 18182"/>
            </a:avLst>
          </a:prstGeom>
          <a:solidFill>
            <a:srgbClr val="F0EDE8"/>
          </a:solidFill>
          <a:ln>
            <a:noFill/>
          </a:ln>
        </p:spPr>
      </p:sp>
      <p:sp>
        <p:nvSpPr>
          <p:cNvPr id="57" name="TextBox 57"/>
          <p:cNvSpPr txBox="1"/>
          <p:nvPr/>
        </p:nvSpPr>
        <p:spPr>
          <a:xfrm>
            <a:off x="845200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视觉</a:t>
            </a:r>
          </a:p>
        </p:txBody>
      </p:sp>
      <p:sp>
        <p:nvSpPr>
          <p:cNvPr id="58" name="Rectangle 58"/>
          <p:cNvSpPr/>
          <p:nvPr/>
        </p:nvSpPr>
        <p:spPr>
          <a:xfrm>
            <a:off x="8867775" y="2019300"/>
            <a:ext cx="514350" cy="209550"/>
          </a:xfrm>
          <a:prstGeom prst="roundRect">
            <a:avLst>
              <a:gd name="adj" fmla="val 18182"/>
            </a:avLst>
          </a:prstGeom>
          <a:solidFill>
            <a:srgbClr val="F0EDE8"/>
          </a:solidFill>
          <a:ln>
            <a:noFill/>
          </a:ln>
        </p:spPr>
      </p:sp>
      <p:sp>
        <p:nvSpPr>
          <p:cNvPr id="59" name="TextBox 59"/>
          <p:cNvSpPr txBox="1"/>
          <p:nvPr/>
        </p:nvSpPr>
        <p:spPr>
          <a:xfrm>
            <a:off x="8949452" y="2082641"/>
            <a:ext cx="350996"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广告语</a:t>
            </a:r>
          </a:p>
        </p:txBody>
      </p:sp>
      <p:sp>
        <p:nvSpPr>
          <p:cNvPr id="60" name="Rectangle 60"/>
          <p:cNvSpPr/>
          <p:nvPr/>
        </p:nvSpPr>
        <p:spPr>
          <a:xfrm>
            <a:off x="9420225" y="2019300"/>
            <a:ext cx="514350" cy="209550"/>
          </a:xfrm>
          <a:prstGeom prst="roundRect">
            <a:avLst>
              <a:gd name="adj" fmla="val 18182"/>
            </a:avLst>
          </a:prstGeom>
          <a:solidFill>
            <a:srgbClr val="F0EDE8"/>
          </a:solidFill>
          <a:ln>
            <a:noFill/>
          </a:ln>
        </p:spPr>
      </p:sp>
      <p:sp>
        <p:nvSpPr>
          <p:cNvPr id="61" name="TextBox 61"/>
          <p:cNvSpPr txBox="1"/>
          <p:nvPr/>
        </p:nvSpPr>
        <p:spPr>
          <a:xfrm>
            <a:off x="955690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命名</a:t>
            </a:r>
          </a:p>
        </p:txBody>
      </p:sp>
      <p:sp>
        <p:nvSpPr>
          <p:cNvPr id="62" name="Rectangle 62"/>
          <p:cNvSpPr/>
          <p:nvPr/>
        </p:nvSpPr>
        <p:spPr>
          <a:xfrm>
            <a:off x="9972675" y="2019300"/>
            <a:ext cx="514350" cy="209550"/>
          </a:xfrm>
          <a:prstGeom prst="roundRect">
            <a:avLst>
              <a:gd name="adj" fmla="val 18182"/>
            </a:avLst>
          </a:prstGeom>
          <a:solidFill>
            <a:srgbClr val="F0EDE8"/>
          </a:solidFill>
          <a:ln>
            <a:noFill/>
          </a:ln>
        </p:spPr>
      </p:sp>
      <p:sp>
        <p:nvSpPr>
          <p:cNvPr id="63" name="TextBox 63"/>
          <p:cNvSpPr txBox="1"/>
          <p:nvPr/>
        </p:nvSpPr>
        <p:spPr>
          <a:xfrm>
            <a:off x="10109359" y="2082641"/>
            <a:ext cx="240982"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合计</a:t>
            </a:r>
          </a:p>
        </p:txBody>
      </p:sp>
      <p:sp>
        <p:nvSpPr>
          <p:cNvPr id="64" name="Rectangle 64"/>
          <p:cNvSpPr/>
          <p:nvPr/>
        </p:nvSpPr>
        <p:spPr>
          <a:xfrm>
            <a:off x="5000625" y="2266950"/>
            <a:ext cx="266700" cy="228600"/>
          </a:xfrm>
          <a:prstGeom prst="roundRect">
            <a:avLst>
              <a:gd name="adj" fmla="val 16667"/>
            </a:avLst>
          </a:prstGeom>
          <a:solidFill>
            <a:srgbClr val="1A5276">
              <a:alpha val="12000"/>
            </a:srgbClr>
          </a:solidFill>
          <a:ln>
            <a:noFill/>
          </a:ln>
        </p:spPr>
      </p:sp>
      <p:sp>
        <p:nvSpPr>
          <p:cNvPr id="65" name="TextBox 65"/>
          <p:cNvSpPr txBox="1"/>
          <p:nvPr/>
        </p:nvSpPr>
        <p:spPr>
          <a:xfrm>
            <a:off x="5065740" y="2339816"/>
            <a:ext cx="136469" cy="167640"/>
          </a:xfrm>
          <a:prstGeom prst="rect">
            <a:avLst/>
          </a:prstGeom>
          <a:noFill/>
          <a:ln>
            <a:noFill/>
          </a:ln>
        </p:spPr>
        <p:txBody>
          <a:bodyPr wrap="none" lIns="0" tIns="0" rIns="0" bIns="0" anchor="t" anchorCtr="0">
            <a:spAutoFit/>
          </a:bodyPr>
          <a:lstStyle/>
          <a:p>
            <a:pPr algn="ctr"/>
            <a:r>
              <a:rPr lang="zh-CN" sz="825" b="1" dirty="0">
                <a:solidFill>
                  <a:srgbClr val="1A5276"/>
                </a:solidFill>
                <a:latin typeface="Arial"/>
                <a:ea typeface="Microsoft YaHei"/>
                <a:cs typeface="Arial"/>
              </a:rPr>
              <a:t>定</a:t>
            </a:r>
          </a:p>
        </p:txBody>
      </p:sp>
      <p:sp>
        <p:nvSpPr>
          <p:cNvPr id="66" name="TextBox 66"/>
          <p:cNvSpPr txBox="1"/>
          <p:nvPr/>
        </p:nvSpPr>
        <p:spPr>
          <a:xfrm>
            <a:off x="521706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67" name="TextBox 67"/>
          <p:cNvSpPr txBox="1"/>
          <p:nvPr/>
        </p:nvSpPr>
        <p:spPr>
          <a:xfrm>
            <a:off x="576951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68" name="TextBox 68"/>
          <p:cNvSpPr txBox="1"/>
          <p:nvPr/>
        </p:nvSpPr>
        <p:spPr>
          <a:xfrm>
            <a:off x="632196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69" name="TextBox 69"/>
          <p:cNvSpPr txBox="1"/>
          <p:nvPr/>
        </p:nvSpPr>
        <p:spPr>
          <a:xfrm>
            <a:off x="687441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70" name="TextBox 70"/>
          <p:cNvSpPr txBox="1"/>
          <p:nvPr/>
        </p:nvSpPr>
        <p:spPr>
          <a:xfrm>
            <a:off x="7426869" y="23398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71" name="TextBox 71"/>
          <p:cNvSpPr txBox="1"/>
          <p:nvPr/>
        </p:nvSpPr>
        <p:spPr>
          <a:xfrm>
            <a:off x="797931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72" name="TextBox 72"/>
          <p:cNvSpPr txBox="1"/>
          <p:nvPr/>
        </p:nvSpPr>
        <p:spPr>
          <a:xfrm>
            <a:off x="853176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73" name="TextBox 73"/>
          <p:cNvSpPr txBox="1"/>
          <p:nvPr/>
        </p:nvSpPr>
        <p:spPr>
          <a:xfrm>
            <a:off x="908421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74" name="TextBox 74"/>
          <p:cNvSpPr txBox="1"/>
          <p:nvPr/>
        </p:nvSpPr>
        <p:spPr>
          <a:xfrm>
            <a:off x="9636669" y="23398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75" name="TextBox 75"/>
          <p:cNvSpPr txBox="1"/>
          <p:nvPr/>
        </p:nvSpPr>
        <p:spPr>
          <a:xfrm>
            <a:off x="10124073" y="23398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76" name="Rectangle 76"/>
          <p:cNvSpPr/>
          <p:nvPr/>
        </p:nvSpPr>
        <p:spPr>
          <a:xfrm>
            <a:off x="5000625" y="2533650"/>
            <a:ext cx="266700" cy="228600"/>
          </a:xfrm>
          <a:prstGeom prst="roundRect">
            <a:avLst>
              <a:gd name="adj" fmla="val 16667"/>
            </a:avLst>
          </a:prstGeom>
          <a:solidFill>
            <a:srgbClr val="E67E22">
              <a:alpha val="12000"/>
            </a:srgbClr>
          </a:solidFill>
          <a:ln>
            <a:noFill/>
          </a:ln>
        </p:spPr>
      </p:sp>
      <p:sp>
        <p:nvSpPr>
          <p:cNvPr id="77" name="TextBox 77"/>
          <p:cNvSpPr txBox="1"/>
          <p:nvPr/>
        </p:nvSpPr>
        <p:spPr>
          <a:xfrm>
            <a:off x="5065740" y="2606516"/>
            <a:ext cx="136469"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使</a:t>
            </a:r>
          </a:p>
        </p:txBody>
      </p:sp>
      <p:sp>
        <p:nvSpPr>
          <p:cNvPr id="78" name="TextBox 78"/>
          <p:cNvSpPr txBox="1"/>
          <p:nvPr/>
        </p:nvSpPr>
        <p:spPr>
          <a:xfrm>
            <a:off x="521706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79" name="TextBox 79"/>
          <p:cNvSpPr txBox="1"/>
          <p:nvPr/>
        </p:nvSpPr>
        <p:spPr>
          <a:xfrm>
            <a:off x="576951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0" name="TextBox 80"/>
          <p:cNvSpPr txBox="1"/>
          <p:nvPr/>
        </p:nvSpPr>
        <p:spPr>
          <a:xfrm>
            <a:off x="632196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1" name="TextBox 81"/>
          <p:cNvSpPr txBox="1"/>
          <p:nvPr/>
        </p:nvSpPr>
        <p:spPr>
          <a:xfrm>
            <a:off x="687441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2" name="TextBox 82"/>
          <p:cNvSpPr txBox="1"/>
          <p:nvPr/>
        </p:nvSpPr>
        <p:spPr>
          <a:xfrm>
            <a:off x="7426869" y="26065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83" name="TextBox 83"/>
          <p:cNvSpPr txBox="1"/>
          <p:nvPr/>
        </p:nvSpPr>
        <p:spPr>
          <a:xfrm>
            <a:off x="797931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4" name="TextBox 84"/>
          <p:cNvSpPr txBox="1"/>
          <p:nvPr/>
        </p:nvSpPr>
        <p:spPr>
          <a:xfrm>
            <a:off x="853176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5" name="TextBox 85"/>
          <p:cNvSpPr txBox="1"/>
          <p:nvPr/>
        </p:nvSpPr>
        <p:spPr>
          <a:xfrm>
            <a:off x="908421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6" name="TextBox 86"/>
          <p:cNvSpPr txBox="1"/>
          <p:nvPr/>
        </p:nvSpPr>
        <p:spPr>
          <a:xfrm>
            <a:off x="9636669" y="26065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87" name="TextBox 87"/>
          <p:cNvSpPr txBox="1"/>
          <p:nvPr/>
        </p:nvSpPr>
        <p:spPr>
          <a:xfrm>
            <a:off x="10124073" y="26065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88" name="Rectangle 88"/>
          <p:cNvSpPr/>
          <p:nvPr/>
        </p:nvSpPr>
        <p:spPr>
          <a:xfrm>
            <a:off x="5000625" y="2800350"/>
            <a:ext cx="266700" cy="228600"/>
          </a:xfrm>
          <a:prstGeom prst="roundRect">
            <a:avLst>
              <a:gd name="adj" fmla="val 16667"/>
            </a:avLst>
          </a:prstGeom>
          <a:solidFill>
            <a:srgbClr val="D4A574">
              <a:alpha val="15000"/>
            </a:srgbClr>
          </a:solidFill>
          <a:ln>
            <a:noFill/>
          </a:ln>
        </p:spPr>
      </p:sp>
      <p:sp>
        <p:nvSpPr>
          <p:cNvPr id="89" name="TextBox 89"/>
          <p:cNvSpPr txBox="1"/>
          <p:nvPr/>
        </p:nvSpPr>
        <p:spPr>
          <a:xfrm>
            <a:off x="5065740" y="2873216"/>
            <a:ext cx="136469" cy="167640"/>
          </a:xfrm>
          <a:prstGeom prst="rect">
            <a:avLst/>
          </a:prstGeom>
          <a:noFill/>
          <a:ln>
            <a:noFill/>
          </a:ln>
        </p:spPr>
        <p:txBody>
          <a:bodyPr wrap="none" lIns="0" tIns="0" rIns="0" bIns="0" anchor="t" anchorCtr="0">
            <a:spAutoFit/>
          </a:bodyPr>
          <a:lstStyle/>
          <a:p>
            <a:pPr algn="ctr"/>
            <a:r>
              <a:rPr lang="zh-CN" sz="825" b="1" dirty="0">
                <a:solidFill>
                  <a:srgbClr val="D4A574"/>
                </a:solidFill>
                <a:latin typeface="Arial"/>
                <a:ea typeface="Microsoft YaHei"/>
                <a:cs typeface="Arial"/>
              </a:rPr>
              <a:t>愿</a:t>
            </a:r>
          </a:p>
        </p:txBody>
      </p:sp>
      <p:sp>
        <p:nvSpPr>
          <p:cNvPr id="90" name="TextBox 90"/>
          <p:cNvSpPr txBox="1"/>
          <p:nvPr/>
        </p:nvSpPr>
        <p:spPr>
          <a:xfrm>
            <a:off x="521706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1" name="TextBox 91"/>
          <p:cNvSpPr txBox="1"/>
          <p:nvPr/>
        </p:nvSpPr>
        <p:spPr>
          <a:xfrm>
            <a:off x="576951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2" name="TextBox 92"/>
          <p:cNvSpPr txBox="1"/>
          <p:nvPr/>
        </p:nvSpPr>
        <p:spPr>
          <a:xfrm>
            <a:off x="632196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3" name="TextBox 93"/>
          <p:cNvSpPr txBox="1"/>
          <p:nvPr/>
        </p:nvSpPr>
        <p:spPr>
          <a:xfrm>
            <a:off x="687441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4" name="TextBox 94"/>
          <p:cNvSpPr txBox="1"/>
          <p:nvPr/>
        </p:nvSpPr>
        <p:spPr>
          <a:xfrm>
            <a:off x="7426869" y="28732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95" name="TextBox 95"/>
          <p:cNvSpPr txBox="1"/>
          <p:nvPr/>
        </p:nvSpPr>
        <p:spPr>
          <a:xfrm>
            <a:off x="797931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6" name="TextBox 96"/>
          <p:cNvSpPr txBox="1"/>
          <p:nvPr/>
        </p:nvSpPr>
        <p:spPr>
          <a:xfrm>
            <a:off x="853176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7" name="TextBox 97"/>
          <p:cNvSpPr txBox="1"/>
          <p:nvPr/>
        </p:nvSpPr>
        <p:spPr>
          <a:xfrm>
            <a:off x="908421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8" name="TextBox 98"/>
          <p:cNvSpPr txBox="1"/>
          <p:nvPr/>
        </p:nvSpPr>
        <p:spPr>
          <a:xfrm>
            <a:off x="9636669" y="28732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99" name="TextBox 99"/>
          <p:cNvSpPr txBox="1"/>
          <p:nvPr/>
        </p:nvSpPr>
        <p:spPr>
          <a:xfrm>
            <a:off x="10124073" y="28732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100" name="Rectangle 100"/>
          <p:cNvSpPr/>
          <p:nvPr/>
        </p:nvSpPr>
        <p:spPr>
          <a:xfrm>
            <a:off x="5000625" y="3067050"/>
            <a:ext cx="266700" cy="228600"/>
          </a:xfrm>
          <a:prstGeom prst="roundRect">
            <a:avLst>
              <a:gd name="adj" fmla="val 16667"/>
            </a:avLst>
          </a:prstGeom>
          <a:solidFill>
            <a:srgbClr val="F0EDE8"/>
          </a:solidFill>
          <a:ln>
            <a:noFill/>
          </a:ln>
        </p:spPr>
      </p:sp>
      <p:sp>
        <p:nvSpPr>
          <p:cNvPr id="101" name="TextBox 101"/>
          <p:cNvSpPr txBox="1"/>
          <p:nvPr/>
        </p:nvSpPr>
        <p:spPr>
          <a:xfrm>
            <a:off x="5065740" y="3139916"/>
            <a:ext cx="136469" cy="167640"/>
          </a:xfrm>
          <a:prstGeom prst="rect">
            <a:avLst/>
          </a:prstGeom>
          <a:noFill/>
          <a:ln>
            <a:noFill/>
          </a:ln>
        </p:spPr>
        <p:txBody>
          <a:bodyPr wrap="none" lIns="0" tIns="0" rIns="0" bIns="0" anchor="t" anchorCtr="0">
            <a:spAutoFit/>
          </a:bodyPr>
          <a:lstStyle/>
          <a:p>
            <a:pPr algn="ctr"/>
            <a:r>
              <a:rPr lang="zh-CN" sz="825" b="1" dirty="0">
                <a:solidFill>
                  <a:srgbClr val="2C2C2C"/>
                </a:solidFill>
                <a:latin typeface="Arial"/>
                <a:ea typeface="Microsoft YaHei"/>
                <a:cs typeface="Arial"/>
              </a:rPr>
              <a:t>值</a:t>
            </a:r>
          </a:p>
        </p:txBody>
      </p:sp>
      <p:sp>
        <p:nvSpPr>
          <p:cNvPr id="102" name="TextBox 102"/>
          <p:cNvSpPr txBox="1"/>
          <p:nvPr/>
        </p:nvSpPr>
        <p:spPr>
          <a:xfrm>
            <a:off x="521706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03" name="TextBox 103"/>
          <p:cNvSpPr txBox="1"/>
          <p:nvPr/>
        </p:nvSpPr>
        <p:spPr>
          <a:xfrm>
            <a:off x="576951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04" name="TextBox 104"/>
          <p:cNvSpPr txBox="1"/>
          <p:nvPr/>
        </p:nvSpPr>
        <p:spPr>
          <a:xfrm>
            <a:off x="632196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05" name="TextBox 105"/>
          <p:cNvSpPr txBox="1"/>
          <p:nvPr/>
        </p:nvSpPr>
        <p:spPr>
          <a:xfrm>
            <a:off x="687441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06" name="TextBox 106"/>
          <p:cNvSpPr txBox="1"/>
          <p:nvPr/>
        </p:nvSpPr>
        <p:spPr>
          <a:xfrm>
            <a:off x="7426869" y="31399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07" name="TextBox 107"/>
          <p:cNvSpPr txBox="1"/>
          <p:nvPr/>
        </p:nvSpPr>
        <p:spPr>
          <a:xfrm>
            <a:off x="797931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08" name="TextBox 108"/>
          <p:cNvSpPr txBox="1"/>
          <p:nvPr/>
        </p:nvSpPr>
        <p:spPr>
          <a:xfrm>
            <a:off x="853176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09" name="TextBox 109"/>
          <p:cNvSpPr txBox="1"/>
          <p:nvPr/>
        </p:nvSpPr>
        <p:spPr>
          <a:xfrm>
            <a:off x="908421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10" name="TextBox 110"/>
          <p:cNvSpPr txBox="1"/>
          <p:nvPr/>
        </p:nvSpPr>
        <p:spPr>
          <a:xfrm>
            <a:off x="9636669" y="31399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11" name="TextBox 111"/>
          <p:cNvSpPr txBox="1"/>
          <p:nvPr/>
        </p:nvSpPr>
        <p:spPr>
          <a:xfrm>
            <a:off x="10124073" y="31399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112" name="Rectangle 112"/>
          <p:cNvSpPr/>
          <p:nvPr/>
        </p:nvSpPr>
        <p:spPr>
          <a:xfrm>
            <a:off x="5000625" y="3333750"/>
            <a:ext cx="266700" cy="228600"/>
          </a:xfrm>
          <a:prstGeom prst="roundRect">
            <a:avLst>
              <a:gd name="adj" fmla="val 16667"/>
            </a:avLst>
          </a:prstGeom>
          <a:solidFill>
            <a:srgbClr val="C0392B">
              <a:alpha val="8000"/>
            </a:srgbClr>
          </a:solidFill>
          <a:ln>
            <a:noFill/>
          </a:ln>
        </p:spPr>
      </p:sp>
      <p:sp>
        <p:nvSpPr>
          <p:cNvPr id="113" name="TextBox 113"/>
          <p:cNvSpPr txBox="1"/>
          <p:nvPr/>
        </p:nvSpPr>
        <p:spPr>
          <a:xfrm>
            <a:off x="5065740" y="3406616"/>
            <a:ext cx="136469"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故</a:t>
            </a:r>
          </a:p>
        </p:txBody>
      </p:sp>
      <p:sp>
        <p:nvSpPr>
          <p:cNvPr id="114" name="TextBox 114"/>
          <p:cNvSpPr txBox="1"/>
          <p:nvPr/>
        </p:nvSpPr>
        <p:spPr>
          <a:xfrm>
            <a:off x="521706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15" name="TextBox 115"/>
          <p:cNvSpPr txBox="1"/>
          <p:nvPr/>
        </p:nvSpPr>
        <p:spPr>
          <a:xfrm>
            <a:off x="576951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16" name="TextBox 116"/>
          <p:cNvSpPr txBox="1"/>
          <p:nvPr/>
        </p:nvSpPr>
        <p:spPr>
          <a:xfrm>
            <a:off x="632196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17" name="TextBox 117"/>
          <p:cNvSpPr txBox="1"/>
          <p:nvPr/>
        </p:nvSpPr>
        <p:spPr>
          <a:xfrm>
            <a:off x="687441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18" name="TextBox 118"/>
          <p:cNvSpPr txBox="1"/>
          <p:nvPr/>
        </p:nvSpPr>
        <p:spPr>
          <a:xfrm>
            <a:off x="742686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19" name="TextBox 119"/>
          <p:cNvSpPr txBox="1"/>
          <p:nvPr/>
        </p:nvSpPr>
        <p:spPr>
          <a:xfrm>
            <a:off x="797931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20" name="TextBox 120"/>
          <p:cNvSpPr txBox="1"/>
          <p:nvPr/>
        </p:nvSpPr>
        <p:spPr>
          <a:xfrm>
            <a:off x="853176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21" name="TextBox 121"/>
          <p:cNvSpPr txBox="1"/>
          <p:nvPr/>
        </p:nvSpPr>
        <p:spPr>
          <a:xfrm>
            <a:off x="908421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22" name="TextBox 122"/>
          <p:cNvSpPr txBox="1"/>
          <p:nvPr/>
        </p:nvSpPr>
        <p:spPr>
          <a:xfrm>
            <a:off x="9636669" y="34066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23" name="TextBox 123"/>
          <p:cNvSpPr txBox="1"/>
          <p:nvPr/>
        </p:nvSpPr>
        <p:spPr>
          <a:xfrm>
            <a:off x="10124073" y="3406616"/>
            <a:ext cx="211554"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0/8</a:t>
            </a:r>
          </a:p>
        </p:txBody>
      </p:sp>
      <p:sp>
        <p:nvSpPr>
          <p:cNvPr id="124" name="Rectangle 124"/>
          <p:cNvSpPr/>
          <p:nvPr/>
        </p:nvSpPr>
        <p:spPr>
          <a:xfrm>
            <a:off x="5000625" y="3600450"/>
            <a:ext cx="266700" cy="228600"/>
          </a:xfrm>
          <a:prstGeom prst="roundRect">
            <a:avLst>
              <a:gd name="adj" fmla="val 16667"/>
            </a:avLst>
          </a:prstGeom>
          <a:solidFill>
            <a:srgbClr val="1A5276">
              <a:alpha val="12000"/>
            </a:srgbClr>
          </a:solidFill>
          <a:ln>
            <a:noFill/>
          </a:ln>
        </p:spPr>
      </p:sp>
      <p:sp>
        <p:nvSpPr>
          <p:cNvPr id="125" name="TextBox 125"/>
          <p:cNvSpPr txBox="1"/>
          <p:nvPr/>
        </p:nvSpPr>
        <p:spPr>
          <a:xfrm>
            <a:off x="5065740" y="3673316"/>
            <a:ext cx="136469" cy="167640"/>
          </a:xfrm>
          <a:prstGeom prst="rect">
            <a:avLst/>
          </a:prstGeom>
          <a:noFill/>
          <a:ln>
            <a:noFill/>
          </a:ln>
        </p:spPr>
        <p:txBody>
          <a:bodyPr wrap="none" lIns="0" tIns="0" rIns="0" bIns="0" anchor="t" anchorCtr="0">
            <a:spAutoFit/>
          </a:bodyPr>
          <a:lstStyle/>
          <a:p>
            <a:pPr algn="ctr"/>
            <a:r>
              <a:rPr lang="zh-CN" sz="825" b="1" dirty="0">
                <a:solidFill>
                  <a:srgbClr val="1A5276"/>
                </a:solidFill>
                <a:latin typeface="Arial"/>
                <a:ea typeface="Microsoft YaHei"/>
                <a:cs typeface="Arial"/>
              </a:rPr>
              <a:t>人</a:t>
            </a:r>
          </a:p>
        </p:txBody>
      </p:sp>
      <p:sp>
        <p:nvSpPr>
          <p:cNvPr id="126" name="TextBox 126"/>
          <p:cNvSpPr txBox="1"/>
          <p:nvPr/>
        </p:nvSpPr>
        <p:spPr>
          <a:xfrm>
            <a:off x="521706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27" name="TextBox 127"/>
          <p:cNvSpPr txBox="1"/>
          <p:nvPr/>
        </p:nvSpPr>
        <p:spPr>
          <a:xfrm>
            <a:off x="576951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28" name="TextBox 128"/>
          <p:cNvSpPr txBox="1"/>
          <p:nvPr/>
        </p:nvSpPr>
        <p:spPr>
          <a:xfrm>
            <a:off x="632196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29" name="TextBox 129"/>
          <p:cNvSpPr txBox="1"/>
          <p:nvPr/>
        </p:nvSpPr>
        <p:spPr>
          <a:xfrm>
            <a:off x="687441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30" name="TextBox 130"/>
          <p:cNvSpPr txBox="1"/>
          <p:nvPr/>
        </p:nvSpPr>
        <p:spPr>
          <a:xfrm>
            <a:off x="7426869" y="36733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31" name="TextBox 131"/>
          <p:cNvSpPr txBox="1"/>
          <p:nvPr/>
        </p:nvSpPr>
        <p:spPr>
          <a:xfrm>
            <a:off x="797931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32" name="TextBox 132"/>
          <p:cNvSpPr txBox="1"/>
          <p:nvPr/>
        </p:nvSpPr>
        <p:spPr>
          <a:xfrm>
            <a:off x="853176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33" name="TextBox 133"/>
          <p:cNvSpPr txBox="1"/>
          <p:nvPr/>
        </p:nvSpPr>
        <p:spPr>
          <a:xfrm>
            <a:off x="908421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34" name="TextBox 134"/>
          <p:cNvSpPr txBox="1"/>
          <p:nvPr/>
        </p:nvSpPr>
        <p:spPr>
          <a:xfrm>
            <a:off x="9636669" y="36733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35" name="TextBox 135"/>
          <p:cNvSpPr txBox="1"/>
          <p:nvPr/>
        </p:nvSpPr>
        <p:spPr>
          <a:xfrm>
            <a:off x="10124073" y="36733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136" name="Rectangle 136"/>
          <p:cNvSpPr/>
          <p:nvPr/>
        </p:nvSpPr>
        <p:spPr>
          <a:xfrm>
            <a:off x="5000625" y="3867150"/>
            <a:ext cx="266700" cy="228600"/>
          </a:xfrm>
          <a:prstGeom prst="roundRect">
            <a:avLst>
              <a:gd name="adj" fmla="val 16667"/>
            </a:avLst>
          </a:prstGeom>
          <a:solidFill>
            <a:srgbClr val="D4A574">
              <a:alpha val="15000"/>
            </a:srgbClr>
          </a:solidFill>
          <a:ln>
            <a:noFill/>
          </a:ln>
        </p:spPr>
      </p:sp>
      <p:sp>
        <p:nvSpPr>
          <p:cNvPr id="137" name="TextBox 137"/>
          <p:cNvSpPr txBox="1"/>
          <p:nvPr/>
        </p:nvSpPr>
        <p:spPr>
          <a:xfrm>
            <a:off x="5065740" y="3940016"/>
            <a:ext cx="136469" cy="167640"/>
          </a:xfrm>
          <a:prstGeom prst="rect">
            <a:avLst/>
          </a:prstGeom>
          <a:noFill/>
          <a:ln>
            <a:noFill/>
          </a:ln>
        </p:spPr>
        <p:txBody>
          <a:bodyPr wrap="none" lIns="0" tIns="0" rIns="0" bIns="0" anchor="t" anchorCtr="0">
            <a:spAutoFit/>
          </a:bodyPr>
          <a:lstStyle/>
          <a:p>
            <a:pPr algn="ctr"/>
            <a:r>
              <a:rPr lang="zh-CN" sz="825" b="1" dirty="0">
                <a:solidFill>
                  <a:srgbClr val="D4A574"/>
                </a:solidFill>
                <a:latin typeface="Arial"/>
                <a:ea typeface="Microsoft YaHei"/>
                <a:cs typeface="Arial"/>
              </a:rPr>
              <a:t>视</a:t>
            </a:r>
          </a:p>
        </p:txBody>
      </p:sp>
      <p:sp>
        <p:nvSpPr>
          <p:cNvPr id="138" name="TextBox 138"/>
          <p:cNvSpPr txBox="1"/>
          <p:nvPr/>
        </p:nvSpPr>
        <p:spPr>
          <a:xfrm>
            <a:off x="521706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39" name="TextBox 139"/>
          <p:cNvSpPr txBox="1"/>
          <p:nvPr/>
        </p:nvSpPr>
        <p:spPr>
          <a:xfrm>
            <a:off x="576951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0" name="TextBox 140"/>
          <p:cNvSpPr txBox="1"/>
          <p:nvPr/>
        </p:nvSpPr>
        <p:spPr>
          <a:xfrm>
            <a:off x="632196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1" name="TextBox 141"/>
          <p:cNvSpPr txBox="1"/>
          <p:nvPr/>
        </p:nvSpPr>
        <p:spPr>
          <a:xfrm>
            <a:off x="687441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2" name="TextBox 142"/>
          <p:cNvSpPr txBox="1"/>
          <p:nvPr/>
        </p:nvSpPr>
        <p:spPr>
          <a:xfrm>
            <a:off x="7426869" y="39400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43" name="TextBox 143"/>
          <p:cNvSpPr txBox="1"/>
          <p:nvPr/>
        </p:nvSpPr>
        <p:spPr>
          <a:xfrm>
            <a:off x="797931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4" name="TextBox 144"/>
          <p:cNvSpPr txBox="1"/>
          <p:nvPr/>
        </p:nvSpPr>
        <p:spPr>
          <a:xfrm>
            <a:off x="853176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5" name="TextBox 145"/>
          <p:cNvSpPr txBox="1"/>
          <p:nvPr/>
        </p:nvSpPr>
        <p:spPr>
          <a:xfrm>
            <a:off x="908421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6" name="TextBox 146"/>
          <p:cNvSpPr txBox="1"/>
          <p:nvPr/>
        </p:nvSpPr>
        <p:spPr>
          <a:xfrm>
            <a:off x="9636669" y="39400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47" name="TextBox 147"/>
          <p:cNvSpPr txBox="1"/>
          <p:nvPr/>
        </p:nvSpPr>
        <p:spPr>
          <a:xfrm>
            <a:off x="10124073" y="39400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148" name="Rectangle 148"/>
          <p:cNvSpPr/>
          <p:nvPr/>
        </p:nvSpPr>
        <p:spPr>
          <a:xfrm>
            <a:off x="5000625" y="4133850"/>
            <a:ext cx="266700" cy="228600"/>
          </a:xfrm>
          <a:prstGeom prst="roundRect">
            <a:avLst>
              <a:gd name="adj" fmla="val 16667"/>
            </a:avLst>
          </a:prstGeom>
          <a:solidFill>
            <a:srgbClr val="E67E22">
              <a:alpha val="12000"/>
            </a:srgbClr>
          </a:solidFill>
          <a:ln>
            <a:noFill/>
          </a:ln>
        </p:spPr>
      </p:sp>
      <p:sp>
        <p:nvSpPr>
          <p:cNvPr id="149" name="TextBox 149"/>
          <p:cNvSpPr txBox="1"/>
          <p:nvPr/>
        </p:nvSpPr>
        <p:spPr>
          <a:xfrm>
            <a:off x="5065740" y="4206716"/>
            <a:ext cx="136469"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语</a:t>
            </a:r>
          </a:p>
        </p:txBody>
      </p:sp>
      <p:sp>
        <p:nvSpPr>
          <p:cNvPr id="150" name="TextBox 150"/>
          <p:cNvSpPr txBox="1"/>
          <p:nvPr/>
        </p:nvSpPr>
        <p:spPr>
          <a:xfrm>
            <a:off x="521706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1" name="TextBox 151"/>
          <p:cNvSpPr txBox="1"/>
          <p:nvPr/>
        </p:nvSpPr>
        <p:spPr>
          <a:xfrm>
            <a:off x="576951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2" name="TextBox 152"/>
          <p:cNvSpPr txBox="1"/>
          <p:nvPr/>
        </p:nvSpPr>
        <p:spPr>
          <a:xfrm>
            <a:off x="632196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3" name="TextBox 153"/>
          <p:cNvSpPr txBox="1"/>
          <p:nvPr/>
        </p:nvSpPr>
        <p:spPr>
          <a:xfrm>
            <a:off x="687441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4" name="TextBox 154"/>
          <p:cNvSpPr txBox="1"/>
          <p:nvPr/>
        </p:nvSpPr>
        <p:spPr>
          <a:xfrm>
            <a:off x="7426869" y="42067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55" name="TextBox 155"/>
          <p:cNvSpPr txBox="1"/>
          <p:nvPr/>
        </p:nvSpPr>
        <p:spPr>
          <a:xfrm>
            <a:off x="797931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6" name="TextBox 156"/>
          <p:cNvSpPr txBox="1"/>
          <p:nvPr/>
        </p:nvSpPr>
        <p:spPr>
          <a:xfrm>
            <a:off x="853176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7" name="TextBox 157"/>
          <p:cNvSpPr txBox="1"/>
          <p:nvPr/>
        </p:nvSpPr>
        <p:spPr>
          <a:xfrm>
            <a:off x="908421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8" name="TextBox 158"/>
          <p:cNvSpPr txBox="1"/>
          <p:nvPr/>
        </p:nvSpPr>
        <p:spPr>
          <a:xfrm>
            <a:off x="9636669" y="42067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59" name="TextBox 159"/>
          <p:cNvSpPr txBox="1"/>
          <p:nvPr/>
        </p:nvSpPr>
        <p:spPr>
          <a:xfrm>
            <a:off x="10124073" y="42067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160" name="Rectangle 160"/>
          <p:cNvSpPr/>
          <p:nvPr/>
        </p:nvSpPr>
        <p:spPr>
          <a:xfrm>
            <a:off x="5000625" y="4400550"/>
            <a:ext cx="266700" cy="228600"/>
          </a:xfrm>
          <a:prstGeom prst="roundRect">
            <a:avLst>
              <a:gd name="adj" fmla="val 16667"/>
            </a:avLst>
          </a:prstGeom>
          <a:solidFill>
            <a:srgbClr val="1A5276">
              <a:alpha val="12000"/>
            </a:srgbClr>
          </a:solidFill>
          <a:ln>
            <a:noFill/>
          </a:ln>
        </p:spPr>
      </p:sp>
      <p:sp>
        <p:nvSpPr>
          <p:cNvPr id="161" name="TextBox 161"/>
          <p:cNvSpPr txBox="1"/>
          <p:nvPr/>
        </p:nvSpPr>
        <p:spPr>
          <a:xfrm>
            <a:off x="5065740" y="4473416"/>
            <a:ext cx="136469" cy="167640"/>
          </a:xfrm>
          <a:prstGeom prst="rect">
            <a:avLst/>
          </a:prstGeom>
          <a:noFill/>
          <a:ln>
            <a:noFill/>
          </a:ln>
        </p:spPr>
        <p:txBody>
          <a:bodyPr wrap="none" lIns="0" tIns="0" rIns="0" bIns="0" anchor="t" anchorCtr="0">
            <a:spAutoFit/>
          </a:bodyPr>
          <a:lstStyle/>
          <a:p>
            <a:pPr algn="ctr"/>
            <a:r>
              <a:rPr lang="zh-CN" sz="825" b="1" dirty="0">
                <a:solidFill>
                  <a:srgbClr val="1A5276"/>
                </a:solidFill>
                <a:latin typeface="Arial"/>
                <a:ea typeface="Microsoft YaHei"/>
                <a:cs typeface="Arial"/>
              </a:rPr>
              <a:t>名</a:t>
            </a:r>
          </a:p>
        </p:txBody>
      </p:sp>
      <p:sp>
        <p:nvSpPr>
          <p:cNvPr id="162" name="TextBox 162"/>
          <p:cNvSpPr txBox="1"/>
          <p:nvPr/>
        </p:nvSpPr>
        <p:spPr>
          <a:xfrm>
            <a:off x="521706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63" name="TextBox 163"/>
          <p:cNvSpPr txBox="1"/>
          <p:nvPr/>
        </p:nvSpPr>
        <p:spPr>
          <a:xfrm>
            <a:off x="576951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64" name="TextBox 164"/>
          <p:cNvSpPr txBox="1"/>
          <p:nvPr/>
        </p:nvSpPr>
        <p:spPr>
          <a:xfrm>
            <a:off x="632196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65" name="TextBox 165"/>
          <p:cNvSpPr txBox="1"/>
          <p:nvPr/>
        </p:nvSpPr>
        <p:spPr>
          <a:xfrm>
            <a:off x="687441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66" name="TextBox 166"/>
          <p:cNvSpPr txBox="1"/>
          <p:nvPr/>
        </p:nvSpPr>
        <p:spPr>
          <a:xfrm>
            <a:off x="7426869" y="4473416"/>
            <a:ext cx="81463"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a:t>
            </a:r>
          </a:p>
        </p:txBody>
      </p:sp>
      <p:sp>
        <p:nvSpPr>
          <p:cNvPr id="167" name="TextBox 167"/>
          <p:cNvSpPr txBox="1"/>
          <p:nvPr/>
        </p:nvSpPr>
        <p:spPr>
          <a:xfrm>
            <a:off x="797931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68" name="TextBox 168"/>
          <p:cNvSpPr txBox="1"/>
          <p:nvPr/>
        </p:nvSpPr>
        <p:spPr>
          <a:xfrm>
            <a:off x="853176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69" name="TextBox 169"/>
          <p:cNvSpPr txBox="1"/>
          <p:nvPr/>
        </p:nvSpPr>
        <p:spPr>
          <a:xfrm>
            <a:off x="908421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70" name="TextBox 170"/>
          <p:cNvSpPr txBox="1"/>
          <p:nvPr/>
        </p:nvSpPr>
        <p:spPr>
          <a:xfrm>
            <a:off x="9636669" y="4473416"/>
            <a:ext cx="81463"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a:t>
            </a:r>
          </a:p>
        </p:txBody>
      </p:sp>
      <p:sp>
        <p:nvSpPr>
          <p:cNvPr id="171" name="TextBox 171"/>
          <p:cNvSpPr txBox="1"/>
          <p:nvPr/>
        </p:nvSpPr>
        <p:spPr>
          <a:xfrm>
            <a:off x="10124073" y="4473416"/>
            <a:ext cx="211554"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7/8</a:t>
            </a:r>
          </a:p>
        </p:txBody>
      </p:sp>
      <p:sp>
        <p:nvSpPr>
          <p:cNvPr id="172" name="Rectangle 172"/>
          <p:cNvSpPr/>
          <p:nvPr/>
        </p:nvSpPr>
        <p:spPr>
          <a:xfrm>
            <a:off x="5000625" y="4762500"/>
            <a:ext cx="1619250" cy="523875"/>
          </a:xfrm>
          <a:prstGeom prst="roundRect">
            <a:avLst>
              <a:gd name="adj" fmla="val 18182"/>
            </a:avLst>
          </a:prstGeom>
          <a:solidFill>
            <a:srgbClr val="F0EDE8"/>
          </a:solidFill>
          <a:ln>
            <a:noFill/>
          </a:ln>
        </p:spPr>
      </p:sp>
      <p:sp>
        <p:nvSpPr>
          <p:cNvPr id="173" name="TextBox 173"/>
          <p:cNvSpPr txBox="1"/>
          <p:nvPr/>
        </p:nvSpPr>
        <p:spPr>
          <a:xfrm>
            <a:off x="5084445" y="4855845"/>
            <a:ext cx="1054989" cy="182880"/>
          </a:xfrm>
          <a:prstGeom prst="rect">
            <a:avLst/>
          </a:prstGeom>
          <a:noFill/>
          <a:ln>
            <a:noFill/>
          </a:ln>
        </p:spPr>
        <p:txBody>
          <a:bodyPr wrap="none" lIns="0" tIns="0" rIns="0" bIns="0" anchor="t" anchorCtr="0">
            <a:spAutoFit/>
          </a:bodyPr>
          <a:lstStyle/>
          <a:p>
            <a:pPr algn="l"/>
            <a:r>
              <a:rPr lang="zh-CN" sz="900" dirty="0">
                <a:solidFill>
                  <a:srgbClr val="1E8449"/>
                </a:solidFill>
                <a:latin typeface="Arial"/>
                <a:ea typeface="Microsoft YaHei"/>
                <a:cs typeface="Arial"/>
              </a:rPr>
              <a:t>✅ 一致（56/72格）</a:t>
            </a:r>
          </a:p>
        </p:txBody>
      </p:sp>
      <p:sp>
        <p:nvSpPr>
          <p:cNvPr id="174" name="TextBox 174"/>
          <p:cNvSpPr txBox="1"/>
          <p:nvPr/>
        </p:nvSpPr>
        <p:spPr>
          <a:xfrm>
            <a:off x="5084445" y="5027295"/>
            <a:ext cx="1523048"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 待确认（16格·故事交叉）</a:t>
            </a:r>
          </a:p>
        </p:txBody>
      </p:sp>
      <p:sp>
        <p:nvSpPr>
          <p:cNvPr id="175" name="TextBox 175"/>
          <p:cNvSpPr txBox="1"/>
          <p:nvPr/>
        </p:nvSpPr>
        <p:spPr>
          <a:xfrm>
            <a:off x="5084445" y="5179695"/>
            <a:ext cx="964978"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 未发现不一致格</a:t>
            </a:r>
          </a:p>
        </p:txBody>
      </p:sp>
      <p:sp>
        <p:nvSpPr>
          <p:cNvPr id="176" name="Rectangle 176"/>
          <p:cNvSpPr/>
          <p:nvPr/>
        </p:nvSpPr>
        <p:spPr>
          <a:xfrm>
            <a:off x="6810375" y="4762500"/>
            <a:ext cx="4667250" cy="523875"/>
          </a:xfrm>
          <a:prstGeom prst="roundRect">
            <a:avLst>
              <a:gd name="adj" fmla="val 18182"/>
            </a:avLst>
          </a:prstGeom>
          <a:solidFill>
            <a:srgbClr val="C0392B">
              <a:alpha val="5000"/>
            </a:srgbClr>
          </a:solidFill>
          <a:ln>
            <a:noFill/>
          </a:ln>
        </p:spPr>
      </p:sp>
      <p:sp>
        <p:nvSpPr>
          <p:cNvPr id="177" name="Rectangle 177"/>
          <p:cNvSpPr/>
          <p:nvPr/>
        </p:nvSpPr>
        <p:spPr>
          <a:xfrm>
            <a:off x="6810375" y="4762500"/>
            <a:ext cx="4667250" cy="523875"/>
          </a:xfrm>
          <a:prstGeom prst="roundRect">
            <a:avLst>
              <a:gd name="adj" fmla="val 18182"/>
            </a:avLst>
          </a:prstGeom>
          <a:noFill/>
          <a:ln w="4762">
            <a:solidFill>
              <a:srgbClr val="C0392B"/>
            </a:solidFill>
          </a:ln>
        </p:spPr>
      </p:sp>
      <p:sp>
        <p:nvSpPr>
          <p:cNvPr id="178" name="TextBox 178"/>
          <p:cNvSpPr txBox="1"/>
          <p:nvPr/>
        </p:nvSpPr>
        <p:spPr>
          <a:xfrm>
            <a:off x="6987540" y="4858702"/>
            <a:ext cx="1349835" cy="213360"/>
          </a:xfrm>
          <a:prstGeom prst="rect">
            <a:avLst/>
          </a:prstGeom>
          <a:noFill/>
          <a:ln>
            <a:noFill/>
          </a:ln>
        </p:spPr>
        <p:txBody>
          <a:bodyPr wrap="none" lIns="0" tIns="0" rIns="0" bIns="0" anchor="t" anchorCtr="0">
            <a:spAutoFit/>
          </a:bodyPr>
          <a:lstStyle/>
          <a:p>
            <a:pPr algn="l"/>
            <a:r>
              <a:rPr lang="zh-CN" sz="1050" b="1" dirty="0">
                <a:solidFill>
                  <a:srgbClr val="C0392B"/>
                </a:solidFill>
                <a:latin typeface="Arial"/>
                <a:ea typeface="Microsoft YaHei"/>
                <a:cs typeface="Arial"/>
              </a:rPr>
              <a:t>唯一缺口：品牌故事</a:t>
            </a:r>
          </a:p>
        </p:txBody>
      </p:sp>
      <p:sp>
        <p:nvSpPr>
          <p:cNvPr id="179" name="TextBox 179"/>
          <p:cNvSpPr txBox="1"/>
          <p:nvPr/>
        </p:nvSpPr>
        <p:spPr>
          <a:xfrm>
            <a:off x="6988492" y="5066824"/>
            <a:ext cx="575848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标记「待创始人确认」——这是润色缺口（品牌故事尚未定稿），非结构性矛盾（定位与命名不一致）</a:t>
            </a:r>
          </a:p>
        </p:txBody>
      </p:sp>
      <p:sp>
        <p:nvSpPr>
          <p:cNvPr id="180" name="Rectangle 180"/>
          <p:cNvSpPr/>
          <p:nvPr/>
        </p:nvSpPr>
        <p:spPr>
          <a:xfrm>
            <a:off x="5000625" y="5381625"/>
            <a:ext cx="6477000" cy="619125"/>
          </a:xfrm>
          <a:prstGeom prst="roundRect">
            <a:avLst>
              <a:gd name="adj" fmla="val 15385"/>
            </a:avLst>
          </a:prstGeom>
          <a:solidFill>
            <a:srgbClr val="1E8449">
              <a:alpha val="6000"/>
            </a:srgbClr>
          </a:solidFill>
          <a:ln>
            <a:noFill/>
          </a:ln>
        </p:spPr>
      </p:sp>
      <p:sp>
        <p:nvSpPr>
          <p:cNvPr id="181" name="Rectangle 181"/>
          <p:cNvSpPr/>
          <p:nvPr/>
        </p:nvSpPr>
        <p:spPr>
          <a:xfrm>
            <a:off x="5000625" y="5381625"/>
            <a:ext cx="6477000" cy="619125"/>
          </a:xfrm>
          <a:prstGeom prst="roundRect">
            <a:avLst>
              <a:gd name="adj" fmla="val 15385"/>
            </a:avLst>
          </a:prstGeom>
          <a:noFill/>
          <a:ln w="4762">
            <a:solidFill>
              <a:srgbClr val="1E8449"/>
            </a:solidFill>
          </a:ln>
        </p:spPr>
      </p:sp>
      <p:sp>
        <p:nvSpPr>
          <p:cNvPr id="182" name="TextBox 182"/>
          <p:cNvSpPr txBox="1"/>
          <p:nvPr/>
        </p:nvSpPr>
        <p:spPr>
          <a:xfrm>
            <a:off x="4666040" y="5509260"/>
            <a:ext cx="7146169" cy="243840"/>
          </a:xfrm>
          <a:prstGeom prst="rect">
            <a:avLst/>
          </a:prstGeom>
          <a:noFill/>
          <a:ln>
            <a:noFill/>
          </a:ln>
        </p:spPr>
        <p:txBody>
          <a:bodyPr wrap="none" lIns="0" tIns="0" rIns="0" bIns="0" anchor="t" anchorCtr="0">
            <a:spAutoFit/>
          </a:bodyPr>
          <a:lstStyle/>
          <a:p>
            <a:pPr algn="ctr"/>
            <a:r>
              <a:rPr lang="zh-CN" sz="1200" b="1" dirty="0">
                <a:solidFill>
                  <a:srgbClr val="1E8449"/>
                </a:solidFill>
                <a:latin typeface="Arial"/>
                <a:ea typeface="Microsoft YaHei"/>
                <a:cs typeface="Arial"/>
              </a:rPr>
              <a:t>✅ 一致性检验结果：56/72格通过（77.8%）——排除故事行（8格），实质一致性 56/64 = 87.5%</a:t>
            </a:r>
          </a:p>
        </p:txBody>
      </p:sp>
      <p:sp>
        <p:nvSpPr>
          <p:cNvPr id="183" name="TextBox 183"/>
          <p:cNvSpPr txBox="1"/>
          <p:nvPr/>
        </p:nvSpPr>
        <p:spPr>
          <a:xfrm>
            <a:off x="6757559" y="5762149"/>
            <a:ext cx="2963132"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品牌故事定稿后——全部72格一致性检验可升至100%</a:t>
            </a:r>
          </a:p>
        </p:txBody>
      </p:sp>
      <p:sp>
        <p:nvSpPr>
          <p:cNvPr id="184" name="TextBox 184"/>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185" name="TextBox 185"/>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19</a:t>
            </a:r>
          </a:p>
        </p:txBody>
      </p:sp>
      <p:sp>
        <p:nvSpPr>
          <p:cNvPr id="186" name="TextBox 186"/>
          <p:cNvSpPr txBox="1"/>
          <p:nvPr/>
        </p:nvSpPr>
        <p:spPr>
          <a:xfrm>
            <a:off x="10729912" y="6483191"/>
            <a:ext cx="901065" cy="167640"/>
          </a:xfrm>
          <a:prstGeom prst="rect">
            <a:avLst/>
          </a:prstGeom>
          <a:noFill/>
          <a:ln>
            <a:noFill/>
          </a:ln>
        </p:spPr>
        <p:txBody>
          <a:bodyPr wrap="none" lIns="0" tIns="0" rIns="0" bIns="0" anchor="t" anchorCtr="0">
            <a:spAutoFit/>
          </a:bodyPr>
          <a:lstStyle/>
          <a:p>
            <a:pPr algn="r"/>
            <a:r>
              <a:rPr lang="zh-CN" sz="825" dirty="0">
                <a:solidFill>
                  <a:srgbClr val="A0A0A0"/>
                </a:solidFill>
                <a:latin typeface="Arial"/>
                <a:ea typeface="Microsoft YaHei"/>
                <a:cs typeface="Arial"/>
              </a:rPr>
              <a:t>品牌价值体系全景</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4762500" cy="6858000"/>
          </a:xfrm>
          <a:prstGeom prst="rect">
            <a:avLst/>
          </a:prstGeom>
          <a:gradFill>
            <a:gsLst>
              <a:gs pos="0">
                <a:srgbClr val="E67E22">
                  <a:alpha val="12000"/>
                </a:srgbClr>
              </a:gs>
              <a:gs pos="100000">
                <a:srgbClr val="FAFAF5">
                  <a:alpha val="0"/>
                </a:srgbClr>
              </a:gs>
            </a:gsLst>
            <a:lin ang="0" scaled="1"/>
          </a:gradFill>
          <a:ln>
            <a:noFill/>
          </a:ln>
        </p:spPr>
      </p:sp>
      <p:grpSp>
        <p:nvGrpSpPr>
          <p:cNvPr id="5" name="Group 5"/>
          <p:cNvGrpSpPr/>
          <p:nvPr/>
        </p:nvGrpSpPr>
        <p:grpSpPr>
          <a:xfrm>
            <a:off x="861060" y="1889760"/>
            <a:ext cx="485318" cy="1463040"/>
            <a:chOff x="861060" y="1889760"/>
            <a:chExt cx="485318" cy="1463040"/>
          </a:xfrm>
        </p:grpSpPr>
        <p:sp>
          <p:nvSpPr>
            <p:cNvPr id="4" name="TextBox 4"/>
            <p:cNvSpPr txBox="1"/>
            <p:nvPr/>
          </p:nvSpPr>
          <p:spPr>
            <a:xfrm>
              <a:off x="861060" y="1889760"/>
              <a:ext cx="485318" cy="1463040"/>
            </a:xfrm>
            <a:prstGeom prst="rect">
              <a:avLst/>
            </a:prstGeom>
            <a:noFill/>
            <a:ln>
              <a:noFill/>
            </a:ln>
          </p:spPr>
          <p:txBody>
            <a:bodyPr wrap="none" lIns="0" tIns="0" rIns="0" bIns="0" anchor="t" anchorCtr="0">
              <a:spAutoFit/>
            </a:bodyPr>
            <a:lstStyle/>
            <a:p>
              <a:pPr algn="l"/>
              <a:r>
                <a:rPr lang="zh-CN" sz="7200" b="1" dirty="0">
                  <a:solidFill>
                    <a:srgbClr val="E67E22">
                      <a:alphaMod val="30000"/>
                    </a:srgbClr>
                  </a:solidFill>
                  <a:latin typeface="Georgia"/>
                  <a:ea typeface="KaiTi"/>
                  <a:cs typeface="Georgia"/>
                </a:rPr>
                <a:t>I</a:t>
              </a:r>
            </a:p>
          </p:txBody>
        </p:sp>
      </p:grpSp>
      <p:grpSp>
        <p:nvGrpSpPr>
          <p:cNvPr id="8" name="Group 8"/>
          <p:cNvGrpSpPr/>
          <p:nvPr/>
        </p:nvGrpSpPr>
        <p:grpSpPr>
          <a:xfrm>
            <a:off x="906780" y="3230880"/>
            <a:ext cx="2107692" cy="1022032"/>
            <a:chOff x="906780" y="3230880"/>
            <a:chExt cx="2107692" cy="1022032"/>
          </a:xfrm>
        </p:grpSpPr>
        <p:sp>
          <p:nvSpPr>
            <p:cNvPr id="6" name="TextBox 6"/>
            <p:cNvSpPr txBox="1"/>
            <p:nvPr/>
          </p:nvSpPr>
          <p:spPr>
            <a:xfrm>
              <a:off x="906780" y="3230880"/>
              <a:ext cx="2107692" cy="731520"/>
            </a:xfrm>
            <a:prstGeom prst="rect">
              <a:avLst/>
            </a:prstGeom>
            <a:noFill/>
            <a:ln>
              <a:noFill/>
            </a:ln>
          </p:spPr>
          <p:txBody>
            <a:bodyPr wrap="none" lIns="0" tIns="0" rIns="0" bIns="0" anchor="t" anchorCtr="0">
              <a:spAutoFit/>
            </a:bodyPr>
            <a:lstStyle/>
            <a:p>
              <a:pPr algn="l"/>
              <a:r>
                <a:rPr lang="zh-CN" sz="3600" b="1" dirty="0">
                  <a:solidFill>
                    <a:srgbClr val="2C2C2C"/>
                  </a:solidFill>
                  <a:latin typeface="Georgia"/>
                  <a:ea typeface="KaiTi"/>
                  <a:cs typeface="Georgia"/>
                </a:rPr>
                <a:t>战略定位</a:t>
              </a:r>
            </a:p>
          </p:txBody>
        </p:sp>
        <p:sp>
          <p:nvSpPr>
            <p:cNvPr id="7" name="TextBox 7"/>
            <p:cNvSpPr txBox="1"/>
            <p:nvPr/>
          </p:nvSpPr>
          <p:spPr>
            <a:xfrm>
              <a:off x="931545" y="3917632"/>
              <a:ext cx="701992" cy="335280"/>
            </a:xfrm>
            <a:prstGeom prst="rect">
              <a:avLst/>
            </a:prstGeom>
            <a:noFill/>
            <a:ln>
              <a:noFill/>
            </a:ln>
          </p:spPr>
          <p:txBody>
            <a:bodyPr wrap="none" lIns="0" tIns="0" rIns="0" bIns="0" anchor="t" anchorCtr="0">
              <a:spAutoFit/>
            </a:bodyPr>
            <a:lstStyle/>
            <a:p>
              <a:pPr algn="l"/>
              <a:r>
                <a:rPr lang="zh-CN" sz="1650" dirty="0">
                  <a:solidFill>
                    <a:srgbClr val="7F8C8D"/>
                  </a:solidFill>
                  <a:latin typeface="Arial"/>
                  <a:ea typeface="Microsoft YaHei"/>
                  <a:cs typeface="Arial"/>
                </a:rPr>
                <a:t>我是谁</a:t>
              </a:r>
            </a:p>
          </p:txBody>
        </p:sp>
      </p:grpSp>
      <p:grpSp>
        <p:nvGrpSpPr>
          <p:cNvPr id="12" name="Group 12"/>
          <p:cNvGrpSpPr/>
          <p:nvPr/>
        </p:nvGrpSpPr>
        <p:grpSpPr>
          <a:xfrm>
            <a:off x="6172200" y="1783556"/>
            <a:ext cx="5188744" cy="1073944"/>
            <a:chOff x="6172200" y="1783556"/>
            <a:chExt cx="5188744" cy="1073944"/>
          </a:xfrm>
        </p:grpSpPr>
        <p:sp>
          <p:nvSpPr>
            <p:cNvPr id="9" name="TextBox 9"/>
            <p:cNvSpPr txBox="1"/>
            <p:nvPr/>
          </p:nvSpPr>
          <p:spPr>
            <a:xfrm>
              <a:off x="6176962" y="17835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本卷内容</a:t>
              </a:r>
            </a:p>
          </p:txBody>
        </p:sp>
        <p:sp>
          <p:nvSpPr>
            <p:cNvPr id="10" name="TextBox 10"/>
            <p:cNvSpPr txBox="1"/>
            <p:nvPr/>
          </p:nvSpPr>
          <p:spPr>
            <a:xfrm>
              <a:off x="6172200" y="2219325"/>
              <a:ext cx="4788694"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执行摘要 · 生态位 · 四层定位 · 使命 · 愿景 · 价值观</a:t>
              </a:r>
            </a:p>
          </p:txBody>
        </p:sp>
        <p:sp>
          <p:nvSpPr>
            <p:cNvPr id="11" name="TextBox 11"/>
            <p:cNvSpPr txBox="1"/>
            <p:nvPr/>
          </p:nvSpPr>
          <p:spPr>
            <a:xfrm>
              <a:off x="6172200" y="2552700"/>
              <a:ext cx="5188744"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品牌人格 · 故事 · 视觉方向 · 广告语 · 命名 · 一致性检验</a:t>
              </a:r>
            </a:p>
          </p:txBody>
        </p:sp>
      </p:grpSp>
      <p:sp>
        <p:nvSpPr>
          <p:cNvPr id="13" name="TextBox 13"/>
          <p:cNvSpPr txBox="1"/>
          <p:nvPr/>
        </p:nvSpPr>
        <p:spPr>
          <a:xfrm>
            <a:off x="560070" y="6522720"/>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14" name="TextBox 14"/>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20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400"/>
                                        <p:tgtEl>
                                          <p:spTgt spid="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imag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4762500" cy="6858000"/>
          </a:xfrm>
          <a:prstGeom prst="rect">
            <a:avLst/>
          </a:prstGeom>
          <a:gradFill>
            <a:gsLst>
              <a:gs pos="0">
                <a:srgbClr val="E67E22">
                  <a:alpha val="12000"/>
                </a:srgbClr>
              </a:gs>
              <a:gs pos="100000">
                <a:srgbClr val="FAFAF5">
                  <a:alpha val="0"/>
                </a:srgbClr>
              </a:gs>
            </a:gsLst>
            <a:lin ang="0" scaled="1"/>
          </a:gradFill>
          <a:ln>
            <a:noFill/>
          </a:ln>
        </p:spPr>
      </p:sp>
      <p:sp>
        <p:nvSpPr>
          <p:cNvPr id="4" name="TextBox 4"/>
          <p:cNvSpPr txBox="1"/>
          <p:nvPr/>
        </p:nvSpPr>
        <p:spPr>
          <a:xfrm>
            <a:off x="861060" y="1889760"/>
            <a:ext cx="787756" cy="1463040"/>
          </a:xfrm>
          <a:prstGeom prst="rect">
            <a:avLst/>
          </a:prstGeom>
          <a:noFill/>
          <a:ln>
            <a:noFill/>
          </a:ln>
        </p:spPr>
        <p:txBody>
          <a:bodyPr wrap="none" lIns="0" tIns="0" rIns="0" bIns="0" anchor="t" anchorCtr="0">
            <a:spAutoFit/>
          </a:bodyPr>
          <a:lstStyle/>
          <a:p>
            <a:pPr algn="l"/>
            <a:r>
              <a:rPr lang="zh-CN" sz="7200" b="1" dirty="0">
                <a:solidFill>
                  <a:srgbClr val="E67E22">
                    <a:alphaMod val="30000"/>
                  </a:srgbClr>
                </a:solidFill>
                <a:latin typeface="Georgia"/>
                <a:ea typeface="KaiTi"/>
                <a:cs typeface="Georgia"/>
              </a:rPr>
              <a:t>II</a:t>
            </a:r>
          </a:p>
        </p:txBody>
      </p:sp>
      <p:sp>
        <p:nvSpPr>
          <p:cNvPr id="5" name="TextBox 5"/>
          <p:cNvSpPr txBox="1"/>
          <p:nvPr/>
        </p:nvSpPr>
        <p:spPr>
          <a:xfrm>
            <a:off x="906780" y="3230880"/>
            <a:ext cx="2107692" cy="731520"/>
          </a:xfrm>
          <a:prstGeom prst="rect">
            <a:avLst/>
          </a:prstGeom>
          <a:noFill/>
          <a:ln>
            <a:noFill/>
          </a:ln>
        </p:spPr>
        <p:txBody>
          <a:bodyPr wrap="none" lIns="0" tIns="0" rIns="0" bIns="0" anchor="t" anchorCtr="0">
            <a:spAutoFit/>
          </a:bodyPr>
          <a:lstStyle/>
          <a:p>
            <a:pPr algn="l"/>
            <a:r>
              <a:rPr lang="zh-CN" sz="3600" b="1" dirty="0">
                <a:solidFill>
                  <a:srgbClr val="2C2C2C"/>
                </a:solidFill>
                <a:latin typeface="Georgia"/>
                <a:ea typeface="KaiTi"/>
                <a:cs typeface="Georgia"/>
              </a:rPr>
              <a:t>商业模型</a:t>
            </a:r>
          </a:p>
        </p:txBody>
      </p:sp>
      <p:sp>
        <p:nvSpPr>
          <p:cNvPr id="6" name="TextBox 6"/>
          <p:cNvSpPr txBox="1"/>
          <p:nvPr/>
        </p:nvSpPr>
        <p:spPr>
          <a:xfrm>
            <a:off x="931545" y="3917632"/>
            <a:ext cx="1142048" cy="335280"/>
          </a:xfrm>
          <a:prstGeom prst="rect">
            <a:avLst/>
          </a:prstGeom>
          <a:noFill/>
          <a:ln>
            <a:noFill/>
          </a:ln>
        </p:spPr>
        <p:txBody>
          <a:bodyPr wrap="none" lIns="0" tIns="0" rIns="0" bIns="0" anchor="t" anchorCtr="0">
            <a:spAutoFit/>
          </a:bodyPr>
          <a:lstStyle/>
          <a:p>
            <a:pPr algn="l"/>
            <a:r>
              <a:rPr lang="zh-CN" sz="1650" dirty="0">
                <a:solidFill>
                  <a:srgbClr val="7F8C8D"/>
                </a:solidFill>
                <a:latin typeface="Arial"/>
                <a:ea typeface="Microsoft YaHei"/>
                <a:cs typeface="Arial"/>
              </a:rPr>
              <a:t>我怎么运转</a:t>
            </a:r>
          </a:p>
        </p:txBody>
      </p:sp>
      <p:sp>
        <p:nvSpPr>
          <p:cNvPr id="7" name="TextBox 7"/>
          <p:cNvSpPr txBox="1"/>
          <p:nvPr/>
        </p:nvSpPr>
        <p:spPr>
          <a:xfrm>
            <a:off x="6176962" y="17835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本卷内容</a:t>
            </a:r>
          </a:p>
        </p:txBody>
      </p:sp>
      <p:sp>
        <p:nvSpPr>
          <p:cNvPr id="8" name="TextBox 8"/>
          <p:cNvSpPr txBox="1"/>
          <p:nvPr/>
        </p:nvSpPr>
        <p:spPr>
          <a:xfrm>
            <a:off x="6172200" y="2219325"/>
            <a:ext cx="4568666"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两大体系 · V3.2结算模型 · 三业态分账 · 三元营销</a:t>
            </a:r>
          </a:p>
        </p:txBody>
      </p:sp>
      <p:sp>
        <p:nvSpPr>
          <p:cNvPr id="9" name="TextBox 9"/>
          <p:cNvSpPr txBox="1"/>
          <p:nvPr/>
        </p:nvSpPr>
        <p:spPr>
          <a:xfrm>
            <a:off x="6172200" y="2552700"/>
            <a:ext cx="3928586"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盈亏平衡 · 千面千店 · 三级管理 · 关键数字</a:t>
            </a:r>
          </a:p>
        </p:txBody>
      </p:sp>
      <p:sp>
        <p:nvSpPr>
          <p:cNvPr id="10" name="Rectangle 10"/>
          <p:cNvSpPr/>
          <p:nvPr/>
        </p:nvSpPr>
        <p:spPr>
          <a:xfrm>
            <a:off x="5715000" y="4000500"/>
            <a:ext cx="5905500" cy="571500"/>
          </a:xfrm>
          <a:prstGeom prst="roundRect">
            <a:avLst>
              <a:gd name="adj" fmla="val 23333"/>
            </a:avLst>
          </a:prstGeom>
          <a:solidFill>
            <a:srgbClr val="FFFFFF"/>
          </a:solidFill>
          <a:ln w="9525">
            <a:solidFill>
              <a:srgbClr val="F0EDE8"/>
            </a:solidFill>
          </a:ln>
        </p:spPr>
      </p:sp>
      <p:sp>
        <p:nvSpPr>
          <p:cNvPr id="11" name="TextBox 11"/>
          <p:cNvSpPr txBox="1"/>
          <p:nvPr/>
        </p:nvSpPr>
        <p:spPr>
          <a:xfrm>
            <a:off x="5914263" y="4216718"/>
            <a:ext cx="5506974" cy="274320"/>
          </a:xfrm>
          <a:prstGeom prst="rect">
            <a:avLst/>
          </a:prstGeom>
          <a:noFill/>
          <a:ln>
            <a:noFill/>
          </a:ln>
        </p:spPr>
        <p:txBody>
          <a:bodyPr wrap="none" lIns="0" tIns="0" rIns="0" bIns="0" anchor="t" anchorCtr="0">
            <a:spAutoFit/>
          </a:bodyPr>
          <a:lstStyle/>
          <a:p>
            <a:pPr algn="ctr"/>
            <a:r>
              <a:rPr lang="zh-CN" sz="1350" dirty="0">
                <a:solidFill>
                  <a:srgbClr val="1A5276"/>
                </a:solidFill>
                <a:latin typeface="Arial"/>
                <a:ea typeface="Microsoft YaHei"/>
                <a:cs typeface="Arial"/>
              </a:rPr>
              <a:t>核心原则：交易即服务费结算——零固定费用 · 零预充值 · 零资金占用</a:t>
            </a:r>
          </a:p>
        </p:txBody>
      </p:sp>
      <p:sp>
        <p:nvSpPr>
          <p:cNvPr id="12" name="TextBox 12"/>
          <p:cNvSpPr txBox="1"/>
          <p:nvPr/>
        </p:nvSpPr>
        <p:spPr>
          <a:xfrm>
            <a:off x="560070" y="6522720"/>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13" name="TextBox 13"/>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75335" y="470535"/>
            <a:ext cx="5417949"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两大体系：消费流转 × 权益互通</a:t>
            </a:r>
          </a:p>
        </p:txBody>
      </p:sp>
      <p:sp>
        <p:nvSpPr>
          <p:cNvPr id="5" name="TextBox 5"/>
          <p:cNvSpPr txBox="1"/>
          <p:nvPr/>
        </p:nvSpPr>
        <p:spPr>
          <a:xfrm>
            <a:off x="795338" y="926306"/>
            <a:ext cx="694443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体系一决定商家怎么被找到，体系二决定价值怎么在商家间流动——两大体系共同构成链邦赋商通核心引擎</a:t>
            </a:r>
          </a:p>
        </p:txBody>
      </p:sp>
      <p:sp>
        <p:nvSpPr>
          <p:cNvPr id="6" name="Ellipse 6"/>
          <p:cNvSpPr/>
          <p:nvPr/>
        </p:nvSpPr>
        <p:spPr>
          <a:xfrm>
            <a:off x="5381625" y="2714625"/>
            <a:ext cx="1428750" cy="1428750"/>
          </a:xfrm>
          <a:prstGeom prst="ellipse">
            <a:avLst/>
          </a:prstGeom>
          <a:solidFill>
            <a:srgbClr val="E67E22"/>
          </a:solidFill>
          <a:ln>
            <a:noFill/>
          </a:ln>
        </p:spPr>
      </p:sp>
      <p:sp>
        <p:nvSpPr>
          <p:cNvPr id="7" name="Ellipse 7"/>
          <p:cNvSpPr/>
          <p:nvPr/>
        </p:nvSpPr>
        <p:spPr>
          <a:xfrm>
            <a:off x="5410200" y="2743200"/>
            <a:ext cx="1371600" cy="1371600"/>
          </a:xfrm>
          <a:prstGeom prst="ellipse">
            <a:avLst/>
          </a:prstGeom>
          <a:noFill/>
          <a:ln w="14288">
            <a:solidFill>
              <a:srgbClr val="FFFFFF">
                <a:alpha val="30000"/>
              </a:srgbClr>
            </a:solidFill>
          </a:ln>
        </p:spPr>
      </p:sp>
      <p:sp>
        <p:nvSpPr>
          <p:cNvPr id="8" name="TextBox 8"/>
          <p:cNvSpPr txBox="1"/>
          <p:nvPr/>
        </p:nvSpPr>
        <p:spPr>
          <a:xfrm>
            <a:off x="5660708" y="3156585"/>
            <a:ext cx="87058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链邦赋商通</a:t>
            </a:r>
          </a:p>
        </p:txBody>
      </p:sp>
      <p:sp>
        <p:nvSpPr>
          <p:cNvPr id="9" name="TextBox 9"/>
          <p:cNvSpPr txBox="1"/>
          <p:nvPr/>
        </p:nvSpPr>
        <p:spPr>
          <a:xfrm>
            <a:off x="5563552" y="3418999"/>
            <a:ext cx="1064895" cy="198120"/>
          </a:xfrm>
          <a:prstGeom prst="rect">
            <a:avLst/>
          </a:prstGeom>
          <a:noFill/>
          <a:ln>
            <a:noFill/>
          </a:ln>
        </p:spPr>
        <p:txBody>
          <a:bodyPr wrap="none" lIns="0" tIns="0" rIns="0" bIns="0" anchor="t" anchorCtr="0">
            <a:spAutoFit/>
          </a:bodyPr>
          <a:lstStyle/>
          <a:p>
            <a:pPr algn="ctr"/>
            <a:r>
              <a:rPr lang="zh-CN" sz="975" dirty="0">
                <a:solidFill>
                  <a:srgbClr val="FFFFFF">
                    <a:alphaMod val="90000"/>
                  </a:srgbClr>
                </a:solidFill>
                <a:latin typeface="Arial"/>
                <a:ea typeface="Microsoft YaHei"/>
                <a:cs typeface="Arial"/>
              </a:rPr>
              <a:t>交易即服务费结算</a:t>
            </a:r>
          </a:p>
        </p:txBody>
      </p:sp>
      <p:sp>
        <p:nvSpPr>
          <p:cNvPr id="10" name="TextBox 10"/>
          <p:cNvSpPr txBox="1"/>
          <p:nvPr/>
        </p:nvSpPr>
        <p:spPr>
          <a:xfrm>
            <a:off x="5309926" y="3625691"/>
            <a:ext cx="1572149" cy="167640"/>
          </a:xfrm>
          <a:prstGeom prst="rect">
            <a:avLst/>
          </a:prstGeom>
          <a:noFill/>
          <a:ln>
            <a:noFill/>
          </a:ln>
        </p:spPr>
        <p:txBody>
          <a:bodyPr wrap="none" lIns="0" tIns="0" rIns="0" bIns="0" anchor="t" anchorCtr="0">
            <a:spAutoFit/>
          </a:bodyPr>
          <a:lstStyle/>
          <a:p>
            <a:pPr algn="ctr"/>
            <a:r>
              <a:rPr lang="zh-CN" sz="825" dirty="0">
                <a:solidFill>
                  <a:srgbClr val="FFFFFF">
                    <a:alphaMod val="75000"/>
                  </a:srgbClr>
                </a:solidFill>
                <a:latin typeface="Arial"/>
                <a:ea typeface="Microsoft YaHei"/>
                <a:cs typeface="Arial"/>
              </a:rPr>
              <a:t>零固定费·零预充值·零资金占用</a:t>
            </a:r>
          </a:p>
        </p:txBody>
      </p:sp>
      <p:sp>
        <p:nvSpPr>
          <p:cNvPr id="11" name="Line 11"/>
          <p:cNvSpPr/>
          <p:nvPr/>
        </p:nvSpPr>
        <p:spPr>
          <a:xfrm>
            <a:off x="2381250" y="2476500"/>
            <a:ext cx="3000375" cy="762000"/>
          </a:xfrm>
          <a:custGeom>
            <a:avLst/>
            <a:gdLst/>
            <a:ahLst/>
            <a:cxnLst/>
            <a:rect l="l" t="t" r="r" b="b"/>
            <a:pathLst>
              <a:path w="3000375" h="762000">
                <a:moveTo>
                  <a:pt x="3000375" y="762000"/>
                </a:moveTo>
                <a:lnTo>
                  <a:pt x="0" y="0"/>
                </a:lnTo>
              </a:path>
            </a:pathLst>
          </a:custGeom>
          <a:noFill/>
          <a:ln w="23812">
            <a:solidFill>
              <a:srgbClr val="1A5276"/>
            </a:solidFill>
            <a:custDash>
              <a:ds d="240000" sp="160000"/>
            </a:custDash>
          </a:ln>
        </p:spPr>
      </p:sp>
      <p:sp>
        <p:nvSpPr>
          <p:cNvPr id="12" name="Rectangle 12"/>
          <p:cNvSpPr/>
          <p:nvPr/>
        </p:nvSpPr>
        <p:spPr>
          <a:xfrm>
            <a:off x="571500" y="1333500"/>
            <a:ext cx="4762500" cy="476250"/>
          </a:xfrm>
          <a:prstGeom prst="roundRect">
            <a:avLst>
              <a:gd name="adj" fmla="val 28000"/>
            </a:avLst>
          </a:prstGeom>
          <a:solidFill>
            <a:srgbClr val="1A5276"/>
          </a:solidFill>
          <a:ln>
            <a:noFill/>
          </a:ln>
        </p:spPr>
      </p:sp>
      <p:sp>
        <p:nvSpPr>
          <p:cNvPr id="13" name="TextBox 13"/>
          <p:cNvSpPr txBox="1"/>
          <p:nvPr/>
        </p:nvSpPr>
        <p:spPr>
          <a:xfrm>
            <a:off x="1669732" y="1443990"/>
            <a:ext cx="2566035"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Georgia"/>
                <a:ea typeface="KaiTi"/>
                <a:cs typeface="Georgia"/>
              </a:rPr>
              <a:t>体系一：消费流转体系</a:t>
            </a:r>
          </a:p>
        </p:txBody>
      </p:sp>
      <p:sp>
        <p:nvSpPr>
          <p:cNvPr id="14" name="Rectangle 14"/>
          <p:cNvSpPr/>
          <p:nvPr/>
        </p:nvSpPr>
        <p:spPr>
          <a:xfrm>
            <a:off x="666750" y="2000250"/>
            <a:ext cx="4572000" cy="762000"/>
          </a:xfrm>
          <a:prstGeom prst="roundRect">
            <a:avLst>
              <a:gd name="adj" fmla="val 17500"/>
            </a:avLst>
          </a:prstGeom>
          <a:solidFill>
            <a:srgbClr val="FFFFFF"/>
          </a:solidFill>
          <a:ln>
            <a:noFill/>
          </a:ln>
          <a:effectLst>
            <a:outerShdw blurRad="76200" dist="19050" dir="5400000" algn="ctr" rotWithShape="0">
              <a:srgbClr val="2C2C2C">
                <a:alpha val="4500"/>
              </a:srgbClr>
            </a:outerShdw>
          </a:effectLst>
        </p:spPr>
      </p:sp>
      <p:sp>
        <p:nvSpPr>
          <p:cNvPr id="15" name="Rectangle 15"/>
          <p:cNvSpPr/>
          <p:nvPr/>
        </p:nvSpPr>
        <p:spPr>
          <a:xfrm>
            <a:off x="666750" y="2000250"/>
            <a:ext cx="57150" cy="762000"/>
          </a:xfrm>
          <a:prstGeom prst="roundRect">
            <a:avLst>
              <a:gd name="adj" fmla="val 50000"/>
            </a:avLst>
          </a:prstGeom>
          <a:solidFill>
            <a:srgbClr val="1A5276"/>
          </a:solidFill>
          <a:ln>
            <a:noFill/>
          </a:ln>
        </p:spPr>
      </p:sp>
      <p:sp>
        <p:nvSpPr>
          <p:cNvPr id="16" name="Ellipse 16"/>
          <p:cNvSpPr/>
          <p:nvPr/>
        </p:nvSpPr>
        <p:spPr>
          <a:xfrm>
            <a:off x="876300" y="2209800"/>
            <a:ext cx="342900" cy="342900"/>
          </a:xfrm>
          <a:prstGeom prst="ellipse">
            <a:avLst/>
          </a:prstGeom>
          <a:solidFill>
            <a:srgbClr val="1A5276"/>
          </a:solidFill>
          <a:ln>
            <a:noFill/>
          </a:ln>
        </p:spPr>
      </p:sp>
      <p:sp>
        <p:nvSpPr>
          <p:cNvPr id="17" name="TextBox 17"/>
          <p:cNvSpPr txBox="1"/>
          <p:nvPr/>
        </p:nvSpPr>
        <p:spPr>
          <a:xfrm>
            <a:off x="990145" y="2326481"/>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1</a:t>
            </a:r>
          </a:p>
        </p:txBody>
      </p:sp>
      <p:sp>
        <p:nvSpPr>
          <p:cNvPr id="18" name="TextBox 18"/>
          <p:cNvSpPr txBox="1"/>
          <p:nvPr/>
        </p:nvSpPr>
        <p:spPr>
          <a:xfrm>
            <a:off x="1362075" y="2143125"/>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平台商家</a:t>
            </a:r>
          </a:p>
        </p:txBody>
      </p:sp>
      <p:sp>
        <p:nvSpPr>
          <p:cNvPr id="19" name="TextBox 19"/>
          <p:cNvSpPr txBox="1"/>
          <p:nvPr/>
        </p:nvSpPr>
        <p:spPr>
          <a:xfrm>
            <a:off x="1367790" y="2429828"/>
            <a:ext cx="360411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优先展示入口 · 搜索加权+2 · 品牌认证蓝标 · 深度自定义</a:t>
            </a:r>
          </a:p>
        </p:txBody>
      </p:sp>
      <p:sp>
        <p:nvSpPr>
          <p:cNvPr id="20" name="Line 20"/>
          <p:cNvSpPr/>
          <p:nvPr/>
        </p:nvSpPr>
        <p:spPr>
          <a:xfrm>
            <a:off x="2952750" y="2762250"/>
            <a:ext cx="9525" cy="171450"/>
          </a:xfrm>
          <a:custGeom>
            <a:avLst/>
            <a:gdLst/>
            <a:ahLst/>
            <a:cxnLst/>
            <a:rect l="l" t="t" r="r" b="b"/>
            <a:pathLst>
              <a:path w="9525" h="171450">
                <a:moveTo>
                  <a:pt x="0" y="0"/>
                </a:moveTo>
                <a:lnTo>
                  <a:pt x="0" y="171450"/>
                </a:lnTo>
              </a:path>
            </a:pathLst>
          </a:custGeom>
          <a:noFill/>
          <a:ln w="19050">
            <a:solidFill>
              <a:srgbClr val="D4A574"/>
            </a:solidFill>
          </a:ln>
        </p:spPr>
      </p:sp>
      <p:sp>
        <p:nvSpPr>
          <p:cNvPr id="21" name="Polygon 21"/>
          <p:cNvSpPr/>
          <p:nvPr/>
        </p:nvSpPr>
        <p:spPr>
          <a:xfrm>
            <a:off x="2876550" y="285750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22" name="Rectangle 22"/>
          <p:cNvSpPr/>
          <p:nvPr/>
        </p:nvSpPr>
        <p:spPr>
          <a:xfrm>
            <a:off x="666750" y="2971800"/>
            <a:ext cx="4572000" cy="762000"/>
          </a:xfrm>
          <a:prstGeom prst="roundRect">
            <a:avLst>
              <a:gd name="adj" fmla="val 17500"/>
            </a:avLst>
          </a:prstGeom>
          <a:solidFill>
            <a:srgbClr val="FFFFFF"/>
          </a:solidFill>
          <a:ln>
            <a:noFill/>
          </a:ln>
          <a:effectLst>
            <a:outerShdw blurRad="76200" dist="19050" dir="5400000" algn="ctr" rotWithShape="0">
              <a:srgbClr val="2C2C2C">
                <a:alpha val="4500"/>
              </a:srgbClr>
            </a:outerShdw>
          </a:effectLst>
        </p:spPr>
      </p:sp>
      <p:sp>
        <p:nvSpPr>
          <p:cNvPr id="23" name="Rectangle 23"/>
          <p:cNvSpPr/>
          <p:nvPr/>
        </p:nvSpPr>
        <p:spPr>
          <a:xfrm>
            <a:off x="666750" y="2971800"/>
            <a:ext cx="57150" cy="762000"/>
          </a:xfrm>
          <a:prstGeom prst="roundRect">
            <a:avLst>
              <a:gd name="adj" fmla="val 50000"/>
            </a:avLst>
          </a:prstGeom>
          <a:solidFill>
            <a:srgbClr val="D4A574"/>
          </a:solidFill>
          <a:ln>
            <a:noFill/>
          </a:ln>
        </p:spPr>
      </p:sp>
      <p:sp>
        <p:nvSpPr>
          <p:cNvPr id="24" name="Ellipse 24"/>
          <p:cNvSpPr/>
          <p:nvPr/>
        </p:nvSpPr>
        <p:spPr>
          <a:xfrm>
            <a:off x="876300" y="3181350"/>
            <a:ext cx="342900" cy="342900"/>
          </a:xfrm>
          <a:prstGeom prst="ellipse">
            <a:avLst/>
          </a:prstGeom>
          <a:solidFill>
            <a:srgbClr val="D4A574"/>
          </a:solidFill>
          <a:ln>
            <a:noFill/>
          </a:ln>
        </p:spPr>
      </p:sp>
      <p:sp>
        <p:nvSpPr>
          <p:cNvPr id="25" name="TextBox 25"/>
          <p:cNvSpPr txBox="1"/>
          <p:nvPr/>
        </p:nvSpPr>
        <p:spPr>
          <a:xfrm>
            <a:off x="990145" y="3298031"/>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2</a:t>
            </a:r>
          </a:p>
        </p:txBody>
      </p:sp>
      <p:sp>
        <p:nvSpPr>
          <p:cNvPr id="26" name="TextBox 26"/>
          <p:cNvSpPr txBox="1"/>
          <p:nvPr/>
        </p:nvSpPr>
        <p:spPr>
          <a:xfrm>
            <a:off x="1362075" y="3114675"/>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联盟商家</a:t>
            </a:r>
          </a:p>
        </p:txBody>
      </p:sp>
      <p:sp>
        <p:nvSpPr>
          <p:cNvPr id="27" name="TextBox 27"/>
          <p:cNvSpPr txBox="1"/>
          <p:nvPr/>
        </p:nvSpPr>
        <p:spPr>
          <a:xfrm>
            <a:off x="1367790" y="3401378"/>
            <a:ext cx="380714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标准展示位置 · 搜索基准位 · 社区好店绿标 · 6套模板轻定制</a:t>
            </a:r>
          </a:p>
        </p:txBody>
      </p:sp>
      <p:sp>
        <p:nvSpPr>
          <p:cNvPr id="28" name="Line 28"/>
          <p:cNvSpPr/>
          <p:nvPr/>
        </p:nvSpPr>
        <p:spPr>
          <a:xfrm>
            <a:off x="2952750" y="3733800"/>
            <a:ext cx="9525" cy="171450"/>
          </a:xfrm>
          <a:custGeom>
            <a:avLst/>
            <a:gdLst/>
            <a:ahLst/>
            <a:cxnLst/>
            <a:rect l="l" t="t" r="r" b="b"/>
            <a:pathLst>
              <a:path w="9525" h="171450">
                <a:moveTo>
                  <a:pt x="0" y="0"/>
                </a:moveTo>
                <a:lnTo>
                  <a:pt x="0" y="171450"/>
                </a:lnTo>
              </a:path>
            </a:pathLst>
          </a:custGeom>
          <a:noFill/>
          <a:ln w="19050">
            <a:solidFill>
              <a:srgbClr val="D4A574"/>
            </a:solidFill>
          </a:ln>
        </p:spPr>
      </p:sp>
      <p:sp>
        <p:nvSpPr>
          <p:cNvPr id="29" name="Polygon 29"/>
          <p:cNvSpPr/>
          <p:nvPr/>
        </p:nvSpPr>
        <p:spPr>
          <a:xfrm>
            <a:off x="2876550" y="382905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30" name="Rectangle 30"/>
          <p:cNvSpPr/>
          <p:nvPr/>
        </p:nvSpPr>
        <p:spPr>
          <a:xfrm>
            <a:off x="666750" y="3943350"/>
            <a:ext cx="4572000" cy="762000"/>
          </a:xfrm>
          <a:prstGeom prst="roundRect">
            <a:avLst>
              <a:gd name="adj" fmla="val 17500"/>
            </a:avLst>
          </a:prstGeom>
          <a:solidFill>
            <a:srgbClr val="FFFFFF"/>
          </a:solidFill>
          <a:ln>
            <a:noFill/>
          </a:ln>
          <a:effectLst>
            <a:outerShdw blurRad="76200" dist="19050" dir="5400000" algn="ctr" rotWithShape="0">
              <a:srgbClr val="2C2C2C">
                <a:alpha val="4500"/>
              </a:srgbClr>
            </a:outerShdw>
          </a:effectLst>
        </p:spPr>
      </p:sp>
      <p:sp>
        <p:nvSpPr>
          <p:cNvPr id="31" name="Rectangle 31"/>
          <p:cNvSpPr/>
          <p:nvPr/>
        </p:nvSpPr>
        <p:spPr>
          <a:xfrm>
            <a:off x="666750" y="3943350"/>
            <a:ext cx="57150" cy="762000"/>
          </a:xfrm>
          <a:prstGeom prst="roundRect">
            <a:avLst>
              <a:gd name="adj" fmla="val 50000"/>
            </a:avLst>
          </a:prstGeom>
          <a:solidFill>
            <a:srgbClr val="7F8C8D"/>
          </a:solidFill>
          <a:ln>
            <a:noFill/>
          </a:ln>
        </p:spPr>
      </p:sp>
      <p:sp>
        <p:nvSpPr>
          <p:cNvPr id="32" name="Ellipse 32"/>
          <p:cNvSpPr/>
          <p:nvPr/>
        </p:nvSpPr>
        <p:spPr>
          <a:xfrm>
            <a:off x="876300" y="4152900"/>
            <a:ext cx="342900" cy="342900"/>
          </a:xfrm>
          <a:prstGeom prst="ellipse">
            <a:avLst/>
          </a:prstGeom>
          <a:solidFill>
            <a:srgbClr val="7F8C8D"/>
          </a:solidFill>
          <a:ln>
            <a:noFill/>
          </a:ln>
        </p:spPr>
      </p:sp>
      <p:sp>
        <p:nvSpPr>
          <p:cNvPr id="33" name="TextBox 33"/>
          <p:cNvSpPr txBox="1"/>
          <p:nvPr/>
        </p:nvSpPr>
        <p:spPr>
          <a:xfrm>
            <a:off x="990145" y="4269581"/>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3</a:t>
            </a:r>
          </a:p>
        </p:txBody>
      </p:sp>
      <p:sp>
        <p:nvSpPr>
          <p:cNvPr id="34" name="TextBox 34"/>
          <p:cNvSpPr txBox="1"/>
          <p:nvPr/>
        </p:nvSpPr>
        <p:spPr>
          <a:xfrm>
            <a:off x="1362075" y="4086225"/>
            <a:ext cx="87820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Arial"/>
                <a:ea typeface="Microsoft YaHei"/>
                <a:cs typeface="Arial"/>
              </a:rPr>
              <a:t>综合商城</a:t>
            </a:r>
          </a:p>
        </p:txBody>
      </p:sp>
      <p:sp>
        <p:nvSpPr>
          <p:cNvPr id="35" name="TextBox 35"/>
          <p:cNvSpPr txBox="1"/>
          <p:nvPr/>
        </p:nvSpPr>
        <p:spPr>
          <a:xfrm>
            <a:off x="1367790" y="4372928"/>
            <a:ext cx="402417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补充供给 · 搜索加权-2 · 平台自营灰标 · 标准化模板不可自定义</a:t>
            </a:r>
          </a:p>
        </p:txBody>
      </p:sp>
      <p:sp>
        <p:nvSpPr>
          <p:cNvPr id="36" name="Rectangle 36"/>
          <p:cNvSpPr/>
          <p:nvPr/>
        </p:nvSpPr>
        <p:spPr>
          <a:xfrm>
            <a:off x="666750" y="4857750"/>
            <a:ext cx="4572000" cy="495300"/>
          </a:xfrm>
          <a:prstGeom prst="roundRect">
            <a:avLst>
              <a:gd name="adj" fmla="val 19231"/>
            </a:avLst>
          </a:prstGeom>
          <a:solidFill>
            <a:srgbClr val="F0EDE8"/>
          </a:solidFill>
          <a:ln>
            <a:noFill/>
          </a:ln>
        </p:spPr>
      </p:sp>
      <p:sp>
        <p:nvSpPr>
          <p:cNvPr id="37" name="TextBox 37"/>
          <p:cNvSpPr txBox="1"/>
          <p:nvPr/>
        </p:nvSpPr>
        <p:spPr>
          <a:xfrm>
            <a:off x="1983796" y="4973002"/>
            <a:ext cx="1937909" cy="213360"/>
          </a:xfrm>
          <a:prstGeom prst="rect">
            <a:avLst/>
          </a:prstGeom>
          <a:noFill/>
          <a:ln>
            <a:noFill/>
          </a:ln>
        </p:spPr>
        <p:txBody>
          <a:bodyPr wrap="none" lIns="0" tIns="0" rIns="0" bIns="0" anchor="t" anchorCtr="0">
            <a:spAutoFit/>
          </a:bodyPr>
          <a:lstStyle/>
          <a:p>
            <a:pPr algn="ctr"/>
            <a:r>
              <a:rPr lang="zh-CN" sz="1050" b="1" dirty="0">
                <a:solidFill>
                  <a:srgbClr val="1A5276"/>
                </a:solidFill>
                <a:latin typeface="Arial"/>
                <a:ea typeface="Microsoft YaHei"/>
                <a:cs typeface="Arial"/>
              </a:rPr>
              <a:t>软性优先级引导，非强制路径</a:t>
            </a:r>
          </a:p>
        </p:txBody>
      </p:sp>
      <p:sp>
        <p:nvSpPr>
          <p:cNvPr id="38" name="TextBox 38"/>
          <p:cNvSpPr txBox="1"/>
          <p:nvPr/>
        </p:nvSpPr>
        <p:spPr>
          <a:xfrm>
            <a:off x="496014" y="5189220"/>
            <a:ext cx="4913471"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消费者可自由浏览所有商家——仅默认排序有优先，可通过筛选/搜索/分类/地图找到任何商家</a:t>
            </a:r>
          </a:p>
        </p:txBody>
      </p:sp>
      <p:sp>
        <p:nvSpPr>
          <p:cNvPr id="39" name="Line 39"/>
          <p:cNvSpPr/>
          <p:nvPr/>
        </p:nvSpPr>
        <p:spPr>
          <a:xfrm>
            <a:off x="6810375" y="2476500"/>
            <a:ext cx="3000375" cy="762000"/>
          </a:xfrm>
          <a:custGeom>
            <a:avLst/>
            <a:gdLst/>
            <a:ahLst/>
            <a:cxnLst/>
            <a:rect l="l" t="t" r="r" b="b"/>
            <a:pathLst>
              <a:path w="3000375" h="762000">
                <a:moveTo>
                  <a:pt x="0" y="762000"/>
                </a:moveTo>
                <a:lnTo>
                  <a:pt x="3000375" y="0"/>
                </a:lnTo>
              </a:path>
            </a:pathLst>
          </a:custGeom>
          <a:noFill/>
          <a:ln w="23812">
            <a:solidFill>
              <a:srgbClr val="E67E22"/>
            </a:solidFill>
            <a:custDash>
              <a:ds d="240000" sp="160000"/>
            </a:custDash>
          </a:ln>
        </p:spPr>
      </p:sp>
      <p:sp>
        <p:nvSpPr>
          <p:cNvPr id="40" name="Rectangle 40"/>
          <p:cNvSpPr/>
          <p:nvPr/>
        </p:nvSpPr>
        <p:spPr>
          <a:xfrm>
            <a:off x="6858000" y="1333500"/>
            <a:ext cx="4762500" cy="476250"/>
          </a:xfrm>
          <a:prstGeom prst="roundRect">
            <a:avLst>
              <a:gd name="adj" fmla="val 28000"/>
            </a:avLst>
          </a:prstGeom>
          <a:solidFill>
            <a:srgbClr val="E67E22"/>
          </a:solidFill>
          <a:ln>
            <a:noFill/>
          </a:ln>
        </p:spPr>
      </p:sp>
      <p:sp>
        <p:nvSpPr>
          <p:cNvPr id="41" name="TextBox 41"/>
          <p:cNvSpPr txBox="1"/>
          <p:nvPr/>
        </p:nvSpPr>
        <p:spPr>
          <a:xfrm>
            <a:off x="7326154" y="1443990"/>
            <a:ext cx="3826193"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Georgia"/>
                <a:ea typeface="KaiTi"/>
                <a:cs typeface="Georgia"/>
              </a:rPr>
              <a:t>体系二：全生态会员权益互通体系</a:t>
            </a:r>
          </a:p>
        </p:txBody>
      </p:sp>
      <p:sp>
        <p:nvSpPr>
          <p:cNvPr id="42" name="Rectangle 42"/>
          <p:cNvSpPr/>
          <p:nvPr/>
        </p:nvSpPr>
        <p:spPr>
          <a:xfrm>
            <a:off x="6953250" y="2000250"/>
            <a:ext cx="4572000" cy="857250"/>
          </a:xfrm>
          <a:prstGeom prst="roundRect">
            <a:avLst>
              <a:gd name="adj" fmla="val 15556"/>
            </a:avLst>
          </a:prstGeom>
          <a:solidFill>
            <a:srgbClr val="FFFFFF"/>
          </a:solidFill>
          <a:ln>
            <a:noFill/>
          </a:ln>
          <a:effectLst>
            <a:outerShdw blurRad="76200" dist="19050" dir="5400000" algn="ctr" rotWithShape="0">
              <a:srgbClr val="2C2C2C">
                <a:alpha val="4500"/>
              </a:srgbClr>
            </a:outerShdw>
          </a:effectLst>
        </p:spPr>
      </p:sp>
      <p:sp>
        <p:nvSpPr>
          <p:cNvPr id="43" name="TextBox 43"/>
          <p:cNvSpPr txBox="1"/>
          <p:nvPr/>
        </p:nvSpPr>
        <p:spPr>
          <a:xfrm>
            <a:off x="7412355" y="2187892"/>
            <a:ext cx="2302574"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消费者在任一商家获得权益</a:t>
            </a:r>
          </a:p>
        </p:txBody>
      </p:sp>
      <p:sp>
        <p:nvSpPr>
          <p:cNvPr id="44" name="TextBox 44"/>
          <p:cNvSpPr txBox="1"/>
          <p:nvPr/>
        </p:nvSpPr>
        <p:spPr>
          <a:xfrm>
            <a:off x="7415212" y="2497931"/>
            <a:ext cx="1573768" cy="228600"/>
          </a:xfrm>
          <a:prstGeom prst="rect">
            <a:avLst/>
          </a:prstGeom>
          <a:noFill/>
          <a:ln>
            <a:noFill/>
          </a:ln>
        </p:spPr>
        <p:txBody>
          <a:bodyPr wrap="none" lIns="0" tIns="0" rIns="0" bIns="0" anchor="t" anchorCtr="0">
            <a:spAutoFit/>
          </a:bodyPr>
          <a:lstStyle/>
          <a:p>
            <a:pPr algn="l"/>
            <a:r>
              <a:rPr lang="zh-CN" sz="1125" dirty="0">
                <a:solidFill>
                  <a:srgbClr val="E67E22"/>
                </a:solidFill>
                <a:latin typeface="Arial"/>
                <a:ea typeface="Microsoft YaHei"/>
                <a:cs typeface="Arial"/>
              </a:rPr>
              <a:t>代金券 · 积分 · 消费金</a:t>
            </a:r>
          </a:p>
        </p:txBody>
      </p:sp>
      <p:sp>
        <p:nvSpPr>
          <p:cNvPr id="45" name="Line 45"/>
          <p:cNvSpPr/>
          <p:nvPr/>
        </p:nvSpPr>
        <p:spPr>
          <a:xfrm>
            <a:off x="9239250" y="2857500"/>
            <a:ext cx="9525" cy="190500"/>
          </a:xfrm>
          <a:custGeom>
            <a:avLst/>
            <a:gdLst/>
            <a:ahLst/>
            <a:cxnLst/>
            <a:rect l="l" t="t" r="r" b="b"/>
            <a:pathLst>
              <a:path w="9525" h="190500">
                <a:moveTo>
                  <a:pt x="0" y="0"/>
                </a:moveTo>
                <a:lnTo>
                  <a:pt x="0" y="190500"/>
                </a:lnTo>
              </a:path>
            </a:pathLst>
          </a:custGeom>
          <a:noFill/>
          <a:ln w="19050">
            <a:solidFill>
              <a:srgbClr val="D4A574"/>
            </a:solidFill>
          </a:ln>
        </p:spPr>
      </p:sp>
      <p:sp>
        <p:nvSpPr>
          <p:cNvPr id="46" name="Polygon 46"/>
          <p:cNvSpPr/>
          <p:nvPr/>
        </p:nvSpPr>
        <p:spPr>
          <a:xfrm>
            <a:off x="9163050" y="297180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47" name="Rectangle 47"/>
          <p:cNvSpPr/>
          <p:nvPr/>
        </p:nvSpPr>
        <p:spPr>
          <a:xfrm>
            <a:off x="6953250" y="3086100"/>
            <a:ext cx="4572000" cy="857250"/>
          </a:xfrm>
          <a:prstGeom prst="roundRect">
            <a:avLst>
              <a:gd name="adj" fmla="val 15556"/>
            </a:avLst>
          </a:prstGeom>
          <a:solidFill>
            <a:srgbClr val="FFFFFF"/>
          </a:solidFill>
          <a:ln>
            <a:noFill/>
          </a:ln>
          <a:effectLst>
            <a:outerShdw blurRad="76200" dist="19050" dir="5400000" algn="ctr" rotWithShape="0">
              <a:srgbClr val="2C2C2C">
                <a:alpha val="4500"/>
              </a:srgbClr>
            </a:outerShdw>
          </a:effectLst>
        </p:spPr>
      </p:sp>
      <p:sp>
        <p:nvSpPr>
          <p:cNvPr id="48" name="TextBox 48"/>
          <p:cNvSpPr txBox="1"/>
          <p:nvPr/>
        </p:nvSpPr>
        <p:spPr>
          <a:xfrm>
            <a:off x="7412355" y="3283268"/>
            <a:ext cx="2302574"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均可在全平台任意商家使用</a:t>
            </a:r>
          </a:p>
        </p:txBody>
      </p:sp>
      <p:sp>
        <p:nvSpPr>
          <p:cNvPr id="49" name="TextBox 49"/>
          <p:cNvSpPr txBox="1"/>
          <p:nvPr/>
        </p:nvSpPr>
        <p:spPr>
          <a:xfrm>
            <a:off x="7414260" y="3585210"/>
            <a:ext cx="1752695"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在A店获得 · 在B店使用</a:t>
            </a:r>
          </a:p>
        </p:txBody>
      </p:sp>
      <p:sp>
        <p:nvSpPr>
          <p:cNvPr id="50" name="Line 50"/>
          <p:cNvSpPr/>
          <p:nvPr/>
        </p:nvSpPr>
        <p:spPr>
          <a:xfrm>
            <a:off x="9239250" y="3943350"/>
            <a:ext cx="9525" cy="190500"/>
          </a:xfrm>
          <a:custGeom>
            <a:avLst/>
            <a:gdLst/>
            <a:ahLst/>
            <a:cxnLst/>
            <a:rect l="l" t="t" r="r" b="b"/>
            <a:pathLst>
              <a:path w="9525" h="190500">
                <a:moveTo>
                  <a:pt x="0" y="0"/>
                </a:moveTo>
                <a:lnTo>
                  <a:pt x="0" y="190500"/>
                </a:lnTo>
              </a:path>
            </a:pathLst>
          </a:custGeom>
          <a:noFill/>
          <a:ln w="19050">
            <a:solidFill>
              <a:srgbClr val="D4A574"/>
            </a:solidFill>
          </a:ln>
        </p:spPr>
      </p:sp>
      <p:sp>
        <p:nvSpPr>
          <p:cNvPr id="51" name="Polygon 51"/>
          <p:cNvSpPr/>
          <p:nvPr/>
        </p:nvSpPr>
        <p:spPr>
          <a:xfrm>
            <a:off x="9163050" y="4057650"/>
            <a:ext cx="152400" cy="76200"/>
          </a:xfrm>
          <a:custGeom>
            <a:avLst/>
            <a:gdLst/>
            <a:ahLst/>
            <a:cxnLst/>
            <a:rect l="l" t="t" r="r" b="b"/>
            <a:pathLst>
              <a:path w="152400" h="76200">
                <a:moveTo>
                  <a:pt x="76200" y="76200"/>
                </a:moveTo>
                <a:lnTo>
                  <a:pt x="0" y="0"/>
                </a:lnTo>
                <a:lnTo>
                  <a:pt x="152400" y="0"/>
                </a:lnTo>
                <a:close/>
              </a:path>
            </a:pathLst>
          </a:custGeom>
          <a:solidFill>
            <a:srgbClr val="D4A574"/>
          </a:solidFill>
          <a:ln>
            <a:noFill/>
          </a:ln>
        </p:spPr>
      </p:sp>
      <p:sp>
        <p:nvSpPr>
          <p:cNvPr id="52" name="Rectangle 52"/>
          <p:cNvSpPr/>
          <p:nvPr/>
        </p:nvSpPr>
        <p:spPr>
          <a:xfrm>
            <a:off x="6953250" y="4171950"/>
            <a:ext cx="4572000" cy="762000"/>
          </a:xfrm>
          <a:prstGeom prst="roundRect">
            <a:avLst>
              <a:gd name="adj" fmla="val 17500"/>
            </a:avLst>
          </a:prstGeom>
          <a:solidFill>
            <a:srgbClr val="F0EDE8"/>
          </a:solidFill>
          <a:ln>
            <a:noFill/>
          </a:ln>
        </p:spPr>
      </p:sp>
      <p:sp>
        <p:nvSpPr>
          <p:cNvPr id="53" name="TextBox 53"/>
          <p:cNvSpPr txBox="1"/>
          <p:nvPr/>
        </p:nvSpPr>
        <p:spPr>
          <a:xfrm>
            <a:off x="7412355" y="4331018"/>
            <a:ext cx="1357455"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营销池统一结算</a:t>
            </a:r>
          </a:p>
        </p:txBody>
      </p:sp>
      <p:sp>
        <p:nvSpPr>
          <p:cNvPr id="54" name="TextBox 54"/>
          <p:cNvSpPr txBox="1"/>
          <p:nvPr/>
        </p:nvSpPr>
        <p:spPr>
          <a:xfrm>
            <a:off x="7416165" y="4601528"/>
            <a:ext cx="370913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汇付直清 · 每一笔可追溯至原始交易 · 跨店通兑不构成二清</a:t>
            </a:r>
          </a:p>
        </p:txBody>
      </p:sp>
      <p:sp>
        <p:nvSpPr>
          <p:cNvPr id="55" name="Rectangle 55"/>
          <p:cNvSpPr/>
          <p:nvPr/>
        </p:nvSpPr>
        <p:spPr>
          <a:xfrm>
            <a:off x="6953250" y="5095875"/>
            <a:ext cx="1381125" cy="523875"/>
          </a:xfrm>
          <a:prstGeom prst="roundRect">
            <a:avLst>
              <a:gd name="adj" fmla="val 18182"/>
            </a:avLst>
          </a:prstGeom>
          <a:solidFill>
            <a:srgbClr val="FFFFFF"/>
          </a:solidFill>
          <a:ln>
            <a:noFill/>
          </a:ln>
          <a:effectLst>
            <a:outerShdw blurRad="76200" dist="19050" dir="5400000" algn="ctr" rotWithShape="0">
              <a:srgbClr val="2C2C2C">
                <a:alpha val="4500"/>
              </a:srgbClr>
            </a:outerShdw>
          </a:effectLst>
        </p:spPr>
      </p:sp>
      <p:sp>
        <p:nvSpPr>
          <p:cNvPr id="56" name="TextBox 56"/>
          <p:cNvSpPr txBox="1"/>
          <p:nvPr/>
        </p:nvSpPr>
        <p:spPr>
          <a:xfrm>
            <a:off x="7388483" y="5193506"/>
            <a:ext cx="501134" cy="228600"/>
          </a:xfrm>
          <a:prstGeom prst="rect">
            <a:avLst/>
          </a:prstGeom>
          <a:noFill/>
          <a:ln>
            <a:noFill/>
          </a:ln>
        </p:spPr>
        <p:txBody>
          <a:bodyPr wrap="none" lIns="0" tIns="0" rIns="0" bIns="0" anchor="t" anchorCtr="0">
            <a:spAutoFit/>
          </a:bodyPr>
          <a:lstStyle/>
          <a:p>
            <a:pPr algn="ctr"/>
            <a:r>
              <a:rPr lang="zh-CN" sz="1125" b="1" dirty="0">
                <a:solidFill>
                  <a:srgbClr val="E67E22"/>
                </a:solidFill>
                <a:latin typeface="Arial"/>
                <a:ea typeface="Microsoft YaHei"/>
                <a:cs typeface="Arial"/>
              </a:rPr>
              <a:t>代金券</a:t>
            </a:r>
          </a:p>
        </p:txBody>
      </p:sp>
      <p:sp>
        <p:nvSpPr>
          <p:cNvPr id="57" name="TextBox 57"/>
          <p:cNvSpPr txBox="1"/>
          <p:nvPr/>
        </p:nvSpPr>
        <p:spPr>
          <a:xfrm>
            <a:off x="7063549" y="5427345"/>
            <a:ext cx="1151001"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全平台通用·30%上限</a:t>
            </a:r>
          </a:p>
        </p:txBody>
      </p:sp>
      <p:sp>
        <p:nvSpPr>
          <p:cNvPr id="58" name="Rectangle 58"/>
          <p:cNvSpPr/>
          <p:nvPr/>
        </p:nvSpPr>
        <p:spPr>
          <a:xfrm>
            <a:off x="8524875" y="5095875"/>
            <a:ext cx="1381125" cy="523875"/>
          </a:xfrm>
          <a:prstGeom prst="roundRect">
            <a:avLst>
              <a:gd name="adj" fmla="val 18182"/>
            </a:avLst>
          </a:prstGeom>
          <a:solidFill>
            <a:srgbClr val="FFFFFF"/>
          </a:solidFill>
          <a:ln>
            <a:noFill/>
          </a:ln>
          <a:effectLst>
            <a:outerShdw blurRad="76200" dist="19050" dir="5400000" algn="ctr" rotWithShape="0">
              <a:srgbClr val="2C2C2C">
                <a:alpha val="4500"/>
              </a:srgbClr>
            </a:outerShdw>
          </a:effectLst>
        </p:spPr>
      </p:sp>
      <p:sp>
        <p:nvSpPr>
          <p:cNvPr id="59" name="TextBox 59"/>
          <p:cNvSpPr txBox="1"/>
          <p:nvPr/>
        </p:nvSpPr>
        <p:spPr>
          <a:xfrm>
            <a:off x="9038868" y="5193506"/>
            <a:ext cx="343614" cy="228600"/>
          </a:xfrm>
          <a:prstGeom prst="rect">
            <a:avLst/>
          </a:prstGeom>
          <a:noFill/>
          <a:ln>
            <a:noFill/>
          </a:ln>
        </p:spPr>
        <p:txBody>
          <a:bodyPr wrap="none" lIns="0" tIns="0" rIns="0" bIns="0" anchor="t" anchorCtr="0">
            <a:spAutoFit/>
          </a:bodyPr>
          <a:lstStyle/>
          <a:p>
            <a:pPr algn="ctr"/>
            <a:r>
              <a:rPr lang="zh-CN" sz="1125" b="1" dirty="0">
                <a:solidFill>
                  <a:srgbClr val="E67E22"/>
                </a:solidFill>
                <a:latin typeface="Arial"/>
                <a:ea typeface="Microsoft YaHei"/>
                <a:cs typeface="Arial"/>
              </a:rPr>
              <a:t>积分</a:t>
            </a:r>
          </a:p>
        </p:txBody>
      </p:sp>
      <p:sp>
        <p:nvSpPr>
          <p:cNvPr id="60" name="TextBox 60"/>
          <p:cNvSpPr txBox="1"/>
          <p:nvPr/>
        </p:nvSpPr>
        <p:spPr>
          <a:xfrm>
            <a:off x="8635174" y="5427345"/>
            <a:ext cx="1151001"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全平台通用·20%上限</a:t>
            </a:r>
          </a:p>
        </p:txBody>
      </p:sp>
      <p:sp>
        <p:nvSpPr>
          <p:cNvPr id="61" name="Rectangle 61"/>
          <p:cNvSpPr/>
          <p:nvPr/>
        </p:nvSpPr>
        <p:spPr>
          <a:xfrm>
            <a:off x="10096500" y="5095875"/>
            <a:ext cx="1428750" cy="523875"/>
          </a:xfrm>
          <a:prstGeom prst="roundRect">
            <a:avLst>
              <a:gd name="adj" fmla="val 18182"/>
            </a:avLst>
          </a:prstGeom>
          <a:solidFill>
            <a:srgbClr val="FFFFFF"/>
          </a:solidFill>
          <a:ln>
            <a:noFill/>
          </a:ln>
          <a:effectLst>
            <a:outerShdw blurRad="76200" dist="19050" dir="5400000" algn="ctr" rotWithShape="0">
              <a:srgbClr val="2C2C2C">
                <a:alpha val="4500"/>
              </a:srgbClr>
            </a:outerShdw>
          </a:effectLst>
        </p:spPr>
      </p:sp>
      <p:sp>
        <p:nvSpPr>
          <p:cNvPr id="62" name="TextBox 62"/>
          <p:cNvSpPr txBox="1"/>
          <p:nvPr/>
        </p:nvSpPr>
        <p:spPr>
          <a:xfrm>
            <a:off x="10560308" y="5193506"/>
            <a:ext cx="501134" cy="228600"/>
          </a:xfrm>
          <a:prstGeom prst="rect">
            <a:avLst/>
          </a:prstGeom>
          <a:noFill/>
          <a:ln>
            <a:noFill/>
          </a:ln>
        </p:spPr>
        <p:txBody>
          <a:bodyPr wrap="none" lIns="0" tIns="0" rIns="0" bIns="0" anchor="t" anchorCtr="0">
            <a:spAutoFit/>
          </a:bodyPr>
          <a:lstStyle/>
          <a:p>
            <a:pPr algn="ctr"/>
            <a:r>
              <a:rPr lang="zh-CN" sz="1125" b="1" dirty="0">
                <a:solidFill>
                  <a:srgbClr val="E67E22"/>
                </a:solidFill>
                <a:latin typeface="Arial"/>
                <a:ea typeface="Microsoft YaHei"/>
                <a:cs typeface="Arial"/>
              </a:rPr>
              <a:t>消费金</a:t>
            </a:r>
          </a:p>
        </p:txBody>
      </p:sp>
      <p:sp>
        <p:nvSpPr>
          <p:cNvPr id="63" name="TextBox 63"/>
          <p:cNvSpPr txBox="1"/>
          <p:nvPr/>
        </p:nvSpPr>
        <p:spPr>
          <a:xfrm>
            <a:off x="10235374" y="5427345"/>
            <a:ext cx="1151001"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全平台通用·30%上限</a:t>
            </a:r>
          </a:p>
        </p:txBody>
      </p:sp>
      <p:sp>
        <p:nvSpPr>
          <p:cNvPr id="64" name="Rectangle 64"/>
          <p:cNvSpPr/>
          <p:nvPr/>
        </p:nvSpPr>
        <p:spPr>
          <a:xfrm>
            <a:off x="571500" y="5524500"/>
            <a:ext cx="11049000" cy="400050"/>
          </a:xfrm>
          <a:prstGeom prst="roundRect">
            <a:avLst>
              <a:gd name="adj" fmla="val 28571"/>
            </a:avLst>
          </a:prstGeom>
          <a:solidFill>
            <a:srgbClr val="1A5276">
              <a:alpha val="6000"/>
            </a:srgbClr>
          </a:solidFill>
          <a:ln>
            <a:noFill/>
          </a:ln>
        </p:spPr>
      </p:sp>
      <p:sp>
        <p:nvSpPr>
          <p:cNvPr id="65" name="TextBox 65"/>
          <p:cNvSpPr txBox="1"/>
          <p:nvPr/>
        </p:nvSpPr>
        <p:spPr>
          <a:xfrm>
            <a:off x="258832" y="5661660"/>
            <a:ext cx="11674335" cy="243840"/>
          </a:xfrm>
          <a:prstGeom prst="rect">
            <a:avLst/>
          </a:prstGeom>
          <a:noFill/>
          <a:ln>
            <a:noFill/>
          </a:ln>
        </p:spPr>
        <p:txBody>
          <a:bodyPr wrap="none" lIns="0" tIns="0" rIns="0" bIns="0" anchor="t" anchorCtr="0">
            <a:spAutoFit/>
          </a:bodyPr>
          <a:lstStyle/>
          <a:p>
            <a:pPr algn="ctr"/>
            <a:r>
              <a:rPr lang="zh-CN" sz="1200" b="1" dirty="0">
                <a:solidFill>
                  <a:srgbClr val="1A5276"/>
                </a:solidFill>
                <a:latin typeface="Arial"/>
                <a:ea typeface="Microsoft YaHei"/>
                <a:cs typeface="Arial"/>
              </a:rPr>
              <a:t>体系一决定商家怎么被找到（搜索优先级·页面设计·品牌认证），体系二决定价值怎么在商家间流动（代金券/积分/消费金全平台通用·跨店通兑·汇付直清）</a:t>
            </a:r>
          </a:p>
        </p:txBody>
      </p:sp>
      <p:sp>
        <p:nvSpPr>
          <p:cNvPr id="66" name="TextBox 66"/>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67" name="TextBox 67"/>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22</a:t>
            </a:r>
          </a:p>
        </p:txBody>
      </p:sp>
      <p:sp>
        <p:nvSpPr>
          <p:cNvPr id="68" name="TextBox 68"/>
          <p:cNvSpPr txBox="1"/>
          <p:nvPr/>
        </p:nvSpPr>
        <p:spPr>
          <a:xfrm>
            <a:off x="10949940" y="6483191"/>
            <a:ext cx="681038" cy="167640"/>
          </a:xfrm>
          <a:prstGeom prst="rect">
            <a:avLst/>
          </a:prstGeom>
          <a:noFill/>
          <a:ln>
            <a:noFill/>
          </a:ln>
        </p:spPr>
        <p:txBody>
          <a:bodyPr wrap="none" lIns="0" tIns="0" rIns="0" bIns="0" anchor="t" anchorCtr="0">
            <a:spAutoFit/>
          </a:bodyPr>
          <a:lstStyle/>
          <a:p>
            <a:pPr algn="r"/>
            <a:r>
              <a:rPr lang="zh-CN" sz="825" dirty="0">
                <a:solidFill>
                  <a:srgbClr val="A0A0A0"/>
                </a:solidFill>
                <a:latin typeface="Arial"/>
                <a:ea typeface="Microsoft YaHei"/>
                <a:cs typeface="Arial"/>
              </a:rPr>
              <a:t>两大体系架构</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75335" y="470535"/>
            <a:ext cx="6306360"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V3.2 服务费结算模型：六大核心原则</a:t>
            </a:r>
          </a:p>
        </p:txBody>
      </p:sp>
      <p:sp>
        <p:nvSpPr>
          <p:cNvPr id="5" name="TextBox 5"/>
          <p:cNvSpPr txBox="1"/>
          <p:nvPr/>
        </p:nvSpPr>
        <p:spPr>
          <a:xfrm>
            <a:off x="795338" y="926306"/>
            <a:ext cx="709445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六大原则构成链邦赋商通服务费结算与核销体系的不可动摇基石——每一个都是对三条合规红线的机制化落实</a:t>
            </a:r>
          </a:p>
        </p:txBody>
      </p:sp>
      <p:sp>
        <p:nvSpPr>
          <p:cNvPr id="6" name="Rectangle 6"/>
          <p:cNvSpPr/>
          <p:nvPr/>
        </p:nvSpPr>
        <p:spPr>
          <a:xfrm>
            <a:off x="571500" y="1333500"/>
            <a:ext cx="3571875"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7" name="Ellipse 7"/>
          <p:cNvSpPr/>
          <p:nvPr/>
        </p:nvSpPr>
        <p:spPr>
          <a:xfrm>
            <a:off x="742950" y="1457325"/>
            <a:ext cx="419100" cy="419100"/>
          </a:xfrm>
          <a:prstGeom prst="ellipse">
            <a:avLst/>
          </a:prstGeom>
          <a:solidFill>
            <a:srgbClr val="1A5276"/>
          </a:solidFill>
          <a:ln>
            <a:noFill/>
          </a:ln>
        </p:spPr>
      </p:sp>
      <p:sp>
        <p:nvSpPr>
          <p:cNvPr id="8" name="TextBox 8"/>
          <p:cNvSpPr txBox="1"/>
          <p:nvPr/>
        </p:nvSpPr>
        <p:spPr>
          <a:xfrm>
            <a:off x="868012" y="1555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9" name="TextBox 9"/>
          <p:cNvSpPr txBox="1"/>
          <p:nvPr/>
        </p:nvSpPr>
        <p:spPr>
          <a:xfrm>
            <a:off x="1312545" y="1555432"/>
            <a:ext cx="1197054"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Arial"/>
                <a:ea typeface="Microsoft YaHei"/>
                <a:cs typeface="Arial"/>
              </a:rPr>
              <a:t>交易即结算</a:t>
            </a:r>
          </a:p>
        </p:txBody>
      </p:sp>
      <p:sp>
        <p:nvSpPr>
          <p:cNvPr id="10" name="Rectangle 10"/>
          <p:cNvSpPr/>
          <p:nvPr/>
        </p:nvSpPr>
        <p:spPr>
          <a:xfrm>
            <a:off x="714375" y="1885950"/>
            <a:ext cx="3286125" cy="28575"/>
          </a:xfrm>
          <a:prstGeom prst="roundRect">
            <a:avLst>
              <a:gd name="adj" fmla="val 50000"/>
            </a:avLst>
          </a:prstGeom>
          <a:solidFill>
            <a:srgbClr val="1A5276">
              <a:alpha val="20000"/>
            </a:srgbClr>
          </a:solidFill>
          <a:ln>
            <a:noFill/>
          </a:ln>
        </p:spPr>
      </p:sp>
      <p:sp>
        <p:nvSpPr>
          <p:cNvPr id="11" name="TextBox 11"/>
          <p:cNvSpPr txBox="1"/>
          <p:nvPr/>
        </p:nvSpPr>
        <p:spPr>
          <a:xfrm>
            <a:off x="698182" y="20340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平台仅在</a:t>
            </a:r>
          </a:p>
        </p:txBody>
      </p:sp>
      <p:sp>
        <p:nvSpPr>
          <p:cNvPr id="12" name="TextBox 12"/>
          <p:cNvSpPr txBox="1"/>
          <p:nvPr/>
        </p:nvSpPr>
        <p:spPr>
          <a:xfrm>
            <a:off x="698182" y="2034064"/>
            <a:ext cx="1282041" cy="259080"/>
          </a:xfrm>
          <a:prstGeom prst="rect">
            <a:avLst/>
          </a:prstGeom>
          <a:noFill/>
          <a:ln>
            <a:noFill/>
          </a:ln>
        </p:spPr>
        <p:txBody>
          <a:bodyPr wrap="none" lIns="0" tIns="0" rIns="0" bIns="0" anchor="t" anchorCtr="0">
            <a:spAutoFit/>
          </a:bodyPr>
          <a:lstStyle/>
          <a:p>
            <a:pPr algn="l"/>
            <a:r>
              <a:rPr lang="zh-CN" sz="1275" b="1" dirty="0">
                <a:solidFill>
                  <a:srgbClr val="E67E22"/>
                </a:solidFill>
                <a:latin typeface="Arial"/>
                <a:ea typeface="Microsoft YaHei"/>
                <a:cs typeface="Arial"/>
              </a:rPr>
              <a:t>实际交易发生时</a:t>
            </a:r>
          </a:p>
        </p:txBody>
      </p:sp>
      <p:sp>
        <p:nvSpPr>
          <p:cNvPr id="13" name="TextBox 13"/>
          <p:cNvSpPr txBox="1"/>
          <p:nvPr/>
        </p:nvSpPr>
        <p:spPr>
          <a:xfrm>
            <a:off x="698182" y="2034064"/>
            <a:ext cx="882491"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获取服务费</a:t>
            </a:r>
          </a:p>
        </p:txBody>
      </p:sp>
      <p:sp>
        <p:nvSpPr>
          <p:cNvPr id="14" name="Rectangle 14"/>
          <p:cNvSpPr/>
          <p:nvPr/>
        </p:nvSpPr>
        <p:spPr>
          <a:xfrm>
            <a:off x="714375" y="2362200"/>
            <a:ext cx="3286125" cy="342900"/>
          </a:xfrm>
          <a:prstGeom prst="roundRect">
            <a:avLst>
              <a:gd name="adj" fmla="val 22222"/>
            </a:avLst>
          </a:prstGeom>
          <a:solidFill>
            <a:srgbClr val="1E8449">
              <a:alpha val="6000"/>
            </a:srgbClr>
          </a:solidFill>
          <a:ln>
            <a:noFill/>
          </a:ln>
        </p:spPr>
      </p:sp>
      <p:sp>
        <p:nvSpPr>
          <p:cNvPr id="15" name="TextBox 15"/>
          <p:cNvSpPr txBox="1"/>
          <p:nvPr/>
        </p:nvSpPr>
        <p:spPr>
          <a:xfrm>
            <a:off x="890588" y="2469356"/>
            <a:ext cx="2473881"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零固定费用 · 零预充值 · 零资金占用</a:t>
            </a:r>
          </a:p>
        </p:txBody>
      </p:sp>
      <p:sp>
        <p:nvSpPr>
          <p:cNvPr id="16" name="TextBox 16"/>
          <p:cNvSpPr txBox="1"/>
          <p:nvPr/>
        </p:nvSpPr>
        <p:spPr>
          <a:xfrm>
            <a:off x="701040" y="2839402"/>
            <a:ext cx="198691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商家无任何入驻费、年费、预存</a:t>
            </a:r>
          </a:p>
        </p:txBody>
      </p:sp>
      <p:sp>
        <p:nvSpPr>
          <p:cNvPr id="17" name="TextBox 17"/>
          <p:cNvSpPr txBox="1"/>
          <p:nvPr/>
        </p:nvSpPr>
        <p:spPr>
          <a:xfrm>
            <a:off x="701040" y="3048952"/>
            <a:ext cx="172088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无交易则无费用——公平透明</a:t>
            </a:r>
          </a:p>
        </p:txBody>
      </p:sp>
      <p:sp>
        <p:nvSpPr>
          <p:cNvPr id="18" name="TextBox 18"/>
          <p:cNvSpPr txBox="1"/>
          <p:nvPr/>
        </p:nvSpPr>
        <p:spPr>
          <a:xfrm>
            <a:off x="701040" y="3258502"/>
            <a:ext cx="184689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打通三条红线：不可承诺收益</a:t>
            </a:r>
          </a:p>
        </p:txBody>
      </p:sp>
      <p:sp>
        <p:nvSpPr>
          <p:cNvPr id="19" name="Rectangle 19"/>
          <p:cNvSpPr/>
          <p:nvPr/>
        </p:nvSpPr>
        <p:spPr>
          <a:xfrm>
            <a:off x="4286250" y="1333500"/>
            <a:ext cx="3571875"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20" name="Ellipse 20"/>
          <p:cNvSpPr/>
          <p:nvPr/>
        </p:nvSpPr>
        <p:spPr>
          <a:xfrm>
            <a:off x="4457700" y="1457325"/>
            <a:ext cx="419100" cy="419100"/>
          </a:xfrm>
          <a:prstGeom prst="ellipse">
            <a:avLst/>
          </a:prstGeom>
          <a:solidFill>
            <a:srgbClr val="E67E22"/>
          </a:solidFill>
          <a:ln>
            <a:noFill/>
          </a:ln>
        </p:spPr>
      </p:sp>
      <p:sp>
        <p:nvSpPr>
          <p:cNvPr id="21" name="TextBox 21"/>
          <p:cNvSpPr txBox="1"/>
          <p:nvPr/>
        </p:nvSpPr>
        <p:spPr>
          <a:xfrm>
            <a:off x="4582762" y="1555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22" name="TextBox 22"/>
          <p:cNvSpPr txBox="1"/>
          <p:nvPr/>
        </p:nvSpPr>
        <p:spPr>
          <a:xfrm>
            <a:off x="5027295" y="1555432"/>
            <a:ext cx="966026"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Arial"/>
                <a:ea typeface="Microsoft YaHei"/>
                <a:cs typeface="Arial"/>
              </a:rPr>
              <a:t>汇付直清</a:t>
            </a:r>
          </a:p>
        </p:txBody>
      </p:sp>
      <p:sp>
        <p:nvSpPr>
          <p:cNvPr id="23" name="Rectangle 23"/>
          <p:cNvSpPr/>
          <p:nvPr/>
        </p:nvSpPr>
        <p:spPr>
          <a:xfrm>
            <a:off x="4429125" y="1885950"/>
            <a:ext cx="3286125" cy="28575"/>
          </a:xfrm>
          <a:prstGeom prst="roundRect">
            <a:avLst>
              <a:gd name="adj" fmla="val 50000"/>
            </a:avLst>
          </a:prstGeom>
          <a:solidFill>
            <a:srgbClr val="E67E22">
              <a:alpha val="20000"/>
            </a:srgbClr>
          </a:solidFill>
          <a:ln>
            <a:noFill/>
          </a:ln>
        </p:spPr>
      </p:sp>
      <p:sp>
        <p:nvSpPr>
          <p:cNvPr id="24" name="TextBox 24"/>
          <p:cNvSpPr txBox="1"/>
          <p:nvPr/>
        </p:nvSpPr>
        <p:spPr>
          <a:xfrm>
            <a:off x="4412932" y="2034064"/>
            <a:ext cx="882491"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所有资金经</a:t>
            </a:r>
          </a:p>
        </p:txBody>
      </p:sp>
      <p:sp>
        <p:nvSpPr>
          <p:cNvPr id="25" name="TextBox 25"/>
          <p:cNvSpPr txBox="1"/>
          <p:nvPr/>
        </p:nvSpPr>
        <p:spPr>
          <a:xfrm>
            <a:off x="4412932" y="2034064"/>
            <a:ext cx="1103519" cy="259080"/>
          </a:xfrm>
          <a:prstGeom prst="rect">
            <a:avLst/>
          </a:prstGeom>
          <a:noFill/>
          <a:ln>
            <a:noFill/>
          </a:ln>
        </p:spPr>
        <p:txBody>
          <a:bodyPr wrap="none" lIns="0" tIns="0" rIns="0" bIns="0" anchor="t" anchorCtr="0">
            <a:spAutoFit/>
          </a:bodyPr>
          <a:lstStyle/>
          <a:p>
            <a:pPr algn="l"/>
            <a:r>
              <a:rPr lang="zh-CN" sz="1275" b="1" dirty="0">
                <a:solidFill>
                  <a:srgbClr val="1A5276"/>
                </a:solidFill>
                <a:latin typeface="Arial"/>
                <a:ea typeface="Microsoft YaHei"/>
                <a:cs typeface="Arial"/>
              </a:rPr>
              <a:t>汇付持牌机构</a:t>
            </a:r>
          </a:p>
        </p:txBody>
      </p:sp>
      <p:sp>
        <p:nvSpPr>
          <p:cNvPr id="26" name="TextBox 26"/>
          <p:cNvSpPr txBox="1"/>
          <p:nvPr/>
        </p:nvSpPr>
        <p:spPr>
          <a:xfrm>
            <a:off x="4412932" y="20340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直接清分</a:t>
            </a:r>
          </a:p>
        </p:txBody>
      </p:sp>
      <p:sp>
        <p:nvSpPr>
          <p:cNvPr id="27" name="Rectangle 27"/>
          <p:cNvSpPr/>
          <p:nvPr/>
        </p:nvSpPr>
        <p:spPr>
          <a:xfrm>
            <a:off x="4429125" y="2362200"/>
            <a:ext cx="3286125" cy="342900"/>
          </a:xfrm>
          <a:prstGeom prst="roundRect">
            <a:avLst>
              <a:gd name="adj" fmla="val 22222"/>
            </a:avLst>
          </a:prstGeom>
          <a:solidFill>
            <a:srgbClr val="C0392B">
              <a:alpha val="5000"/>
            </a:srgbClr>
          </a:solidFill>
          <a:ln>
            <a:noFill/>
          </a:ln>
        </p:spPr>
      </p:sp>
      <p:sp>
        <p:nvSpPr>
          <p:cNvPr id="28" name="TextBox 28"/>
          <p:cNvSpPr txBox="1"/>
          <p:nvPr/>
        </p:nvSpPr>
        <p:spPr>
          <a:xfrm>
            <a:off x="4605338" y="2469356"/>
            <a:ext cx="1378744" cy="228600"/>
          </a:xfrm>
          <a:prstGeom prst="rect">
            <a:avLst/>
          </a:prstGeom>
          <a:noFill/>
          <a:ln>
            <a:noFill/>
          </a:ln>
        </p:spPr>
        <p:txBody>
          <a:bodyPr wrap="none" lIns="0" tIns="0" rIns="0" bIns="0" anchor="t" anchorCtr="0">
            <a:spAutoFit/>
          </a:bodyPr>
          <a:lstStyle/>
          <a:p>
            <a:pPr algn="l"/>
            <a:r>
              <a:rPr lang="zh-CN" sz="1125" dirty="0">
                <a:solidFill>
                  <a:srgbClr val="C0392B"/>
                </a:solidFill>
                <a:latin typeface="Arial"/>
                <a:ea typeface="Microsoft YaHei"/>
                <a:cs typeface="Arial"/>
              </a:rPr>
              <a:t>不经过平台自有账户</a:t>
            </a:r>
          </a:p>
        </p:txBody>
      </p:sp>
      <p:sp>
        <p:nvSpPr>
          <p:cNvPr id="29" name="TextBox 29"/>
          <p:cNvSpPr txBox="1"/>
          <p:nvPr/>
        </p:nvSpPr>
        <p:spPr>
          <a:xfrm>
            <a:off x="4415790" y="2839402"/>
            <a:ext cx="214093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汇付天下持牌支付机构——合规保障</a:t>
            </a:r>
          </a:p>
        </p:txBody>
      </p:sp>
      <p:sp>
        <p:nvSpPr>
          <p:cNvPr id="30" name="TextBox 30"/>
          <p:cNvSpPr txBox="1"/>
          <p:nvPr/>
        </p:nvSpPr>
        <p:spPr>
          <a:xfrm>
            <a:off x="4415790" y="3048952"/>
            <a:ext cx="229495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消费者→汇付→商家/平台/推广者各方</a:t>
            </a:r>
          </a:p>
        </p:txBody>
      </p:sp>
      <p:sp>
        <p:nvSpPr>
          <p:cNvPr id="31" name="TextBox 31"/>
          <p:cNvSpPr txBox="1"/>
          <p:nvPr/>
        </p:nvSpPr>
        <p:spPr>
          <a:xfrm>
            <a:off x="4415790" y="3258502"/>
            <a:ext cx="198691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打通三条红线：不可形成资金池</a:t>
            </a:r>
          </a:p>
        </p:txBody>
      </p:sp>
      <p:sp>
        <p:nvSpPr>
          <p:cNvPr id="32" name="Rectangle 32"/>
          <p:cNvSpPr/>
          <p:nvPr/>
        </p:nvSpPr>
        <p:spPr>
          <a:xfrm>
            <a:off x="8001000" y="1333500"/>
            <a:ext cx="3619500"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33" name="Ellipse 33"/>
          <p:cNvSpPr/>
          <p:nvPr/>
        </p:nvSpPr>
        <p:spPr>
          <a:xfrm>
            <a:off x="8172450" y="1457325"/>
            <a:ext cx="419100" cy="419100"/>
          </a:xfrm>
          <a:prstGeom prst="ellipse">
            <a:avLst/>
          </a:prstGeom>
          <a:solidFill>
            <a:srgbClr val="D4A574"/>
          </a:solidFill>
          <a:ln>
            <a:noFill/>
          </a:ln>
        </p:spPr>
      </p:sp>
      <p:sp>
        <p:nvSpPr>
          <p:cNvPr id="34" name="TextBox 34"/>
          <p:cNvSpPr txBox="1"/>
          <p:nvPr/>
        </p:nvSpPr>
        <p:spPr>
          <a:xfrm>
            <a:off x="8297512" y="1555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35" name="TextBox 35"/>
          <p:cNvSpPr txBox="1"/>
          <p:nvPr/>
        </p:nvSpPr>
        <p:spPr>
          <a:xfrm>
            <a:off x="8742045" y="1555432"/>
            <a:ext cx="2121170"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Arial"/>
                <a:ea typeface="Microsoft YaHei"/>
                <a:cs typeface="Arial"/>
              </a:rPr>
              <a:t>跨店通兑不构成二清</a:t>
            </a:r>
          </a:p>
        </p:txBody>
      </p:sp>
      <p:sp>
        <p:nvSpPr>
          <p:cNvPr id="36" name="Rectangle 36"/>
          <p:cNvSpPr/>
          <p:nvPr/>
        </p:nvSpPr>
        <p:spPr>
          <a:xfrm>
            <a:off x="8143875" y="1885950"/>
            <a:ext cx="3333750" cy="28575"/>
          </a:xfrm>
          <a:prstGeom prst="roundRect">
            <a:avLst>
              <a:gd name="adj" fmla="val 50000"/>
            </a:avLst>
          </a:prstGeom>
          <a:solidFill>
            <a:srgbClr val="D4A574">
              <a:alpha val="20000"/>
            </a:srgbClr>
          </a:solidFill>
          <a:ln>
            <a:noFill/>
          </a:ln>
        </p:spPr>
      </p:sp>
      <p:sp>
        <p:nvSpPr>
          <p:cNvPr id="37" name="TextBox 37"/>
          <p:cNvSpPr txBox="1"/>
          <p:nvPr/>
        </p:nvSpPr>
        <p:spPr>
          <a:xfrm>
            <a:off x="8127682" y="2034064"/>
            <a:ext cx="1282041" cy="259080"/>
          </a:xfrm>
          <a:prstGeom prst="rect">
            <a:avLst/>
          </a:prstGeom>
          <a:noFill/>
          <a:ln>
            <a:noFill/>
          </a:ln>
        </p:spPr>
        <p:txBody>
          <a:bodyPr wrap="none" lIns="0" tIns="0" rIns="0" bIns="0" anchor="t" anchorCtr="0">
            <a:spAutoFit/>
          </a:bodyPr>
          <a:lstStyle/>
          <a:p>
            <a:pPr algn="l"/>
            <a:r>
              <a:rPr lang="zh-CN" sz="1275" b="1" dirty="0">
                <a:solidFill>
                  <a:srgbClr val="1E8449"/>
                </a:solidFill>
                <a:latin typeface="Arial"/>
                <a:ea typeface="Microsoft YaHei"/>
                <a:cs typeface="Arial"/>
              </a:rPr>
              <a:t>营销池统一结算</a:t>
            </a:r>
          </a:p>
        </p:txBody>
      </p:sp>
      <p:sp>
        <p:nvSpPr>
          <p:cNvPr id="38" name="TextBox 38"/>
          <p:cNvSpPr txBox="1"/>
          <p:nvPr/>
        </p:nvSpPr>
        <p:spPr>
          <a:xfrm>
            <a:off x="8127682" y="2272189"/>
            <a:ext cx="2778228"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汇付直清 · 每一笔可追溯至原始交易</a:t>
            </a:r>
          </a:p>
        </p:txBody>
      </p:sp>
      <p:sp>
        <p:nvSpPr>
          <p:cNvPr id="39" name="TextBox 39"/>
          <p:cNvSpPr txBox="1"/>
          <p:nvPr/>
        </p:nvSpPr>
        <p:spPr>
          <a:xfrm>
            <a:off x="8130540" y="2648902"/>
            <a:ext cx="200091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消费者在A店获得权益在B店使用</a:t>
            </a:r>
          </a:p>
        </p:txBody>
      </p:sp>
      <p:sp>
        <p:nvSpPr>
          <p:cNvPr id="40" name="TextBox 40"/>
          <p:cNvSpPr txBox="1"/>
          <p:nvPr/>
        </p:nvSpPr>
        <p:spPr>
          <a:xfrm>
            <a:off x="8130540" y="2858452"/>
            <a:ext cx="221794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营销池支付B店核销金额——合规闭环</a:t>
            </a:r>
          </a:p>
        </p:txBody>
      </p:sp>
      <p:sp>
        <p:nvSpPr>
          <p:cNvPr id="41" name="TextBox 41"/>
          <p:cNvSpPr txBox="1"/>
          <p:nvPr/>
        </p:nvSpPr>
        <p:spPr>
          <a:xfrm>
            <a:off x="8130540" y="3068002"/>
            <a:ext cx="226695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二清判定核心：资金是否经平台账户</a:t>
            </a:r>
          </a:p>
        </p:txBody>
      </p:sp>
      <p:sp>
        <p:nvSpPr>
          <p:cNvPr id="42" name="TextBox 42"/>
          <p:cNvSpPr txBox="1"/>
          <p:nvPr/>
        </p:nvSpPr>
        <p:spPr>
          <a:xfrm>
            <a:off x="8130540" y="3277552"/>
            <a:ext cx="2560987"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汇付直清——无平台账户中转，不构成二清</a:t>
            </a:r>
          </a:p>
        </p:txBody>
      </p:sp>
      <p:sp>
        <p:nvSpPr>
          <p:cNvPr id="43" name="Rectangle 43"/>
          <p:cNvSpPr/>
          <p:nvPr/>
        </p:nvSpPr>
        <p:spPr>
          <a:xfrm>
            <a:off x="571500" y="3810000"/>
            <a:ext cx="3571875"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44" name="Ellipse 44"/>
          <p:cNvSpPr/>
          <p:nvPr/>
        </p:nvSpPr>
        <p:spPr>
          <a:xfrm>
            <a:off x="742950" y="3933825"/>
            <a:ext cx="419100" cy="419100"/>
          </a:xfrm>
          <a:prstGeom prst="ellipse">
            <a:avLst/>
          </a:prstGeom>
          <a:solidFill>
            <a:srgbClr val="C0392B"/>
          </a:solidFill>
          <a:ln>
            <a:noFill/>
          </a:ln>
        </p:spPr>
      </p:sp>
      <p:sp>
        <p:nvSpPr>
          <p:cNvPr id="45" name="TextBox 45"/>
          <p:cNvSpPr txBox="1"/>
          <p:nvPr/>
        </p:nvSpPr>
        <p:spPr>
          <a:xfrm>
            <a:off x="868012" y="40319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46" name="TextBox 46"/>
          <p:cNvSpPr txBox="1"/>
          <p:nvPr/>
        </p:nvSpPr>
        <p:spPr>
          <a:xfrm>
            <a:off x="1312545" y="4031932"/>
            <a:ext cx="1197054"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Arial"/>
                <a:ea typeface="Microsoft YaHei"/>
                <a:cs typeface="Arial"/>
              </a:rPr>
              <a:t>消费金五不</a:t>
            </a:r>
          </a:p>
        </p:txBody>
      </p:sp>
      <p:sp>
        <p:nvSpPr>
          <p:cNvPr id="47" name="Rectangle 47"/>
          <p:cNvSpPr/>
          <p:nvPr/>
        </p:nvSpPr>
        <p:spPr>
          <a:xfrm>
            <a:off x="714375" y="4362450"/>
            <a:ext cx="3286125" cy="28575"/>
          </a:xfrm>
          <a:prstGeom prst="roundRect">
            <a:avLst>
              <a:gd name="adj" fmla="val 50000"/>
            </a:avLst>
          </a:prstGeom>
          <a:solidFill>
            <a:srgbClr val="C0392B">
              <a:alpha val="15000"/>
            </a:srgbClr>
          </a:solidFill>
          <a:ln>
            <a:noFill/>
          </a:ln>
        </p:spPr>
      </p:sp>
      <p:sp>
        <p:nvSpPr>
          <p:cNvPr id="48" name="Rectangle 48"/>
          <p:cNvSpPr/>
          <p:nvPr/>
        </p:nvSpPr>
        <p:spPr>
          <a:xfrm>
            <a:off x="714375" y="4552950"/>
            <a:ext cx="1571625" cy="323850"/>
          </a:xfrm>
          <a:prstGeom prst="roundRect">
            <a:avLst>
              <a:gd name="adj" fmla="val 23529"/>
            </a:avLst>
          </a:prstGeom>
          <a:solidFill>
            <a:srgbClr val="C0392B">
              <a:alpha val="6000"/>
            </a:srgbClr>
          </a:solidFill>
          <a:ln>
            <a:noFill/>
          </a:ln>
        </p:spPr>
      </p:sp>
      <p:sp>
        <p:nvSpPr>
          <p:cNvPr id="49" name="TextBox 49"/>
          <p:cNvSpPr txBox="1"/>
          <p:nvPr/>
        </p:nvSpPr>
        <p:spPr>
          <a:xfrm>
            <a:off x="1144143" y="4642485"/>
            <a:ext cx="702564"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不可充值</a:t>
            </a:r>
          </a:p>
        </p:txBody>
      </p:sp>
      <p:sp>
        <p:nvSpPr>
          <p:cNvPr id="50" name="Rectangle 50"/>
          <p:cNvSpPr/>
          <p:nvPr/>
        </p:nvSpPr>
        <p:spPr>
          <a:xfrm>
            <a:off x="2381250" y="4552950"/>
            <a:ext cx="1619250" cy="323850"/>
          </a:xfrm>
          <a:prstGeom prst="roundRect">
            <a:avLst>
              <a:gd name="adj" fmla="val 23529"/>
            </a:avLst>
          </a:prstGeom>
          <a:solidFill>
            <a:srgbClr val="C0392B">
              <a:alpha val="6000"/>
            </a:srgbClr>
          </a:solidFill>
          <a:ln>
            <a:noFill/>
          </a:ln>
        </p:spPr>
      </p:sp>
      <p:sp>
        <p:nvSpPr>
          <p:cNvPr id="51" name="TextBox 51"/>
          <p:cNvSpPr txBox="1"/>
          <p:nvPr/>
        </p:nvSpPr>
        <p:spPr>
          <a:xfrm>
            <a:off x="2839593" y="4642485"/>
            <a:ext cx="702564"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不可提现</a:t>
            </a:r>
          </a:p>
        </p:txBody>
      </p:sp>
      <p:sp>
        <p:nvSpPr>
          <p:cNvPr id="52" name="Rectangle 52"/>
          <p:cNvSpPr/>
          <p:nvPr/>
        </p:nvSpPr>
        <p:spPr>
          <a:xfrm>
            <a:off x="714375" y="4953000"/>
            <a:ext cx="1571625" cy="323850"/>
          </a:xfrm>
          <a:prstGeom prst="roundRect">
            <a:avLst>
              <a:gd name="adj" fmla="val 23529"/>
            </a:avLst>
          </a:prstGeom>
          <a:solidFill>
            <a:srgbClr val="C0392B">
              <a:alpha val="6000"/>
            </a:srgbClr>
          </a:solidFill>
          <a:ln>
            <a:noFill/>
          </a:ln>
        </p:spPr>
      </p:sp>
      <p:sp>
        <p:nvSpPr>
          <p:cNvPr id="53" name="TextBox 53"/>
          <p:cNvSpPr txBox="1"/>
          <p:nvPr/>
        </p:nvSpPr>
        <p:spPr>
          <a:xfrm>
            <a:off x="1144143" y="5042535"/>
            <a:ext cx="702564"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不可转让</a:t>
            </a:r>
          </a:p>
        </p:txBody>
      </p:sp>
      <p:sp>
        <p:nvSpPr>
          <p:cNvPr id="54" name="Rectangle 54"/>
          <p:cNvSpPr/>
          <p:nvPr/>
        </p:nvSpPr>
        <p:spPr>
          <a:xfrm>
            <a:off x="2381250" y="4953000"/>
            <a:ext cx="1619250" cy="323850"/>
          </a:xfrm>
          <a:prstGeom prst="roundRect">
            <a:avLst>
              <a:gd name="adj" fmla="val 23529"/>
            </a:avLst>
          </a:prstGeom>
          <a:solidFill>
            <a:srgbClr val="C0392B">
              <a:alpha val="6000"/>
            </a:srgbClr>
          </a:solidFill>
          <a:ln>
            <a:noFill/>
          </a:ln>
        </p:spPr>
      </p:sp>
      <p:sp>
        <p:nvSpPr>
          <p:cNvPr id="55" name="TextBox 55"/>
          <p:cNvSpPr txBox="1"/>
          <p:nvPr/>
        </p:nvSpPr>
        <p:spPr>
          <a:xfrm>
            <a:off x="2839593" y="5042535"/>
            <a:ext cx="702564"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不可买卖</a:t>
            </a:r>
          </a:p>
        </p:txBody>
      </p:sp>
      <p:sp>
        <p:nvSpPr>
          <p:cNvPr id="56" name="Rectangle 56"/>
          <p:cNvSpPr/>
          <p:nvPr/>
        </p:nvSpPr>
        <p:spPr>
          <a:xfrm>
            <a:off x="714375" y="5353050"/>
            <a:ext cx="3286125" cy="323850"/>
          </a:xfrm>
          <a:prstGeom prst="roundRect">
            <a:avLst>
              <a:gd name="adj" fmla="val 23529"/>
            </a:avLst>
          </a:prstGeom>
          <a:solidFill>
            <a:srgbClr val="C0392B">
              <a:alpha val="8000"/>
            </a:srgbClr>
          </a:solidFill>
          <a:ln>
            <a:noFill/>
          </a:ln>
        </p:spPr>
      </p:sp>
      <p:sp>
        <p:nvSpPr>
          <p:cNvPr id="57" name="TextBox 57"/>
          <p:cNvSpPr txBox="1"/>
          <p:nvPr/>
        </p:nvSpPr>
        <p:spPr>
          <a:xfrm>
            <a:off x="1979438" y="5434489"/>
            <a:ext cx="746474" cy="259080"/>
          </a:xfrm>
          <a:prstGeom prst="rect">
            <a:avLst/>
          </a:prstGeom>
          <a:noFill/>
          <a:ln>
            <a:noFill/>
          </a:ln>
        </p:spPr>
        <p:txBody>
          <a:bodyPr wrap="none" lIns="0" tIns="0" rIns="0" bIns="0" anchor="t" anchorCtr="0">
            <a:spAutoFit/>
          </a:bodyPr>
          <a:lstStyle/>
          <a:p>
            <a:pPr algn="ctr"/>
            <a:r>
              <a:rPr lang="zh-CN" sz="1275" b="1" dirty="0">
                <a:solidFill>
                  <a:srgbClr val="C0392B"/>
                </a:solidFill>
                <a:latin typeface="Arial"/>
                <a:ea typeface="Microsoft YaHei"/>
                <a:cs typeface="Arial"/>
              </a:rPr>
              <a:t>不可兑现</a:t>
            </a:r>
          </a:p>
        </p:txBody>
      </p:sp>
      <p:sp>
        <p:nvSpPr>
          <p:cNvPr id="58" name="TextBox 58"/>
          <p:cNvSpPr txBox="1"/>
          <p:nvPr/>
        </p:nvSpPr>
        <p:spPr>
          <a:xfrm>
            <a:off x="701992" y="5781199"/>
            <a:ext cx="341818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消费金仅限平台内消费抵扣——打通三条红线：积分不可兑现</a:t>
            </a:r>
          </a:p>
        </p:txBody>
      </p:sp>
      <p:sp>
        <p:nvSpPr>
          <p:cNvPr id="59" name="Rectangle 59"/>
          <p:cNvSpPr/>
          <p:nvPr/>
        </p:nvSpPr>
        <p:spPr>
          <a:xfrm>
            <a:off x="4286250" y="3810000"/>
            <a:ext cx="3571875"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60" name="Ellipse 60"/>
          <p:cNvSpPr/>
          <p:nvPr/>
        </p:nvSpPr>
        <p:spPr>
          <a:xfrm>
            <a:off x="4457700" y="3933825"/>
            <a:ext cx="419100" cy="419100"/>
          </a:xfrm>
          <a:prstGeom prst="ellipse">
            <a:avLst/>
          </a:prstGeom>
          <a:solidFill>
            <a:srgbClr val="1A5276"/>
          </a:solidFill>
          <a:ln>
            <a:noFill/>
          </a:ln>
        </p:spPr>
      </p:sp>
      <p:sp>
        <p:nvSpPr>
          <p:cNvPr id="61" name="TextBox 61"/>
          <p:cNvSpPr txBox="1"/>
          <p:nvPr/>
        </p:nvSpPr>
        <p:spPr>
          <a:xfrm>
            <a:off x="4582762" y="40319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5</a:t>
            </a:r>
          </a:p>
        </p:txBody>
      </p:sp>
      <p:sp>
        <p:nvSpPr>
          <p:cNvPr id="62" name="TextBox 62"/>
          <p:cNvSpPr txBox="1"/>
          <p:nvPr/>
        </p:nvSpPr>
        <p:spPr>
          <a:xfrm>
            <a:off x="5027295" y="4031932"/>
            <a:ext cx="1982553"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Arial"/>
                <a:ea typeface="Microsoft YaHei"/>
                <a:cs typeface="Arial"/>
              </a:rPr>
              <a:t>100%去金融中心化</a:t>
            </a:r>
          </a:p>
        </p:txBody>
      </p:sp>
      <p:sp>
        <p:nvSpPr>
          <p:cNvPr id="63" name="Rectangle 63"/>
          <p:cNvSpPr/>
          <p:nvPr/>
        </p:nvSpPr>
        <p:spPr>
          <a:xfrm>
            <a:off x="4429125" y="4362450"/>
            <a:ext cx="3286125" cy="28575"/>
          </a:xfrm>
          <a:prstGeom prst="roundRect">
            <a:avLst>
              <a:gd name="adj" fmla="val 50000"/>
            </a:avLst>
          </a:prstGeom>
          <a:solidFill>
            <a:srgbClr val="1A5276">
              <a:alpha val="20000"/>
            </a:srgbClr>
          </a:solidFill>
          <a:ln>
            <a:noFill/>
          </a:ln>
        </p:spPr>
      </p:sp>
      <p:sp>
        <p:nvSpPr>
          <p:cNvPr id="64" name="Rectangle 64"/>
          <p:cNvSpPr/>
          <p:nvPr/>
        </p:nvSpPr>
        <p:spPr>
          <a:xfrm>
            <a:off x="4429125" y="4552950"/>
            <a:ext cx="3286125" cy="476250"/>
          </a:xfrm>
          <a:prstGeom prst="roundRect">
            <a:avLst>
              <a:gd name="adj" fmla="val 20000"/>
            </a:avLst>
          </a:prstGeom>
          <a:solidFill>
            <a:srgbClr val="1E8449">
              <a:alpha val="6000"/>
            </a:srgbClr>
          </a:solidFill>
          <a:ln>
            <a:noFill/>
          </a:ln>
        </p:spPr>
      </p:sp>
      <p:sp>
        <p:nvSpPr>
          <p:cNvPr id="65" name="TextBox 65"/>
          <p:cNvSpPr txBox="1"/>
          <p:nvPr/>
        </p:nvSpPr>
        <p:spPr>
          <a:xfrm>
            <a:off x="5694188" y="4624864"/>
            <a:ext cx="746474" cy="259080"/>
          </a:xfrm>
          <a:prstGeom prst="rect">
            <a:avLst/>
          </a:prstGeom>
          <a:noFill/>
          <a:ln>
            <a:noFill/>
          </a:ln>
        </p:spPr>
        <p:txBody>
          <a:bodyPr wrap="none" lIns="0" tIns="0" rIns="0" bIns="0" anchor="t" anchorCtr="0">
            <a:spAutoFit/>
          </a:bodyPr>
          <a:lstStyle/>
          <a:p>
            <a:pPr algn="ctr"/>
            <a:r>
              <a:rPr lang="zh-CN" sz="1275" b="1" dirty="0">
                <a:solidFill>
                  <a:srgbClr val="1E8449"/>
                </a:solidFill>
                <a:latin typeface="Arial"/>
                <a:ea typeface="Microsoft YaHei"/>
                <a:cs typeface="Arial"/>
              </a:rPr>
              <a:t>无资金池</a:t>
            </a:r>
          </a:p>
        </p:txBody>
      </p:sp>
      <p:sp>
        <p:nvSpPr>
          <p:cNvPr id="66" name="TextBox 66"/>
          <p:cNvSpPr txBox="1"/>
          <p:nvPr/>
        </p:nvSpPr>
        <p:spPr>
          <a:xfrm>
            <a:off x="5730002" y="4866799"/>
            <a:ext cx="674846"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零沉淀资金</a:t>
            </a:r>
          </a:p>
        </p:txBody>
      </p:sp>
      <p:sp>
        <p:nvSpPr>
          <p:cNvPr id="67" name="Rectangle 67"/>
          <p:cNvSpPr/>
          <p:nvPr/>
        </p:nvSpPr>
        <p:spPr>
          <a:xfrm>
            <a:off x="4429125" y="5124450"/>
            <a:ext cx="3286125" cy="476250"/>
          </a:xfrm>
          <a:prstGeom prst="roundRect">
            <a:avLst>
              <a:gd name="adj" fmla="val 20000"/>
            </a:avLst>
          </a:prstGeom>
          <a:solidFill>
            <a:srgbClr val="1E8449">
              <a:alpha val="6000"/>
            </a:srgbClr>
          </a:solidFill>
          <a:ln>
            <a:noFill/>
          </a:ln>
        </p:spPr>
      </p:sp>
      <p:sp>
        <p:nvSpPr>
          <p:cNvPr id="68" name="TextBox 68"/>
          <p:cNvSpPr txBox="1"/>
          <p:nvPr/>
        </p:nvSpPr>
        <p:spPr>
          <a:xfrm>
            <a:off x="5636168" y="5196364"/>
            <a:ext cx="862514" cy="259080"/>
          </a:xfrm>
          <a:prstGeom prst="rect">
            <a:avLst/>
          </a:prstGeom>
          <a:noFill/>
          <a:ln>
            <a:noFill/>
          </a:ln>
        </p:spPr>
        <p:txBody>
          <a:bodyPr wrap="none" lIns="0" tIns="0" rIns="0" bIns="0" anchor="t" anchorCtr="0">
            <a:spAutoFit/>
          </a:bodyPr>
          <a:lstStyle/>
          <a:p>
            <a:pPr algn="ctr"/>
            <a:r>
              <a:rPr lang="zh-CN" sz="1275" b="1" dirty="0">
                <a:solidFill>
                  <a:srgbClr val="1E8449"/>
                </a:solidFill>
                <a:latin typeface="Arial"/>
                <a:ea typeface="Microsoft YaHei"/>
                <a:cs typeface="Arial"/>
              </a:rPr>
              <a:t>无T+N账期</a:t>
            </a:r>
          </a:p>
        </p:txBody>
      </p:sp>
      <p:sp>
        <p:nvSpPr>
          <p:cNvPr id="69" name="TextBox 69"/>
          <p:cNvSpPr txBox="1"/>
          <p:nvPr/>
        </p:nvSpPr>
        <p:spPr>
          <a:xfrm>
            <a:off x="5492722" y="5438299"/>
            <a:ext cx="1149406"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每一笔T+0实时清分</a:t>
            </a:r>
          </a:p>
        </p:txBody>
      </p:sp>
      <p:sp>
        <p:nvSpPr>
          <p:cNvPr id="70" name="TextBox 70"/>
          <p:cNvSpPr txBox="1"/>
          <p:nvPr/>
        </p:nvSpPr>
        <p:spPr>
          <a:xfrm>
            <a:off x="4416742" y="5781199"/>
            <a:ext cx="262509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打通三条红线：不可形成资金池（最高红线）</a:t>
            </a:r>
          </a:p>
        </p:txBody>
      </p:sp>
      <p:sp>
        <p:nvSpPr>
          <p:cNvPr id="71" name="Rectangle 71"/>
          <p:cNvSpPr/>
          <p:nvPr/>
        </p:nvSpPr>
        <p:spPr>
          <a:xfrm>
            <a:off x="8001000" y="3810000"/>
            <a:ext cx="3619500" cy="2286000"/>
          </a:xfrm>
          <a:prstGeom prst="roundRect">
            <a:avLst>
              <a:gd name="adj" fmla="val 5833"/>
            </a:avLst>
          </a:prstGeom>
          <a:solidFill>
            <a:srgbClr val="FFFFFF"/>
          </a:solidFill>
          <a:ln>
            <a:noFill/>
          </a:ln>
          <a:effectLst>
            <a:outerShdw blurRad="76200" dist="19050" dir="5400000" algn="ctr" rotWithShape="0">
              <a:srgbClr val="2C2C2C">
                <a:alpha val="4500"/>
              </a:srgbClr>
            </a:outerShdw>
          </a:effectLst>
        </p:spPr>
      </p:sp>
      <p:sp>
        <p:nvSpPr>
          <p:cNvPr id="72" name="Ellipse 72"/>
          <p:cNvSpPr/>
          <p:nvPr/>
        </p:nvSpPr>
        <p:spPr>
          <a:xfrm>
            <a:off x="8172450" y="3933825"/>
            <a:ext cx="419100" cy="419100"/>
          </a:xfrm>
          <a:prstGeom prst="ellipse">
            <a:avLst/>
          </a:prstGeom>
          <a:solidFill>
            <a:srgbClr val="E67E22"/>
          </a:solidFill>
          <a:ln>
            <a:noFill/>
          </a:ln>
        </p:spPr>
      </p:sp>
      <p:sp>
        <p:nvSpPr>
          <p:cNvPr id="73" name="TextBox 73"/>
          <p:cNvSpPr txBox="1"/>
          <p:nvPr/>
        </p:nvSpPr>
        <p:spPr>
          <a:xfrm>
            <a:off x="8297512" y="40319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6</a:t>
            </a:r>
          </a:p>
        </p:txBody>
      </p:sp>
      <p:sp>
        <p:nvSpPr>
          <p:cNvPr id="74" name="TextBox 74"/>
          <p:cNvSpPr txBox="1"/>
          <p:nvPr/>
        </p:nvSpPr>
        <p:spPr>
          <a:xfrm>
            <a:off x="8742045" y="4031932"/>
            <a:ext cx="1566701" cy="335280"/>
          </a:xfrm>
          <a:prstGeom prst="rect">
            <a:avLst/>
          </a:prstGeom>
          <a:noFill/>
          <a:ln>
            <a:noFill/>
          </a:ln>
        </p:spPr>
        <p:txBody>
          <a:bodyPr wrap="none" lIns="0" tIns="0" rIns="0" bIns="0" anchor="t" anchorCtr="0">
            <a:spAutoFit/>
          </a:bodyPr>
          <a:lstStyle/>
          <a:p>
            <a:pPr algn="l"/>
            <a:r>
              <a:rPr lang="zh-CN" sz="1650" b="1" dirty="0">
                <a:solidFill>
                  <a:srgbClr val="2C2C2C"/>
                </a:solidFill>
                <a:latin typeface="Arial"/>
                <a:ea typeface="Microsoft YaHei"/>
                <a:cs typeface="Arial"/>
              </a:rPr>
              <a:t>风控备用金 2%</a:t>
            </a:r>
          </a:p>
        </p:txBody>
      </p:sp>
      <p:sp>
        <p:nvSpPr>
          <p:cNvPr id="75" name="Rectangle 75"/>
          <p:cNvSpPr/>
          <p:nvPr/>
        </p:nvSpPr>
        <p:spPr>
          <a:xfrm>
            <a:off x="8143875" y="4362450"/>
            <a:ext cx="3333750" cy="28575"/>
          </a:xfrm>
          <a:prstGeom prst="roundRect">
            <a:avLst>
              <a:gd name="adj" fmla="val 50000"/>
            </a:avLst>
          </a:prstGeom>
          <a:solidFill>
            <a:srgbClr val="E67E22">
              <a:alpha val="20000"/>
            </a:srgbClr>
          </a:solidFill>
          <a:ln>
            <a:noFill/>
          </a:ln>
        </p:spPr>
      </p:sp>
      <p:sp>
        <p:nvSpPr>
          <p:cNvPr id="76" name="TextBox 76"/>
          <p:cNvSpPr txBox="1"/>
          <p:nvPr/>
        </p:nvSpPr>
        <p:spPr>
          <a:xfrm>
            <a:off x="8127682" y="4510564"/>
            <a:ext cx="746474" cy="259080"/>
          </a:xfrm>
          <a:prstGeom prst="rect">
            <a:avLst/>
          </a:prstGeom>
          <a:noFill/>
          <a:ln>
            <a:noFill/>
          </a:ln>
        </p:spPr>
        <p:txBody>
          <a:bodyPr wrap="none" lIns="0" tIns="0" rIns="0" bIns="0" anchor="t" anchorCtr="0">
            <a:spAutoFit/>
          </a:bodyPr>
          <a:lstStyle/>
          <a:p>
            <a:pPr algn="l"/>
            <a:r>
              <a:rPr lang="zh-CN" sz="1275" b="1" dirty="0">
                <a:solidFill>
                  <a:srgbClr val="1A5276"/>
                </a:solidFill>
                <a:latin typeface="Arial"/>
                <a:ea typeface="Microsoft YaHei"/>
                <a:cs typeface="Arial"/>
              </a:rPr>
              <a:t>汇付托管</a:t>
            </a:r>
          </a:p>
        </p:txBody>
      </p:sp>
      <p:sp>
        <p:nvSpPr>
          <p:cNvPr id="77" name="TextBox 77"/>
          <p:cNvSpPr txBox="1"/>
          <p:nvPr/>
        </p:nvSpPr>
        <p:spPr>
          <a:xfrm>
            <a:off x="8128635" y="4775835"/>
            <a:ext cx="1566672"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从每笔交易中提取 2%</a:t>
            </a:r>
          </a:p>
        </p:txBody>
      </p:sp>
      <p:sp>
        <p:nvSpPr>
          <p:cNvPr id="78" name="Rectangle 78"/>
          <p:cNvSpPr/>
          <p:nvPr/>
        </p:nvSpPr>
        <p:spPr>
          <a:xfrm>
            <a:off x="8143875" y="5095875"/>
            <a:ext cx="3333750" cy="438150"/>
          </a:xfrm>
          <a:prstGeom prst="roundRect">
            <a:avLst>
              <a:gd name="adj" fmla="val 21739"/>
            </a:avLst>
          </a:prstGeom>
          <a:solidFill>
            <a:srgbClr val="F0EDE8"/>
          </a:solidFill>
          <a:ln>
            <a:noFill/>
          </a:ln>
        </p:spPr>
      </p:sp>
      <p:sp>
        <p:nvSpPr>
          <p:cNvPr id="79" name="TextBox 79"/>
          <p:cNvSpPr txBox="1"/>
          <p:nvPr/>
        </p:nvSpPr>
        <p:spPr>
          <a:xfrm>
            <a:off x="8321040" y="5258752"/>
            <a:ext cx="2007918"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用途：异常交易赔付 + 合规审计</a:t>
            </a:r>
          </a:p>
        </p:txBody>
      </p:sp>
      <p:sp>
        <p:nvSpPr>
          <p:cNvPr id="80" name="TextBox 80"/>
          <p:cNvSpPr txBox="1"/>
          <p:nvPr/>
        </p:nvSpPr>
        <p:spPr>
          <a:xfrm>
            <a:off x="8130540" y="5696902"/>
            <a:ext cx="226695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资金由汇付独立托管，平台无权动用</a:t>
            </a:r>
          </a:p>
        </p:txBody>
      </p:sp>
      <p:sp>
        <p:nvSpPr>
          <p:cNvPr id="81" name="TextBox 81"/>
          <p:cNvSpPr txBox="1"/>
          <p:nvPr/>
        </p:nvSpPr>
        <p:spPr>
          <a:xfrm>
            <a:off x="8131492" y="5895499"/>
            <a:ext cx="197500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打通三条红线：三重合规保障机制</a:t>
            </a:r>
          </a:p>
        </p:txBody>
      </p:sp>
      <p:sp>
        <p:nvSpPr>
          <p:cNvPr id="82" name="TextBox 82"/>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83" name="TextBox 83"/>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23</a:t>
            </a:r>
          </a:p>
        </p:txBody>
      </p:sp>
      <p:sp>
        <p:nvSpPr>
          <p:cNvPr id="84" name="TextBox 84"/>
          <p:cNvSpPr txBox="1"/>
          <p:nvPr/>
        </p:nvSpPr>
        <p:spPr>
          <a:xfrm>
            <a:off x="10619899" y="6483191"/>
            <a:ext cx="1011079" cy="167640"/>
          </a:xfrm>
          <a:prstGeom prst="rect">
            <a:avLst/>
          </a:prstGeom>
          <a:noFill/>
          <a:ln>
            <a:noFill/>
          </a:ln>
        </p:spPr>
        <p:txBody>
          <a:bodyPr wrap="none" lIns="0" tIns="0" rIns="0" bIns="0" anchor="t" anchorCtr="0">
            <a:spAutoFit/>
          </a:bodyPr>
          <a:lstStyle/>
          <a:p>
            <a:pPr algn="r"/>
            <a:r>
              <a:rPr lang="zh-CN" sz="825" dirty="0">
                <a:solidFill>
                  <a:srgbClr val="A0A0A0"/>
                </a:solidFill>
                <a:latin typeface="Arial"/>
                <a:ea typeface="Microsoft YaHei"/>
                <a:cs typeface="Arial"/>
              </a:rPr>
              <a:t>服务费结算六大原则</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342900"/>
            <a:ext cx="57150" cy="381000"/>
          </a:xfrm>
          <a:prstGeom prst="roundRect">
            <a:avLst>
              <a:gd name="adj" fmla="val 50000"/>
            </a:avLst>
          </a:prstGeom>
          <a:solidFill>
            <a:srgbClr val="1A5276"/>
          </a:solidFill>
          <a:ln>
            <a:noFill/>
          </a:ln>
        </p:spPr>
      </p:sp>
      <p:sp>
        <p:nvSpPr>
          <p:cNvPr id="4" name="TextBox 4"/>
          <p:cNvSpPr txBox="1"/>
          <p:nvPr/>
        </p:nvSpPr>
        <p:spPr>
          <a:xfrm>
            <a:off x="727710" y="337185"/>
            <a:ext cx="10710610"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分账比例：平台商家75.4% · 联盟商家71.4% · 综合商城77.9%</a:t>
            </a:r>
          </a:p>
        </p:txBody>
      </p:sp>
      <p:sp>
        <p:nvSpPr>
          <p:cNvPr id="5" name="TextBox 5"/>
          <p:cNvSpPr txBox="1"/>
          <p:nvPr/>
        </p:nvSpPr>
        <p:spPr>
          <a:xfrm>
            <a:off x="552450" y="1076325"/>
            <a:ext cx="878205" cy="304800"/>
          </a:xfrm>
          <a:prstGeom prst="rect">
            <a:avLst/>
          </a:prstGeom>
          <a:noFill/>
          <a:ln>
            <a:noFill/>
          </a:ln>
        </p:spPr>
        <p:txBody>
          <a:bodyPr wrap="none" lIns="0" tIns="0" rIns="0" bIns="0" anchor="t" anchorCtr="0">
            <a:spAutoFit/>
          </a:bodyPr>
          <a:lstStyle/>
          <a:p>
            <a:pPr algn="l"/>
            <a:r>
              <a:rPr lang="zh-CN" sz="1500" b="1" dirty="0">
                <a:solidFill>
                  <a:srgbClr val="1A5276"/>
                </a:solidFill>
                <a:latin typeface="Arial"/>
                <a:ea typeface="Microsoft YaHei"/>
                <a:cs typeface="Arial"/>
              </a:rPr>
              <a:t>平台商家</a:t>
            </a:r>
          </a:p>
        </p:txBody>
      </p:sp>
      <p:sp>
        <p:nvSpPr>
          <p:cNvPr id="6" name="Rectangle 6"/>
          <p:cNvSpPr/>
          <p:nvPr/>
        </p:nvSpPr>
        <p:spPr>
          <a:xfrm>
            <a:off x="1666875" y="1085850"/>
            <a:ext cx="114300" cy="114300"/>
          </a:xfrm>
          <a:prstGeom prst="roundRect">
            <a:avLst>
              <a:gd name="adj" fmla="val 16667"/>
            </a:avLst>
          </a:prstGeom>
          <a:solidFill>
            <a:srgbClr val="1A5276"/>
          </a:solidFill>
          <a:ln>
            <a:noFill/>
          </a:ln>
        </p:spPr>
      </p:sp>
      <p:sp>
        <p:nvSpPr>
          <p:cNvPr id="7" name="TextBox 7"/>
          <p:cNvSpPr txBox="1"/>
          <p:nvPr/>
        </p:nvSpPr>
        <p:spPr>
          <a:xfrm>
            <a:off x="1824038" y="1078706"/>
            <a:ext cx="110120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蓝标 · Premium</a:t>
            </a:r>
          </a:p>
        </p:txBody>
      </p:sp>
      <p:sp>
        <p:nvSpPr>
          <p:cNvPr id="8" name="Rectangle 8"/>
          <p:cNvSpPr/>
          <p:nvPr/>
        </p:nvSpPr>
        <p:spPr>
          <a:xfrm>
            <a:off x="1666875" y="1390650"/>
            <a:ext cx="56007" cy="457200"/>
          </a:xfrm>
          <a:prstGeom prst="roundRect">
            <a:avLst>
              <a:gd name="adj" fmla="val 50000"/>
            </a:avLst>
          </a:prstGeom>
          <a:solidFill>
            <a:srgbClr val="7F8C8D"/>
          </a:solidFill>
          <a:ln>
            <a:noFill/>
          </a:ln>
        </p:spPr>
      </p:sp>
      <p:sp>
        <p:nvSpPr>
          <p:cNvPr id="9" name="Rectangle 9"/>
          <p:cNvSpPr/>
          <p:nvPr/>
        </p:nvSpPr>
        <p:spPr>
          <a:xfrm>
            <a:off x="1722882" y="1390650"/>
            <a:ext cx="7038213" cy="457200"/>
          </a:xfrm>
          <a:prstGeom prst="rect">
            <a:avLst/>
          </a:prstGeom>
          <a:solidFill>
            <a:srgbClr val="E67E22"/>
          </a:solidFill>
          <a:ln>
            <a:noFill/>
          </a:ln>
        </p:spPr>
      </p:sp>
      <p:sp>
        <p:nvSpPr>
          <p:cNvPr id="10" name="TextBox 10"/>
          <p:cNvSpPr txBox="1"/>
          <p:nvPr/>
        </p:nvSpPr>
        <p:spPr>
          <a:xfrm>
            <a:off x="3715881" y="1514475"/>
            <a:ext cx="114073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商家 75.4%</a:t>
            </a:r>
          </a:p>
        </p:txBody>
      </p:sp>
      <p:sp>
        <p:nvSpPr>
          <p:cNvPr id="11" name="Rectangle 11"/>
          <p:cNvSpPr/>
          <p:nvPr/>
        </p:nvSpPr>
        <p:spPr>
          <a:xfrm>
            <a:off x="8761095" y="1390650"/>
            <a:ext cx="466725" cy="457200"/>
          </a:xfrm>
          <a:prstGeom prst="rect">
            <a:avLst/>
          </a:prstGeom>
          <a:solidFill>
            <a:srgbClr val="1A5276"/>
          </a:solidFill>
          <a:ln>
            <a:noFill/>
          </a:ln>
        </p:spPr>
      </p:sp>
      <p:sp>
        <p:nvSpPr>
          <p:cNvPr id="12" name="Rectangle 12"/>
          <p:cNvSpPr/>
          <p:nvPr/>
        </p:nvSpPr>
        <p:spPr>
          <a:xfrm>
            <a:off x="9227820" y="1390650"/>
            <a:ext cx="840105" cy="457200"/>
          </a:xfrm>
          <a:prstGeom prst="rect">
            <a:avLst/>
          </a:prstGeom>
          <a:solidFill>
            <a:srgbClr val="1E8449"/>
          </a:solidFill>
          <a:ln>
            <a:noFill/>
          </a:ln>
        </p:spPr>
      </p:sp>
      <p:sp>
        <p:nvSpPr>
          <p:cNvPr id="13" name="Rectangle 13"/>
          <p:cNvSpPr/>
          <p:nvPr/>
        </p:nvSpPr>
        <p:spPr>
          <a:xfrm>
            <a:off x="10067925" y="1390650"/>
            <a:ext cx="93345" cy="457200"/>
          </a:xfrm>
          <a:prstGeom prst="rect">
            <a:avLst/>
          </a:prstGeom>
          <a:solidFill>
            <a:srgbClr val="D4A574"/>
          </a:solidFill>
          <a:ln>
            <a:noFill/>
          </a:ln>
        </p:spPr>
      </p:sp>
      <p:sp>
        <p:nvSpPr>
          <p:cNvPr id="14" name="Rectangle 14"/>
          <p:cNvSpPr/>
          <p:nvPr/>
        </p:nvSpPr>
        <p:spPr>
          <a:xfrm>
            <a:off x="10161270" y="1390650"/>
            <a:ext cx="280035" cy="457200"/>
          </a:xfrm>
          <a:prstGeom prst="rect">
            <a:avLst/>
          </a:prstGeom>
          <a:solidFill>
            <a:srgbClr val="D4A574"/>
          </a:solidFill>
          <a:ln>
            <a:noFill/>
          </a:ln>
        </p:spPr>
      </p:sp>
      <p:sp>
        <p:nvSpPr>
          <p:cNvPr id="15" name="Rectangle 15"/>
          <p:cNvSpPr/>
          <p:nvPr/>
        </p:nvSpPr>
        <p:spPr>
          <a:xfrm>
            <a:off x="10441305" y="1390650"/>
            <a:ext cx="373380" cy="457200"/>
          </a:xfrm>
          <a:prstGeom prst="rect">
            <a:avLst/>
          </a:prstGeom>
          <a:solidFill>
            <a:srgbClr val="F5D0A0"/>
          </a:solidFill>
          <a:ln>
            <a:noFill/>
          </a:ln>
        </p:spPr>
      </p:sp>
      <p:sp>
        <p:nvSpPr>
          <p:cNvPr id="16" name="Rectangle 16"/>
          <p:cNvSpPr/>
          <p:nvPr/>
        </p:nvSpPr>
        <p:spPr>
          <a:xfrm>
            <a:off x="10814685" y="1390650"/>
            <a:ext cx="186690" cy="457200"/>
          </a:xfrm>
          <a:prstGeom prst="roundRect">
            <a:avLst>
              <a:gd name="adj" fmla="val 20408"/>
            </a:avLst>
          </a:prstGeom>
          <a:solidFill>
            <a:srgbClr val="C0392B"/>
          </a:solidFill>
          <a:ln>
            <a:noFill/>
          </a:ln>
        </p:spPr>
      </p:sp>
      <p:sp>
        <p:nvSpPr>
          <p:cNvPr id="17" name="TextBox 17"/>
          <p:cNvSpPr txBox="1"/>
          <p:nvPr/>
        </p:nvSpPr>
        <p:spPr>
          <a:xfrm>
            <a:off x="1684972" y="1225391"/>
            <a:ext cx="240982"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渠道</a:t>
            </a:r>
          </a:p>
        </p:txBody>
      </p:sp>
      <p:sp>
        <p:nvSpPr>
          <p:cNvPr id="18" name="TextBox 18"/>
          <p:cNvSpPr txBox="1"/>
          <p:nvPr/>
        </p:nvSpPr>
        <p:spPr>
          <a:xfrm>
            <a:off x="8790622" y="1225391"/>
            <a:ext cx="240982" cy="167640"/>
          </a:xfrm>
          <a:prstGeom prst="rect">
            <a:avLst/>
          </a:prstGeom>
          <a:noFill/>
          <a:ln>
            <a:noFill/>
          </a:ln>
        </p:spPr>
        <p:txBody>
          <a:bodyPr wrap="none" lIns="0" tIns="0" rIns="0" bIns="0" anchor="t" anchorCtr="0">
            <a:spAutoFit/>
          </a:bodyPr>
          <a:lstStyle/>
          <a:p>
            <a:pPr algn="l"/>
            <a:r>
              <a:rPr lang="zh-CN" sz="825" dirty="0">
                <a:solidFill>
                  <a:srgbClr val="1A5276"/>
                </a:solidFill>
                <a:latin typeface="Arial"/>
                <a:ea typeface="Microsoft YaHei"/>
                <a:cs typeface="Arial"/>
              </a:rPr>
              <a:t>平台</a:t>
            </a:r>
          </a:p>
        </p:txBody>
      </p:sp>
      <p:sp>
        <p:nvSpPr>
          <p:cNvPr id="19" name="TextBox 19"/>
          <p:cNvSpPr txBox="1"/>
          <p:nvPr/>
        </p:nvSpPr>
        <p:spPr>
          <a:xfrm>
            <a:off x="9371648" y="1225391"/>
            <a:ext cx="240982" cy="167640"/>
          </a:xfrm>
          <a:prstGeom prst="rect">
            <a:avLst/>
          </a:prstGeom>
          <a:noFill/>
          <a:ln>
            <a:noFill/>
          </a:ln>
        </p:spPr>
        <p:txBody>
          <a:bodyPr wrap="none" lIns="0" tIns="0" rIns="0" bIns="0" anchor="t" anchorCtr="0">
            <a:spAutoFit/>
          </a:bodyPr>
          <a:lstStyle/>
          <a:p>
            <a:pPr algn="l"/>
            <a:r>
              <a:rPr lang="zh-CN" sz="825" dirty="0">
                <a:solidFill>
                  <a:srgbClr val="1E8449"/>
                </a:solidFill>
                <a:latin typeface="Arial"/>
                <a:ea typeface="Microsoft YaHei"/>
                <a:cs typeface="Arial"/>
              </a:rPr>
              <a:t>推广</a:t>
            </a:r>
          </a:p>
        </p:txBody>
      </p:sp>
      <p:sp>
        <p:nvSpPr>
          <p:cNvPr id="20" name="TextBox 20"/>
          <p:cNvSpPr txBox="1"/>
          <p:nvPr/>
        </p:nvSpPr>
        <p:spPr>
          <a:xfrm>
            <a:off x="10447972" y="1225391"/>
            <a:ext cx="240982" cy="167640"/>
          </a:xfrm>
          <a:prstGeom prst="rect">
            <a:avLst/>
          </a:prstGeom>
          <a:noFill/>
          <a:ln>
            <a:noFill/>
          </a:ln>
        </p:spPr>
        <p:txBody>
          <a:bodyPr wrap="none" lIns="0" tIns="0" rIns="0" bIns="0" anchor="t" anchorCtr="0">
            <a:spAutoFit/>
          </a:bodyPr>
          <a:lstStyle/>
          <a:p>
            <a:pPr algn="l"/>
            <a:r>
              <a:rPr lang="zh-CN" sz="825" dirty="0">
                <a:solidFill>
                  <a:srgbClr val="C0392B"/>
                </a:solidFill>
                <a:latin typeface="Arial"/>
                <a:ea typeface="Microsoft YaHei"/>
                <a:cs typeface="Arial"/>
              </a:rPr>
              <a:t>风控</a:t>
            </a:r>
          </a:p>
        </p:txBody>
      </p:sp>
      <p:sp>
        <p:nvSpPr>
          <p:cNvPr id="21" name="TextBox 21"/>
          <p:cNvSpPr txBox="1"/>
          <p:nvPr/>
        </p:nvSpPr>
        <p:spPr>
          <a:xfrm>
            <a:off x="552450" y="2124075"/>
            <a:ext cx="878205" cy="304800"/>
          </a:xfrm>
          <a:prstGeom prst="rect">
            <a:avLst/>
          </a:prstGeom>
          <a:noFill/>
          <a:ln>
            <a:noFill/>
          </a:ln>
        </p:spPr>
        <p:txBody>
          <a:bodyPr wrap="none" lIns="0" tIns="0" rIns="0" bIns="0" anchor="t" anchorCtr="0">
            <a:spAutoFit/>
          </a:bodyPr>
          <a:lstStyle/>
          <a:p>
            <a:pPr algn="l"/>
            <a:r>
              <a:rPr lang="zh-CN" sz="1500" b="1" dirty="0">
                <a:solidFill>
                  <a:srgbClr val="1E8449"/>
                </a:solidFill>
                <a:latin typeface="Arial"/>
                <a:ea typeface="Microsoft YaHei"/>
                <a:cs typeface="Arial"/>
              </a:rPr>
              <a:t>联盟商家</a:t>
            </a:r>
          </a:p>
        </p:txBody>
      </p:sp>
      <p:sp>
        <p:nvSpPr>
          <p:cNvPr id="22" name="Rectangle 22"/>
          <p:cNvSpPr/>
          <p:nvPr/>
        </p:nvSpPr>
        <p:spPr>
          <a:xfrm>
            <a:off x="1666875" y="2133600"/>
            <a:ext cx="114300" cy="114300"/>
          </a:xfrm>
          <a:prstGeom prst="roundRect">
            <a:avLst>
              <a:gd name="adj" fmla="val 16667"/>
            </a:avLst>
          </a:prstGeom>
          <a:solidFill>
            <a:srgbClr val="1E8449"/>
          </a:solidFill>
          <a:ln>
            <a:noFill/>
          </a:ln>
        </p:spPr>
      </p:sp>
      <p:sp>
        <p:nvSpPr>
          <p:cNvPr id="23" name="TextBox 23"/>
          <p:cNvSpPr txBox="1"/>
          <p:nvPr/>
        </p:nvSpPr>
        <p:spPr>
          <a:xfrm>
            <a:off x="1824038" y="2126456"/>
            <a:ext cx="116121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绿标 · Standard</a:t>
            </a:r>
          </a:p>
        </p:txBody>
      </p:sp>
      <p:sp>
        <p:nvSpPr>
          <p:cNvPr id="24" name="Rectangle 24"/>
          <p:cNvSpPr/>
          <p:nvPr/>
        </p:nvSpPr>
        <p:spPr>
          <a:xfrm>
            <a:off x="1666875" y="2438400"/>
            <a:ext cx="56007" cy="457200"/>
          </a:xfrm>
          <a:prstGeom prst="roundRect">
            <a:avLst>
              <a:gd name="adj" fmla="val 50000"/>
            </a:avLst>
          </a:prstGeom>
          <a:solidFill>
            <a:srgbClr val="7F8C8D"/>
          </a:solidFill>
          <a:ln>
            <a:noFill/>
          </a:ln>
        </p:spPr>
      </p:sp>
      <p:sp>
        <p:nvSpPr>
          <p:cNvPr id="25" name="Rectangle 25"/>
          <p:cNvSpPr/>
          <p:nvPr/>
        </p:nvSpPr>
        <p:spPr>
          <a:xfrm>
            <a:off x="1722882" y="2438400"/>
            <a:ext cx="6664833" cy="457200"/>
          </a:xfrm>
          <a:prstGeom prst="rect">
            <a:avLst/>
          </a:prstGeom>
          <a:solidFill>
            <a:srgbClr val="E67E22"/>
          </a:solidFill>
          <a:ln>
            <a:noFill/>
          </a:ln>
        </p:spPr>
      </p:sp>
      <p:sp>
        <p:nvSpPr>
          <p:cNvPr id="26" name="TextBox 26"/>
          <p:cNvSpPr txBox="1"/>
          <p:nvPr/>
        </p:nvSpPr>
        <p:spPr>
          <a:xfrm>
            <a:off x="3525381" y="2562225"/>
            <a:ext cx="114073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商家 71.4%</a:t>
            </a:r>
          </a:p>
        </p:txBody>
      </p:sp>
      <p:sp>
        <p:nvSpPr>
          <p:cNvPr id="27" name="Rectangle 27"/>
          <p:cNvSpPr/>
          <p:nvPr/>
        </p:nvSpPr>
        <p:spPr>
          <a:xfrm>
            <a:off x="8387715" y="2438400"/>
            <a:ext cx="420052" cy="457200"/>
          </a:xfrm>
          <a:prstGeom prst="rect">
            <a:avLst/>
          </a:prstGeom>
          <a:solidFill>
            <a:srgbClr val="2E86C1"/>
          </a:solidFill>
          <a:ln>
            <a:noFill/>
          </a:ln>
        </p:spPr>
      </p:sp>
      <p:sp>
        <p:nvSpPr>
          <p:cNvPr id="28" name="Rectangle 28"/>
          <p:cNvSpPr/>
          <p:nvPr/>
        </p:nvSpPr>
        <p:spPr>
          <a:xfrm>
            <a:off x="8807768" y="2438400"/>
            <a:ext cx="466725" cy="457200"/>
          </a:xfrm>
          <a:prstGeom prst="rect">
            <a:avLst/>
          </a:prstGeom>
          <a:solidFill>
            <a:srgbClr val="1A5276"/>
          </a:solidFill>
          <a:ln>
            <a:noFill/>
          </a:ln>
        </p:spPr>
      </p:sp>
      <p:sp>
        <p:nvSpPr>
          <p:cNvPr id="29" name="Rectangle 29"/>
          <p:cNvSpPr/>
          <p:nvPr/>
        </p:nvSpPr>
        <p:spPr>
          <a:xfrm>
            <a:off x="9274492" y="2438400"/>
            <a:ext cx="933450" cy="457200"/>
          </a:xfrm>
          <a:prstGeom prst="rect">
            <a:avLst/>
          </a:prstGeom>
          <a:solidFill>
            <a:srgbClr val="1E8449"/>
          </a:solidFill>
          <a:ln>
            <a:noFill/>
          </a:ln>
        </p:spPr>
      </p:sp>
      <p:sp>
        <p:nvSpPr>
          <p:cNvPr id="30" name="Rectangle 30"/>
          <p:cNvSpPr/>
          <p:nvPr/>
        </p:nvSpPr>
        <p:spPr>
          <a:xfrm>
            <a:off x="10207942" y="2438400"/>
            <a:ext cx="93345" cy="457200"/>
          </a:xfrm>
          <a:prstGeom prst="rect">
            <a:avLst/>
          </a:prstGeom>
          <a:solidFill>
            <a:srgbClr val="D4A574"/>
          </a:solidFill>
          <a:ln>
            <a:noFill/>
          </a:ln>
        </p:spPr>
      </p:sp>
      <p:sp>
        <p:nvSpPr>
          <p:cNvPr id="31" name="Rectangle 31"/>
          <p:cNvSpPr/>
          <p:nvPr/>
        </p:nvSpPr>
        <p:spPr>
          <a:xfrm>
            <a:off x="10301288" y="2438400"/>
            <a:ext cx="186690" cy="457200"/>
          </a:xfrm>
          <a:prstGeom prst="rect">
            <a:avLst/>
          </a:prstGeom>
          <a:solidFill>
            <a:srgbClr val="D4A574"/>
          </a:solidFill>
          <a:ln>
            <a:noFill/>
          </a:ln>
        </p:spPr>
      </p:sp>
      <p:sp>
        <p:nvSpPr>
          <p:cNvPr id="32" name="Rectangle 32"/>
          <p:cNvSpPr/>
          <p:nvPr/>
        </p:nvSpPr>
        <p:spPr>
          <a:xfrm>
            <a:off x="10487978" y="2438400"/>
            <a:ext cx="326708" cy="457200"/>
          </a:xfrm>
          <a:prstGeom prst="rect">
            <a:avLst/>
          </a:prstGeom>
          <a:solidFill>
            <a:srgbClr val="F5D0A0"/>
          </a:solidFill>
          <a:ln>
            <a:noFill/>
          </a:ln>
        </p:spPr>
      </p:sp>
      <p:sp>
        <p:nvSpPr>
          <p:cNvPr id="33" name="Rectangle 33"/>
          <p:cNvSpPr/>
          <p:nvPr/>
        </p:nvSpPr>
        <p:spPr>
          <a:xfrm>
            <a:off x="10814685" y="2438400"/>
            <a:ext cx="186690" cy="457200"/>
          </a:xfrm>
          <a:prstGeom prst="roundRect">
            <a:avLst>
              <a:gd name="adj" fmla="val 20408"/>
            </a:avLst>
          </a:prstGeom>
          <a:solidFill>
            <a:srgbClr val="C0392B"/>
          </a:solidFill>
          <a:ln>
            <a:noFill/>
          </a:ln>
        </p:spPr>
      </p:sp>
      <p:sp>
        <p:nvSpPr>
          <p:cNvPr id="34" name="TextBox 34"/>
          <p:cNvSpPr txBox="1"/>
          <p:nvPr/>
        </p:nvSpPr>
        <p:spPr>
          <a:xfrm>
            <a:off x="1684972" y="2273141"/>
            <a:ext cx="240982"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渠道</a:t>
            </a:r>
          </a:p>
        </p:txBody>
      </p:sp>
      <p:sp>
        <p:nvSpPr>
          <p:cNvPr id="35" name="TextBox 35"/>
          <p:cNvSpPr txBox="1"/>
          <p:nvPr/>
        </p:nvSpPr>
        <p:spPr>
          <a:xfrm>
            <a:off x="8409622" y="2273141"/>
            <a:ext cx="350996" cy="167640"/>
          </a:xfrm>
          <a:prstGeom prst="rect">
            <a:avLst/>
          </a:prstGeom>
          <a:noFill/>
          <a:ln>
            <a:noFill/>
          </a:ln>
        </p:spPr>
        <p:txBody>
          <a:bodyPr wrap="none" lIns="0" tIns="0" rIns="0" bIns="0" anchor="t" anchorCtr="0">
            <a:spAutoFit/>
          </a:bodyPr>
          <a:lstStyle/>
          <a:p>
            <a:pPr algn="l"/>
            <a:r>
              <a:rPr lang="zh-CN" sz="825" dirty="0">
                <a:solidFill>
                  <a:srgbClr val="2E86C1"/>
                </a:solidFill>
                <a:latin typeface="Arial"/>
                <a:ea typeface="Microsoft YaHei"/>
                <a:cs typeface="Arial"/>
              </a:rPr>
              <a:t>渠道费</a:t>
            </a:r>
          </a:p>
        </p:txBody>
      </p:sp>
      <p:sp>
        <p:nvSpPr>
          <p:cNvPr id="36" name="TextBox 36"/>
          <p:cNvSpPr txBox="1"/>
          <p:nvPr/>
        </p:nvSpPr>
        <p:spPr>
          <a:xfrm>
            <a:off x="8847772" y="2273141"/>
            <a:ext cx="240982" cy="167640"/>
          </a:xfrm>
          <a:prstGeom prst="rect">
            <a:avLst/>
          </a:prstGeom>
          <a:noFill/>
          <a:ln>
            <a:noFill/>
          </a:ln>
        </p:spPr>
        <p:txBody>
          <a:bodyPr wrap="none" lIns="0" tIns="0" rIns="0" bIns="0" anchor="t" anchorCtr="0">
            <a:spAutoFit/>
          </a:bodyPr>
          <a:lstStyle/>
          <a:p>
            <a:pPr algn="l"/>
            <a:r>
              <a:rPr lang="zh-CN" sz="825" dirty="0">
                <a:solidFill>
                  <a:srgbClr val="1A5276"/>
                </a:solidFill>
                <a:latin typeface="Arial"/>
                <a:ea typeface="Microsoft YaHei"/>
                <a:cs typeface="Arial"/>
              </a:rPr>
              <a:t>平台</a:t>
            </a:r>
          </a:p>
        </p:txBody>
      </p:sp>
      <p:sp>
        <p:nvSpPr>
          <p:cNvPr id="37" name="TextBox 37"/>
          <p:cNvSpPr txBox="1"/>
          <p:nvPr/>
        </p:nvSpPr>
        <p:spPr>
          <a:xfrm>
            <a:off x="9419272" y="2273141"/>
            <a:ext cx="240982" cy="167640"/>
          </a:xfrm>
          <a:prstGeom prst="rect">
            <a:avLst/>
          </a:prstGeom>
          <a:noFill/>
          <a:ln>
            <a:noFill/>
          </a:ln>
        </p:spPr>
        <p:txBody>
          <a:bodyPr wrap="none" lIns="0" tIns="0" rIns="0" bIns="0" anchor="t" anchorCtr="0">
            <a:spAutoFit/>
          </a:bodyPr>
          <a:lstStyle/>
          <a:p>
            <a:pPr algn="l"/>
            <a:r>
              <a:rPr lang="zh-CN" sz="825" dirty="0">
                <a:solidFill>
                  <a:srgbClr val="1E8449"/>
                </a:solidFill>
                <a:latin typeface="Arial"/>
                <a:ea typeface="Microsoft YaHei"/>
                <a:cs typeface="Arial"/>
              </a:rPr>
              <a:t>推广</a:t>
            </a:r>
          </a:p>
        </p:txBody>
      </p:sp>
      <p:sp>
        <p:nvSpPr>
          <p:cNvPr id="38" name="TextBox 38"/>
          <p:cNvSpPr txBox="1"/>
          <p:nvPr/>
        </p:nvSpPr>
        <p:spPr>
          <a:xfrm>
            <a:off x="10495598" y="2273141"/>
            <a:ext cx="240982" cy="167640"/>
          </a:xfrm>
          <a:prstGeom prst="rect">
            <a:avLst/>
          </a:prstGeom>
          <a:noFill/>
          <a:ln>
            <a:noFill/>
          </a:ln>
        </p:spPr>
        <p:txBody>
          <a:bodyPr wrap="none" lIns="0" tIns="0" rIns="0" bIns="0" anchor="t" anchorCtr="0">
            <a:spAutoFit/>
          </a:bodyPr>
          <a:lstStyle/>
          <a:p>
            <a:pPr algn="l"/>
            <a:r>
              <a:rPr lang="zh-CN" sz="825" dirty="0">
                <a:solidFill>
                  <a:srgbClr val="C0392B"/>
                </a:solidFill>
                <a:latin typeface="Arial"/>
                <a:ea typeface="Microsoft YaHei"/>
                <a:cs typeface="Arial"/>
              </a:rPr>
              <a:t>风控</a:t>
            </a:r>
          </a:p>
        </p:txBody>
      </p:sp>
      <p:sp>
        <p:nvSpPr>
          <p:cNvPr id="39" name="TextBox 39"/>
          <p:cNvSpPr txBox="1"/>
          <p:nvPr/>
        </p:nvSpPr>
        <p:spPr>
          <a:xfrm>
            <a:off x="552450" y="3171825"/>
            <a:ext cx="878205" cy="304800"/>
          </a:xfrm>
          <a:prstGeom prst="rect">
            <a:avLst/>
          </a:prstGeom>
          <a:noFill/>
          <a:ln>
            <a:noFill/>
          </a:ln>
        </p:spPr>
        <p:txBody>
          <a:bodyPr wrap="none" lIns="0" tIns="0" rIns="0" bIns="0" anchor="t" anchorCtr="0">
            <a:spAutoFit/>
          </a:bodyPr>
          <a:lstStyle/>
          <a:p>
            <a:pPr algn="l"/>
            <a:r>
              <a:rPr lang="zh-CN" sz="1500" b="1" dirty="0">
                <a:solidFill>
                  <a:srgbClr val="7F8C8D"/>
                </a:solidFill>
                <a:latin typeface="Arial"/>
                <a:ea typeface="Microsoft YaHei"/>
                <a:cs typeface="Arial"/>
              </a:rPr>
              <a:t>综合商城</a:t>
            </a:r>
          </a:p>
        </p:txBody>
      </p:sp>
      <p:sp>
        <p:nvSpPr>
          <p:cNvPr id="40" name="Rectangle 40"/>
          <p:cNvSpPr/>
          <p:nvPr/>
        </p:nvSpPr>
        <p:spPr>
          <a:xfrm>
            <a:off x="1666875" y="3181350"/>
            <a:ext cx="114300" cy="114300"/>
          </a:xfrm>
          <a:prstGeom prst="roundRect">
            <a:avLst>
              <a:gd name="adj" fmla="val 16667"/>
            </a:avLst>
          </a:prstGeom>
          <a:solidFill>
            <a:srgbClr val="7F8C8D"/>
          </a:solidFill>
          <a:ln>
            <a:noFill/>
          </a:ln>
        </p:spPr>
      </p:sp>
      <p:sp>
        <p:nvSpPr>
          <p:cNvPr id="41" name="TextBox 41"/>
          <p:cNvSpPr txBox="1"/>
          <p:nvPr/>
        </p:nvSpPr>
        <p:spPr>
          <a:xfrm>
            <a:off x="1824038" y="3174206"/>
            <a:ext cx="102620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灰标 · Minimal</a:t>
            </a:r>
          </a:p>
        </p:txBody>
      </p:sp>
      <p:sp>
        <p:nvSpPr>
          <p:cNvPr id="42" name="Rectangle 42"/>
          <p:cNvSpPr/>
          <p:nvPr/>
        </p:nvSpPr>
        <p:spPr>
          <a:xfrm>
            <a:off x="1666875" y="3486150"/>
            <a:ext cx="56007" cy="457200"/>
          </a:xfrm>
          <a:prstGeom prst="roundRect">
            <a:avLst>
              <a:gd name="adj" fmla="val 50000"/>
            </a:avLst>
          </a:prstGeom>
          <a:solidFill>
            <a:srgbClr val="7F8C8D"/>
          </a:solidFill>
          <a:ln>
            <a:noFill/>
          </a:ln>
        </p:spPr>
      </p:sp>
      <p:sp>
        <p:nvSpPr>
          <p:cNvPr id="43" name="Rectangle 43"/>
          <p:cNvSpPr/>
          <p:nvPr/>
        </p:nvSpPr>
        <p:spPr>
          <a:xfrm>
            <a:off x="1722882" y="3486150"/>
            <a:ext cx="7271576" cy="457200"/>
          </a:xfrm>
          <a:prstGeom prst="rect">
            <a:avLst/>
          </a:prstGeom>
          <a:solidFill>
            <a:srgbClr val="E67E22"/>
          </a:solidFill>
          <a:ln>
            <a:noFill/>
          </a:ln>
        </p:spPr>
      </p:sp>
      <p:sp>
        <p:nvSpPr>
          <p:cNvPr id="44" name="TextBox 44"/>
          <p:cNvSpPr txBox="1"/>
          <p:nvPr/>
        </p:nvSpPr>
        <p:spPr>
          <a:xfrm>
            <a:off x="3811131" y="3609975"/>
            <a:ext cx="114073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商家 77.9%</a:t>
            </a:r>
          </a:p>
        </p:txBody>
      </p:sp>
      <p:sp>
        <p:nvSpPr>
          <p:cNvPr id="45" name="Rectangle 45"/>
          <p:cNvSpPr/>
          <p:nvPr/>
        </p:nvSpPr>
        <p:spPr>
          <a:xfrm>
            <a:off x="8994458" y="3486150"/>
            <a:ext cx="560070" cy="457200"/>
          </a:xfrm>
          <a:prstGeom prst="rect">
            <a:avLst/>
          </a:prstGeom>
          <a:solidFill>
            <a:srgbClr val="1A5276"/>
          </a:solidFill>
          <a:ln>
            <a:noFill/>
          </a:ln>
        </p:spPr>
      </p:sp>
      <p:sp>
        <p:nvSpPr>
          <p:cNvPr id="46" name="Rectangle 46"/>
          <p:cNvSpPr/>
          <p:nvPr/>
        </p:nvSpPr>
        <p:spPr>
          <a:xfrm>
            <a:off x="9554528" y="3486150"/>
            <a:ext cx="560070" cy="457200"/>
          </a:xfrm>
          <a:prstGeom prst="rect">
            <a:avLst/>
          </a:prstGeom>
          <a:solidFill>
            <a:srgbClr val="1E8449"/>
          </a:solidFill>
          <a:ln>
            <a:noFill/>
          </a:ln>
        </p:spPr>
      </p:sp>
      <p:sp>
        <p:nvSpPr>
          <p:cNvPr id="47" name="Rectangle 47"/>
          <p:cNvSpPr/>
          <p:nvPr/>
        </p:nvSpPr>
        <p:spPr>
          <a:xfrm>
            <a:off x="10114598" y="3486150"/>
            <a:ext cx="93345" cy="457200"/>
          </a:xfrm>
          <a:prstGeom prst="rect">
            <a:avLst/>
          </a:prstGeom>
          <a:solidFill>
            <a:srgbClr val="D4A574"/>
          </a:solidFill>
          <a:ln>
            <a:noFill/>
          </a:ln>
        </p:spPr>
      </p:sp>
      <p:sp>
        <p:nvSpPr>
          <p:cNvPr id="48" name="Rectangle 48"/>
          <p:cNvSpPr/>
          <p:nvPr/>
        </p:nvSpPr>
        <p:spPr>
          <a:xfrm>
            <a:off x="10207942" y="3486150"/>
            <a:ext cx="280035" cy="457200"/>
          </a:xfrm>
          <a:prstGeom prst="rect">
            <a:avLst/>
          </a:prstGeom>
          <a:solidFill>
            <a:srgbClr val="D4A574"/>
          </a:solidFill>
          <a:ln>
            <a:noFill/>
          </a:ln>
        </p:spPr>
      </p:sp>
      <p:sp>
        <p:nvSpPr>
          <p:cNvPr id="49" name="Rectangle 49"/>
          <p:cNvSpPr/>
          <p:nvPr/>
        </p:nvSpPr>
        <p:spPr>
          <a:xfrm>
            <a:off x="10487978" y="3486150"/>
            <a:ext cx="326708" cy="457200"/>
          </a:xfrm>
          <a:prstGeom prst="rect">
            <a:avLst/>
          </a:prstGeom>
          <a:solidFill>
            <a:srgbClr val="F5D0A0"/>
          </a:solidFill>
          <a:ln>
            <a:noFill/>
          </a:ln>
        </p:spPr>
      </p:sp>
      <p:sp>
        <p:nvSpPr>
          <p:cNvPr id="50" name="Rectangle 50"/>
          <p:cNvSpPr/>
          <p:nvPr/>
        </p:nvSpPr>
        <p:spPr>
          <a:xfrm>
            <a:off x="10814685" y="3486150"/>
            <a:ext cx="186690" cy="457200"/>
          </a:xfrm>
          <a:prstGeom prst="roundRect">
            <a:avLst>
              <a:gd name="adj" fmla="val 20408"/>
            </a:avLst>
          </a:prstGeom>
          <a:solidFill>
            <a:srgbClr val="C0392B"/>
          </a:solidFill>
          <a:ln>
            <a:noFill/>
          </a:ln>
        </p:spPr>
      </p:sp>
      <p:sp>
        <p:nvSpPr>
          <p:cNvPr id="51" name="TextBox 51"/>
          <p:cNvSpPr txBox="1"/>
          <p:nvPr/>
        </p:nvSpPr>
        <p:spPr>
          <a:xfrm>
            <a:off x="1684972" y="3320891"/>
            <a:ext cx="240982"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渠道</a:t>
            </a:r>
          </a:p>
        </p:txBody>
      </p:sp>
      <p:sp>
        <p:nvSpPr>
          <p:cNvPr id="52" name="TextBox 52"/>
          <p:cNvSpPr txBox="1"/>
          <p:nvPr/>
        </p:nvSpPr>
        <p:spPr>
          <a:xfrm>
            <a:off x="9019222" y="3320891"/>
            <a:ext cx="240982" cy="167640"/>
          </a:xfrm>
          <a:prstGeom prst="rect">
            <a:avLst/>
          </a:prstGeom>
          <a:noFill/>
          <a:ln>
            <a:noFill/>
          </a:ln>
        </p:spPr>
        <p:txBody>
          <a:bodyPr wrap="none" lIns="0" tIns="0" rIns="0" bIns="0" anchor="t" anchorCtr="0">
            <a:spAutoFit/>
          </a:bodyPr>
          <a:lstStyle/>
          <a:p>
            <a:pPr algn="l"/>
            <a:r>
              <a:rPr lang="zh-CN" sz="825" dirty="0">
                <a:solidFill>
                  <a:srgbClr val="1A5276"/>
                </a:solidFill>
                <a:latin typeface="Arial"/>
                <a:ea typeface="Microsoft YaHei"/>
                <a:cs typeface="Arial"/>
              </a:rPr>
              <a:t>平台</a:t>
            </a:r>
          </a:p>
        </p:txBody>
      </p:sp>
      <p:sp>
        <p:nvSpPr>
          <p:cNvPr id="53" name="TextBox 53"/>
          <p:cNvSpPr txBox="1"/>
          <p:nvPr/>
        </p:nvSpPr>
        <p:spPr>
          <a:xfrm>
            <a:off x="9590722" y="3320891"/>
            <a:ext cx="240982" cy="167640"/>
          </a:xfrm>
          <a:prstGeom prst="rect">
            <a:avLst/>
          </a:prstGeom>
          <a:noFill/>
          <a:ln>
            <a:noFill/>
          </a:ln>
        </p:spPr>
        <p:txBody>
          <a:bodyPr wrap="none" lIns="0" tIns="0" rIns="0" bIns="0" anchor="t" anchorCtr="0">
            <a:spAutoFit/>
          </a:bodyPr>
          <a:lstStyle/>
          <a:p>
            <a:pPr algn="l"/>
            <a:r>
              <a:rPr lang="zh-CN" sz="825" dirty="0">
                <a:solidFill>
                  <a:srgbClr val="1E8449"/>
                </a:solidFill>
                <a:latin typeface="Arial"/>
                <a:ea typeface="Microsoft YaHei"/>
                <a:cs typeface="Arial"/>
              </a:rPr>
              <a:t>推广</a:t>
            </a:r>
          </a:p>
        </p:txBody>
      </p:sp>
      <p:sp>
        <p:nvSpPr>
          <p:cNvPr id="54" name="TextBox 54"/>
          <p:cNvSpPr txBox="1"/>
          <p:nvPr/>
        </p:nvSpPr>
        <p:spPr>
          <a:xfrm>
            <a:off x="10495598" y="3320891"/>
            <a:ext cx="240982" cy="167640"/>
          </a:xfrm>
          <a:prstGeom prst="rect">
            <a:avLst/>
          </a:prstGeom>
          <a:noFill/>
          <a:ln>
            <a:noFill/>
          </a:ln>
        </p:spPr>
        <p:txBody>
          <a:bodyPr wrap="none" lIns="0" tIns="0" rIns="0" bIns="0" anchor="t" anchorCtr="0">
            <a:spAutoFit/>
          </a:bodyPr>
          <a:lstStyle/>
          <a:p>
            <a:pPr algn="l"/>
            <a:r>
              <a:rPr lang="zh-CN" sz="825" dirty="0">
                <a:solidFill>
                  <a:srgbClr val="C0392B"/>
                </a:solidFill>
                <a:latin typeface="Arial"/>
                <a:ea typeface="Microsoft YaHei"/>
                <a:cs typeface="Arial"/>
              </a:rPr>
              <a:t>风控</a:t>
            </a:r>
          </a:p>
        </p:txBody>
      </p:sp>
      <p:sp>
        <p:nvSpPr>
          <p:cNvPr id="55" name="Rectangle 55"/>
          <p:cNvSpPr/>
          <p:nvPr/>
        </p:nvSpPr>
        <p:spPr>
          <a:xfrm>
            <a:off x="571500" y="4248150"/>
            <a:ext cx="11049000" cy="685800"/>
          </a:xfrm>
          <a:prstGeom prst="roundRect">
            <a:avLst>
              <a:gd name="adj" fmla="val 19444"/>
            </a:avLst>
          </a:prstGeom>
          <a:solidFill>
            <a:srgbClr val="F5F0EA"/>
          </a:solidFill>
          <a:ln>
            <a:noFill/>
          </a:ln>
          <a:effectLst>
            <a:outerShdw blurRad="76200" dist="19050" dir="5400000" algn="ctr" rotWithShape="0">
              <a:srgbClr val="2C2C2C">
                <a:alpha val="4500"/>
              </a:srgbClr>
            </a:outerShdw>
          </a:effectLst>
        </p:spPr>
      </p:sp>
      <p:sp>
        <p:nvSpPr>
          <p:cNvPr id="56" name="Rectangle 56"/>
          <p:cNvSpPr/>
          <p:nvPr/>
        </p:nvSpPr>
        <p:spPr>
          <a:xfrm>
            <a:off x="809625" y="4457700"/>
            <a:ext cx="171450" cy="171450"/>
          </a:xfrm>
          <a:prstGeom prst="roundRect">
            <a:avLst>
              <a:gd name="adj" fmla="val 16667"/>
            </a:avLst>
          </a:prstGeom>
          <a:solidFill>
            <a:srgbClr val="E67E22"/>
          </a:solidFill>
          <a:ln>
            <a:noFill/>
          </a:ln>
        </p:spPr>
      </p:sp>
      <p:sp>
        <p:nvSpPr>
          <p:cNvPr id="57" name="TextBox 57"/>
          <p:cNvSpPr txBox="1"/>
          <p:nvPr/>
        </p:nvSpPr>
        <p:spPr>
          <a:xfrm>
            <a:off x="1033462" y="4479131"/>
            <a:ext cx="32861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商家</a:t>
            </a:r>
          </a:p>
        </p:txBody>
      </p:sp>
      <p:sp>
        <p:nvSpPr>
          <p:cNvPr id="58" name="Rectangle 58"/>
          <p:cNvSpPr/>
          <p:nvPr/>
        </p:nvSpPr>
        <p:spPr>
          <a:xfrm>
            <a:off x="1857375" y="4457700"/>
            <a:ext cx="171450" cy="171450"/>
          </a:xfrm>
          <a:prstGeom prst="roundRect">
            <a:avLst>
              <a:gd name="adj" fmla="val 16667"/>
            </a:avLst>
          </a:prstGeom>
          <a:solidFill>
            <a:srgbClr val="1A5276"/>
          </a:solidFill>
          <a:ln>
            <a:noFill/>
          </a:ln>
        </p:spPr>
      </p:sp>
      <p:sp>
        <p:nvSpPr>
          <p:cNvPr id="59" name="TextBox 59"/>
          <p:cNvSpPr txBox="1"/>
          <p:nvPr/>
        </p:nvSpPr>
        <p:spPr>
          <a:xfrm>
            <a:off x="2081212" y="4479131"/>
            <a:ext cx="32861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平台</a:t>
            </a:r>
          </a:p>
        </p:txBody>
      </p:sp>
      <p:sp>
        <p:nvSpPr>
          <p:cNvPr id="60" name="Rectangle 60"/>
          <p:cNvSpPr/>
          <p:nvPr/>
        </p:nvSpPr>
        <p:spPr>
          <a:xfrm>
            <a:off x="2857500" y="4457700"/>
            <a:ext cx="171450" cy="171450"/>
          </a:xfrm>
          <a:prstGeom prst="roundRect">
            <a:avLst>
              <a:gd name="adj" fmla="val 16667"/>
            </a:avLst>
          </a:prstGeom>
          <a:solidFill>
            <a:srgbClr val="1E8449"/>
          </a:solidFill>
          <a:ln>
            <a:noFill/>
          </a:ln>
        </p:spPr>
      </p:sp>
      <p:sp>
        <p:nvSpPr>
          <p:cNvPr id="61" name="TextBox 61"/>
          <p:cNvSpPr txBox="1"/>
          <p:nvPr/>
        </p:nvSpPr>
        <p:spPr>
          <a:xfrm>
            <a:off x="3081338" y="4479131"/>
            <a:ext cx="1011198"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服务站+推广者</a:t>
            </a:r>
          </a:p>
        </p:txBody>
      </p:sp>
      <p:sp>
        <p:nvSpPr>
          <p:cNvPr id="62" name="Rectangle 62"/>
          <p:cNvSpPr/>
          <p:nvPr/>
        </p:nvSpPr>
        <p:spPr>
          <a:xfrm>
            <a:off x="4429125" y="4457700"/>
            <a:ext cx="171450" cy="171450"/>
          </a:xfrm>
          <a:prstGeom prst="roundRect">
            <a:avLst>
              <a:gd name="adj" fmla="val 16667"/>
            </a:avLst>
          </a:prstGeom>
          <a:solidFill>
            <a:srgbClr val="7F8C8D"/>
          </a:solidFill>
          <a:ln>
            <a:noFill/>
          </a:ln>
        </p:spPr>
      </p:sp>
      <p:sp>
        <p:nvSpPr>
          <p:cNvPr id="63" name="TextBox 63"/>
          <p:cNvSpPr txBox="1"/>
          <p:nvPr/>
        </p:nvSpPr>
        <p:spPr>
          <a:xfrm>
            <a:off x="4652962" y="4479131"/>
            <a:ext cx="6286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渠道成本</a:t>
            </a:r>
          </a:p>
        </p:txBody>
      </p:sp>
      <p:sp>
        <p:nvSpPr>
          <p:cNvPr id="64" name="Rectangle 64"/>
          <p:cNvSpPr/>
          <p:nvPr/>
        </p:nvSpPr>
        <p:spPr>
          <a:xfrm>
            <a:off x="5619750" y="4457700"/>
            <a:ext cx="171450" cy="171450"/>
          </a:xfrm>
          <a:prstGeom prst="roundRect">
            <a:avLst>
              <a:gd name="adj" fmla="val 16667"/>
            </a:avLst>
          </a:prstGeom>
          <a:solidFill>
            <a:srgbClr val="C0392B"/>
          </a:solidFill>
          <a:ln>
            <a:noFill/>
          </a:ln>
        </p:spPr>
      </p:sp>
      <p:sp>
        <p:nvSpPr>
          <p:cNvPr id="65" name="TextBox 65"/>
          <p:cNvSpPr txBox="1"/>
          <p:nvPr/>
        </p:nvSpPr>
        <p:spPr>
          <a:xfrm>
            <a:off x="5843588" y="4479131"/>
            <a:ext cx="77866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风控备用金</a:t>
            </a:r>
          </a:p>
        </p:txBody>
      </p:sp>
      <p:sp>
        <p:nvSpPr>
          <p:cNvPr id="66" name="Rectangle 66"/>
          <p:cNvSpPr/>
          <p:nvPr/>
        </p:nvSpPr>
        <p:spPr>
          <a:xfrm>
            <a:off x="6953250" y="4457700"/>
            <a:ext cx="171450" cy="171450"/>
          </a:xfrm>
          <a:prstGeom prst="roundRect">
            <a:avLst>
              <a:gd name="adj" fmla="val 16667"/>
            </a:avLst>
          </a:prstGeom>
          <a:solidFill>
            <a:srgbClr val="D4A574"/>
          </a:solidFill>
          <a:ln>
            <a:noFill/>
          </a:ln>
        </p:spPr>
      </p:sp>
      <p:sp>
        <p:nvSpPr>
          <p:cNvPr id="67" name="TextBox 67"/>
          <p:cNvSpPr txBox="1"/>
          <p:nvPr/>
        </p:nvSpPr>
        <p:spPr>
          <a:xfrm>
            <a:off x="7177088" y="4479131"/>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消费金</a:t>
            </a:r>
          </a:p>
        </p:txBody>
      </p:sp>
      <p:sp>
        <p:nvSpPr>
          <p:cNvPr id="68" name="Rectangle 68"/>
          <p:cNvSpPr/>
          <p:nvPr/>
        </p:nvSpPr>
        <p:spPr>
          <a:xfrm>
            <a:off x="8143875" y="4457700"/>
            <a:ext cx="171450" cy="171450"/>
          </a:xfrm>
          <a:prstGeom prst="roundRect">
            <a:avLst>
              <a:gd name="adj" fmla="val 16667"/>
            </a:avLst>
          </a:prstGeom>
          <a:solidFill>
            <a:srgbClr val="F5D0A0"/>
          </a:solidFill>
          <a:ln>
            <a:noFill/>
          </a:ln>
        </p:spPr>
      </p:sp>
      <p:sp>
        <p:nvSpPr>
          <p:cNvPr id="69" name="TextBox 69"/>
          <p:cNvSpPr txBox="1"/>
          <p:nvPr/>
        </p:nvSpPr>
        <p:spPr>
          <a:xfrm>
            <a:off x="8367712" y="4479131"/>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营销池</a:t>
            </a:r>
          </a:p>
        </p:txBody>
      </p:sp>
      <p:sp>
        <p:nvSpPr>
          <p:cNvPr id="70" name="Rectangle 70"/>
          <p:cNvSpPr/>
          <p:nvPr/>
        </p:nvSpPr>
        <p:spPr>
          <a:xfrm>
            <a:off x="9286875" y="4457700"/>
            <a:ext cx="171450" cy="171450"/>
          </a:xfrm>
          <a:prstGeom prst="roundRect">
            <a:avLst>
              <a:gd name="adj" fmla="val 16667"/>
            </a:avLst>
          </a:prstGeom>
          <a:solidFill>
            <a:srgbClr val="D4A574"/>
          </a:solidFill>
          <a:ln>
            <a:noFill/>
          </a:ln>
        </p:spPr>
      </p:sp>
      <p:sp>
        <p:nvSpPr>
          <p:cNvPr id="71" name="TextBox 71"/>
          <p:cNvSpPr txBox="1"/>
          <p:nvPr/>
        </p:nvSpPr>
        <p:spPr>
          <a:xfrm>
            <a:off x="9510712" y="4479131"/>
            <a:ext cx="77866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城市服务商</a:t>
            </a:r>
          </a:p>
        </p:txBody>
      </p:sp>
      <p:sp>
        <p:nvSpPr>
          <p:cNvPr id="72" name="Rectangle 72"/>
          <p:cNvSpPr/>
          <p:nvPr/>
        </p:nvSpPr>
        <p:spPr>
          <a:xfrm>
            <a:off x="571500" y="5105400"/>
            <a:ext cx="11049000" cy="419100"/>
          </a:xfrm>
          <a:prstGeom prst="roundRect">
            <a:avLst>
              <a:gd name="adj" fmla="val 22727"/>
            </a:avLst>
          </a:prstGeom>
          <a:solidFill>
            <a:srgbClr val="F0EDE8"/>
          </a:solidFill>
          <a:ln>
            <a:noFill/>
          </a:ln>
        </p:spPr>
      </p:sp>
      <p:sp>
        <p:nvSpPr>
          <p:cNvPr id="73" name="TextBox 73"/>
          <p:cNvSpPr txBox="1"/>
          <p:nvPr/>
        </p:nvSpPr>
        <p:spPr>
          <a:xfrm>
            <a:off x="3512439" y="5242560"/>
            <a:ext cx="5167122" cy="243840"/>
          </a:xfrm>
          <a:prstGeom prst="rect">
            <a:avLst/>
          </a:prstGeom>
          <a:noFill/>
          <a:ln>
            <a:noFill/>
          </a:ln>
        </p:spPr>
        <p:txBody>
          <a:bodyPr wrap="none" lIns="0" tIns="0" rIns="0" bIns="0" anchor="t" anchorCtr="0">
            <a:spAutoFit/>
          </a:bodyPr>
          <a:lstStyle/>
          <a:p>
            <a:pPr algn="ctr"/>
            <a:r>
              <a:rPr lang="zh-CN" sz="1200" dirty="0">
                <a:solidFill>
                  <a:srgbClr val="7F8C8D"/>
                </a:solidFill>
                <a:latin typeface="Arial"/>
                <a:ea typeface="Microsoft YaHei"/>
                <a:cs typeface="Arial"/>
              </a:rPr>
              <a:t>三种业态差异源于渠道成本和推广依赖度的不同——商家始终是最大受益方</a:t>
            </a:r>
          </a:p>
        </p:txBody>
      </p:sp>
      <p:sp>
        <p:nvSpPr>
          <p:cNvPr id="74" name="Line 74"/>
          <p:cNvSpPr/>
          <p:nvPr/>
        </p:nvSpPr>
        <p:spPr>
          <a:xfrm>
            <a:off x="571500" y="5676900"/>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75" name="TextBox 75"/>
          <p:cNvSpPr txBox="1"/>
          <p:nvPr/>
        </p:nvSpPr>
        <p:spPr>
          <a:xfrm>
            <a:off x="559118" y="5800249"/>
            <a:ext cx="7604712"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平台商家：直营品牌店 · 联盟商家：优质社区店与连锁加盟店 · 综合商城：标准化补充供给。所有百分比基于交易额（汇付收单）。</a:t>
            </a:r>
          </a:p>
        </p:txBody>
      </p:sp>
      <p:sp>
        <p:nvSpPr>
          <p:cNvPr id="76" name="TextBox 76"/>
          <p:cNvSpPr txBox="1"/>
          <p:nvPr/>
        </p:nvSpPr>
        <p:spPr>
          <a:xfrm>
            <a:off x="558165" y="6477952"/>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
        <p:nvSpPr>
          <p:cNvPr id="77" name="TextBox 77"/>
          <p:cNvSpPr txBox="1"/>
          <p:nvPr/>
        </p:nvSpPr>
        <p:spPr>
          <a:xfrm>
            <a:off x="11453146" y="6477952"/>
            <a:ext cx="180689" cy="213360"/>
          </a:xfrm>
          <a:prstGeom prst="rect">
            <a:avLst/>
          </a:prstGeom>
          <a:noFill/>
          <a:ln>
            <a:noFill/>
          </a:ln>
        </p:spPr>
        <p:txBody>
          <a:bodyPr wrap="none" lIns="0" tIns="0" rIns="0" bIns="0" anchor="t" anchorCtr="0">
            <a:spAutoFit/>
          </a:bodyPr>
          <a:lstStyle/>
          <a:p>
            <a:pPr algn="r"/>
            <a:r>
              <a:rPr lang="zh-CN" sz="1050" dirty="0">
                <a:solidFill>
                  <a:srgbClr val="A0A0A0"/>
                </a:solidFill>
                <a:latin typeface="Arial"/>
                <a:ea typeface="Microsoft YaHei"/>
                <a:cs typeface="Arial"/>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342900"/>
            <a:ext cx="57150" cy="381000"/>
          </a:xfrm>
          <a:prstGeom prst="roundRect">
            <a:avLst>
              <a:gd name="adj" fmla="val 50000"/>
            </a:avLst>
          </a:prstGeom>
          <a:solidFill>
            <a:srgbClr val="E67E22"/>
          </a:solidFill>
          <a:ln>
            <a:noFill/>
          </a:ln>
        </p:spPr>
      </p:sp>
      <p:sp>
        <p:nvSpPr>
          <p:cNvPr id="4" name="TextBox 4"/>
          <p:cNvSpPr txBox="1"/>
          <p:nvPr/>
        </p:nvSpPr>
        <p:spPr>
          <a:xfrm>
            <a:off x="727710" y="337185"/>
            <a:ext cx="7705134"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三元营销：代金券·积分·消费金——全平台通用</a:t>
            </a:r>
          </a:p>
        </p:txBody>
      </p:sp>
      <p:sp>
        <p:nvSpPr>
          <p:cNvPr id="5" name="Rectangle 5"/>
          <p:cNvSpPr/>
          <p:nvPr/>
        </p:nvSpPr>
        <p:spPr>
          <a:xfrm>
            <a:off x="571500" y="1047750"/>
            <a:ext cx="3524250" cy="2952750"/>
          </a:xfrm>
          <a:prstGeom prst="roundRect">
            <a:avLst>
              <a:gd name="adj" fmla="val 4516"/>
            </a:avLst>
          </a:prstGeom>
          <a:solidFill>
            <a:srgbClr val="F5F0EA"/>
          </a:solidFill>
          <a:ln>
            <a:noFill/>
          </a:ln>
          <a:effectLst>
            <a:outerShdw blurRad="76200" dist="19050" dir="5400000" algn="ctr" rotWithShape="0">
              <a:srgbClr val="2C2C2C">
                <a:alpha val="4500"/>
              </a:srgbClr>
            </a:outerShdw>
          </a:effectLst>
        </p:spPr>
      </p:sp>
      <p:sp>
        <p:nvSpPr>
          <p:cNvPr id="6" name="Rectangle 6"/>
          <p:cNvSpPr/>
          <p:nvPr/>
        </p:nvSpPr>
        <p:spPr>
          <a:xfrm>
            <a:off x="571500" y="1047750"/>
            <a:ext cx="3524250" cy="57150"/>
          </a:xfrm>
          <a:prstGeom prst="roundRect">
            <a:avLst>
              <a:gd name="adj" fmla="val 50000"/>
            </a:avLst>
          </a:prstGeom>
          <a:solidFill>
            <a:srgbClr val="E67E22"/>
          </a:solidFill>
          <a:ln>
            <a:noFill/>
          </a:ln>
        </p:spPr>
      </p:sp>
      <p:sp>
        <p:nvSpPr>
          <p:cNvPr id="7" name="Rectangle 7"/>
          <p:cNvSpPr/>
          <p:nvPr/>
        </p:nvSpPr>
        <p:spPr>
          <a:xfrm>
            <a:off x="1857375" y="1295400"/>
            <a:ext cx="952500" cy="952500"/>
          </a:xfrm>
          <a:prstGeom prst="roundRect">
            <a:avLst>
              <a:gd name="adj" fmla="val 50000"/>
            </a:avLst>
          </a:prstGeom>
          <a:solidFill>
            <a:srgbClr val="E67E22">
              <a:alpha val="12000"/>
            </a:srgbClr>
          </a:solidFill>
          <a:ln>
            <a:noFill/>
          </a:ln>
        </p:spPr>
      </p:sp>
      <p:sp>
        <p:nvSpPr>
          <p:cNvPr id="8" name="Rectangle 8"/>
          <p:cNvSpPr/>
          <p:nvPr/>
        </p:nvSpPr>
        <p:spPr>
          <a:xfrm>
            <a:off x="2143125" y="1600200"/>
            <a:ext cx="381000" cy="342900"/>
          </a:xfrm>
          <a:prstGeom prst="roundRect">
            <a:avLst>
              <a:gd name="adj" fmla="val 8333"/>
            </a:avLst>
          </a:prstGeom>
          <a:noFill/>
          <a:ln w="28575">
            <a:solidFill>
              <a:srgbClr val="E67E22"/>
            </a:solidFill>
          </a:ln>
        </p:spPr>
      </p:sp>
      <p:sp>
        <p:nvSpPr>
          <p:cNvPr id="9" name="Line 9"/>
          <p:cNvSpPr/>
          <p:nvPr/>
        </p:nvSpPr>
        <p:spPr>
          <a:xfrm>
            <a:off x="2238375" y="1695450"/>
            <a:ext cx="190500" cy="9525"/>
          </a:xfrm>
          <a:custGeom>
            <a:avLst/>
            <a:gdLst/>
            <a:ahLst/>
            <a:cxnLst/>
            <a:rect l="l" t="t" r="r" b="b"/>
            <a:pathLst>
              <a:path w="190500" h="9525">
                <a:moveTo>
                  <a:pt x="0" y="0"/>
                </a:moveTo>
                <a:lnTo>
                  <a:pt x="190500" y="0"/>
                </a:lnTo>
              </a:path>
            </a:pathLst>
          </a:custGeom>
          <a:noFill/>
          <a:ln w="19050">
            <a:solidFill>
              <a:srgbClr val="E67E22"/>
            </a:solidFill>
          </a:ln>
        </p:spPr>
      </p:sp>
      <p:sp>
        <p:nvSpPr>
          <p:cNvPr id="10" name="Line 10"/>
          <p:cNvSpPr/>
          <p:nvPr/>
        </p:nvSpPr>
        <p:spPr>
          <a:xfrm>
            <a:off x="2238375" y="1771650"/>
            <a:ext cx="190500" cy="9525"/>
          </a:xfrm>
          <a:custGeom>
            <a:avLst/>
            <a:gdLst/>
            <a:ahLst/>
            <a:cxnLst/>
            <a:rect l="l" t="t" r="r" b="b"/>
            <a:pathLst>
              <a:path w="190500" h="9525">
                <a:moveTo>
                  <a:pt x="0" y="0"/>
                </a:moveTo>
                <a:lnTo>
                  <a:pt x="190500" y="0"/>
                </a:lnTo>
              </a:path>
            </a:pathLst>
          </a:custGeom>
          <a:noFill/>
          <a:ln w="19050">
            <a:solidFill>
              <a:srgbClr val="E67E22"/>
            </a:solidFill>
          </a:ln>
        </p:spPr>
      </p:sp>
      <p:sp>
        <p:nvSpPr>
          <p:cNvPr id="11" name="Line 11"/>
          <p:cNvSpPr/>
          <p:nvPr/>
        </p:nvSpPr>
        <p:spPr>
          <a:xfrm>
            <a:off x="2238375" y="1847850"/>
            <a:ext cx="142875" cy="9525"/>
          </a:xfrm>
          <a:custGeom>
            <a:avLst/>
            <a:gdLst/>
            <a:ahLst/>
            <a:cxnLst/>
            <a:rect l="l" t="t" r="r" b="b"/>
            <a:pathLst>
              <a:path w="142875" h="9525">
                <a:moveTo>
                  <a:pt x="0" y="0"/>
                </a:moveTo>
                <a:lnTo>
                  <a:pt x="142875" y="0"/>
                </a:lnTo>
              </a:path>
            </a:pathLst>
          </a:custGeom>
          <a:noFill/>
          <a:ln w="19050">
            <a:solidFill>
              <a:srgbClr val="E67E22"/>
            </a:solidFill>
          </a:ln>
        </p:spPr>
      </p:sp>
      <p:sp>
        <p:nvSpPr>
          <p:cNvPr id="12" name="Ellipse 12"/>
          <p:cNvSpPr/>
          <p:nvPr/>
        </p:nvSpPr>
        <p:spPr>
          <a:xfrm>
            <a:off x="2295525" y="1733550"/>
            <a:ext cx="76200" cy="76200"/>
          </a:xfrm>
          <a:prstGeom prst="ellipse">
            <a:avLst/>
          </a:prstGeom>
          <a:solidFill>
            <a:srgbClr val="FAFAF5"/>
          </a:solidFill>
          <a:ln w="19050">
            <a:solidFill>
              <a:srgbClr val="E67E22"/>
            </a:solidFill>
          </a:ln>
        </p:spPr>
      </p:sp>
      <p:sp>
        <p:nvSpPr>
          <p:cNvPr id="13" name="TextBox 13"/>
          <p:cNvSpPr txBox="1"/>
          <p:nvPr/>
        </p:nvSpPr>
        <p:spPr>
          <a:xfrm>
            <a:off x="1966127" y="2298382"/>
            <a:ext cx="734997" cy="335280"/>
          </a:xfrm>
          <a:prstGeom prst="rect">
            <a:avLst/>
          </a:prstGeom>
          <a:noFill/>
          <a:ln>
            <a:noFill/>
          </a:ln>
        </p:spPr>
        <p:txBody>
          <a:bodyPr wrap="none" lIns="0" tIns="0" rIns="0" bIns="0" anchor="t" anchorCtr="0">
            <a:spAutoFit/>
          </a:bodyPr>
          <a:lstStyle/>
          <a:p>
            <a:pPr algn="ctr"/>
            <a:r>
              <a:rPr lang="zh-CN" sz="1650" b="1" dirty="0">
                <a:solidFill>
                  <a:srgbClr val="E67E22"/>
                </a:solidFill>
                <a:latin typeface="Georgia"/>
                <a:ea typeface="KaiTi"/>
                <a:cs typeface="Georgia"/>
              </a:rPr>
              <a:t>代金券</a:t>
            </a:r>
          </a:p>
        </p:txBody>
      </p:sp>
      <p:sp>
        <p:nvSpPr>
          <p:cNvPr id="14" name="Rectangle 14"/>
          <p:cNvSpPr/>
          <p:nvPr/>
        </p:nvSpPr>
        <p:spPr>
          <a:xfrm>
            <a:off x="809625" y="2667000"/>
            <a:ext cx="3048000" cy="266700"/>
          </a:xfrm>
          <a:prstGeom prst="roundRect">
            <a:avLst>
              <a:gd name="adj" fmla="val 21429"/>
            </a:avLst>
          </a:prstGeom>
          <a:solidFill>
            <a:srgbClr val="FAFAF5"/>
          </a:solidFill>
          <a:ln>
            <a:noFill/>
          </a:ln>
        </p:spPr>
      </p:sp>
      <p:sp>
        <p:nvSpPr>
          <p:cNvPr id="15" name="TextBox 15"/>
          <p:cNvSpPr txBox="1"/>
          <p:nvPr/>
        </p:nvSpPr>
        <p:spPr>
          <a:xfrm>
            <a:off x="937260" y="2727960"/>
            <a:ext cx="51054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发放比</a:t>
            </a:r>
          </a:p>
        </p:txBody>
      </p:sp>
      <p:sp>
        <p:nvSpPr>
          <p:cNvPr id="16" name="TextBox 16"/>
          <p:cNvSpPr txBox="1"/>
          <p:nvPr/>
        </p:nvSpPr>
        <p:spPr>
          <a:xfrm>
            <a:off x="3118499" y="2711768"/>
            <a:ext cx="280021" cy="274320"/>
          </a:xfrm>
          <a:prstGeom prst="rect">
            <a:avLst/>
          </a:prstGeom>
          <a:noFill/>
          <a:ln>
            <a:noFill/>
          </a:ln>
        </p:spPr>
        <p:txBody>
          <a:bodyPr wrap="none" lIns="0" tIns="0" rIns="0" bIns="0" anchor="t" anchorCtr="0">
            <a:spAutoFit/>
          </a:bodyPr>
          <a:lstStyle/>
          <a:p>
            <a:pPr algn="r"/>
            <a:r>
              <a:rPr lang="zh-CN" sz="1350" b="1" dirty="0">
                <a:solidFill>
                  <a:srgbClr val="E67E22"/>
                </a:solidFill>
                <a:latin typeface="Arial"/>
                <a:ea typeface="Microsoft YaHei"/>
                <a:cs typeface="Arial"/>
              </a:rPr>
              <a:t>5%</a:t>
            </a:r>
          </a:p>
        </p:txBody>
      </p:sp>
      <p:sp>
        <p:nvSpPr>
          <p:cNvPr id="17" name="Rectangle 17"/>
          <p:cNvSpPr/>
          <p:nvPr/>
        </p:nvSpPr>
        <p:spPr>
          <a:xfrm>
            <a:off x="809625" y="2971800"/>
            <a:ext cx="3048000" cy="266700"/>
          </a:xfrm>
          <a:prstGeom prst="roundRect">
            <a:avLst>
              <a:gd name="adj" fmla="val 21429"/>
            </a:avLst>
          </a:prstGeom>
          <a:solidFill>
            <a:srgbClr val="FAFAF5"/>
          </a:solidFill>
          <a:ln>
            <a:noFill/>
          </a:ln>
        </p:spPr>
      </p:sp>
      <p:sp>
        <p:nvSpPr>
          <p:cNvPr id="18" name="TextBox 18"/>
          <p:cNvSpPr txBox="1"/>
          <p:nvPr/>
        </p:nvSpPr>
        <p:spPr>
          <a:xfrm>
            <a:off x="937260" y="3032760"/>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抵扣上限</a:t>
            </a:r>
          </a:p>
        </p:txBody>
      </p:sp>
      <p:sp>
        <p:nvSpPr>
          <p:cNvPr id="19" name="TextBox 19"/>
          <p:cNvSpPr txBox="1"/>
          <p:nvPr/>
        </p:nvSpPr>
        <p:spPr>
          <a:xfrm>
            <a:off x="3014536" y="3016568"/>
            <a:ext cx="383984" cy="274320"/>
          </a:xfrm>
          <a:prstGeom prst="rect">
            <a:avLst/>
          </a:prstGeom>
          <a:noFill/>
          <a:ln>
            <a:noFill/>
          </a:ln>
        </p:spPr>
        <p:txBody>
          <a:bodyPr wrap="none" lIns="0" tIns="0" rIns="0" bIns="0" anchor="t" anchorCtr="0">
            <a:spAutoFit/>
          </a:bodyPr>
          <a:lstStyle/>
          <a:p>
            <a:pPr algn="r"/>
            <a:r>
              <a:rPr lang="zh-CN" sz="1350" b="1" dirty="0">
                <a:solidFill>
                  <a:srgbClr val="E67E22"/>
                </a:solidFill>
                <a:latin typeface="Arial"/>
                <a:ea typeface="Microsoft YaHei"/>
                <a:cs typeface="Arial"/>
              </a:rPr>
              <a:t>30%</a:t>
            </a:r>
          </a:p>
        </p:txBody>
      </p:sp>
      <p:sp>
        <p:nvSpPr>
          <p:cNvPr id="20" name="Rectangle 20"/>
          <p:cNvSpPr/>
          <p:nvPr/>
        </p:nvSpPr>
        <p:spPr>
          <a:xfrm>
            <a:off x="809625" y="3276600"/>
            <a:ext cx="3048000" cy="266700"/>
          </a:xfrm>
          <a:prstGeom prst="roundRect">
            <a:avLst>
              <a:gd name="adj" fmla="val 21429"/>
            </a:avLst>
          </a:prstGeom>
          <a:solidFill>
            <a:srgbClr val="FAFAF5"/>
          </a:solidFill>
          <a:ln>
            <a:noFill/>
          </a:ln>
        </p:spPr>
      </p:sp>
      <p:sp>
        <p:nvSpPr>
          <p:cNvPr id="21" name="TextBox 21"/>
          <p:cNvSpPr txBox="1"/>
          <p:nvPr/>
        </p:nvSpPr>
        <p:spPr>
          <a:xfrm>
            <a:off x="937260" y="3337560"/>
            <a:ext cx="51054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有效期</a:t>
            </a:r>
          </a:p>
        </p:txBody>
      </p:sp>
      <p:sp>
        <p:nvSpPr>
          <p:cNvPr id="22" name="TextBox 22"/>
          <p:cNvSpPr txBox="1"/>
          <p:nvPr/>
        </p:nvSpPr>
        <p:spPr>
          <a:xfrm>
            <a:off x="2967280" y="3321368"/>
            <a:ext cx="431240" cy="274320"/>
          </a:xfrm>
          <a:prstGeom prst="rect">
            <a:avLst/>
          </a:prstGeom>
          <a:noFill/>
          <a:ln>
            <a:noFill/>
          </a:ln>
        </p:spPr>
        <p:txBody>
          <a:bodyPr wrap="none" lIns="0" tIns="0" rIns="0" bIns="0" anchor="t" anchorCtr="0">
            <a:spAutoFit/>
          </a:bodyPr>
          <a:lstStyle/>
          <a:p>
            <a:pPr algn="r"/>
            <a:r>
              <a:rPr lang="zh-CN" sz="1350" b="1" dirty="0">
                <a:solidFill>
                  <a:srgbClr val="E67E22"/>
                </a:solidFill>
                <a:latin typeface="Arial"/>
                <a:ea typeface="Microsoft YaHei"/>
                <a:cs typeface="Arial"/>
              </a:rPr>
              <a:t>90天</a:t>
            </a:r>
          </a:p>
        </p:txBody>
      </p:sp>
      <p:sp>
        <p:nvSpPr>
          <p:cNvPr id="23" name="Rectangle 23"/>
          <p:cNvSpPr/>
          <p:nvPr/>
        </p:nvSpPr>
        <p:spPr>
          <a:xfrm>
            <a:off x="1476375" y="3676650"/>
            <a:ext cx="1714500" cy="228600"/>
          </a:xfrm>
          <a:prstGeom prst="roundRect">
            <a:avLst>
              <a:gd name="adj" fmla="val 50000"/>
            </a:avLst>
          </a:prstGeom>
          <a:solidFill>
            <a:srgbClr val="E67E22">
              <a:alpha val="15000"/>
            </a:srgbClr>
          </a:solidFill>
          <a:ln>
            <a:noFill/>
          </a:ln>
        </p:spPr>
      </p:sp>
      <p:sp>
        <p:nvSpPr>
          <p:cNvPr id="24" name="TextBox 24"/>
          <p:cNvSpPr txBox="1"/>
          <p:nvPr/>
        </p:nvSpPr>
        <p:spPr>
          <a:xfrm>
            <a:off x="1979950" y="3733324"/>
            <a:ext cx="707350" cy="198120"/>
          </a:xfrm>
          <a:prstGeom prst="rect">
            <a:avLst/>
          </a:prstGeom>
          <a:noFill/>
          <a:ln>
            <a:noFill/>
          </a:ln>
        </p:spPr>
        <p:txBody>
          <a:bodyPr wrap="none" lIns="0" tIns="0" rIns="0" bIns="0" anchor="t" anchorCtr="0">
            <a:spAutoFit/>
          </a:bodyPr>
          <a:lstStyle/>
          <a:p>
            <a:pPr algn="ctr"/>
            <a:r>
              <a:rPr lang="zh-CN" sz="975" b="1" dirty="0">
                <a:solidFill>
                  <a:srgbClr val="E67E22"/>
                </a:solidFill>
                <a:latin typeface="Arial"/>
                <a:ea typeface="Microsoft YaHei"/>
                <a:cs typeface="Arial"/>
              </a:rPr>
              <a:t>全平台通用</a:t>
            </a:r>
          </a:p>
        </p:txBody>
      </p:sp>
      <p:sp>
        <p:nvSpPr>
          <p:cNvPr id="25" name="Rectangle 25"/>
          <p:cNvSpPr/>
          <p:nvPr/>
        </p:nvSpPr>
        <p:spPr>
          <a:xfrm>
            <a:off x="4333875" y="1047750"/>
            <a:ext cx="3524250" cy="2952750"/>
          </a:xfrm>
          <a:prstGeom prst="roundRect">
            <a:avLst>
              <a:gd name="adj" fmla="val 4516"/>
            </a:avLst>
          </a:prstGeom>
          <a:solidFill>
            <a:srgbClr val="F5F0EA"/>
          </a:solidFill>
          <a:ln>
            <a:noFill/>
          </a:ln>
          <a:effectLst>
            <a:outerShdw blurRad="76200" dist="19050" dir="5400000" algn="ctr" rotWithShape="0">
              <a:srgbClr val="2C2C2C">
                <a:alpha val="4500"/>
              </a:srgbClr>
            </a:outerShdw>
          </a:effectLst>
        </p:spPr>
      </p:sp>
      <p:sp>
        <p:nvSpPr>
          <p:cNvPr id="26" name="Rectangle 26"/>
          <p:cNvSpPr/>
          <p:nvPr/>
        </p:nvSpPr>
        <p:spPr>
          <a:xfrm>
            <a:off x="4333875" y="1047750"/>
            <a:ext cx="3524250" cy="57150"/>
          </a:xfrm>
          <a:prstGeom prst="roundRect">
            <a:avLst>
              <a:gd name="adj" fmla="val 50000"/>
            </a:avLst>
          </a:prstGeom>
          <a:solidFill>
            <a:srgbClr val="1A5276"/>
          </a:solidFill>
          <a:ln>
            <a:noFill/>
          </a:ln>
        </p:spPr>
      </p:sp>
      <p:sp>
        <p:nvSpPr>
          <p:cNvPr id="27" name="Rectangle 27"/>
          <p:cNvSpPr/>
          <p:nvPr/>
        </p:nvSpPr>
        <p:spPr>
          <a:xfrm>
            <a:off x="5619750" y="1295400"/>
            <a:ext cx="952500" cy="952500"/>
          </a:xfrm>
          <a:prstGeom prst="roundRect">
            <a:avLst>
              <a:gd name="adj" fmla="val 50000"/>
            </a:avLst>
          </a:prstGeom>
          <a:solidFill>
            <a:srgbClr val="1A5276">
              <a:alpha val="12000"/>
            </a:srgbClr>
          </a:solidFill>
          <a:ln>
            <a:noFill/>
          </a:ln>
        </p:spPr>
      </p:sp>
      <p:sp>
        <p:nvSpPr>
          <p:cNvPr id="28" name="Ellipse 28"/>
          <p:cNvSpPr/>
          <p:nvPr/>
        </p:nvSpPr>
        <p:spPr>
          <a:xfrm>
            <a:off x="5924550" y="1504950"/>
            <a:ext cx="342900" cy="342900"/>
          </a:xfrm>
          <a:prstGeom prst="ellipse">
            <a:avLst/>
          </a:prstGeom>
          <a:noFill/>
          <a:ln w="28575">
            <a:solidFill>
              <a:srgbClr val="1A5276"/>
            </a:solidFill>
          </a:ln>
        </p:spPr>
      </p:sp>
      <p:sp>
        <p:nvSpPr>
          <p:cNvPr id="29" name="TextBox 29"/>
          <p:cNvSpPr txBox="1"/>
          <p:nvPr/>
        </p:nvSpPr>
        <p:spPr>
          <a:xfrm>
            <a:off x="6026874" y="1597342"/>
            <a:ext cx="138253" cy="274320"/>
          </a:xfrm>
          <a:prstGeom prst="rect">
            <a:avLst/>
          </a:prstGeom>
          <a:noFill/>
          <a:ln>
            <a:noFill/>
          </a:ln>
        </p:spPr>
        <p:txBody>
          <a:bodyPr wrap="none" lIns="0" tIns="0" rIns="0" bIns="0" anchor="t" anchorCtr="0">
            <a:spAutoFit/>
          </a:bodyPr>
          <a:lstStyle/>
          <a:p>
            <a:pPr algn="ctr"/>
            <a:r>
              <a:rPr lang="zh-CN" sz="1350" b="1" dirty="0">
                <a:solidFill>
                  <a:srgbClr val="1A5276"/>
                </a:solidFill>
                <a:latin typeface="Arial"/>
                <a:ea typeface="Microsoft YaHei"/>
                <a:cs typeface="Arial"/>
              </a:rPr>
              <a:t>$</a:t>
            </a:r>
          </a:p>
        </p:txBody>
      </p:sp>
      <p:sp>
        <p:nvSpPr>
          <p:cNvPr id="30" name="Ellipse 30"/>
          <p:cNvSpPr/>
          <p:nvPr/>
        </p:nvSpPr>
        <p:spPr>
          <a:xfrm>
            <a:off x="5819775" y="1733550"/>
            <a:ext cx="266700" cy="266700"/>
          </a:xfrm>
          <a:prstGeom prst="ellipse">
            <a:avLst/>
          </a:prstGeom>
          <a:noFill/>
          <a:ln w="23812">
            <a:solidFill>
              <a:srgbClr val="1A5276"/>
            </a:solidFill>
          </a:ln>
        </p:spPr>
      </p:sp>
      <p:sp>
        <p:nvSpPr>
          <p:cNvPr id="31" name="TextBox 31"/>
          <p:cNvSpPr txBox="1"/>
          <p:nvPr/>
        </p:nvSpPr>
        <p:spPr>
          <a:xfrm>
            <a:off x="5899360" y="1801178"/>
            <a:ext cx="107530" cy="213360"/>
          </a:xfrm>
          <a:prstGeom prst="rect">
            <a:avLst/>
          </a:prstGeom>
          <a:noFill/>
          <a:ln>
            <a:noFill/>
          </a:ln>
        </p:spPr>
        <p:txBody>
          <a:bodyPr wrap="none" lIns="0" tIns="0" rIns="0" bIns="0" anchor="t" anchorCtr="0">
            <a:spAutoFit/>
          </a:bodyPr>
          <a:lstStyle/>
          <a:p>
            <a:pPr algn="ctr"/>
            <a:r>
              <a:rPr lang="zh-CN" sz="1050" b="1" dirty="0">
                <a:solidFill>
                  <a:srgbClr val="1A5276"/>
                </a:solidFill>
                <a:latin typeface="Arial"/>
                <a:ea typeface="Microsoft YaHei"/>
                <a:cs typeface="Arial"/>
              </a:rPr>
              <a:t>$</a:t>
            </a:r>
          </a:p>
        </p:txBody>
      </p:sp>
      <p:sp>
        <p:nvSpPr>
          <p:cNvPr id="32" name="Ellipse 32"/>
          <p:cNvSpPr/>
          <p:nvPr/>
        </p:nvSpPr>
        <p:spPr>
          <a:xfrm>
            <a:off x="6143625" y="1771650"/>
            <a:ext cx="190500" cy="190500"/>
          </a:xfrm>
          <a:prstGeom prst="ellipse">
            <a:avLst/>
          </a:prstGeom>
          <a:noFill/>
          <a:ln w="19050">
            <a:solidFill>
              <a:srgbClr val="1A5276"/>
            </a:solidFill>
          </a:ln>
        </p:spPr>
      </p:sp>
      <p:sp>
        <p:nvSpPr>
          <p:cNvPr id="33" name="TextBox 33"/>
          <p:cNvSpPr txBox="1"/>
          <p:nvPr/>
        </p:nvSpPr>
        <p:spPr>
          <a:xfrm>
            <a:off x="6200471" y="1824038"/>
            <a:ext cx="76807" cy="152400"/>
          </a:xfrm>
          <a:prstGeom prst="rect">
            <a:avLst/>
          </a:prstGeom>
          <a:noFill/>
          <a:ln>
            <a:noFill/>
          </a:ln>
        </p:spPr>
        <p:txBody>
          <a:bodyPr wrap="none" lIns="0" tIns="0" rIns="0" bIns="0" anchor="t" anchorCtr="0">
            <a:spAutoFit/>
          </a:bodyPr>
          <a:lstStyle/>
          <a:p>
            <a:pPr algn="ctr"/>
            <a:r>
              <a:rPr lang="zh-CN" sz="750" b="1" dirty="0">
                <a:solidFill>
                  <a:srgbClr val="1A5276"/>
                </a:solidFill>
                <a:latin typeface="Arial"/>
                <a:ea typeface="Microsoft YaHei"/>
                <a:cs typeface="Arial"/>
              </a:rPr>
              <a:t>$</a:t>
            </a:r>
          </a:p>
        </p:txBody>
      </p:sp>
      <p:sp>
        <p:nvSpPr>
          <p:cNvPr id="34" name="TextBox 34"/>
          <p:cNvSpPr txBox="1"/>
          <p:nvPr/>
        </p:nvSpPr>
        <p:spPr>
          <a:xfrm>
            <a:off x="5844016" y="2298382"/>
            <a:ext cx="503968" cy="335280"/>
          </a:xfrm>
          <a:prstGeom prst="rect">
            <a:avLst/>
          </a:prstGeom>
          <a:noFill/>
          <a:ln>
            <a:noFill/>
          </a:ln>
        </p:spPr>
        <p:txBody>
          <a:bodyPr wrap="none" lIns="0" tIns="0" rIns="0" bIns="0" anchor="t" anchorCtr="0">
            <a:spAutoFit/>
          </a:bodyPr>
          <a:lstStyle/>
          <a:p>
            <a:pPr algn="ctr"/>
            <a:r>
              <a:rPr lang="zh-CN" sz="1650" b="1" dirty="0">
                <a:solidFill>
                  <a:srgbClr val="1A5276"/>
                </a:solidFill>
                <a:latin typeface="Georgia"/>
                <a:ea typeface="KaiTi"/>
                <a:cs typeface="Georgia"/>
              </a:rPr>
              <a:t>积分</a:t>
            </a:r>
          </a:p>
        </p:txBody>
      </p:sp>
      <p:sp>
        <p:nvSpPr>
          <p:cNvPr id="35" name="Rectangle 35"/>
          <p:cNvSpPr/>
          <p:nvPr/>
        </p:nvSpPr>
        <p:spPr>
          <a:xfrm>
            <a:off x="4572000" y="2667000"/>
            <a:ext cx="3048000" cy="266700"/>
          </a:xfrm>
          <a:prstGeom prst="roundRect">
            <a:avLst>
              <a:gd name="adj" fmla="val 21429"/>
            </a:avLst>
          </a:prstGeom>
          <a:solidFill>
            <a:srgbClr val="FAFAF5"/>
          </a:solidFill>
          <a:ln>
            <a:noFill/>
          </a:ln>
        </p:spPr>
      </p:sp>
      <p:sp>
        <p:nvSpPr>
          <p:cNvPr id="36" name="TextBox 36"/>
          <p:cNvSpPr txBox="1"/>
          <p:nvPr/>
        </p:nvSpPr>
        <p:spPr>
          <a:xfrm>
            <a:off x="4699635" y="2727960"/>
            <a:ext cx="51054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兑换率</a:t>
            </a:r>
          </a:p>
        </p:txBody>
      </p:sp>
      <p:sp>
        <p:nvSpPr>
          <p:cNvPr id="37" name="TextBox 37"/>
          <p:cNvSpPr txBox="1"/>
          <p:nvPr/>
        </p:nvSpPr>
        <p:spPr>
          <a:xfrm>
            <a:off x="6606790" y="2711768"/>
            <a:ext cx="554105" cy="274320"/>
          </a:xfrm>
          <a:prstGeom prst="rect">
            <a:avLst/>
          </a:prstGeom>
          <a:noFill/>
          <a:ln>
            <a:noFill/>
          </a:ln>
        </p:spPr>
        <p:txBody>
          <a:bodyPr wrap="none" lIns="0" tIns="0" rIns="0" bIns="0" anchor="t" anchorCtr="0">
            <a:spAutoFit/>
          </a:bodyPr>
          <a:lstStyle/>
          <a:p>
            <a:pPr algn="r"/>
            <a:r>
              <a:rPr lang="zh-CN" sz="1350" b="1" dirty="0">
                <a:solidFill>
                  <a:srgbClr val="1A5276"/>
                </a:solidFill>
                <a:latin typeface="Arial"/>
                <a:ea typeface="Microsoft YaHei"/>
                <a:cs typeface="Arial"/>
              </a:rPr>
              <a:t>1:100</a:t>
            </a:r>
          </a:p>
        </p:txBody>
      </p:sp>
      <p:sp>
        <p:nvSpPr>
          <p:cNvPr id="38" name="Rectangle 38"/>
          <p:cNvSpPr/>
          <p:nvPr/>
        </p:nvSpPr>
        <p:spPr>
          <a:xfrm>
            <a:off x="4572000" y="2971800"/>
            <a:ext cx="3048000" cy="266700"/>
          </a:xfrm>
          <a:prstGeom prst="roundRect">
            <a:avLst>
              <a:gd name="adj" fmla="val 21429"/>
            </a:avLst>
          </a:prstGeom>
          <a:solidFill>
            <a:srgbClr val="FAFAF5"/>
          </a:solidFill>
          <a:ln>
            <a:noFill/>
          </a:ln>
        </p:spPr>
      </p:sp>
      <p:sp>
        <p:nvSpPr>
          <p:cNvPr id="39" name="TextBox 39"/>
          <p:cNvSpPr txBox="1"/>
          <p:nvPr/>
        </p:nvSpPr>
        <p:spPr>
          <a:xfrm>
            <a:off x="4699635" y="3032760"/>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抵扣上限</a:t>
            </a:r>
          </a:p>
        </p:txBody>
      </p:sp>
      <p:sp>
        <p:nvSpPr>
          <p:cNvPr id="40" name="TextBox 40"/>
          <p:cNvSpPr txBox="1"/>
          <p:nvPr/>
        </p:nvSpPr>
        <p:spPr>
          <a:xfrm>
            <a:off x="6776911" y="3016568"/>
            <a:ext cx="383984" cy="274320"/>
          </a:xfrm>
          <a:prstGeom prst="rect">
            <a:avLst/>
          </a:prstGeom>
          <a:noFill/>
          <a:ln>
            <a:noFill/>
          </a:ln>
        </p:spPr>
        <p:txBody>
          <a:bodyPr wrap="none" lIns="0" tIns="0" rIns="0" bIns="0" anchor="t" anchorCtr="0">
            <a:spAutoFit/>
          </a:bodyPr>
          <a:lstStyle/>
          <a:p>
            <a:pPr algn="r"/>
            <a:r>
              <a:rPr lang="zh-CN" sz="1350" b="1" dirty="0">
                <a:solidFill>
                  <a:srgbClr val="1A5276"/>
                </a:solidFill>
                <a:latin typeface="Arial"/>
                <a:ea typeface="Microsoft YaHei"/>
                <a:cs typeface="Arial"/>
              </a:rPr>
              <a:t>20%</a:t>
            </a:r>
          </a:p>
        </p:txBody>
      </p:sp>
      <p:sp>
        <p:nvSpPr>
          <p:cNvPr id="41" name="Rectangle 41"/>
          <p:cNvSpPr/>
          <p:nvPr/>
        </p:nvSpPr>
        <p:spPr>
          <a:xfrm>
            <a:off x="4572000" y="3276600"/>
            <a:ext cx="3048000" cy="266700"/>
          </a:xfrm>
          <a:prstGeom prst="roundRect">
            <a:avLst>
              <a:gd name="adj" fmla="val 21429"/>
            </a:avLst>
          </a:prstGeom>
          <a:solidFill>
            <a:srgbClr val="FAFAF5"/>
          </a:solidFill>
          <a:ln>
            <a:noFill/>
          </a:ln>
        </p:spPr>
      </p:sp>
      <p:sp>
        <p:nvSpPr>
          <p:cNvPr id="42" name="TextBox 42"/>
          <p:cNvSpPr txBox="1"/>
          <p:nvPr/>
        </p:nvSpPr>
        <p:spPr>
          <a:xfrm>
            <a:off x="4699635" y="3337560"/>
            <a:ext cx="51054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有效期</a:t>
            </a:r>
          </a:p>
        </p:txBody>
      </p:sp>
      <p:sp>
        <p:nvSpPr>
          <p:cNvPr id="43" name="TextBox 43"/>
          <p:cNvSpPr txBox="1"/>
          <p:nvPr/>
        </p:nvSpPr>
        <p:spPr>
          <a:xfrm>
            <a:off x="6833618" y="3321368"/>
            <a:ext cx="327277" cy="274320"/>
          </a:xfrm>
          <a:prstGeom prst="rect">
            <a:avLst/>
          </a:prstGeom>
          <a:noFill/>
          <a:ln>
            <a:noFill/>
          </a:ln>
        </p:spPr>
        <p:txBody>
          <a:bodyPr wrap="none" lIns="0" tIns="0" rIns="0" bIns="0" anchor="t" anchorCtr="0">
            <a:spAutoFit/>
          </a:bodyPr>
          <a:lstStyle/>
          <a:p>
            <a:pPr algn="r"/>
            <a:r>
              <a:rPr lang="zh-CN" sz="1350" b="1" dirty="0">
                <a:solidFill>
                  <a:srgbClr val="1A5276"/>
                </a:solidFill>
                <a:latin typeface="Arial"/>
                <a:ea typeface="Microsoft YaHei"/>
                <a:cs typeface="Arial"/>
              </a:rPr>
              <a:t>2年</a:t>
            </a:r>
          </a:p>
        </p:txBody>
      </p:sp>
      <p:sp>
        <p:nvSpPr>
          <p:cNvPr id="44" name="Rectangle 44"/>
          <p:cNvSpPr/>
          <p:nvPr/>
        </p:nvSpPr>
        <p:spPr>
          <a:xfrm>
            <a:off x="5238750" y="3676650"/>
            <a:ext cx="1714500" cy="228600"/>
          </a:xfrm>
          <a:prstGeom prst="roundRect">
            <a:avLst>
              <a:gd name="adj" fmla="val 50000"/>
            </a:avLst>
          </a:prstGeom>
          <a:solidFill>
            <a:srgbClr val="1A5276">
              <a:alpha val="15000"/>
            </a:srgbClr>
          </a:solidFill>
          <a:ln>
            <a:noFill/>
          </a:ln>
        </p:spPr>
      </p:sp>
      <p:sp>
        <p:nvSpPr>
          <p:cNvPr id="45" name="TextBox 45"/>
          <p:cNvSpPr txBox="1"/>
          <p:nvPr/>
        </p:nvSpPr>
        <p:spPr>
          <a:xfrm>
            <a:off x="5742325" y="3733324"/>
            <a:ext cx="707350" cy="198120"/>
          </a:xfrm>
          <a:prstGeom prst="rect">
            <a:avLst/>
          </a:prstGeom>
          <a:noFill/>
          <a:ln>
            <a:noFill/>
          </a:ln>
        </p:spPr>
        <p:txBody>
          <a:bodyPr wrap="none" lIns="0" tIns="0" rIns="0" bIns="0" anchor="t" anchorCtr="0">
            <a:spAutoFit/>
          </a:bodyPr>
          <a:lstStyle/>
          <a:p>
            <a:pPr algn="ctr"/>
            <a:r>
              <a:rPr lang="zh-CN" sz="975" b="1" dirty="0">
                <a:solidFill>
                  <a:srgbClr val="1A5276"/>
                </a:solidFill>
                <a:latin typeface="Arial"/>
                <a:ea typeface="Microsoft YaHei"/>
                <a:cs typeface="Arial"/>
              </a:rPr>
              <a:t>全平台通用</a:t>
            </a:r>
          </a:p>
        </p:txBody>
      </p:sp>
      <p:sp>
        <p:nvSpPr>
          <p:cNvPr id="46" name="Rectangle 46"/>
          <p:cNvSpPr/>
          <p:nvPr/>
        </p:nvSpPr>
        <p:spPr>
          <a:xfrm>
            <a:off x="8096250" y="1047750"/>
            <a:ext cx="3524250" cy="2952750"/>
          </a:xfrm>
          <a:prstGeom prst="roundRect">
            <a:avLst>
              <a:gd name="adj" fmla="val 4516"/>
            </a:avLst>
          </a:prstGeom>
          <a:solidFill>
            <a:srgbClr val="F5F0EA"/>
          </a:solidFill>
          <a:ln>
            <a:noFill/>
          </a:ln>
          <a:effectLst>
            <a:outerShdw blurRad="76200" dist="19050" dir="5400000" algn="ctr" rotWithShape="0">
              <a:srgbClr val="2C2C2C">
                <a:alpha val="4500"/>
              </a:srgbClr>
            </a:outerShdw>
          </a:effectLst>
        </p:spPr>
      </p:sp>
      <p:sp>
        <p:nvSpPr>
          <p:cNvPr id="47" name="Rectangle 47"/>
          <p:cNvSpPr/>
          <p:nvPr/>
        </p:nvSpPr>
        <p:spPr>
          <a:xfrm>
            <a:off x="8096250" y="1047750"/>
            <a:ext cx="3524250" cy="57150"/>
          </a:xfrm>
          <a:prstGeom prst="roundRect">
            <a:avLst>
              <a:gd name="adj" fmla="val 50000"/>
            </a:avLst>
          </a:prstGeom>
          <a:solidFill>
            <a:srgbClr val="D4A574"/>
          </a:solidFill>
          <a:ln>
            <a:noFill/>
          </a:ln>
        </p:spPr>
      </p:sp>
      <p:sp>
        <p:nvSpPr>
          <p:cNvPr id="48" name="Rectangle 48"/>
          <p:cNvSpPr/>
          <p:nvPr/>
        </p:nvSpPr>
        <p:spPr>
          <a:xfrm>
            <a:off x="9382125" y="1295400"/>
            <a:ext cx="952500" cy="952500"/>
          </a:xfrm>
          <a:prstGeom prst="roundRect">
            <a:avLst>
              <a:gd name="adj" fmla="val 50000"/>
            </a:avLst>
          </a:prstGeom>
          <a:solidFill>
            <a:srgbClr val="D4A574">
              <a:alpha val="15000"/>
            </a:srgbClr>
          </a:solidFill>
          <a:ln>
            <a:noFill/>
          </a:ln>
        </p:spPr>
      </p:sp>
      <p:sp>
        <p:nvSpPr>
          <p:cNvPr id="49" name="Ellipse 49"/>
          <p:cNvSpPr/>
          <p:nvPr/>
        </p:nvSpPr>
        <p:spPr>
          <a:xfrm>
            <a:off x="9591675" y="1562100"/>
            <a:ext cx="533400" cy="419100"/>
          </a:xfrm>
          <a:prstGeom prst="ellipse">
            <a:avLst/>
          </a:prstGeom>
          <a:noFill/>
          <a:ln w="28575">
            <a:solidFill>
              <a:srgbClr val="D4A574"/>
            </a:solidFill>
          </a:ln>
        </p:spPr>
      </p:sp>
      <p:sp>
        <p:nvSpPr>
          <p:cNvPr id="50" name="Ellipse 50"/>
          <p:cNvSpPr/>
          <p:nvPr/>
        </p:nvSpPr>
        <p:spPr>
          <a:xfrm>
            <a:off x="9810750" y="1724025"/>
            <a:ext cx="95250" cy="95250"/>
          </a:xfrm>
          <a:prstGeom prst="ellipse">
            <a:avLst/>
          </a:prstGeom>
          <a:solidFill>
            <a:srgbClr val="D4A574"/>
          </a:solidFill>
          <a:ln>
            <a:noFill/>
          </a:ln>
        </p:spPr>
      </p:sp>
      <p:sp>
        <p:nvSpPr>
          <p:cNvPr id="51" name="Rectangle 51"/>
          <p:cNvSpPr/>
          <p:nvPr/>
        </p:nvSpPr>
        <p:spPr>
          <a:xfrm>
            <a:off x="9829800" y="1524000"/>
            <a:ext cx="57150" cy="76200"/>
          </a:xfrm>
          <a:prstGeom prst="roundRect">
            <a:avLst>
              <a:gd name="adj" fmla="val 33333"/>
            </a:avLst>
          </a:prstGeom>
          <a:solidFill>
            <a:srgbClr val="D4A574"/>
          </a:solidFill>
          <a:ln>
            <a:noFill/>
          </a:ln>
        </p:spPr>
      </p:sp>
      <p:sp>
        <p:nvSpPr>
          <p:cNvPr id="52" name="Line 52"/>
          <p:cNvSpPr/>
          <p:nvPr/>
        </p:nvSpPr>
        <p:spPr>
          <a:xfrm>
            <a:off x="9734550" y="1619250"/>
            <a:ext cx="247650" cy="9525"/>
          </a:xfrm>
          <a:custGeom>
            <a:avLst/>
            <a:gdLst/>
            <a:ahLst/>
            <a:cxnLst/>
            <a:rect l="l" t="t" r="r" b="b"/>
            <a:pathLst>
              <a:path w="247650" h="9525">
                <a:moveTo>
                  <a:pt x="0" y="0"/>
                </a:moveTo>
                <a:lnTo>
                  <a:pt x="247650" y="0"/>
                </a:lnTo>
              </a:path>
            </a:pathLst>
          </a:custGeom>
          <a:noFill/>
          <a:ln w="19050">
            <a:solidFill>
              <a:srgbClr val="D4A574"/>
            </a:solidFill>
          </a:ln>
        </p:spPr>
      </p:sp>
      <p:sp>
        <p:nvSpPr>
          <p:cNvPr id="53" name="Ellipse 53"/>
          <p:cNvSpPr/>
          <p:nvPr/>
        </p:nvSpPr>
        <p:spPr>
          <a:xfrm>
            <a:off x="9725025" y="1943100"/>
            <a:ext cx="266700" cy="76200"/>
          </a:xfrm>
          <a:prstGeom prst="ellipse">
            <a:avLst/>
          </a:prstGeom>
          <a:noFill/>
          <a:ln w="14288">
            <a:solidFill>
              <a:srgbClr val="D4A574"/>
            </a:solidFill>
          </a:ln>
        </p:spPr>
      </p:sp>
      <p:sp>
        <p:nvSpPr>
          <p:cNvPr id="54" name="TextBox 54"/>
          <p:cNvSpPr txBox="1"/>
          <p:nvPr/>
        </p:nvSpPr>
        <p:spPr>
          <a:xfrm>
            <a:off x="9490877" y="2298382"/>
            <a:ext cx="734997" cy="335280"/>
          </a:xfrm>
          <a:prstGeom prst="rect">
            <a:avLst/>
          </a:prstGeom>
          <a:noFill/>
          <a:ln>
            <a:noFill/>
          </a:ln>
        </p:spPr>
        <p:txBody>
          <a:bodyPr wrap="none" lIns="0" tIns="0" rIns="0" bIns="0" anchor="t" anchorCtr="0">
            <a:spAutoFit/>
          </a:bodyPr>
          <a:lstStyle/>
          <a:p>
            <a:pPr algn="ctr"/>
            <a:r>
              <a:rPr lang="zh-CN" sz="1650" b="1" dirty="0">
                <a:solidFill>
                  <a:srgbClr val="D4A574"/>
                </a:solidFill>
                <a:latin typeface="Georgia"/>
                <a:ea typeface="KaiTi"/>
                <a:cs typeface="Georgia"/>
              </a:rPr>
              <a:t>消费金</a:t>
            </a:r>
          </a:p>
        </p:txBody>
      </p:sp>
      <p:sp>
        <p:nvSpPr>
          <p:cNvPr id="55" name="Rectangle 55"/>
          <p:cNvSpPr/>
          <p:nvPr/>
        </p:nvSpPr>
        <p:spPr>
          <a:xfrm>
            <a:off x="8334375" y="2667000"/>
            <a:ext cx="3048000" cy="266700"/>
          </a:xfrm>
          <a:prstGeom prst="roundRect">
            <a:avLst>
              <a:gd name="adj" fmla="val 21429"/>
            </a:avLst>
          </a:prstGeom>
          <a:solidFill>
            <a:srgbClr val="FAFAF5"/>
          </a:solidFill>
          <a:ln>
            <a:noFill/>
          </a:ln>
        </p:spPr>
      </p:sp>
      <p:sp>
        <p:nvSpPr>
          <p:cNvPr id="56" name="TextBox 56"/>
          <p:cNvSpPr txBox="1"/>
          <p:nvPr/>
        </p:nvSpPr>
        <p:spPr>
          <a:xfrm>
            <a:off x="8462010" y="2727960"/>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核销上限</a:t>
            </a:r>
          </a:p>
        </p:txBody>
      </p:sp>
      <p:sp>
        <p:nvSpPr>
          <p:cNvPr id="57" name="TextBox 57"/>
          <p:cNvSpPr txBox="1"/>
          <p:nvPr/>
        </p:nvSpPr>
        <p:spPr>
          <a:xfrm>
            <a:off x="10539286" y="2711768"/>
            <a:ext cx="383984" cy="274320"/>
          </a:xfrm>
          <a:prstGeom prst="rect">
            <a:avLst/>
          </a:prstGeom>
          <a:noFill/>
          <a:ln>
            <a:noFill/>
          </a:ln>
        </p:spPr>
        <p:txBody>
          <a:bodyPr wrap="none" lIns="0" tIns="0" rIns="0" bIns="0" anchor="t" anchorCtr="0">
            <a:spAutoFit/>
          </a:bodyPr>
          <a:lstStyle/>
          <a:p>
            <a:pPr algn="r"/>
            <a:r>
              <a:rPr lang="zh-CN" sz="1350" b="1" dirty="0">
                <a:solidFill>
                  <a:srgbClr val="D4A574"/>
                </a:solidFill>
                <a:latin typeface="Arial"/>
                <a:ea typeface="Microsoft YaHei"/>
                <a:cs typeface="Arial"/>
              </a:rPr>
              <a:t>30%</a:t>
            </a:r>
          </a:p>
        </p:txBody>
      </p:sp>
      <p:sp>
        <p:nvSpPr>
          <p:cNvPr id="58" name="Rectangle 58"/>
          <p:cNvSpPr/>
          <p:nvPr/>
        </p:nvSpPr>
        <p:spPr>
          <a:xfrm>
            <a:off x="8334375" y="2971800"/>
            <a:ext cx="3048000" cy="266700"/>
          </a:xfrm>
          <a:prstGeom prst="roundRect">
            <a:avLst>
              <a:gd name="adj" fmla="val 21429"/>
            </a:avLst>
          </a:prstGeom>
          <a:solidFill>
            <a:srgbClr val="FAFAF5"/>
          </a:solidFill>
          <a:ln>
            <a:noFill/>
          </a:ln>
        </p:spPr>
      </p:sp>
      <p:sp>
        <p:nvSpPr>
          <p:cNvPr id="59" name="TextBox 59"/>
          <p:cNvSpPr txBox="1"/>
          <p:nvPr/>
        </p:nvSpPr>
        <p:spPr>
          <a:xfrm>
            <a:off x="8462010" y="3032760"/>
            <a:ext cx="51054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有效期</a:t>
            </a:r>
          </a:p>
        </p:txBody>
      </p:sp>
      <p:sp>
        <p:nvSpPr>
          <p:cNvPr id="60" name="TextBox 60"/>
          <p:cNvSpPr txBox="1"/>
          <p:nvPr/>
        </p:nvSpPr>
        <p:spPr>
          <a:xfrm>
            <a:off x="10303007" y="3016568"/>
            <a:ext cx="620263" cy="274320"/>
          </a:xfrm>
          <a:prstGeom prst="rect">
            <a:avLst/>
          </a:prstGeom>
          <a:noFill/>
          <a:ln>
            <a:noFill/>
          </a:ln>
        </p:spPr>
        <p:txBody>
          <a:bodyPr wrap="none" lIns="0" tIns="0" rIns="0" bIns="0" anchor="t" anchorCtr="0">
            <a:spAutoFit/>
          </a:bodyPr>
          <a:lstStyle/>
          <a:p>
            <a:pPr algn="r"/>
            <a:r>
              <a:rPr lang="zh-CN" sz="1350" b="1" dirty="0">
                <a:solidFill>
                  <a:srgbClr val="D4A574"/>
                </a:solidFill>
                <a:latin typeface="Arial"/>
                <a:ea typeface="Microsoft YaHei"/>
                <a:cs typeface="Arial"/>
              </a:rPr>
              <a:t>12个月</a:t>
            </a:r>
          </a:p>
        </p:txBody>
      </p:sp>
      <p:sp>
        <p:nvSpPr>
          <p:cNvPr id="61" name="Rectangle 61"/>
          <p:cNvSpPr/>
          <p:nvPr/>
        </p:nvSpPr>
        <p:spPr>
          <a:xfrm>
            <a:off x="9001125" y="3676650"/>
            <a:ext cx="1714500" cy="228600"/>
          </a:xfrm>
          <a:prstGeom prst="roundRect">
            <a:avLst>
              <a:gd name="adj" fmla="val 50000"/>
            </a:avLst>
          </a:prstGeom>
          <a:solidFill>
            <a:srgbClr val="D4A574">
              <a:alpha val="15000"/>
            </a:srgbClr>
          </a:solidFill>
          <a:ln>
            <a:noFill/>
          </a:ln>
        </p:spPr>
      </p:sp>
      <p:sp>
        <p:nvSpPr>
          <p:cNvPr id="62" name="TextBox 62"/>
          <p:cNvSpPr txBox="1"/>
          <p:nvPr/>
        </p:nvSpPr>
        <p:spPr>
          <a:xfrm>
            <a:off x="9504700" y="3733324"/>
            <a:ext cx="707350" cy="198120"/>
          </a:xfrm>
          <a:prstGeom prst="rect">
            <a:avLst/>
          </a:prstGeom>
          <a:noFill/>
          <a:ln>
            <a:noFill/>
          </a:ln>
        </p:spPr>
        <p:txBody>
          <a:bodyPr wrap="none" lIns="0" tIns="0" rIns="0" bIns="0" anchor="t" anchorCtr="0">
            <a:spAutoFit/>
          </a:bodyPr>
          <a:lstStyle/>
          <a:p>
            <a:pPr algn="ctr"/>
            <a:r>
              <a:rPr lang="zh-CN" sz="975" b="1" dirty="0">
                <a:solidFill>
                  <a:srgbClr val="D4A574"/>
                </a:solidFill>
                <a:latin typeface="Arial"/>
                <a:ea typeface="Microsoft YaHei"/>
                <a:cs typeface="Arial"/>
              </a:rPr>
              <a:t>全平台通用</a:t>
            </a:r>
          </a:p>
        </p:txBody>
      </p:sp>
      <p:sp>
        <p:nvSpPr>
          <p:cNvPr id="63" name="Rectangle 63"/>
          <p:cNvSpPr/>
          <p:nvPr/>
        </p:nvSpPr>
        <p:spPr>
          <a:xfrm>
            <a:off x="571500" y="4267200"/>
            <a:ext cx="11049000" cy="571500"/>
          </a:xfrm>
          <a:prstGeom prst="roundRect">
            <a:avLst>
              <a:gd name="adj" fmla="val 23333"/>
            </a:avLst>
          </a:prstGeom>
          <a:solidFill>
            <a:srgbClr val="F5D0A0">
              <a:alpha val="30000"/>
            </a:srgbClr>
          </a:solidFill>
          <a:ln>
            <a:noFill/>
          </a:ln>
        </p:spPr>
      </p:sp>
      <p:sp>
        <p:nvSpPr>
          <p:cNvPr id="64" name="Rectangle 64"/>
          <p:cNvSpPr/>
          <p:nvPr/>
        </p:nvSpPr>
        <p:spPr>
          <a:xfrm>
            <a:off x="571500" y="4267200"/>
            <a:ext cx="57150" cy="571500"/>
          </a:xfrm>
          <a:prstGeom prst="roundRect">
            <a:avLst>
              <a:gd name="adj" fmla="val 50000"/>
            </a:avLst>
          </a:prstGeom>
          <a:solidFill>
            <a:srgbClr val="E67E22"/>
          </a:solidFill>
          <a:ln>
            <a:noFill/>
          </a:ln>
        </p:spPr>
      </p:sp>
      <p:sp>
        <p:nvSpPr>
          <p:cNvPr id="65" name="TextBox 65"/>
          <p:cNvSpPr txBox="1"/>
          <p:nvPr/>
        </p:nvSpPr>
        <p:spPr>
          <a:xfrm>
            <a:off x="940118" y="4390549"/>
            <a:ext cx="843867" cy="198120"/>
          </a:xfrm>
          <a:prstGeom prst="rect">
            <a:avLst/>
          </a:prstGeom>
          <a:noFill/>
          <a:ln>
            <a:noFill/>
          </a:ln>
        </p:spPr>
        <p:txBody>
          <a:bodyPr wrap="none" lIns="0" tIns="0" rIns="0" bIns="0" anchor="t" anchorCtr="0">
            <a:spAutoFit/>
          </a:bodyPr>
          <a:lstStyle/>
          <a:p>
            <a:pPr algn="l"/>
            <a:r>
              <a:rPr lang="zh-CN" sz="975" b="1" dirty="0">
                <a:solidFill>
                  <a:srgbClr val="E67E22"/>
                </a:solidFill>
                <a:latin typeface="Arial"/>
                <a:ea typeface="Microsoft YaHei"/>
                <a:cs typeface="Arial"/>
              </a:rPr>
              <a:t>跨店通用机制</a:t>
            </a:r>
          </a:p>
        </p:txBody>
      </p:sp>
      <p:sp>
        <p:nvSpPr>
          <p:cNvPr id="66" name="TextBox 66"/>
          <p:cNvSpPr txBox="1"/>
          <p:nvPr/>
        </p:nvSpPr>
        <p:spPr>
          <a:xfrm>
            <a:off x="937260" y="4575810"/>
            <a:ext cx="4759071"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在A店获得，在B店使用 — 营销池统一结算 · 汇付直清 · 不构成二清</a:t>
            </a:r>
          </a:p>
        </p:txBody>
      </p:sp>
      <p:sp>
        <p:nvSpPr>
          <p:cNvPr id="67" name="Line 67"/>
          <p:cNvSpPr/>
          <p:nvPr/>
        </p:nvSpPr>
        <p:spPr>
          <a:xfrm>
            <a:off x="3429000" y="4572000"/>
            <a:ext cx="762000" cy="9525"/>
          </a:xfrm>
          <a:custGeom>
            <a:avLst/>
            <a:gdLst/>
            <a:ahLst/>
            <a:cxnLst/>
            <a:rect l="l" t="t" r="r" b="b"/>
            <a:pathLst>
              <a:path w="762000" h="9525">
                <a:moveTo>
                  <a:pt x="0" y="0"/>
                </a:moveTo>
                <a:lnTo>
                  <a:pt x="762000" y="0"/>
                </a:lnTo>
              </a:path>
            </a:pathLst>
          </a:custGeom>
          <a:noFill/>
          <a:ln w="19050">
            <a:solidFill>
              <a:srgbClr val="E67E22"/>
            </a:solidFill>
            <a:custDash>
              <a:ds d="200000" sp="150000"/>
            </a:custDash>
          </a:ln>
        </p:spPr>
      </p:sp>
      <p:sp>
        <p:nvSpPr>
          <p:cNvPr id="68" name="Polygon 68"/>
          <p:cNvSpPr/>
          <p:nvPr/>
        </p:nvSpPr>
        <p:spPr>
          <a:xfrm>
            <a:off x="4191000" y="4524375"/>
            <a:ext cx="114300" cy="95250"/>
          </a:xfrm>
          <a:custGeom>
            <a:avLst/>
            <a:gdLst/>
            <a:ahLst/>
            <a:cxnLst/>
            <a:rect l="l" t="t" r="r" b="b"/>
            <a:pathLst>
              <a:path w="114300" h="95250">
                <a:moveTo>
                  <a:pt x="0" y="0"/>
                </a:moveTo>
                <a:lnTo>
                  <a:pt x="114300" y="47625"/>
                </a:lnTo>
                <a:lnTo>
                  <a:pt x="0" y="95250"/>
                </a:lnTo>
                <a:close/>
              </a:path>
            </a:pathLst>
          </a:custGeom>
          <a:solidFill>
            <a:srgbClr val="E67E22"/>
          </a:solidFill>
          <a:ln>
            <a:noFill/>
          </a:ln>
        </p:spPr>
      </p:sp>
      <p:sp>
        <p:nvSpPr>
          <p:cNvPr id="69" name="TextBox 69"/>
          <p:cNvSpPr txBox="1"/>
          <p:nvPr/>
        </p:nvSpPr>
        <p:spPr>
          <a:xfrm>
            <a:off x="559118" y="5114449"/>
            <a:ext cx="7344680"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三种营销工具形成互补：代金券拉新转化 · 积分促活留存 · 消费金提升客单价。全平台通用保证消费者权益不受商家边界限制。</a:t>
            </a:r>
          </a:p>
        </p:txBody>
      </p:sp>
      <p:sp>
        <p:nvSpPr>
          <p:cNvPr id="70" name="Rectangle 70"/>
          <p:cNvSpPr/>
          <p:nvPr/>
        </p:nvSpPr>
        <p:spPr>
          <a:xfrm>
            <a:off x="571500" y="5391150"/>
            <a:ext cx="11049000" cy="9525"/>
          </a:xfrm>
          <a:prstGeom prst="rect">
            <a:avLst/>
          </a:prstGeom>
          <a:solidFill>
            <a:srgbClr val="E8E3DC"/>
          </a:solidFill>
          <a:ln>
            <a:noFill/>
          </a:ln>
        </p:spPr>
      </p:sp>
      <p:sp>
        <p:nvSpPr>
          <p:cNvPr id="71" name="TextBox 71"/>
          <p:cNvSpPr txBox="1"/>
          <p:nvPr/>
        </p:nvSpPr>
        <p:spPr>
          <a:xfrm>
            <a:off x="559118" y="5571649"/>
            <a:ext cx="6070521"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参数来源：服务费结算模型 V3.2。营销池统一管理三券发放与核销，平台根据各商家营销策略动态调配。</a:t>
            </a:r>
          </a:p>
        </p:txBody>
      </p:sp>
      <p:sp>
        <p:nvSpPr>
          <p:cNvPr id="72" name="TextBox 72"/>
          <p:cNvSpPr txBox="1"/>
          <p:nvPr/>
        </p:nvSpPr>
        <p:spPr>
          <a:xfrm>
            <a:off x="558165" y="6477952"/>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
        <p:nvSpPr>
          <p:cNvPr id="73" name="TextBox 73"/>
          <p:cNvSpPr txBox="1"/>
          <p:nvPr/>
        </p:nvSpPr>
        <p:spPr>
          <a:xfrm>
            <a:off x="11453146" y="6477952"/>
            <a:ext cx="180689" cy="213360"/>
          </a:xfrm>
          <a:prstGeom prst="rect">
            <a:avLst/>
          </a:prstGeom>
          <a:noFill/>
          <a:ln>
            <a:noFill/>
          </a:ln>
        </p:spPr>
        <p:txBody>
          <a:bodyPr wrap="none" lIns="0" tIns="0" rIns="0" bIns="0" anchor="t" anchorCtr="0">
            <a:spAutoFit/>
          </a:bodyPr>
          <a:lstStyle/>
          <a:p>
            <a:pPr algn="r"/>
            <a:r>
              <a:rPr lang="zh-CN" sz="1050" dirty="0">
                <a:solidFill>
                  <a:srgbClr val="A0A0A0"/>
                </a:solidFill>
                <a:latin typeface="Arial"/>
                <a:ea typeface="Microsoft YaHei"/>
                <a:cs typeface="Arial"/>
              </a:rPr>
              <a:t>25</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342900"/>
            <a:ext cx="57150" cy="381000"/>
          </a:xfrm>
          <a:prstGeom prst="roundRect">
            <a:avLst>
              <a:gd name="adj" fmla="val 50000"/>
            </a:avLst>
          </a:prstGeom>
          <a:solidFill>
            <a:srgbClr val="1A5276"/>
          </a:solidFill>
          <a:ln>
            <a:noFill/>
          </a:ln>
        </p:spPr>
      </p:sp>
      <p:sp>
        <p:nvSpPr>
          <p:cNvPr id="4" name="TextBox 4"/>
          <p:cNvSpPr txBox="1"/>
          <p:nvPr/>
        </p:nvSpPr>
        <p:spPr>
          <a:xfrm>
            <a:off x="727710" y="337185"/>
            <a:ext cx="6797821"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盈亏平衡：40,500笔/月，净利率0.89%</a:t>
            </a:r>
          </a:p>
        </p:txBody>
      </p:sp>
      <p:sp>
        <p:nvSpPr>
          <p:cNvPr id="5" name="Rectangle 5"/>
          <p:cNvSpPr/>
          <p:nvPr/>
        </p:nvSpPr>
        <p:spPr>
          <a:xfrm>
            <a:off x="571500" y="952500"/>
            <a:ext cx="5524500" cy="4000500"/>
          </a:xfrm>
          <a:prstGeom prst="roundRect">
            <a:avLst>
              <a:gd name="adj" fmla="val 3333"/>
            </a:avLst>
          </a:prstGeom>
          <a:solidFill>
            <a:srgbClr val="F5F0EA"/>
          </a:solidFill>
          <a:ln>
            <a:noFill/>
          </a:ln>
          <a:effectLst>
            <a:outerShdw blurRad="76200" dist="19050" dir="5400000" algn="ctr" rotWithShape="0">
              <a:srgbClr val="2C2C2C">
                <a:alpha val="4500"/>
              </a:srgbClr>
            </a:outerShdw>
          </a:effectLst>
        </p:spPr>
      </p:sp>
      <p:sp>
        <p:nvSpPr>
          <p:cNvPr id="6" name="TextBox 6"/>
          <p:cNvSpPr txBox="1"/>
          <p:nvPr/>
        </p:nvSpPr>
        <p:spPr>
          <a:xfrm>
            <a:off x="2226374" y="1203960"/>
            <a:ext cx="2214753" cy="243840"/>
          </a:xfrm>
          <a:prstGeom prst="rect">
            <a:avLst/>
          </a:prstGeom>
          <a:noFill/>
          <a:ln>
            <a:noFill/>
          </a:ln>
        </p:spPr>
        <p:txBody>
          <a:bodyPr wrap="none" lIns="0" tIns="0" rIns="0" bIns="0" anchor="t" anchorCtr="0">
            <a:spAutoFit/>
          </a:bodyPr>
          <a:lstStyle/>
          <a:p>
            <a:pPr algn="ctr"/>
            <a:r>
              <a:rPr lang="zh-CN" sz="1200" b="1" dirty="0">
                <a:solidFill>
                  <a:srgbClr val="7F8C8D"/>
                </a:solidFill>
                <a:latin typeface="Arial"/>
                <a:ea typeface="Microsoft YaHei"/>
                <a:cs typeface="Arial"/>
              </a:rPr>
              <a:t>月度交易笔数盈亏平衡仪表盘</a:t>
            </a:r>
          </a:p>
        </p:txBody>
      </p:sp>
      <p:sp>
        <p:nvSpPr>
          <p:cNvPr id="7" name="Line 7"/>
          <p:cNvSpPr/>
          <p:nvPr/>
        </p:nvSpPr>
        <p:spPr>
          <a:xfrm>
            <a:off x="1476375" y="4267200"/>
            <a:ext cx="9525" cy="95250"/>
          </a:xfrm>
          <a:custGeom>
            <a:avLst/>
            <a:gdLst/>
            <a:ahLst/>
            <a:cxnLst/>
            <a:rect l="l" t="t" r="r" b="b"/>
            <a:pathLst>
              <a:path w="9525" h="95250">
                <a:moveTo>
                  <a:pt x="0" y="95250"/>
                </a:moveTo>
                <a:lnTo>
                  <a:pt x="0" y="0"/>
                </a:lnTo>
              </a:path>
            </a:pathLst>
          </a:custGeom>
          <a:noFill/>
          <a:ln w="19050">
            <a:solidFill>
              <a:srgbClr val="2C2C2C"/>
            </a:solidFill>
          </a:ln>
        </p:spPr>
      </p:sp>
      <p:sp>
        <p:nvSpPr>
          <p:cNvPr id="8" name="TextBox 8"/>
          <p:cNvSpPr txBox="1"/>
          <p:nvPr/>
        </p:nvSpPr>
        <p:spPr>
          <a:xfrm>
            <a:off x="1428238" y="4447699"/>
            <a:ext cx="96274"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0</a:t>
            </a:r>
          </a:p>
        </p:txBody>
      </p:sp>
      <p:sp>
        <p:nvSpPr>
          <p:cNvPr id="9" name="Line 9"/>
          <p:cNvSpPr/>
          <p:nvPr/>
        </p:nvSpPr>
        <p:spPr>
          <a:xfrm>
            <a:off x="2219325" y="4362450"/>
            <a:ext cx="9525" cy="95250"/>
          </a:xfrm>
          <a:custGeom>
            <a:avLst/>
            <a:gdLst/>
            <a:ahLst/>
            <a:cxnLst/>
            <a:rect l="l" t="t" r="r" b="b"/>
            <a:pathLst>
              <a:path w="9525" h="95250">
                <a:moveTo>
                  <a:pt x="0" y="95250"/>
                </a:moveTo>
                <a:lnTo>
                  <a:pt x="0" y="0"/>
                </a:lnTo>
              </a:path>
            </a:pathLst>
          </a:custGeom>
          <a:noFill/>
          <a:ln w="19050">
            <a:solidFill>
              <a:srgbClr val="2C2C2C"/>
            </a:solidFill>
          </a:ln>
        </p:spPr>
      </p:sp>
      <p:sp>
        <p:nvSpPr>
          <p:cNvPr id="10" name="TextBox 10"/>
          <p:cNvSpPr txBox="1"/>
          <p:nvPr/>
        </p:nvSpPr>
        <p:spPr>
          <a:xfrm>
            <a:off x="2009870" y="4551045"/>
            <a:ext cx="418910"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20,000</a:t>
            </a:r>
          </a:p>
        </p:txBody>
      </p:sp>
      <p:sp>
        <p:nvSpPr>
          <p:cNvPr id="11" name="Line 11"/>
          <p:cNvSpPr/>
          <p:nvPr/>
        </p:nvSpPr>
        <p:spPr>
          <a:xfrm>
            <a:off x="3333750" y="4267200"/>
            <a:ext cx="9525" cy="95250"/>
          </a:xfrm>
          <a:custGeom>
            <a:avLst/>
            <a:gdLst/>
            <a:ahLst/>
            <a:cxnLst/>
            <a:rect l="l" t="t" r="r" b="b"/>
            <a:pathLst>
              <a:path w="9525" h="95250">
                <a:moveTo>
                  <a:pt x="0" y="95250"/>
                </a:moveTo>
                <a:lnTo>
                  <a:pt x="0" y="0"/>
                </a:lnTo>
              </a:path>
            </a:pathLst>
          </a:custGeom>
          <a:noFill/>
          <a:ln w="19050">
            <a:solidFill>
              <a:srgbClr val="1E8449"/>
            </a:solidFill>
          </a:ln>
        </p:spPr>
      </p:sp>
      <p:sp>
        <p:nvSpPr>
          <p:cNvPr id="12" name="TextBox 12"/>
          <p:cNvSpPr txBox="1"/>
          <p:nvPr/>
        </p:nvSpPr>
        <p:spPr>
          <a:xfrm>
            <a:off x="3124295" y="4455795"/>
            <a:ext cx="418910" cy="182880"/>
          </a:xfrm>
          <a:prstGeom prst="rect">
            <a:avLst/>
          </a:prstGeom>
          <a:noFill/>
          <a:ln>
            <a:noFill/>
          </a:ln>
        </p:spPr>
        <p:txBody>
          <a:bodyPr wrap="none" lIns="0" tIns="0" rIns="0" bIns="0" anchor="t" anchorCtr="0">
            <a:spAutoFit/>
          </a:bodyPr>
          <a:lstStyle/>
          <a:p>
            <a:pPr algn="ctr"/>
            <a:r>
              <a:rPr lang="zh-CN" sz="900" dirty="0">
                <a:solidFill>
                  <a:srgbClr val="1E8449"/>
                </a:solidFill>
                <a:latin typeface="Arial"/>
                <a:ea typeface="Microsoft YaHei"/>
                <a:cs typeface="Arial"/>
              </a:rPr>
              <a:t>40,500</a:t>
            </a:r>
          </a:p>
        </p:txBody>
      </p:sp>
      <p:sp>
        <p:nvSpPr>
          <p:cNvPr id="13" name="Line 13"/>
          <p:cNvSpPr/>
          <p:nvPr/>
        </p:nvSpPr>
        <p:spPr>
          <a:xfrm>
            <a:off x="4448175" y="4362450"/>
            <a:ext cx="9525" cy="95250"/>
          </a:xfrm>
          <a:custGeom>
            <a:avLst/>
            <a:gdLst/>
            <a:ahLst/>
            <a:cxnLst/>
            <a:rect l="l" t="t" r="r" b="b"/>
            <a:pathLst>
              <a:path w="9525" h="95250">
                <a:moveTo>
                  <a:pt x="0" y="95250"/>
                </a:moveTo>
                <a:lnTo>
                  <a:pt x="0" y="0"/>
                </a:lnTo>
              </a:path>
            </a:pathLst>
          </a:custGeom>
          <a:noFill/>
          <a:ln w="19050">
            <a:solidFill>
              <a:srgbClr val="2C2C2C"/>
            </a:solidFill>
          </a:ln>
        </p:spPr>
      </p:sp>
      <p:sp>
        <p:nvSpPr>
          <p:cNvPr id="14" name="TextBox 14"/>
          <p:cNvSpPr txBox="1"/>
          <p:nvPr/>
        </p:nvSpPr>
        <p:spPr>
          <a:xfrm>
            <a:off x="4238720" y="4551045"/>
            <a:ext cx="418910"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60,000</a:t>
            </a:r>
          </a:p>
        </p:txBody>
      </p:sp>
      <p:sp>
        <p:nvSpPr>
          <p:cNvPr id="15" name="Line 15"/>
          <p:cNvSpPr/>
          <p:nvPr/>
        </p:nvSpPr>
        <p:spPr>
          <a:xfrm>
            <a:off x="5191125" y="4267200"/>
            <a:ext cx="9525" cy="95250"/>
          </a:xfrm>
          <a:custGeom>
            <a:avLst/>
            <a:gdLst/>
            <a:ahLst/>
            <a:cxnLst/>
            <a:rect l="l" t="t" r="r" b="b"/>
            <a:pathLst>
              <a:path w="9525" h="95250">
                <a:moveTo>
                  <a:pt x="0" y="95250"/>
                </a:moveTo>
                <a:lnTo>
                  <a:pt x="0" y="0"/>
                </a:lnTo>
              </a:path>
            </a:pathLst>
          </a:custGeom>
          <a:noFill/>
          <a:ln w="19050">
            <a:solidFill>
              <a:srgbClr val="2C2C2C"/>
            </a:solidFill>
          </a:ln>
        </p:spPr>
      </p:sp>
      <p:sp>
        <p:nvSpPr>
          <p:cNvPr id="16" name="TextBox 16"/>
          <p:cNvSpPr txBox="1"/>
          <p:nvPr/>
        </p:nvSpPr>
        <p:spPr>
          <a:xfrm>
            <a:off x="4964216" y="4447699"/>
            <a:ext cx="453819"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80,000</a:t>
            </a:r>
          </a:p>
        </p:txBody>
      </p:sp>
      <p:sp>
        <p:nvSpPr>
          <p:cNvPr id="17" name="Line 17"/>
          <p:cNvSpPr/>
          <p:nvPr/>
        </p:nvSpPr>
        <p:spPr>
          <a:xfrm>
            <a:off x="3076575" y="2171700"/>
            <a:ext cx="257175" cy="1924050"/>
          </a:xfrm>
          <a:custGeom>
            <a:avLst/>
            <a:gdLst/>
            <a:ahLst/>
            <a:cxnLst/>
            <a:rect l="l" t="t" r="r" b="b"/>
            <a:pathLst>
              <a:path w="257175" h="1924050">
                <a:moveTo>
                  <a:pt x="257175" y="1924050"/>
                </a:moveTo>
                <a:lnTo>
                  <a:pt x="0" y="0"/>
                </a:lnTo>
              </a:path>
            </a:pathLst>
          </a:custGeom>
          <a:noFill/>
          <a:ln w="28575" cap="rnd">
            <a:solidFill>
              <a:srgbClr val="2C2C2C"/>
            </a:solidFill>
          </a:ln>
        </p:spPr>
      </p:sp>
      <p:sp>
        <p:nvSpPr>
          <p:cNvPr id="18" name="Ellipse 18"/>
          <p:cNvSpPr/>
          <p:nvPr/>
        </p:nvSpPr>
        <p:spPr>
          <a:xfrm>
            <a:off x="3238500" y="4000500"/>
            <a:ext cx="190500" cy="190500"/>
          </a:xfrm>
          <a:prstGeom prst="ellipse">
            <a:avLst/>
          </a:prstGeom>
          <a:solidFill>
            <a:srgbClr val="2C2C2C"/>
          </a:solidFill>
          <a:ln>
            <a:noFill/>
          </a:ln>
        </p:spPr>
      </p:sp>
      <p:sp>
        <p:nvSpPr>
          <p:cNvPr id="19" name="Ellipse 19"/>
          <p:cNvSpPr/>
          <p:nvPr/>
        </p:nvSpPr>
        <p:spPr>
          <a:xfrm>
            <a:off x="3286125" y="4048125"/>
            <a:ext cx="95250" cy="95250"/>
          </a:xfrm>
          <a:prstGeom prst="ellipse">
            <a:avLst/>
          </a:prstGeom>
          <a:solidFill>
            <a:srgbClr val="FAFAF5"/>
          </a:solidFill>
          <a:ln>
            <a:noFill/>
          </a:ln>
        </p:spPr>
      </p:sp>
      <p:sp>
        <p:nvSpPr>
          <p:cNvPr id="20" name="Rectangle 20"/>
          <p:cNvSpPr/>
          <p:nvPr/>
        </p:nvSpPr>
        <p:spPr>
          <a:xfrm>
            <a:off x="2619375" y="3333750"/>
            <a:ext cx="1428750" cy="571500"/>
          </a:xfrm>
          <a:prstGeom prst="roundRect">
            <a:avLst>
              <a:gd name="adj" fmla="val 16667"/>
            </a:avLst>
          </a:prstGeom>
          <a:solidFill>
            <a:srgbClr val="FAFAF5"/>
          </a:solidFill>
          <a:ln>
            <a:noFill/>
          </a:ln>
          <a:effectLst>
            <a:outerShdw blurRad="76200" dist="19050" dir="5400000" algn="ctr" rotWithShape="0">
              <a:srgbClr val="2C2C2C">
                <a:alpha val="4500"/>
              </a:srgbClr>
            </a:outerShdw>
          </a:effectLst>
        </p:spPr>
      </p:sp>
      <p:sp>
        <p:nvSpPr>
          <p:cNvPr id="21" name="TextBox 21"/>
          <p:cNvSpPr txBox="1"/>
          <p:nvPr/>
        </p:nvSpPr>
        <p:spPr>
          <a:xfrm>
            <a:off x="2821919" y="3392805"/>
            <a:ext cx="1023661" cy="426720"/>
          </a:xfrm>
          <a:prstGeom prst="rect">
            <a:avLst/>
          </a:prstGeom>
          <a:noFill/>
          <a:ln>
            <a:noFill/>
          </a:ln>
        </p:spPr>
        <p:txBody>
          <a:bodyPr wrap="none" lIns="0" tIns="0" rIns="0" bIns="0" anchor="t" anchorCtr="0">
            <a:spAutoFit/>
          </a:bodyPr>
          <a:lstStyle/>
          <a:p>
            <a:pPr algn="ctr"/>
            <a:r>
              <a:rPr lang="zh-CN" sz="2100" b="1" dirty="0">
                <a:solidFill>
                  <a:srgbClr val="1E8449"/>
                </a:solidFill>
                <a:latin typeface="Arial"/>
                <a:ea typeface="Microsoft YaHei"/>
                <a:cs typeface="Arial"/>
              </a:rPr>
              <a:t>40,500</a:t>
            </a:r>
          </a:p>
        </p:txBody>
      </p:sp>
      <p:sp>
        <p:nvSpPr>
          <p:cNvPr id="22" name="TextBox 22"/>
          <p:cNvSpPr txBox="1"/>
          <p:nvPr/>
        </p:nvSpPr>
        <p:spPr>
          <a:xfrm>
            <a:off x="3155597" y="3704749"/>
            <a:ext cx="356306"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笔/月</a:t>
            </a:r>
          </a:p>
        </p:txBody>
      </p:sp>
      <p:sp>
        <p:nvSpPr>
          <p:cNvPr id="23" name="TextBox 23"/>
          <p:cNvSpPr txBox="1"/>
          <p:nvPr/>
        </p:nvSpPr>
        <p:spPr>
          <a:xfrm>
            <a:off x="2850654" y="4736306"/>
            <a:ext cx="966192" cy="228600"/>
          </a:xfrm>
          <a:prstGeom prst="rect">
            <a:avLst/>
          </a:prstGeom>
          <a:noFill/>
          <a:ln>
            <a:noFill/>
          </a:ln>
        </p:spPr>
        <p:txBody>
          <a:bodyPr wrap="none" lIns="0" tIns="0" rIns="0" bIns="0" anchor="t" anchorCtr="0">
            <a:spAutoFit/>
          </a:bodyPr>
          <a:lstStyle/>
          <a:p>
            <a:pPr algn="ctr"/>
            <a:r>
              <a:rPr lang="zh-CN" sz="1125" dirty="0">
                <a:solidFill>
                  <a:srgbClr val="1A5276"/>
                </a:solidFill>
                <a:latin typeface="Arial"/>
                <a:ea typeface="Microsoft YaHei"/>
                <a:cs typeface="Arial"/>
              </a:rPr>
              <a:t>净利率 0.89%</a:t>
            </a:r>
          </a:p>
        </p:txBody>
      </p:sp>
      <p:sp>
        <p:nvSpPr>
          <p:cNvPr id="24" name="Rectangle 24"/>
          <p:cNvSpPr/>
          <p:nvPr/>
        </p:nvSpPr>
        <p:spPr>
          <a:xfrm>
            <a:off x="6286500" y="952500"/>
            <a:ext cx="5334000" cy="904875"/>
          </a:xfrm>
          <a:prstGeom prst="roundRect">
            <a:avLst>
              <a:gd name="adj" fmla="val 14737"/>
            </a:avLst>
          </a:prstGeom>
          <a:solidFill>
            <a:srgbClr val="F5F0EA"/>
          </a:solidFill>
          <a:ln>
            <a:noFill/>
          </a:ln>
          <a:effectLst>
            <a:outerShdw blurRad="76200" dist="19050" dir="5400000" algn="ctr" rotWithShape="0">
              <a:srgbClr val="2C2C2C">
                <a:alpha val="4500"/>
              </a:srgbClr>
            </a:outerShdw>
          </a:effectLst>
        </p:spPr>
      </p:sp>
      <p:sp>
        <p:nvSpPr>
          <p:cNvPr id="25" name="Rectangle 25"/>
          <p:cNvSpPr/>
          <p:nvPr/>
        </p:nvSpPr>
        <p:spPr>
          <a:xfrm>
            <a:off x="6286500" y="952500"/>
            <a:ext cx="5334000" cy="904875"/>
          </a:xfrm>
          <a:prstGeom prst="roundRect">
            <a:avLst>
              <a:gd name="adj" fmla="val 14737"/>
            </a:avLst>
          </a:prstGeom>
          <a:solidFill>
            <a:srgbClr val="C0392B">
              <a:alpha val="4000"/>
            </a:srgbClr>
          </a:solidFill>
          <a:ln>
            <a:noFill/>
          </a:ln>
        </p:spPr>
      </p:sp>
      <p:sp>
        <p:nvSpPr>
          <p:cNvPr id="26" name="Rectangle 26"/>
          <p:cNvSpPr/>
          <p:nvPr/>
        </p:nvSpPr>
        <p:spPr>
          <a:xfrm>
            <a:off x="6286500" y="952500"/>
            <a:ext cx="57150" cy="904875"/>
          </a:xfrm>
          <a:prstGeom prst="roundRect">
            <a:avLst>
              <a:gd name="adj" fmla="val 50000"/>
            </a:avLst>
          </a:prstGeom>
          <a:solidFill>
            <a:srgbClr val="C0392B"/>
          </a:solidFill>
          <a:ln>
            <a:noFill/>
          </a:ln>
        </p:spPr>
      </p:sp>
      <p:sp>
        <p:nvSpPr>
          <p:cNvPr id="27" name="TextBox 27"/>
          <p:cNvSpPr txBox="1"/>
          <p:nvPr/>
        </p:nvSpPr>
        <p:spPr>
          <a:xfrm>
            <a:off x="6553200" y="1095375"/>
            <a:ext cx="878205" cy="304800"/>
          </a:xfrm>
          <a:prstGeom prst="rect">
            <a:avLst/>
          </a:prstGeom>
          <a:noFill/>
          <a:ln>
            <a:noFill/>
          </a:ln>
        </p:spPr>
        <p:txBody>
          <a:bodyPr wrap="none" lIns="0" tIns="0" rIns="0" bIns="0" anchor="t" anchorCtr="0">
            <a:spAutoFit/>
          </a:bodyPr>
          <a:lstStyle/>
          <a:p>
            <a:pPr algn="l"/>
            <a:r>
              <a:rPr lang="zh-CN" sz="1500" b="1" dirty="0">
                <a:solidFill>
                  <a:srgbClr val="C0392B"/>
                </a:solidFill>
                <a:latin typeface="Arial"/>
                <a:ea typeface="Microsoft YaHei"/>
                <a:cs typeface="Arial"/>
              </a:rPr>
              <a:t>悲观情景</a:t>
            </a:r>
          </a:p>
        </p:txBody>
      </p:sp>
      <p:sp>
        <p:nvSpPr>
          <p:cNvPr id="28" name="TextBox 28"/>
          <p:cNvSpPr txBox="1"/>
          <p:nvPr/>
        </p:nvSpPr>
        <p:spPr>
          <a:xfrm>
            <a:off x="7605712" y="1135856"/>
            <a:ext cx="95119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15,000 笔/月</a:t>
            </a:r>
          </a:p>
        </p:txBody>
      </p:sp>
      <p:sp>
        <p:nvSpPr>
          <p:cNvPr id="29" name="TextBox 29"/>
          <p:cNvSpPr txBox="1"/>
          <p:nvPr/>
        </p:nvSpPr>
        <p:spPr>
          <a:xfrm>
            <a:off x="7605712" y="1383506"/>
            <a:ext cx="234636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所需商户 900 · 日均 0.56 笔/商户</a:t>
            </a:r>
          </a:p>
        </p:txBody>
      </p:sp>
      <p:sp>
        <p:nvSpPr>
          <p:cNvPr id="30" name="TextBox 30"/>
          <p:cNvSpPr txBox="1"/>
          <p:nvPr/>
        </p:nvSpPr>
        <p:spPr>
          <a:xfrm>
            <a:off x="9803987" y="1079182"/>
            <a:ext cx="503968" cy="335280"/>
          </a:xfrm>
          <a:prstGeom prst="rect">
            <a:avLst/>
          </a:prstGeom>
          <a:noFill/>
          <a:ln>
            <a:noFill/>
          </a:ln>
        </p:spPr>
        <p:txBody>
          <a:bodyPr wrap="none" lIns="0" tIns="0" rIns="0" bIns="0" anchor="t" anchorCtr="0">
            <a:spAutoFit/>
          </a:bodyPr>
          <a:lstStyle/>
          <a:p>
            <a:pPr algn="r"/>
            <a:r>
              <a:rPr lang="zh-CN" sz="1650" b="1" dirty="0">
                <a:solidFill>
                  <a:srgbClr val="C0392B"/>
                </a:solidFill>
                <a:latin typeface="Arial"/>
                <a:ea typeface="Microsoft YaHei"/>
                <a:cs typeface="Arial"/>
              </a:rPr>
              <a:t>亏损</a:t>
            </a:r>
          </a:p>
        </p:txBody>
      </p:sp>
      <p:sp>
        <p:nvSpPr>
          <p:cNvPr id="31" name="TextBox 31"/>
          <p:cNvSpPr txBox="1"/>
          <p:nvPr/>
        </p:nvSpPr>
        <p:spPr>
          <a:xfrm>
            <a:off x="9624536" y="1399699"/>
            <a:ext cx="674846" cy="198120"/>
          </a:xfrm>
          <a:prstGeom prst="rect">
            <a:avLst/>
          </a:prstGeom>
          <a:noFill/>
          <a:ln>
            <a:noFill/>
          </a:ln>
        </p:spPr>
        <p:txBody>
          <a:bodyPr wrap="none" lIns="0" tIns="0" rIns="0" bIns="0" anchor="t" anchorCtr="0">
            <a:spAutoFit/>
          </a:bodyPr>
          <a:lstStyle/>
          <a:p>
            <a:pPr algn="r"/>
            <a:r>
              <a:rPr lang="zh-CN" sz="975" dirty="0">
                <a:solidFill>
                  <a:srgbClr val="C0392B"/>
                </a:solidFill>
                <a:latin typeface="Arial"/>
                <a:ea typeface="Microsoft YaHei"/>
                <a:cs typeface="Arial"/>
              </a:rPr>
              <a:t>需补贴运营</a:t>
            </a:r>
          </a:p>
        </p:txBody>
      </p:sp>
      <p:sp>
        <p:nvSpPr>
          <p:cNvPr id="32" name="Rectangle 32"/>
          <p:cNvSpPr/>
          <p:nvPr/>
        </p:nvSpPr>
        <p:spPr>
          <a:xfrm>
            <a:off x="6286500" y="2000250"/>
            <a:ext cx="5334000" cy="904875"/>
          </a:xfrm>
          <a:prstGeom prst="roundRect">
            <a:avLst>
              <a:gd name="adj" fmla="val 14737"/>
            </a:avLst>
          </a:prstGeom>
          <a:solidFill>
            <a:srgbClr val="F5F0EA"/>
          </a:solidFill>
          <a:ln>
            <a:noFill/>
          </a:ln>
          <a:effectLst>
            <a:outerShdw blurRad="76200" dist="19050" dir="5400000" algn="ctr" rotWithShape="0">
              <a:srgbClr val="2C2C2C">
                <a:alpha val="4500"/>
              </a:srgbClr>
            </a:outerShdw>
          </a:effectLst>
        </p:spPr>
      </p:sp>
      <p:sp>
        <p:nvSpPr>
          <p:cNvPr id="33" name="Rectangle 33"/>
          <p:cNvSpPr/>
          <p:nvPr/>
        </p:nvSpPr>
        <p:spPr>
          <a:xfrm>
            <a:off x="6286500" y="2000250"/>
            <a:ext cx="5334000" cy="904875"/>
          </a:xfrm>
          <a:prstGeom prst="roundRect">
            <a:avLst>
              <a:gd name="adj" fmla="val 14737"/>
            </a:avLst>
          </a:prstGeom>
          <a:solidFill>
            <a:srgbClr val="1E8449">
              <a:alpha val="4000"/>
            </a:srgbClr>
          </a:solidFill>
          <a:ln>
            <a:noFill/>
          </a:ln>
        </p:spPr>
      </p:sp>
      <p:sp>
        <p:nvSpPr>
          <p:cNvPr id="34" name="Rectangle 34"/>
          <p:cNvSpPr/>
          <p:nvPr/>
        </p:nvSpPr>
        <p:spPr>
          <a:xfrm>
            <a:off x="6286500" y="2000250"/>
            <a:ext cx="57150" cy="904875"/>
          </a:xfrm>
          <a:prstGeom prst="roundRect">
            <a:avLst>
              <a:gd name="adj" fmla="val 50000"/>
            </a:avLst>
          </a:prstGeom>
          <a:solidFill>
            <a:srgbClr val="1E8449"/>
          </a:solidFill>
          <a:ln>
            <a:noFill/>
          </a:ln>
        </p:spPr>
      </p:sp>
      <p:sp>
        <p:nvSpPr>
          <p:cNvPr id="35" name="TextBox 35"/>
          <p:cNvSpPr txBox="1"/>
          <p:nvPr/>
        </p:nvSpPr>
        <p:spPr>
          <a:xfrm>
            <a:off x="6553200" y="2143125"/>
            <a:ext cx="878205" cy="304800"/>
          </a:xfrm>
          <a:prstGeom prst="rect">
            <a:avLst/>
          </a:prstGeom>
          <a:noFill/>
          <a:ln>
            <a:noFill/>
          </a:ln>
        </p:spPr>
        <p:txBody>
          <a:bodyPr wrap="none" lIns="0" tIns="0" rIns="0" bIns="0" anchor="t" anchorCtr="0">
            <a:spAutoFit/>
          </a:bodyPr>
          <a:lstStyle/>
          <a:p>
            <a:pPr algn="l"/>
            <a:r>
              <a:rPr lang="zh-CN" sz="1500" b="1" dirty="0">
                <a:solidFill>
                  <a:srgbClr val="1E8449"/>
                </a:solidFill>
                <a:latin typeface="Arial"/>
                <a:ea typeface="Microsoft YaHei"/>
                <a:cs typeface="Arial"/>
              </a:rPr>
              <a:t>基准情景</a:t>
            </a:r>
          </a:p>
        </p:txBody>
      </p:sp>
      <p:sp>
        <p:nvSpPr>
          <p:cNvPr id="36" name="TextBox 36"/>
          <p:cNvSpPr txBox="1"/>
          <p:nvPr/>
        </p:nvSpPr>
        <p:spPr>
          <a:xfrm>
            <a:off x="7605712" y="2183606"/>
            <a:ext cx="95119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40,500 笔/月</a:t>
            </a:r>
          </a:p>
        </p:txBody>
      </p:sp>
      <p:sp>
        <p:nvSpPr>
          <p:cNvPr id="37" name="TextBox 37"/>
          <p:cNvSpPr txBox="1"/>
          <p:nvPr/>
        </p:nvSpPr>
        <p:spPr>
          <a:xfrm>
            <a:off x="7605712" y="2431256"/>
            <a:ext cx="259389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所需商户 270~450 · 日均 3~5 笔/商户</a:t>
            </a:r>
          </a:p>
        </p:txBody>
      </p:sp>
      <p:sp>
        <p:nvSpPr>
          <p:cNvPr id="38" name="TextBox 38"/>
          <p:cNvSpPr txBox="1"/>
          <p:nvPr/>
        </p:nvSpPr>
        <p:spPr>
          <a:xfrm>
            <a:off x="9053143" y="2126932"/>
            <a:ext cx="1254812" cy="335280"/>
          </a:xfrm>
          <a:prstGeom prst="rect">
            <a:avLst/>
          </a:prstGeom>
          <a:noFill/>
          <a:ln>
            <a:noFill/>
          </a:ln>
        </p:spPr>
        <p:txBody>
          <a:bodyPr wrap="none" lIns="0" tIns="0" rIns="0" bIns="0" anchor="t" anchorCtr="0">
            <a:spAutoFit/>
          </a:bodyPr>
          <a:lstStyle/>
          <a:p>
            <a:pPr algn="r"/>
            <a:r>
              <a:rPr lang="zh-CN" sz="1650" b="1" dirty="0">
                <a:solidFill>
                  <a:srgbClr val="1E8449"/>
                </a:solidFill>
                <a:latin typeface="Arial"/>
                <a:ea typeface="Microsoft YaHei"/>
                <a:cs typeface="Arial"/>
              </a:rPr>
              <a:t>净利 0.89%</a:t>
            </a:r>
          </a:p>
        </p:txBody>
      </p:sp>
      <p:sp>
        <p:nvSpPr>
          <p:cNvPr id="39" name="TextBox 39"/>
          <p:cNvSpPr txBox="1"/>
          <p:nvPr/>
        </p:nvSpPr>
        <p:spPr>
          <a:xfrm>
            <a:off x="9201983" y="2447449"/>
            <a:ext cx="1097399" cy="198120"/>
          </a:xfrm>
          <a:prstGeom prst="rect">
            <a:avLst/>
          </a:prstGeom>
          <a:noFill/>
          <a:ln>
            <a:noFill/>
          </a:ln>
        </p:spPr>
        <p:txBody>
          <a:bodyPr wrap="none" lIns="0" tIns="0" rIns="0" bIns="0" anchor="t" anchorCtr="0">
            <a:spAutoFit/>
          </a:bodyPr>
          <a:lstStyle/>
          <a:p>
            <a:pPr algn="r"/>
            <a:r>
              <a:rPr lang="zh-CN" sz="975" dirty="0">
                <a:solidFill>
                  <a:srgbClr val="1E8449"/>
                </a:solidFill>
                <a:latin typeface="Arial"/>
                <a:ea typeface="Microsoft YaHei"/>
                <a:cs typeface="Arial"/>
              </a:rPr>
              <a:t>月净利约 3.6 万元</a:t>
            </a:r>
          </a:p>
        </p:txBody>
      </p:sp>
      <p:sp>
        <p:nvSpPr>
          <p:cNvPr id="40" name="Rectangle 40"/>
          <p:cNvSpPr/>
          <p:nvPr/>
        </p:nvSpPr>
        <p:spPr>
          <a:xfrm>
            <a:off x="6286500" y="3048000"/>
            <a:ext cx="5334000" cy="904875"/>
          </a:xfrm>
          <a:prstGeom prst="roundRect">
            <a:avLst>
              <a:gd name="adj" fmla="val 14737"/>
            </a:avLst>
          </a:prstGeom>
          <a:solidFill>
            <a:srgbClr val="F5F0EA"/>
          </a:solidFill>
          <a:ln>
            <a:noFill/>
          </a:ln>
          <a:effectLst>
            <a:outerShdw blurRad="76200" dist="19050" dir="5400000" algn="ctr" rotWithShape="0">
              <a:srgbClr val="2C2C2C">
                <a:alpha val="4500"/>
              </a:srgbClr>
            </a:outerShdw>
          </a:effectLst>
        </p:spPr>
      </p:sp>
      <p:sp>
        <p:nvSpPr>
          <p:cNvPr id="41" name="Rectangle 41"/>
          <p:cNvSpPr/>
          <p:nvPr/>
        </p:nvSpPr>
        <p:spPr>
          <a:xfrm>
            <a:off x="6286500" y="3048000"/>
            <a:ext cx="5334000" cy="904875"/>
          </a:xfrm>
          <a:prstGeom prst="roundRect">
            <a:avLst>
              <a:gd name="adj" fmla="val 14737"/>
            </a:avLst>
          </a:prstGeom>
          <a:solidFill>
            <a:srgbClr val="1A5276">
              <a:alpha val="4000"/>
            </a:srgbClr>
          </a:solidFill>
          <a:ln>
            <a:noFill/>
          </a:ln>
        </p:spPr>
      </p:sp>
      <p:sp>
        <p:nvSpPr>
          <p:cNvPr id="42" name="Rectangle 42"/>
          <p:cNvSpPr/>
          <p:nvPr/>
        </p:nvSpPr>
        <p:spPr>
          <a:xfrm>
            <a:off x="6286500" y="3048000"/>
            <a:ext cx="57150" cy="904875"/>
          </a:xfrm>
          <a:prstGeom prst="roundRect">
            <a:avLst>
              <a:gd name="adj" fmla="val 50000"/>
            </a:avLst>
          </a:prstGeom>
          <a:solidFill>
            <a:srgbClr val="1A5276"/>
          </a:solidFill>
          <a:ln>
            <a:noFill/>
          </a:ln>
        </p:spPr>
      </p:sp>
      <p:sp>
        <p:nvSpPr>
          <p:cNvPr id="43" name="TextBox 43"/>
          <p:cNvSpPr txBox="1"/>
          <p:nvPr/>
        </p:nvSpPr>
        <p:spPr>
          <a:xfrm>
            <a:off x="6553200" y="3190875"/>
            <a:ext cx="878205" cy="304800"/>
          </a:xfrm>
          <a:prstGeom prst="rect">
            <a:avLst/>
          </a:prstGeom>
          <a:noFill/>
          <a:ln>
            <a:noFill/>
          </a:ln>
        </p:spPr>
        <p:txBody>
          <a:bodyPr wrap="none" lIns="0" tIns="0" rIns="0" bIns="0" anchor="t" anchorCtr="0">
            <a:spAutoFit/>
          </a:bodyPr>
          <a:lstStyle/>
          <a:p>
            <a:pPr algn="l"/>
            <a:r>
              <a:rPr lang="zh-CN" sz="1500" b="1" dirty="0">
                <a:solidFill>
                  <a:srgbClr val="1A5276"/>
                </a:solidFill>
                <a:latin typeface="Arial"/>
                <a:ea typeface="Microsoft YaHei"/>
                <a:cs typeface="Arial"/>
              </a:rPr>
              <a:t>乐观情景</a:t>
            </a:r>
          </a:p>
        </p:txBody>
      </p:sp>
      <p:sp>
        <p:nvSpPr>
          <p:cNvPr id="44" name="TextBox 44"/>
          <p:cNvSpPr txBox="1"/>
          <p:nvPr/>
        </p:nvSpPr>
        <p:spPr>
          <a:xfrm>
            <a:off x="7605712" y="3231356"/>
            <a:ext cx="95119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80,000 笔/月</a:t>
            </a:r>
          </a:p>
        </p:txBody>
      </p:sp>
      <p:sp>
        <p:nvSpPr>
          <p:cNvPr id="45" name="TextBox 45"/>
          <p:cNvSpPr txBox="1"/>
          <p:nvPr/>
        </p:nvSpPr>
        <p:spPr>
          <a:xfrm>
            <a:off x="7605712" y="3479006"/>
            <a:ext cx="259389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所需商户 533~800 · 日均 3~5 笔/商户</a:t>
            </a:r>
          </a:p>
        </p:txBody>
      </p:sp>
      <p:sp>
        <p:nvSpPr>
          <p:cNvPr id="46" name="TextBox 46"/>
          <p:cNvSpPr txBox="1"/>
          <p:nvPr/>
        </p:nvSpPr>
        <p:spPr>
          <a:xfrm>
            <a:off x="9180209" y="3174682"/>
            <a:ext cx="1127746" cy="335280"/>
          </a:xfrm>
          <a:prstGeom prst="rect">
            <a:avLst/>
          </a:prstGeom>
          <a:noFill/>
          <a:ln>
            <a:noFill/>
          </a:ln>
        </p:spPr>
        <p:txBody>
          <a:bodyPr wrap="none" lIns="0" tIns="0" rIns="0" bIns="0" anchor="t" anchorCtr="0">
            <a:spAutoFit/>
          </a:bodyPr>
          <a:lstStyle/>
          <a:p>
            <a:pPr algn="r"/>
            <a:r>
              <a:rPr lang="zh-CN" sz="1650" b="1" dirty="0">
                <a:solidFill>
                  <a:srgbClr val="1A5276"/>
                </a:solidFill>
                <a:latin typeface="Arial"/>
                <a:ea typeface="Microsoft YaHei"/>
                <a:cs typeface="Arial"/>
              </a:rPr>
              <a:t>净利 3.2%</a:t>
            </a:r>
          </a:p>
        </p:txBody>
      </p:sp>
      <p:sp>
        <p:nvSpPr>
          <p:cNvPr id="47" name="TextBox 47"/>
          <p:cNvSpPr txBox="1"/>
          <p:nvPr/>
        </p:nvSpPr>
        <p:spPr>
          <a:xfrm>
            <a:off x="9130474" y="3495199"/>
            <a:ext cx="1168908" cy="198120"/>
          </a:xfrm>
          <a:prstGeom prst="rect">
            <a:avLst/>
          </a:prstGeom>
          <a:noFill/>
          <a:ln>
            <a:noFill/>
          </a:ln>
        </p:spPr>
        <p:txBody>
          <a:bodyPr wrap="none" lIns="0" tIns="0" rIns="0" bIns="0" anchor="t" anchorCtr="0">
            <a:spAutoFit/>
          </a:bodyPr>
          <a:lstStyle/>
          <a:p>
            <a:pPr algn="r"/>
            <a:r>
              <a:rPr lang="zh-CN" sz="975" dirty="0">
                <a:solidFill>
                  <a:srgbClr val="1A5276"/>
                </a:solidFill>
                <a:latin typeface="Arial"/>
                <a:ea typeface="Microsoft YaHei"/>
                <a:cs typeface="Arial"/>
              </a:rPr>
              <a:t>月净利约 25.6 万元</a:t>
            </a:r>
          </a:p>
        </p:txBody>
      </p:sp>
      <p:sp>
        <p:nvSpPr>
          <p:cNvPr id="48" name="Rectangle 48"/>
          <p:cNvSpPr/>
          <p:nvPr/>
        </p:nvSpPr>
        <p:spPr>
          <a:xfrm>
            <a:off x="6286500" y="4095750"/>
            <a:ext cx="5334000" cy="857250"/>
          </a:xfrm>
          <a:prstGeom prst="roundRect">
            <a:avLst>
              <a:gd name="adj" fmla="val 15556"/>
            </a:avLst>
          </a:prstGeom>
          <a:solidFill>
            <a:srgbClr val="F0EDE8"/>
          </a:solidFill>
          <a:ln>
            <a:noFill/>
          </a:ln>
        </p:spPr>
      </p:sp>
      <p:sp>
        <p:nvSpPr>
          <p:cNvPr id="49" name="Rectangle 49"/>
          <p:cNvSpPr/>
          <p:nvPr/>
        </p:nvSpPr>
        <p:spPr>
          <a:xfrm>
            <a:off x="6477000" y="4248150"/>
            <a:ext cx="1524000" cy="552450"/>
          </a:xfrm>
          <a:prstGeom prst="roundRect">
            <a:avLst>
              <a:gd name="adj" fmla="val 13793"/>
            </a:avLst>
          </a:prstGeom>
          <a:solidFill>
            <a:srgbClr val="FAFAF5"/>
          </a:solidFill>
          <a:ln>
            <a:noFill/>
          </a:ln>
        </p:spPr>
      </p:sp>
      <p:sp>
        <p:nvSpPr>
          <p:cNvPr id="50" name="TextBox 50"/>
          <p:cNvSpPr txBox="1"/>
          <p:nvPr/>
        </p:nvSpPr>
        <p:spPr>
          <a:xfrm>
            <a:off x="6966585" y="4390549"/>
            <a:ext cx="544830"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单笔均价</a:t>
            </a:r>
          </a:p>
        </p:txBody>
      </p:sp>
      <p:sp>
        <p:nvSpPr>
          <p:cNvPr id="51" name="TextBox 51"/>
          <p:cNvSpPr txBox="1"/>
          <p:nvPr/>
        </p:nvSpPr>
        <p:spPr>
          <a:xfrm>
            <a:off x="6941665" y="4552950"/>
            <a:ext cx="594670" cy="304800"/>
          </a:xfrm>
          <a:prstGeom prst="rect">
            <a:avLst/>
          </a:prstGeom>
          <a:noFill/>
          <a:ln>
            <a:noFill/>
          </a:ln>
        </p:spPr>
        <p:txBody>
          <a:bodyPr wrap="none" lIns="0" tIns="0" rIns="0" bIns="0" anchor="t" anchorCtr="0">
            <a:spAutoFit/>
          </a:bodyPr>
          <a:lstStyle/>
          <a:p>
            <a:pPr algn="ctr"/>
            <a:r>
              <a:rPr lang="zh-CN" sz="1500" b="1" dirty="0">
                <a:solidFill>
                  <a:srgbClr val="2C2C2C"/>
                </a:solidFill>
                <a:latin typeface="Arial"/>
                <a:ea typeface="Microsoft YaHei"/>
                <a:cs typeface="Arial"/>
              </a:rPr>
              <a:t>100元</a:t>
            </a:r>
          </a:p>
        </p:txBody>
      </p:sp>
      <p:sp>
        <p:nvSpPr>
          <p:cNvPr id="52" name="Rectangle 52"/>
          <p:cNvSpPr/>
          <p:nvPr/>
        </p:nvSpPr>
        <p:spPr>
          <a:xfrm>
            <a:off x="8191500" y="4248150"/>
            <a:ext cx="1524000" cy="552450"/>
          </a:xfrm>
          <a:prstGeom prst="roundRect">
            <a:avLst>
              <a:gd name="adj" fmla="val 13793"/>
            </a:avLst>
          </a:prstGeom>
          <a:solidFill>
            <a:srgbClr val="FAFAF5"/>
          </a:solidFill>
          <a:ln>
            <a:noFill/>
          </a:ln>
        </p:spPr>
      </p:sp>
      <p:sp>
        <p:nvSpPr>
          <p:cNvPr id="53" name="TextBox 53"/>
          <p:cNvSpPr txBox="1"/>
          <p:nvPr/>
        </p:nvSpPr>
        <p:spPr>
          <a:xfrm>
            <a:off x="8681085" y="4390549"/>
            <a:ext cx="544830"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月交易额</a:t>
            </a:r>
          </a:p>
        </p:txBody>
      </p:sp>
      <p:sp>
        <p:nvSpPr>
          <p:cNvPr id="54" name="TextBox 54"/>
          <p:cNvSpPr txBox="1"/>
          <p:nvPr/>
        </p:nvSpPr>
        <p:spPr>
          <a:xfrm>
            <a:off x="8656165" y="4552950"/>
            <a:ext cx="594670" cy="304800"/>
          </a:xfrm>
          <a:prstGeom prst="rect">
            <a:avLst/>
          </a:prstGeom>
          <a:noFill/>
          <a:ln>
            <a:noFill/>
          </a:ln>
        </p:spPr>
        <p:txBody>
          <a:bodyPr wrap="none" lIns="0" tIns="0" rIns="0" bIns="0" anchor="t" anchorCtr="0">
            <a:spAutoFit/>
          </a:bodyPr>
          <a:lstStyle/>
          <a:p>
            <a:pPr algn="ctr"/>
            <a:r>
              <a:rPr lang="zh-CN" sz="1500" b="1" dirty="0">
                <a:solidFill>
                  <a:srgbClr val="2C2C2C"/>
                </a:solidFill>
                <a:latin typeface="Arial"/>
                <a:ea typeface="Microsoft YaHei"/>
                <a:cs typeface="Arial"/>
              </a:rPr>
              <a:t>405万</a:t>
            </a:r>
          </a:p>
        </p:txBody>
      </p:sp>
      <p:sp>
        <p:nvSpPr>
          <p:cNvPr id="55" name="Rectangle 55"/>
          <p:cNvSpPr/>
          <p:nvPr/>
        </p:nvSpPr>
        <p:spPr>
          <a:xfrm>
            <a:off x="9906000" y="4248150"/>
            <a:ext cx="1524000" cy="552450"/>
          </a:xfrm>
          <a:prstGeom prst="roundRect">
            <a:avLst>
              <a:gd name="adj" fmla="val 13793"/>
            </a:avLst>
          </a:prstGeom>
          <a:solidFill>
            <a:srgbClr val="FAFAF5"/>
          </a:solidFill>
          <a:ln>
            <a:noFill/>
          </a:ln>
        </p:spPr>
      </p:sp>
      <p:sp>
        <p:nvSpPr>
          <p:cNvPr id="56" name="TextBox 56"/>
          <p:cNvSpPr txBox="1"/>
          <p:nvPr/>
        </p:nvSpPr>
        <p:spPr>
          <a:xfrm>
            <a:off x="10330577" y="4390549"/>
            <a:ext cx="674846" cy="198120"/>
          </a:xfrm>
          <a:prstGeom prst="rect">
            <a:avLst/>
          </a:prstGeom>
          <a:noFill/>
          <a:ln>
            <a:noFill/>
          </a:ln>
        </p:spPr>
        <p:txBody>
          <a:bodyPr wrap="none" lIns="0" tIns="0" rIns="0" bIns="0" anchor="t" anchorCtr="0">
            <a:spAutoFit/>
          </a:bodyPr>
          <a:lstStyle/>
          <a:p>
            <a:pPr algn="ctr"/>
            <a:r>
              <a:rPr lang="zh-CN" sz="975" dirty="0">
                <a:solidFill>
                  <a:srgbClr val="7F8C8D"/>
                </a:solidFill>
                <a:latin typeface="Arial"/>
                <a:ea typeface="Microsoft YaHei"/>
                <a:cs typeface="Arial"/>
              </a:rPr>
              <a:t>平台月收入</a:t>
            </a:r>
          </a:p>
        </p:txBody>
      </p:sp>
      <p:sp>
        <p:nvSpPr>
          <p:cNvPr id="57" name="TextBox 57"/>
          <p:cNvSpPr txBox="1"/>
          <p:nvPr/>
        </p:nvSpPr>
        <p:spPr>
          <a:xfrm>
            <a:off x="10255151" y="4552950"/>
            <a:ext cx="825698" cy="304800"/>
          </a:xfrm>
          <a:prstGeom prst="rect">
            <a:avLst/>
          </a:prstGeom>
          <a:noFill/>
          <a:ln>
            <a:noFill/>
          </a:ln>
        </p:spPr>
        <p:txBody>
          <a:bodyPr wrap="none" lIns="0" tIns="0" rIns="0" bIns="0" anchor="t" anchorCtr="0">
            <a:spAutoFit/>
          </a:bodyPr>
          <a:lstStyle/>
          <a:p>
            <a:pPr algn="ctr"/>
            <a:r>
              <a:rPr lang="zh-CN" sz="1500" b="1" dirty="0">
                <a:solidFill>
                  <a:srgbClr val="1A5276"/>
                </a:solidFill>
                <a:latin typeface="Arial"/>
                <a:ea typeface="Microsoft YaHei"/>
                <a:cs typeface="Arial"/>
              </a:rPr>
              <a:t>20.25万</a:t>
            </a:r>
          </a:p>
        </p:txBody>
      </p:sp>
      <p:sp>
        <p:nvSpPr>
          <p:cNvPr id="58" name="Rectangle 58"/>
          <p:cNvSpPr/>
          <p:nvPr/>
        </p:nvSpPr>
        <p:spPr>
          <a:xfrm>
            <a:off x="571500" y="5143500"/>
            <a:ext cx="11049000" cy="438150"/>
          </a:xfrm>
          <a:prstGeom prst="roundRect">
            <a:avLst>
              <a:gd name="adj" fmla="val 21739"/>
            </a:avLst>
          </a:prstGeom>
          <a:solidFill>
            <a:srgbClr val="F0EDE8"/>
          </a:solidFill>
          <a:ln>
            <a:noFill/>
          </a:ln>
        </p:spPr>
      </p:sp>
      <p:sp>
        <p:nvSpPr>
          <p:cNvPr id="59" name="TextBox 59"/>
          <p:cNvSpPr txBox="1"/>
          <p:nvPr/>
        </p:nvSpPr>
        <p:spPr>
          <a:xfrm>
            <a:off x="4248531" y="5290185"/>
            <a:ext cx="3694938" cy="243840"/>
          </a:xfrm>
          <a:prstGeom prst="rect">
            <a:avLst/>
          </a:prstGeom>
          <a:noFill/>
          <a:ln>
            <a:noFill/>
          </a:ln>
        </p:spPr>
        <p:txBody>
          <a:bodyPr wrap="none" lIns="0" tIns="0" rIns="0" bIns="0" anchor="t" anchorCtr="0">
            <a:spAutoFit/>
          </a:bodyPr>
          <a:lstStyle/>
          <a:p>
            <a:pPr algn="ctr"/>
            <a:r>
              <a:rPr lang="zh-CN" sz="1200" dirty="0">
                <a:solidFill>
                  <a:srgbClr val="7F8C8D"/>
                </a:solidFill>
                <a:latin typeface="Arial"/>
                <a:ea typeface="Microsoft YaHei"/>
                <a:cs typeface="Arial"/>
              </a:rPr>
              <a:t>按日均 3~5 笔/商户计算——先验证飞轮，后追求规模</a:t>
            </a:r>
          </a:p>
        </p:txBody>
      </p:sp>
      <p:sp>
        <p:nvSpPr>
          <p:cNvPr id="60" name="Line 60"/>
          <p:cNvSpPr/>
          <p:nvPr/>
        </p:nvSpPr>
        <p:spPr>
          <a:xfrm>
            <a:off x="571500" y="5715000"/>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1" name="TextBox 61"/>
          <p:cNvSpPr txBox="1"/>
          <p:nvPr/>
        </p:nvSpPr>
        <p:spPr>
          <a:xfrm>
            <a:off x="559118" y="5857399"/>
            <a:ext cx="7000137"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盈亏平衡点 = 月固定成本 / (单笔交易均价 × 平台综合费率)。平台综合费率 = 5%(平台分账) + 4%(营销池中超支部分)。</a:t>
            </a:r>
          </a:p>
        </p:txBody>
      </p:sp>
      <p:sp>
        <p:nvSpPr>
          <p:cNvPr id="62" name="TextBox 62"/>
          <p:cNvSpPr txBox="1"/>
          <p:nvPr/>
        </p:nvSpPr>
        <p:spPr>
          <a:xfrm>
            <a:off x="559118" y="6066949"/>
            <a:ext cx="4919877"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敏感性分析显示：商户数从270增至800时净利率从0.89%升至3.2%，规模效应显著。</a:t>
            </a:r>
          </a:p>
        </p:txBody>
      </p:sp>
      <p:sp>
        <p:nvSpPr>
          <p:cNvPr id="63" name="TextBox 63"/>
          <p:cNvSpPr txBox="1"/>
          <p:nvPr/>
        </p:nvSpPr>
        <p:spPr>
          <a:xfrm>
            <a:off x="558165" y="6477952"/>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
        <p:nvSpPr>
          <p:cNvPr id="64" name="TextBox 64"/>
          <p:cNvSpPr txBox="1"/>
          <p:nvPr/>
        </p:nvSpPr>
        <p:spPr>
          <a:xfrm>
            <a:off x="11453146" y="6477952"/>
            <a:ext cx="180689" cy="213360"/>
          </a:xfrm>
          <a:prstGeom prst="rect">
            <a:avLst/>
          </a:prstGeom>
          <a:noFill/>
          <a:ln>
            <a:noFill/>
          </a:ln>
        </p:spPr>
        <p:txBody>
          <a:bodyPr wrap="none" lIns="0" tIns="0" rIns="0" bIns="0" anchor="t" anchorCtr="0">
            <a:spAutoFit/>
          </a:bodyPr>
          <a:lstStyle/>
          <a:p>
            <a:pPr algn="r"/>
            <a:r>
              <a:rPr lang="zh-CN" sz="1050" dirty="0">
                <a:solidFill>
                  <a:srgbClr val="A0A0A0"/>
                </a:solidFill>
                <a:latin typeface="Arial"/>
                <a:ea typeface="Microsoft YaHei"/>
                <a:cs typeface="Arial"/>
              </a:rPr>
              <a:t>26</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342900"/>
            <a:ext cx="57150" cy="381000"/>
          </a:xfrm>
          <a:prstGeom prst="roundRect">
            <a:avLst>
              <a:gd name="adj" fmla="val 50000"/>
            </a:avLst>
          </a:prstGeom>
          <a:solidFill>
            <a:srgbClr val="E67E22"/>
          </a:solidFill>
          <a:ln>
            <a:noFill/>
          </a:ln>
        </p:spPr>
      </p:sp>
      <p:sp>
        <p:nvSpPr>
          <p:cNvPr id="4" name="TextBox 4"/>
          <p:cNvSpPr txBox="1"/>
          <p:nvPr/>
        </p:nvSpPr>
        <p:spPr>
          <a:xfrm>
            <a:off x="727710" y="337185"/>
            <a:ext cx="7629525"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千面千店：不是强制路径，是软性优先级引导</a:t>
            </a:r>
          </a:p>
        </p:txBody>
      </p:sp>
      <p:sp>
        <p:nvSpPr>
          <p:cNvPr id="5" name="Rectangle 5"/>
          <p:cNvSpPr/>
          <p:nvPr/>
        </p:nvSpPr>
        <p:spPr>
          <a:xfrm>
            <a:off x="571500" y="952500"/>
            <a:ext cx="3619500" cy="3714750"/>
          </a:xfrm>
          <a:prstGeom prst="roundRect">
            <a:avLst>
              <a:gd name="adj" fmla="val 3684"/>
            </a:avLst>
          </a:prstGeom>
          <a:solidFill>
            <a:srgbClr val="F5F0EA"/>
          </a:solidFill>
          <a:ln>
            <a:noFill/>
          </a:ln>
          <a:effectLst>
            <a:outerShdw blurRad="76200" dist="19050" dir="5400000" algn="ctr" rotWithShape="0">
              <a:srgbClr val="2C2C2C">
                <a:alpha val="4500"/>
              </a:srgbClr>
            </a:outerShdw>
          </a:effectLst>
        </p:spPr>
      </p:sp>
      <p:sp>
        <p:nvSpPr>
          <p:cNvPr id="6" name="Rectangle 6"/>
          <p:cNvSpPr/>
          <p:nvPr/>
        </p:nvSpPr>
        <p:spPr>
          <a:xfrm>
            <a:off x="571500" y="952500"/>
            <a:ext cx="3619500" cy="57150"/>
          </a:xfrm>
          <a:prstGeom prst="roundRect">
            <a:avLst>
              <a:gd name="adj" fmla="val 50000"/>
            </a:avLst>
          </a:prstGeom>
          <a:solidFill>
            <a:srgbClr val="1A5276"/>
          </a:solidFill>
          <a:ln>
            <a:noFill/>
          </a:ln>
        </p:spPr>
      </p:sp>
      <p:sp>
        <p:nvSpPr>
          <p:cNvPr id="7" name="Rectangle 7"/>
          <p:cNvSpPr/>
          <p:nvPr/>
        </p:nvSpPr>
        <p:spPr>
          <a:xfrm>
            <a:off x="762000" y="1181100"/>
            <a:ext cx="762000" cy="266700"/>
          </a:xfrm>
          <a:prstGeom prst="roundRect">
            <a:avLst>
              <a:gd name="adj" fmla="val 50000"/>
            </a:avLst>
          </a:prstGeom>
          <a:solidFill>
            <a:srgbClr val="1A5276"/>
          </a:solidFill>
          <a:ln>
            <a:noFill/>
          </a:ln>
        </p:spPr>
      </p:sp>
      <p:sp>
        <p:nvSpPr>
          <p:cNvPr id="8" name="TextBox 8"/>
          <p:cNvSpPr txBox="1"/>
          <p:nvPr/>
        </p:nvSpPr>
        <p:spPr>
          <a:xfrm>
            <a:off x="982647" y="12582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蓝标</a:t>
            </a:r>
          </a:p>
        </p:txBody>
      </p:sp>
      <p:sp>
        <p:nvSpPr>
          <p:cNvPr id="9" name="TextBox 9"/>
          <p:cNvSpPr txBox="1"/>
          <p:nvPr/>
        </p:nvSpPr>
        <p:spPr>
          <a:xfrm>
            <a:off x="1645920" y="1193482"/>
            <a:ext cx="966026" cy="335280"/>
          </a:xfrm>
          <a:prstGeom prst="rect">
            <a:avLst/>
          </a:prstGeom>
          <a:noFill/>
          <a:ln>
            <a:noFill/>
          </a:ln>
        </p:spPr>
        <p:txBody>
          <a:bodyPr wrap="none" lIns="0" tIns="0" rIns="0" bIns="0" anchor="t" anchorCtr="0">
            <a:spAutoFit/>
          </a:bodyPr>
          <a:lstStyle/>
          <a:p>
            <a:pPr algn="l"/>
            <a:r>
              <a:rPr lang="zh-CN" sz="1650" b="1" dirty="0">
                <a:solidFill>
                  <a:srgbClr val="1A5276"/>
                </a:solidFill>
                <a:latin typeface="Georgia"/>
                <a:ea typeface="KaiTi"/>
                <a:cs typeface="Georgia"/>
              </a:rPr>
              <a:t>平台商家</a:t>
            </a:r>
          </a:p>
        </p:txBody>
      </p:sp>
      <p:sp>
        <p:nvSpPr>
          <p:cNvPr id="10" name="TextBox 10"/>
          <p:cNvSpPr txBox="1"/>
          <p:nvPr/>
        </p:nvSpPr>
        <p:spPr>
          <a:xfrm>
            <a:off x="2845118" y="1266349"/>
            <a:ext cx="54483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Premium</a:t>
            </a:r>
          </a:p>
        </p:txBody>
      </p:sp>
      <p:sp>
        <p:nvSpPr>
          <p:cNvPr id="11" name="Rectangle 11"/>
          <p:cNvSpPr/>
          <p:nvPr/>
        </p:nvSpPr>
        <p:spPr>
          <a:xfrm>
            <a:off x="1905000" y="1619250"/>
            <a:ext cx="571500" cy="571500"/>
          </a:xfrm>
          <a:prstGeom prst="roundRect">
            <a:avLst>
              <a:gd name="adj" fmla="val 20000"/>
            </a:avLst>
          </a:prstGeom>
          <a:solidFill>
            <a:srgbClr val="1A5276">
              <a:alpha val="10000"/>
            </a:srgbClr>
          </a:solidFill>
          <a:ln>
            <a:noFill/>
          </a:ln>
        </p:spPr>
      </p:sp>
      <p:sp>
        <p:nvSpPr>
          <p:cNvPr id="12" name="Rectangle 12"/>
          <p:cNvSpPr/>
          <p:nvPr/>
        </p:nvSpPr>
        <p:spPr>
          <a:xfrm>
            <a:off x="2076450" y="1733550"/>
            <a:ext cx="228600" cy="342900"/>
          </a:xfrm>
          <a:prstGeom prst="roundRect">
            <a:avLst>
              <a:gd name="adj" fmla="val 8333"/>
            </a:avLst>
          </a:prstGeom>
          <a:noFill/>
          <a:ln w="23812">
            <a:solidFill>
              <a:srgbClr val="1A5276"/>
            </a:solidFill>
          </a:ln>
        </p:spPr>
      </p:sp>
      <p:sp>
        <p:nvSpPr>
          <p:cNvPr id="13" name="Rectangle 13"/>
          <p:cNvSpPr/>
          <p:nvPr/>
        </p:nvSpPr>
        <p:spPr>
          <a:xfrm>
            <a:off x="2000250" y="1809750"/>
            <a:ext cx="381000" cy="76200"/>
          </a:xfrm>
          <a:prstGeom prst="roundRect">
            <a:avLst>
              <a:gd name="adj" fmla="val 12500"/>
            </a:avLst>
          </a:prstGeom>
          <a:solidFill>
            <a:srgbClr val="1A5276">
              <a:alpha val="30000"/>
            </a:srgbClr>
          </a:solidFill>
          <a:ln>
            <a:noFill/>
          </a:ln>
        </p:spPr>
      </p:sp>
      <p:sp>
        <p:nvSpPr>
          <p:cNvPr id="14" name="Rectangle 14"/>
          <p:cNvSpPr/>
          <p:nvPr/>
        </p:nvSpPr>
        <p:spPr>
          <a:xfrm>
            <a:off x="2000250" y="1924050"/>
            <a:ext cx="285750" cy="47625"/>
          </a:xfrm>
          <a:prstGeom prst="roundRect">
            <a:avLst>
              <a:gd name="adj" fmla="val 20000"/>
            </a:avLst>
          </a:prstGeom>
          <a:solidFill>
            <a:srgbClr val="1A5276">
              <a:alpha val="20000"/>
            </a:srgbClr>
          </a:solidFill>
          <a:ln>
            <a:noFill/>
          </a:ln>
        </p:spPr>
      </p:sp>
      <p:sp>
        <p:nvSpPr>
          <p:cNvPr id="15" name="Rectangle 15"/>
          <p:cNvSpPr/>
          <p:nvPr/>
        </p:nvSpPr>
        <p:spPr>
          <a:xfrm>
            <a:off x="762000" y="2381250"/>
            <a:ext cx="3238500" cy="361950"/>
          </a:xfrm>
          <a:prstGeom prst="roundRect">
            <a:avLst>
              <a:gd name="adj" fmla="val 21053"/>
            </a:avLst>
          </a:prstGeom>
          <a:solidFill>
            <a:srgbClr val="FAFAF5"/>
          </a:solidFill>
          <a:ln>
            <a:noFill/>
          </a:ln>
        </p:spPr>
      </p:sp>
      <p:sp>
        <p:nvSpPr>
          <p:cNvPr id="16" name="TextBox 16"/>
          <p:cNvSpPr txBox="1"/>
          <p:nvPr/>
        </p:nvSpPr>
        <p:spPr>
          <a:xfrm>
            <a:off x="889635" y="248983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信息密度</a:t>
            </a:r>
          </a:p>
        </p:txBody>
      </p:sp>
      <p:sp>
        <p:nvSpPr>
          <p:cNvPr id="17" name="TextBox 17"/>
          <p:cNvSpPr txBox="1"/>
          <p:nvPr/>
        </p:nvSpPr>
        <p:spPr>
          <a:xfrm>
            <a:off x="3436239" y="2489835"/>
            <a:ext cx="198501" cy="243840"/>
          </a:xfrm>
          <a:prstGeom prst="rect">
            <a:avLst/>
          </a:prstGeom>
          <a:noFill/>
          <a:ln>
            <a:noFill/>
          </a:ln>
        </p:spPr>
        <p:txBody>
          <a:bodyPr wrap="none" lIns="0" tIns="0" rIns="0" bIns="0" anchor="t" anchorCtr="0">
            <a:spAutoFit/>
          </a:bodyPr>
          <a:lstStyle/>
          <a:p>
            <a:pPr algn="r"/>
            <a:r>
              <a:rPr lang="zh-CN" sz="1200" b="1" dirty="0">
                <a:solidFill>
                  <a:srgbClr val="1A5276"/>
                </a:solidFill>
                <a:latin typeface="Arial"/>
                <a:ea typeface="Microsoft YaHei"/>
                <a:cs typeface="Arial"/>
              </a:rPr>
              <a:t>高</a:t>
            </a:r>
          </a:p>
        </p:txBody>
      </p:sp>
      <p:sp>
        <p:nvSpPr>
          <p:cNvPr id="18" name="Rectangle 18"/>
          <p:cNvSpPr/>
          <p:nvPr/>
        </p:nvSpPr>
        <p:spPr>
          <a:xfrm>
            <a:off x="762000" y="2819400"/>
            <a:ext cx="3238500" cy="361950"/>
          </a:xfrm>
          <a:prstGeom prst="roundRect">
            <a:avLst>
              <a:gd name="adj" fmla="val 21053"/>
            </a:avLst>
          </a:prstGeom>
          <a:solidFill>
            <a:srgbClr val="FAFAF5"/>
          </a:solidFill>
          <a:ln>
            <a:noFill/>
          </a:ln>
        </p:spPr>
      </p:sp>
      <p:sp>
        <p:nvSpPr>
          <p:cNvPr id="19" name="TextBox 19"/>
          <p:cNvSpPr txBox="1"/>
          <p:nvPr/>
        </p:nvSpPr>
        <p:spPr>
          <a:xfrm>
            <a:off x="889635" y="292798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搜索加权</a:t>
            </a:r>
          </a:p>
        </p:txBody>
      </p:sp>
      <p:sp>
        <p:nvSpPr>
          <p:cNvPr id="20" name="TextBox 20"/>
          <p:cNvSpPr txBox="1"/>
          <p:nvPr/>
        </p:nvSpPr>
        <p:spPr>
          <a:xfrm>
            <a:off x="3419437" y="2927985"/>
            <a:ext cx="215303" cy="243840"/>
          </a:xfrm>
          <a:prstGeom prst="rect">
            <a:avLst/>
          </a:prstGeom>
          <a:noFill/>
          <a:ln>
            <a:noFill/>
          </a:ln>
        </p:spPr>
        <p:txBody>
          <a:bodyPr wrap="none" lIns="0" tIns="0" rIns="0" bIns="0" anchor="t" anchorCtr="0">
            <a:spAutoFit/>
          </a:bodyPr>
          <a:lstStyle/>
          <a:p>
            <a:pPr algn="r"/>
            <a:r>
              <a:rPr lang="zh-CN" sz="1200" b="1" dirty="0">
                <a:solidFill>
                  <a:srgbClr val="1E8449"/>
                </a:solidFill>
                <a:latin typeface="Arial"/>
                <a:ea typeface="Microsoft YaHei"/>
                <a:cs typeface="Arial"/>
              </a:rPr>
              <a:t>+2</a:t>
            </a:r>
          </a:p>
        </p:txBody>
      </p:sp>
      <p:sp>
        <p:nvSpPr>
          <p:cNvPr id="21" name="Rectangle 21"/>
          <p:cNvSpPr/>
          <p:nvPr/>
        </p:nvSpPr>
        <p:spPr>
          <a:xfrm>
            <a:off x="762000" y="3257550"/>
            <a:ext cx="3238500" cy="361950"/>
          </a:xfrm>
          <a:prstGeom prst="roundRect">
            <a:avLst>
              <a:gd name="adj" fmla="val 21053"/>
            </a:avLst>
          </a:prstGeom>
          <a:solidFill>
            <a:srgbClr val="FAFAF5"/>
          </a:solidFill>
          <a:ln>
            <a:noFill/>
          </a:ln>
        </p:spPr>
      </p:sp>
      <p:sp>
        <p:nvSpPr>
          <p:cNvPr id="22" name="TextBox 22"/>
          <p:cNvSpPr txBox="1"/>
          <p:nvPr/>
        </p:nvSpPr>
        <p:spPr>
          <a:xfrm>
            <a:off x="889635" y="3366135"/>
            <a:ext cx="83058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自定义深度</a:t>
            </a:r>
          </a:p>
        </p:txBody>
      </p:sp>
      <p:sp>
        <p:nvSpPr>
          <p:cNvPr id="23" name="TextBox 23"/>
          <p:cNvSpPr txBox="1"/>
          <p:nvPr/>
        </p:nvSpPr>
        <p:spPr>
          <a:xfrm>
            <a:off x="1814836" y="3366135"/>
            <a:ext cx="1819904" cy="243840"/>
          </a:xfrm>
          <a:prstGeom prst="rect">
            <a:avLst/>
          </a:prstGeom>
          <a:noFill/>
          <a:ln>
            <a:noFill/>
          </a:ln>
        </p:spPr>
        <p:txBody>
          <a:bodyPr wrap="none" lIns="0" tIns="0" rIns="0" bIns="0" anchor="t" anchorCtr="0">
            <a:spAutoFit/>
          </a:bodyPr>
          <a:lstStyle/>
          <a:p>
            <a:pPr algn="r"/>
            <a:r>
              <a:rPr lang="zh-CN" sz="1200" b="1" dirty="0">
                <a:solidFill>
                  <a:srgbClr val="1A5276"/>
                </a:solidFill>
                <a:latin typeface="Arial"/>
                <a:ea typeface="Microsoft YaHei"/>
                <a:cs typeface="Arial"/>
              </a:rPr>
              <a:t>品牌色/故事/视频/相册</a:t>
            </a:r>
          </a:p>
        </p:txBody>
      </p:sp>
      <p:sp>
        <p:nvSpPr>
          <p:cNvPr id="24" name="Rectangle 24"/>
          <p:cNvSpPr/>
          <p:nvPr/>
        </p:nvSpPr>
        <p:spPr>
          <a:xfrm>
            <a:off x="762000" y="3695700"/>
            <a:ext cx="3238500" cy="361950"/>
          </a:xfrm>
          <a:prstGeom prst="roundRect">
            <a:avLst>
              <a:gd name="adj" fmla="val 21053"/>
            </a:avLst>
          </a:prstGeom>
          <a:solidFill>
            <a:srgbClr val="FAFAF5"/>
          </a:solidFill>
          <a:ln>
            <a:noFill/>
          </a:ln>
        </p:spPr>
      </p:sp>
      <p:sp>
        <p:nvSpPr>
          <p:cNvPr id="25" name="TextBox 25"/>
          <p:cNvSpPr txBox="1"/>
          <p:nvPr/>
        </p:nvSpPr>
        <p:spPr>
          <a:xfrm>
            <a:off x="889635" y="380428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典型商家</a:t>
            </a:r>
          </a:p>
        </p:txBody>
      </p:sp>
      <p:sp>
        <p:nvSpPr>
          <p:cNvPr id="26" name="TextBox 26"/>
          <p:cNvSpPr txBox="1"/>
          <p:nvPr/>
        </p:nvSpPr>
        <p:spPr>
          <a:xfrm>
            <a:off x="1943380" y="3812381"/>
            <a:ext cx="1690408" cy="228600"/>
          </a:xfrm>
          <a:prstGeom prst="rect">
            <a:avLst/>
          </a:prstGeom>
          <a:noFill/>
          <a:ln>
            <a:noFill/>
          </a:ln>
        </p:spPr>
        <p:txBody>
          <a:bodyPr wrap="none" lIns="0" tIns="0" rIns="0" bIns="0" anchor="t" anchorCtr="0">
            <a:spAutoFit/>
          </a:bodyPr>
          <a:lstStyle/>
          <a:p>
            <a:pPr algn="r"/>
            <a:r>
              <a:rPr lang="zh-CN" sz="1125" b="1" dirty="0">
                <a:solidFill>
                  <a:srgbClr val="2C2C2C"/>
                </a:solidFill>
                <a:latin typeface="Arial"/>
                <a:ea typeface="Microsoft YaHei"/>
                <a:cs typeface="Arial"/>
              </a:rPr>
              <a:t>直营品牌店·社区旗舰店</a:t>
            </a:r>
          </a:p>
        </p:txBody>
      </p:sp>
      <p:sp>
        <p:nvSpPr>
          <p:cNvPr id="27" name="Line 27"/>
          <p:cNvSpPr/>
          <p:nvPr/>
        </p:nvSpPr>
        <p:spPr>
          <a:xfrm>
            <a:off x="4191000" y="2809875"/>
            <a:ext cx="190500" cy="9525"/>
          </a:xfrm>
          <a:custGeom>
            <a:avLst/>
            <a:gdLst/>
            <a:ahLst/>
            <a:cxnLst/>
            <a:rect l="l" t="t" r="r" b="b"/>
            <a:pathLst>
              <a:path w="190500" h="9525">
                <a:moveTo>
                  <a:pt x="0" y="0"/>
                </a:moveTo>
                <a:lnTo>
                  <a:pt x="190500" y="0"/>
                </a:lnTo>
              </a:path>
            </a:pathLst>
          </a:custGeom>
          <a:noFill/>
          <a:ln w="19050">
            <a:solidFill>
              <a:srgbClr val="E8E3DC"/>
            </a:solidFill>
            <a:custDash>
              <a:ds d="200000" sp="150000"/>
            </a:custDash>
          </a:ln>
        </p:spPr>
      </p:sp>
      <p:sp>
        <p:nvSpPr>
          <p:cNvPr id="28" name="Rectangle 28"/>
          <p:cNvSpPr/>
          <p:nvPr/>
        </p:nvSpPr>
        <p:spPr>
          <a:xfrm>
            <a:off x="4429125" y="952500"/>
            <a:ext cx="3619500" cy="3714750"/>
          </a:xfrm>
          <a:prstGeom prst="roundRect">
            <a:avLst>
              <a:gd name="adj" fmla="val 3684"/>
            </a:avLst>
          </a:prstGeom>
          <a:solidFill>
            <a:srgbClr val="F5F0EA"/>
          </a:solidFill>
          <a:ln>
            <a:noFill/>
          </a:ln>
          <a:effectLst>
            <a:outerShdw blurRad="76200" dist="19050" dir="5400000" algn="ctr" rotWithShape="0">
              <a:srgbClr val="2C2C2C">
                <a:alpha val="4500"/>
              </a:srgbClr>
            </a:outerShdw>
          </a:effectLst>
        </p:spPr>
      </p:sp>
      <p:sp>
        <p:nvSpPr>
          <p:cNvPr id="29" name="Rectangle 29"/>
          <p:cNvSpPr/>
          <p:nvPr/>
        </p:nvSpPr>
        <p:spPr>
          <a:xfrm>
            <a:off x="4429125" y="952500"/>
            <a:ext cx="3619500" cy="57150"/>
          </a:xfrm>
          <a:prstGeom prst="roundRect">
            <a:avLst>
              <a:gd name="adj" fmla="val 50000"/>
            </a:avLst>
          </a:prstGeom>
          <a:solidFill>
            <a:srgbClr val="1E8449"/>
          </a:solidFill>
          <a:ln>
            <a:noFill/>
          </a:ln>
        </p:spPr>
      </p:sp>
      <p:sp>
        <p:nvSpPr>
          <p:cNvPr id="30" name="Rectangle 30"/>
          <p:cNvSpPr/>
          <p:nvPr/>
        </p:nvSpPr>
        <p:spPr>
          <a:xfrm>
            <a:off x="4619625" y="1181100"/>
            <a:ext cx="762000" cy="266700"/>
          </a:xfrm>
          <a:prstGeom prst="roundRect">
            <a:avLst>
              <a:gd name="adj" fmla="val 50000"/>
            </a:avLst>
          </a:prstGeom>
          <a:solidFill>
            <a:srgbClr val="1E8449"/>
          </a:solidFill>
          <a:ln>
            <a:noFill/>
          </a:ln>
        </p:spPr>
      </p:sp>
      <p:sp>
        <p:nvSpPr>
          <p:cNvPr id="31" name="TextBox 31"/>
          <p:cNvSpPr txBox="1"/>
          <p:nvPr/>
        </p:nvSpPr>
        <p:spPr>
          <a:xfrm>
            <a:off x="4840272" y="12582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绿标</a:t>
            </a:r>
          </a:p>
        </p:txBody>
      </p:sp>
      <p:sp>
        <p:nvSpPr>
          <p:cNvPr id="32" name="TextBox 32"/>
          <p:cNvSpPr txBox="1"/>
          <p:nvPr/>
        </p:nvSpPr>
        <p:spPr>
          <a:xfrm>
            <a:off x="5503545" y="1193482"/>
            <a:ext cx="966026" cy="335280"/>
          </a:xfrm>
          <a:prstGeom prst="rect">
            <a:avLst/>
          </a:prstGeom>
          <a:noFill/>
          <a:ln>
            <a:noFill/>
          </a:ln>
        </p:spPr>
        <p:txBody>
          <a:bodyPr wrap="none" lIns="0" tIns="0" rIns="0" bIns="0" anchor="t" anchorCtr="0">
            <a:spAutoFit/>
          </a:bodyPr>
          <a:lstStyle/>
          <a:p>
            <a:pPr algn="l"/>
            <a:r>
              <a:rPr lang="zh-CN" sz="1650" b="1" dirty="0">
                <a:solidFill>
                  <a:srgbClr val="1E8449"/>
                </a:solidFill>
                <a:latin typeface="Georgia"/>
                <a:ea typeface="KaiTi"/>
                <a:cs typeface="Georgia"/>
              </a:rPr>
              <a:t>联盟商家</a:t>
            </a:r>
          </a:p>
        </p:txBody>
      </p:sp>
      <p:sp>
        <p:nvSpPr>
          <p:cNvPr id="33" name="TextBox 33"/>
          <p:cNvSpPr txBox="1"/>
          <p:nvPr/>
        </p:nvSpPr>
        <p:spPr>
          <a:xfrm>
            <a:off x="6655118" y="1266349"/>
            <a:ext cx="59683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Standard</a:t>
            </a:r>
          </a:p>
        </p:txBody>
      </p:sp>
      <p:sp>
        <p:nvSpPr>
          <p:cNvPr id="34" name="Rectangle 34"/>
          <p:cNvSpPr/>
          <p:nvPr/>
        </p:nvSpPr>
        <p:spPr>
          <a:xfrm>
            <a:off x="5762625" y="1619250"/>
            <a:ext cx="571500" cy="571500"/>
          </a:xfrm>
          <a:prstGeom prst="roundRect">
            <a:avLst>
              <a:gd name="adj" fmla="val 20000"/>
            </a:avLst>
          </a:prstGeom>
          <a:solidFill>
            <a:srgbClr val="1E8449">
              <a:alpha val="10000"/>
            </a:srgbClr>
          </a:solidFill>
          <a:ln>
            <a:noFill/>
          </a:ln>
        </p:spPr>
      </p:sp>
      <p:sp>
        <p:nvSpPr>
          <p:cNvPr id="35" name="Rectangle 35"/>
          <p:cNvSpPr/>
          <p:nvPr/>
        </p:nvSpPr>
        <p:spPr>
          <a:xfrm>
            <a:off x="5934075" y="1733550"/>
            <a:ext cx="228600" cy="342900"/>
          </a:xfrm>
          <a:prstGeom prst="roundRect">
            <a:avLst>
              <a:gd name="adj" fmla="val 8333"/>
            </a:avLst>
          </a:prstGeom>
          <a:noFill/>
          <a:ln w="23812">
            <a:solidFill>
              <a:srgbClr val="1E8449"/>
            </a:solidFill>
          </a:ln>
        </p:spPr>
      </p:sp>
      <p:sp>
        <p:nvSpPr>
          <p:cNvPr id="36" name="Rectangle 36"/>
          <p:cNvSpPr/>
          <p:nvPr/>
        </p:nvSpPr>
        <p:spPr>
          <a:xfrm>
            <a:off x="5857875" y="1809750"/>
            <a:ext cx="381000" cy="76200"/>
          </a:xfrm>
          <a:prstGeom prst="roundRect">
            <a:avLst>
              <a:gd name="adj" fmla="val 12500"/>
            </a:avLst>
          </a:prstGeom>
          <a:solidFill>
            <a:srgbClr val="1E8449">
              <a:alpha val="30000"/>
            </a:srgbClr>
          </a:solidFill>
          <a:ln>
            <a:noFill/>
          </a:ln>
        </p:spPr>
      </p:sp>
      <p:sp>
        <p:nvSpPr>
          <p:cNvPr id="37" name="Rectangle 37"/>
          <p:cNvSpPr/>
          <p:nvPr/>
        </p:nvSpPr>
        <p:spPr>
          <a:xfrm>
            <a:off x="5857875" y="1924050"/>
            <a:ext cx="285750" cy="47625"/>
          </a:xfrm>
          <a:prstGeom prst="roundRect">
            <a:avLst>
              <a:gd name="adj" fmla="val 20000"/>
            </a:avLst>
          </a:prstGeom>
          <a:solidFill>
            <a:srgbClr val="1E8449">
              <a:alpha val="20000"/>
            </a:srgbClr>
          </a:solidFill>
          <a:ln>
            <a:noFill/>
          </a:ln>
        </p:spPr>
      </p:sp>
      <p:sp>
        <p:nvSpPr>
          <p:cNvPr id="38" name="Rectangle 38"/>
          <p:cNvSpPr/>
          <p:nvPr/>
        </p:nvSpPr>
        <p:spPr>
          <a:xfrm>
            <a:off x="4619625" y="2381250"/>
            <a:ext cx="3238500" cy="361950"/>
          </a:xfrm>
          <a:prstGeom prst="roundRect">
            <a:avLst>
              <a:gd name="adj" fmla="val 21053"/>
            </a:avLst>
          </a:prstGeom>
          <a:solidFill>
            <a:srgbClr val="FAFAF5"/>
          </a:solidFill>
          <a:ln>
            <a:noFill/>
          </a:ln>
        </p:spPr>
      </p:sp>
      <p:sp>
        <p:nvSpPr>
          <p:cNvPr id="39" name="TextBox 39"/>
          <p:cNvSpPr txBox="1"/>
          <p:nvPr/>
        </p:nvSpPr>
        <p:spPr>
          <a:xfrm>
            <a:off x="4747260" y="248983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信息密度</a:t>
            </a:r>
          </a:p>
        </p:txBody>
      </p:sp>
      <p:sp>
        <p:nvSpPr>
          <p:cNvPr id="40" name="TextBox 40"/>
          <p:cNvSpPr txBox="1"/>
          <p:nvPr/>
        </p:nvSpPr>
        <p:spPr>
          <a:xfrm>
            <a:off x="7125843" y="2489835"/>
            <a:ext cx="366522" cy="243840"/>
          </a:xfrm>
          <a:prstGeom prst="rect">
            <a:avLst/>
          </a:prstGeom>
          <a:noFill/>
          <a:ln>
            <a:noFill/>
          </a:ln>
        </p:spPr>
        <p:txBody>
          <a:bodyPr wrap="none" lIns="0" tIns="0" rIns="0" bIns="0" anchor="t" anchorCtr="0">
            <a:spAutoFit/>
          </a:bodyPr>
          <a:lstStyle/>
          <a:p>
            <a:pPr algn="r"/>
            <a:r>
              <a:rPr lang="zh-CN" sz="1200" b="1" dirty="0">
                <a:solidFill>
                  <a:srgbClr val="1E8449"/>
                </a:solidFill>
                <a:latin typeface="Arial"/>
                <a:ea typeface="Microsoft YaHei"/>
                <a:cs typeface="Arial"/>
              </a:rPr>
              <a:t>标准</a:t>
            </a:r>
          </a:p>
        </p:txBody>
      </p:sp>
      <p:sp>
        <p:nvSpPr>
          <p:cNvPr id="41" name="Rectangle 41"/>
          <p:cNvSpPr/>
          <p:nvPr/>
        </p:nvSpPr>
        <p:spPr>
          <a:xfrm>
            <a:off x="4619625" y="2819400"/>
            <a:ext cx="3238500" cy="361950"/>
          </a:xfrm>
          <a:prstGeom prst="roundRect">
            <a:avLst>
              <a:gd name="adj" fmla="val 21053"/>
            </a:avLst>
          </a:prstGeom>
          <a:solidFill>
            <a:srgbClr val="FAFAF5"/>
          </a:solidFill>
          <a:ln>
            <a:noFill/>
          </a:ln>
        </p:spPr>
      </p:sp>
      <p:sp>
        <p:nvSpPr>
          <p:cNvPr id="42" name="TextBox 42"/>
          <p:cNvSpPr txBox="1"/>
          <p:nvPr/>
        </p:nvSpPr>
        <p:spPr>
          <a:xfrm>
            <a:off x="4747260" y="292798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搜索加权</a:t>
            </a:r>
          </a:p>
        </p:txBody>
      </p:sp>
      <p:sp>
        <p:nvSpPr>
          <p:cNvPr id="43" name="TextBox 43"/>
          <p:cNvSpPr txBox="1"/>
          <p:nvPr/>
        </p:nvSpPr>
        <p:spPr>
          <a:xfrm>
            <a:off x="6529368" y="2927985"/>
            <a:ext cx="962997" cy="243840"/>
          </a:xfrm>
          <a:prstGeom prst="rect">
            <a:avLst/>
          </a:prstGeom>
          <a:noFill/>
          <a:ln>
            <a:noFill/>
          </a:ln>
        </p:spPr>
        <p:txBody>
          <a:bodyPr wrap="none" lIns="0" tIns="0" rIns="0" bIns="0" anchor="t" anchorCtr="0">
            <a:spAutoFit/>
          </a:bodyPr>
          <a:lstStyle/>
          <a:p>
            <a:pPr algn="r"/>
            <a:r>
              <a:rPr lang="zh-CN" sz="1200" b="1" dirty="0">
                <a:solidFill>
                  <a:srgbClr val="7F8C8D"/>
                </a:solidFill>
                <a:latin typeface="Arial"/>
                <a:ea typeface="Microsoft YaHei"/>
                <a:cs typeface="Arial"/>
              </a:rPr>
              <a:t>0（基准位）</a:t>
            </a:r>
          </a:p>
        </p:txBody>
      </p:sp>
      <p:sp>
        <p:nvSpPr>
          <p:cNvPr id="44" name="Rectangle 44"/>
          <p:cNvSpPr/>
          <p:nvPr/>
        </p:nvSpPr>
        <p:spPr>
          <a:xfrm>
            <a:off x="4619625" y="3257550"/>
            <a:ext cx="3238500" cy="361950"/>
          </a:xfrm>
          <a:prstGeom prst="roundRect">
            <a:avLst>
              <a:gd name="adj" fmla="val 21053"/>
            </a:avLst>
          </a:prstGeom>
          <a:solidFill>
            <a:srgbClr val="FAFAF5"/>
          </a:solidFill>
          <a:ln>
            <a:noFill/>
          </a:ln>
        </p:spPr>
      </p:sp>
      <p:sp>
        <p:nvSpPr>
          <p:cNvPr id="45" name="TextBox 45"/>
          <p:cNvSpPr txBox="1"/>
          <p:nvPr/>
        </p:nvSpPr>
        <p:spPr>
          <a:xfrm>
            <a:off x="4747260" y="3366135"/>
            <a:ext cx="83058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自定义深度</a:t>
            </a:r>
          </a:p>
        </p:txBody>
      </p:sp>
      <p:sp>
        <p:nvSpPr>
          <p:cNvPr id="46" name="TextBox 46"/>
          <p:cNvSpPr txBox="1"/>
          <p:nvPr/>
        </p:nvSpPr>
        <p:spPr>
          <a:xfrm>
            <a:off x="5840482" y="3366135"/>
            <a:ext cx="1651883" cy="243840"/>
          </a:xfrm>
          <a:prstGeom prst="rect">
            <a:avLst/>
          </a:prstGeom>
          <a:noFill/>
          <a:ln>
            <a:noFill/>
          </a:ln>
        </p:spPr>
        <p:txBody>
          <a:bodyPr wrap="none" lIns="0" tIns="0" rIns="0" bIns="0" anchor="t" anchorCtr="0">
            <a:spAutoFit/>
          </a:bodyPr>
          <a:lstStyle/>
          <a:p>
            <a:pPr algn="r"/>
            <a:r>
              <a:rPr lang="zh-CN" sz="1200" b="1" dirty="0">
                <a:solidFill>
                  <a:srgbClr val="1E8449"/>
                </a:solidFill>
                <a:latin typeface="Arial"/>
                <a:ea typeface="Microsoft YaHei"/>
                <a:cs typeface="Arial"/>
              </a:rPr>
              <a:t>6套模板+品牌色+横幅</a:t>
            </a:r>
          </a:p>
        </p:txBody>
      </p:sp>
      <p:sp>
        <p:nvSpPr>
          <p:cNvPr id="47" name="Rectangle 47"/>
          <p:cNvSpPr/>
          <p:nvPr/>
        </p:nvSpPr>
        <p:spPr>
          <a:xfrm>
            <a:off x="4619625" y="3695700"/>
            <a:ext cx="3238500" cy="361950"/>
          </a:xfrm>
          <a:prstGeom prst="roundRect">
            <a:avLst>
              <a:gd name="adj" fmla="val 21053"/>
            </a:avLst>
          </a:prstGeom>
          <a:solidFill>
            <a:srgbClr val="FAFAF5"/>
          </a:solidFill>
          <a:ln>
            <a:noFill/>
          </a:ln>
        </p:spPr>
      </p:sp>
      <p:sp>
        <p:nvSpPr>
          <p:cNvPr id="48" name="TextBox 48"/>
          <p:cNvSpPr txBox="1"/>
          <p:nvPr/>
        </p:nvSpPr>
        <p:spPr>
          <a:xfrm>
            <a:off x="4747260" y="380428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典型商家</a:t>
            </a:r>
          </a:p>
        </p:txBody>
      </p:sp>
      <p:sp>
        <p:nvSpPr>
          <p:cNvPr id="49" name="TextBox 49"/>
          <p:cNvSpPr txBox="1"/>
          <p:nvPr/>
        </p:nvSpPr>
        <p:spPr>
          <a:xfrm>
            <a:off x="5801005" y="3812381"/>
            <a:ext cx="1690408" cy="228600"/>
          </a:xfrm>
          <a:prstGeom prst="rect">
            <a:avLst/>
          </a:prstGeom>
          <a:noFill/>
          <a:ln>
            <a:noFill/>
          </a:ln>
        </p:spPr>
        <p:txBody>
          <a:bodyPr wrap="none" lIns="0" tIns="0" rIns="0" bIns="0" anchor="t" anchorCtr="0">
            <a:spAutoFit/>
          </a:bodyPr>
          <a:lstStyle/>
          <a:p>
            <a:pPr algn="r"/>
            <a:r>
              <a:rPr lang="zh-CN" sz="1125" b="1" dirty="0">
                <a:solidFill>
                  <a:srgbClr val="2C2C2C"/>
                </a:solidFill>
                <a:latin typeface="Arial"/>
                <a:ea typeface="Microsoft YaHei"/>
                <a:cs typeface="Arial"/>
              </a:rPr>
              <a:t>优质社区店·连锁加盟店</a:t>
            </a:r>
          </a:p>
        </p:txBody>
      </p:sp>
      <p:sp>
        <p:nvSpPr>
          <p:cNvPr id="50" name="Line 50"/>
          <p:cNvSpPr/>
          <p:nvPr/>
        </p:nvSpPr>
        <p:spPr>
          <a:xfrm>
            <a:off x="8048625" y="2809875"/>
            <a:ext cx="190500" cy="9525"/>
          </a:xfrm>
          <a:custGeom>
            <a:avLst/>
            <a:gdLst/>
            <a:ahLst/>
            <a:cxnLst/>
            <a:rect l="l" t="t" r="r" b="b"/>
            <a:pathLst>
              <a:path w="190500" h="9525">
                <a:moveTo>
                  <a:pt x="0" y="0"/>
                </a:moveTo>
                <a:lnTo>
                  <a:pt x="190500" y="0"/>
                </a:lnTo>
              </a:path>
            </a:pathLst>
          </a:custGeom>
          <a:noFill/>
          <a:ln w="19050">
            <a:solidFill>
              <a:srgbClr val="E8E3DC"/>
            </a:solidFill>
            <a:custDash>
              <a:ds d="200000" sp="150000"/>
            </a:custDash>
          </a:ln>
        </p:spPr>
      </p:sp>
      <p:sp>
        <p:nvSpPr>
          <p:cNvPr id="51" name="Rectangle 51"/>
          <p:cNvSpPr/>
          <p:nvPr/>
        </p:nvSpPr>
        <p:spPr>
          <a:xfrm>
            <a:off x="8286750" y="952500"/>
            <a:ext cx="3333750" cy="3714750"/>
          </a:xfrm>
          <a:prstGeom prst="roundRect">
            <a:avLst>
              <a:gd name="adj" fmla="val 4000"/>
            </a:avLst>
          </a:prstGeom>
          <a:solidFill>
            <a:srgbClr val="F5F0EA"/>
          </a:solidFill>
          <a:ln>
            <a:noFill/>
          </a:ln>
          <a:effectLst>
            <a:outerShdw blurRad="76200" dist="19050" dir="5400000" algn="ctr" rotWithShape="0">
              <a:srgbClr val="2C2C2C">
                <a:alpha val="4500"/>
              </a:srgbClr>
            </a:outerShdw>
          </a:effectLst>
        </p:spPr>
      </p:sp>
      <p:sp>
        <p:nvSpPr>
          <p:cNvPr id="52" name="Rectangle 52"/>
          <p:cNvSpPr/>
          <p:nvPr/>
        </p:nvSpPr>
        <p:spPr>
          <a:xfrm>
            <a:off x="8286750" y="952500"/>
            <a:ext cx="3333750" cy="57150"/>
          </a:xfrm>
          <a:prstGeom prst="roundRect">
            <a:avLst>
              <a:gd name="adj" fmla="val 50000"/>
            </a:avLst>
          </a:prstGeom>
          <a:solidFill>
            <a:srgbClr val="7F8C8D"/>
          </a:solidFill>
          <a:ln>
            <a:noFill/>
          </a:ln>
        </p:spPr>
      </p:sp>
      <p:sp>
        <p:nvSpPr>
          <p:cNvPr id="53" name="Rectangle 53"/>
          <p:cNvSpPr/>
          <p:nvPr/>
        </p:nvSpPr>
        <p:spPr>
          <a:xfrm>
            <a:off x="8477250" y="1181100"/>
            <a:ext cx="762000" cy="266700"/>
          </a:xfrm>
          <a:prstGeom prst="roundRect">
            <a:avLst>
              <a:gd name="adj" fmla="val 50000"/>
            </a:avLst>
          </a:prstGeom>
          <a:solidFill>
            <a:srgbClr val="7F8C8D"/>
          </a:solidFill>
          <a:ln>
            <a:noFill/>
          </a:ln>
        </p:spPr>
      </p:sp>
      <p:sp>
        <p:nvSpPr>
          <p:cNvPr id="54" name="TextBox 54"/>
          <p:cNvSpPr txBox="1"/>
          <p:nvPr/>
        </p:nvSpPr>
        <p:spPr>
          <a:xfrm>
            <a:off x="8697897" y="12582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灰标</a:t>
            </a:r>
          </a:p>
        </p:txBody>
      </p:sp>
      <p:sp>
        <p:nvSpPr>
          <p:cNvPr id="55" name="TextBox 55"/>
          <p:cNvSpPr txBox="1"/>
          <p:nvPr/>
        </p:nvSpPr>
        <p:spPr>
          <a:xfrm>
            <a:off x="9361170" y="1193482"/>
            <a:ext cx="966026" cy="335280"/>
          </a:xfrm>
          <a:prstGeom prst="rect">
            <a:avLst/>
          </a:prstGeom>
          <a:noFill/>
          <a:ln>
            <a:noFill/>
          </a:ln>
        </p:spPr>
        <p:txBody>
          <a:bodyPr wrap="none" lIns="0" tIns="0" rIns="0" bIns="0" anchor="t" anchorCtr="0">
            <a:spAutoFit/>
          </a:bodyPr>
          <a:lstStyle/>
          <a:p>
            <a:pPr algn="l"/>
            <a:r>
              <a:rPr lang="zh-CN" sz="1650" b="1" dirty="0">
                <a:solidFill>
                  <a:srgbClr val="7F8C8D"/>
                </a:solidFill>
                <a:latin typeface="Georgia"/>
                <a:ea typeface="KaiTi"/>
                <a:cs typeface="Georgia"/>
              </a:rPr>
              <a:t>综合商城</a:t>
            </a:r>
          </a:p>
        </p:txBody>
      </p:sp>
      <p:sp>
        <p:nvSpPr>
          <p:cNvPr id="56" name="TextBox 56"/>
          <p:cNvSpPr txBox="1"/>
          <p:nvPr/>
        </p:nvSpPr>
        <p:spPr>
          <a:xfrm>
            <a:off x="10417492" y="1266349"/>
            <a:ext cx="47982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Minimal</a:t>
            </a:r>
          </a:p>
        </p:txBody>
      </p:sp>
      <p:sp>
        <p:nvSpPr>
          <p:cNvPr id="57" name="Rectangle 57"/>
          <p:cNvSpPr/>
          <p:nvPr/>
        </p:nvSpPr>
        <p:spPr>
          <a:xfrm>
            <a:off x="9477375" y="1619250"/>
            <a:ext cx="571500" cy="571500"/>
          </a:xfrm>
          <a:prstGeom prst="roundRect">
            <a:avLst>
              <a:gd name="adj" fmla="val 20000"/>
            </a:avLst>
          </a:prstGeom>
          <a:solidFill>
            <a:srgbClr val="7F8C8D">
              <a:alpha val="10000"/>
            </a:srgbClr>
          </a:solidFill>
          <a:ln>
            <a:noFill/>
          </a:ln>
        </p:spPr>
      </p:sp>
      <p:sp>
        <p:nvSpPr>
          <p:cNvPr id="58" name="Rectangle 58"/>
          <p:cNvSpPr/>
          <p:nvPr/>
        </p:nvSpPr>
        <p:spPr>
          <a:xfrm>
            <a:off x="9648825" y="1733550"/>
            <a:ext cx="228600" cy="342900"/>
          </a:xfrm>
          <a:prstGeom prst="roundRect">
            <a:avLst>
              <a:gd name="adj" fmla="val 8333"/>
            </a:avLst>
          </a:prstGeom>
          <a:noFill/>
          <a:ln w="23812">
            <a:solidFill>
              <a:srgbClr val="7F8C8D"/>
            </a:solidFill>
          </a:ln>
        </p:spPr>
      </p:sp>
      <p:sp>
        <p:nvSpPr>
          <p:cNvPr id="59" name="Rectangle 59"/>
          <p:cNvSpPr/>
          <p:nvPr/>
        </p:nvSpPr>
        <p:spPr>
          <a:xfrm>
            <a:off x="9572625" y="1809750"/>
            <a:ext cx="381000" cy="76200"/>
          </a:xfrm>
          <a:prstGeom prst="roundRect">
            <a:avLst>
              <a:gd name="adj" fmla="val 12500"/>
            </a:avLst>
          </a:prstGeom>
          <a:solidFill>
            <a:srgbClr val="7F8C8D">
              <a:alpha val="30000"/>
            </a:srgbClr>
          </a:solidFill>
          <a:ln>
            <a:noFill/>
          </a:ln>
        </p:spPr>
      </p:sp>
      <p:sp>
        <p:nvSpPr>
          <p:cNvPr id="60" name="Rectangle 60"/>
          <p:cNvSpPr/>
          <p:nvPr/>
        </p:nvSpPr>
        <p:spPr>
          <a:xfrm>
            <a:off x="9572625" y="1924050"/>
            <a:ext cx="285750" cy="47625"/>
          </a:xfrm>
          <a:prstGeom prst="roundRect">
            <a:avLst>
              <a:gd name="adj" fmla="val 20000"/>
            </a:avLst>
          </a:prstGeom>
          <a:solidFill>
            <a:srgbClr val="7F8C8D">
              <a:alpha val="20000"/>
            </a:srgbClr>
          </a:solidFill>
          <a:ln>
            <a:noFill/>
          </a:ln>
        </p:spPr>
      </p:sp>
      <p:sp>
        <p:nvSpPr>
          <p:cNvPr id="61" name="Rectangle 61"/>
          <p:cNvSpPr/>
          <p:nvPr/>
        </p:nvSpPr>
        <p:spPr>
          <a:xfrm>
            <a:off x="8477250" y="2381250"/>
            <a:ext cx="2952750" cy="361950"/>
          </a:xfrm>
          <a:prstGeom prst="roundRect">
            <a:avLst>
              <a:gd name="adj" fmla="val 21053"/>
            </a:avLst>
          </a:prstGeom>
          <a:solidFill>
            <a:srgbClr val="FAFAF5"/>
          </a:solidFill>
          <a:ln>
            <a:noFill/>
          </a:ln>
        </p:spPr>
      </p:sp>
      <p:sp>
        <p:nvSpPr>
          <p:cNvPr id="62" name="TextBox 62"/>
          <p:cNvSpPr txBox="1"/>
          <p:nvPr/>
        </p:nvSpPr>
        <p:spPr>
          <a:xfrm>
            <a:off x="8604885" y="248983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信息密度</a:t>
            </a:r>
          </a:p>
        </p:txBody>
      </p:sp>
      <p:sp>
        <p:nvSpPr>
          <p:cNvPr id="63" name="TextBox 63"/>
          <p:cNvSpPr txBox="1"/>
          <p:nvPr/>
        </p:nvSpPr>
        <p:spPr>
          <a:xfrm>
            <a:off x="10697718" y="2489835"/>
            <a:ext cx="366522" cy="243840"/>
          </a:xfrm>
          <a:prstGeom prst="rect">
            <a:avLst/>
          </a:prstGeom>
          <a:noFill/>
          <a:ln>
            <a:noFill/>
          </a:ln>
        </p:spPr>
        <p:txBody>
          <a:bodyPr wrap="none" lIns="0" tIns="0" rIns="0" bIns="0" anchor="t" anchorCtr="0">
            <a:spAutoFit/>
          </a:bodyPr>
          <a:lstStyle/>
          <a:p>
            <a:pPr algn="r"/>
            <a:r>
              <a:rPr lang="zh-CN" sz="1200" b="1" dirty="0">
                <a:solidFill>
                  <a:srgbClr val="7F8C8D"/>
                </a:solidFill>
                <a:latin typeface="Arial"/>
                <a:ea typeface="Microsoft YaHei"/>
                <a:cs typeface="Arial"/>
              </a:rPr>
              <a:t>极简</a:t>
            </a:r>
          </a:p>
        </p:txBody>
      </p:sp>
      <p:sp>
        <p:nvSpPr>
          <p:cNvPr id="64" name="Rectangle 64"/>
          <p:cNvSpPr/>
          <p:nvPr/>
        </p:nvSpPr>
        <p:spPr>
          <a:xfrm>
            <a:off x="8477250" y="2819400"/>
            <a:ext cx="2952750" cy="361950"/>
          </a:xfrm>
          <a:prstGeom prst="roundRect">
            <a:avLst>
              <a:gd name="adj" fmla="val 21053"/>
            </a:avLst>
          </a:prstGeom>
          <a:solidFill>
            <a:srgbClr val="FAFAF5"/>
          </a:solidFill>
          <a:ln>
            <a:noFill/>
          </a:ln>
        </p:spPr>
      </p:sp>
      <p:sp>
        <p:nvSpPr>
          <p:cNvPr id="65" name="TextBox 65"/>
          <p:cNvSpPr txBox="1"/>
          <p:nvPr/>
        </p:nvSpPr>
        <p:spPr>
          <a:xfrm>
            <a:off x="8604885" y="292798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搜索加权</a:t>
            </a:r>
          </a:p>
        </p:txBody>
      </p:sp>
      <p:sp>
        <p:nvSpPr>
          <p:cNvPr id="66" name="TextBox 66"/>
          <p:cNvSpPr txBox="1"/>
          <p:nvPr/>
        </p:nvSpPr>
        <p:spPr>
          <a:xfrm>
            <a:off x="10848937" y="2927985"/>
            <a:ext cx="215303" cy="243840"/>
          </a:xfrm>
          <a:prstGeom prst="rect">
            <a:avLst/>
          </a:prstGeom>
          <a:noFill/>
          <a:ln>
            <a:noFill/>
          </a:ln>
        </p:spPr>
        <p:txBody>
          <a:bodyPr wrap="none" lIns="0" tIns="0" rIns="0" bIns="0" anchor="t" anchorCtr="0">
            <a:spAutoFit/>
          </a:bodyPr>
          <a:lstStyle/>
          <a:p>
            <a:pPr algn="r"/>
            <a:r>
              <a:rPr lang="zh-CN" sz="1200" b="1" dirty="0">
                <a:solidFill>
                  <a:srgbClr val="C0392B"/>
                </a:solidFill>
                <a:latin typeface="Arial"/>
                <a:ea typeface="Microsoft YaHei"/>
                <a:cs typeface="Arial"/>
              </a:rPr>
              <a:t>-2</a:t>
            </a:r>
          </a:p>
        </p:txBody>
      </p:sp>
      <p:sp>
        <p:nvSpPr>
          <p:cNvPr id="67" name="Rectangle 67"/>
          <p:cNvSpPr/>
          <p:nvPr/>
        </p:nvSpPr>
        <p:spPr>
          <a:xfrm>
            <a:off x="8477250" y="3257550"/>
            <a:ext cx="2952750" cy="361950"/>
          </a:xfrm>
          <a:prstGeom prst="roundRect">
            <a:avLst>
              <a:gd name="adj" fmla="val 21053"/>
            </a:avLst>
          </a:prstGeom>
          <a:solidFill>
            <a:srgbClr val="FAFAF5"/>
          </a:solidFill>
          <a:ln>
            <a:noFill/>
          </a:ln>
        </p:spPr>
      </p:sp>
      <p:sp>
        <p:nvSpPr>
          <p:cNvPr id="68" name="TextBox 68"/>
          <p:cNvSpPr txBox="1"/>
          <p:nvPr/>
        </p:nvSpPr>
        <p:spPr>
          <a:xfrm>
            <a:off x="8604885" y="3366135"/>
            <a:ext cx="83058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自定义深度</a:t>
            </a:r>
          </a:p>
        </p:txBody>
      </p:sp>
      <p:sp>
        <p:nvSpPr>
          <p:cNvPr id="69" name="TextBox 69"/>
          <p:cNvSpPr txBox="1"/>
          <p:nvPr/>
        </p:nvSpPr>
        <p:spPr>
          <a:xfrm>
            <a:off x="9597180" y="3366135"/>
            <a:ext cx="1467060" cy="243840"/>
          </a:xfrm>
          <a:prstGeom prst="rect">
            <a:avLst/>
          </a:prstGeom>
          <a:noFill/>
          <a:ln>
            <a:noFill/>
          </a:ln>
        </p:spPr>
        <p:txBody>
          <a:bodyPr wrap="none" lIns="0" tIns="0" rIns="0" bIns="0" anchor="t" anchorCtr="0">
            <a:spAutoFit/>
          </a:bodyPr>
          <a:lstStyle/>
          <a:p>
            <a:pPr algn="r"/>
            <a:r>
              <a:rPr lang="zh-CN" sz="1200" b="1" dirty="0">
                <a:solidFill>
                  <a:srgbClr val="7F8C8D"/>
                </a:solidFill>
                <a:latin typeface="Arial"/>
                <a:ea typeface="Microsoft YaHei"/>
                <a:cs typeface="Arial"/>
              </a:rPr>
              <a:t>标准化·不可自定义</a:t>
            </a:r>
          </a:p>
        </p:txBody>
      </p:sp>
      <p:sp>
        <p:nvSpPr>
          <p:cNvPr id="70" name="Rectangle 70"/>
          <p:cNvSpPr/>
          <p:nvPr/>
        </p:nvSpPr>
        <p:spPr>
          <a:xfrm>
            <a:off x="8477250" y="3695700"/>
            <a:ext cx="2952750" cy="361950"/>
          </a:xfrm>
          <a:prstGeom prst="roundRect">
            <a:avLst>
              <a:gd name="adj" fmla="val 21053"/>
            </a:avLst>
          </a:prstGeom>
          <a:solidFill>
            <a:srgbClr val="FAFAF5"/>
          </a:solidFill>
          <a:ln>
            <a:noFill/>
          </a:ln>
        </p:spPr>
      </p:sp>
      <p:sp>
        <p:nvSpPr>
          <p:cNvPr id="71" name="TextBox 71"/>
          <p:cNvSpPr txBox="1"/>
          <p:nvPr/>
        </p:nvSpPr>
        <p:spPr>
          <a:xfrm>
            <a:off x="8604885" y="3804285"/>
            <a:ext cx="6705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典型商家</a:t>
            </a:r>
          </a:p>
        </p:txBody>
      </p:sp>
      <p:sp>
        <p:nvSpPr>
          <p:cNvPr id="72" name="TextBox 72"/>
          <p:cNvSpPr txBox="1"/>
          <p:nvPr/>
        </p:nvSpPr>
        <p:spPr>
          <a:xfrm>
            <a:off x="10089594" y="3812381"/>
            <a:ext cx="973693" cy="228600"/>
          </a:xfrm>
          <a:prstGeom prst="rect">
            <a:avLst/>
          </a:prstGeom>
          <a:noFill/>
          <a:ln>
            <a:noFill/>
          </a:ln>
        </p:spPr>
        <p:txBody>
          <a:bodyPr wrap="none" lIns="0" tIns="0" rIns="0" bIns="0" anchor="t" anchorCtr="0">
            <a:spAutoFit/>
          </a:bodyPr>
          <a:lstStyle/>
          <a:p>
            <a:pPr algn="r"/>
            <a:r>
              <a:rPr lang="zh-CN" sz="1125" b="1" dirty="0">
                <a:solidFill>
                  <a:srgbClr val="2C2C2C"/>
                </a:solidFill>
                <a:latin typeface="Arial"/>
                <a:ea typeface="Microsoft YaHei"/>
                <a:cs typeface="Arial"/>
              </a:rPr>
              <a:t>标准商品供给</a:t>
            </a:r>
          </a:p>
        </p:txBody>
      </p:sp>
      <p:sp>
        <p:nvSpPr>
          <p:cNvPr id="73" name="Polygon 73"/>
          <p:cNvSpPr/>
          <p:nvPr/>
        </p:nvSpPr>
        <p:spPr>
          <a:xfrm>
            <a:off x="4333875" y="2762250"/>
            <a:ext cx="76200" cy="95250"/>
          </a:xfrm>
          <a:custGeom>
            <a:avLst/>
            <a:gdLst/>
            <a:ahLst/>
            <a:cxnLst/>
            <a:rect l="l" t="t" r="r" b="b"/>
            <a:pathLst>
              <a:path w="76200" h="95250">
                <a:moveTo>
                  <a:pt x="0" y="0"/>
                </a:moveTo>
                <a:lnTo>
                  <a:pt x="76200" y="47625"/>
                </a:lnTo>
                <a:lnTo>
                  <a:pt x="0" y="95250"/>
                </a:lnTo>
                <a:close/>
              </a:path>
            </a:pathLst>
          </a:custGeom>
          <a:solidFill>
            <a:srgbClr val="E8E3DC"/>
          </a:solidFill>
          <a:ln>
            <a:noFill/>
          </a:ln>
        </p:spPr>
      </p:sp>
      <p:sp>
        <p:nvSpPr>
          <p:cNvPr id="74" name="Polygon 74"/>
          <p:cNvSpPr/>
          <p:nvPr/>
        </p:nvSpPr>
        <p:spPr>
          <a:xfrm>
            <a:off x="8191500" y="2762250"/>
            <a:ext cx="76200" cy="95250"/>
          </a:xfrm>
          <a:custGeom>
            <a:avLst/>
            <a:gdLst/>
            <a:ahLst/>
            <a:cxnLst/>
            <a:rect l="l" t="t" r="r" b="b"/>
            <a:pathLst>
              <a:path w="76200" h="95250">
                <a:moveTo>
                  <a:pt x="0" y="0"/>
                </a:moveTo>
                <a:lnTo>
                  <a:pt x="76200" y="47625"/>
                </a:lnTo>
                <a:lnTo>
                  <a:pt x="0" y="95250"/>
                </a:lnTo>
                <a:close/>
              </a:path>
            </a:pathLst>
          </a:custGeom>
          <a:solidFill>
            <a:srgbClr val="E8E3DC"/>
          </a:solidFill>
          <a:ln>
            <a:noFill/>
          </a:ln>
        </p:spPr>
      </p:sp>
      <p:sp>
        <p:nvSpPr>
          <p:cNvPr id="75" name="Rectangle 75"/>
          <p:cNvSpPr/>
          <p:nvPr/>
        </p:nvSpPr>
        <p:spPr>
          <a:xfrm>
            <a:off x="571500" y="4914900"/>
            <a:ext cx="11049000" cy="495300"/>
          </a:xfrm>
          <a:prstGeom prst="roundRect">
            <a:avLst>
              <a:gd name="adj" fmla="val 23077"/>
            </a:avLst>
          </a:prstGeom>
          <a:solidFill>
            <a:srgbClr val="F0EDE8"/>
          </a:solidFill>
          <a:ln>
            <a:noFill/>
          </a:ln>
        </p:spPr>
      </p:sp>
      <p:sp>
        <p:nvSpPr>
          <p:cNvPr id="76" name="Rectangle 76"/>
          <p:cNvSpPr/>
          <p:nvPr/>
        </p:nvSpPr>
        <p:spPr>
          <a:xfrm>
            <a:off x="571500" y="4914900"/>
            <a:ext cx="57150" cy="495300"/>
          </a:xfrm>
          <a:prstGeom prst="roundRect">
            <a:avLst>
              <a:gd name="adj" fmla="val 50000"/>
            </a:avLst>
          </a:prstGeom>
          <a:solidFill>
            <a:srgbClr val="E67E22"/>
          </a:solidFill>
          <a:ln>
            <a:noFill/>
          </a:ln>
        </p:spPr>
      </p:sp>
      <p:sp>
        <p:nvSpPr>
          <p:cNvPr id="77" name="TextBox 77"/>
          <p:cNvSpPr txBox="1"/>
          <p:nvPr/>
        </p:nvSpPr>
        <p:spPr>
          <a:xfrm>
            <a:off x="842962" y="5022056"/>
            <a:ext cx="305145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软性优先级 = 默认排序有优先，非强制路径。</a:t>
            </a:r>
          </a:p>
        </p:txBody>
      </p:sp>
      <p:sp>
        <p:nvSpPr>
          <p:cNvPr id="78" name="TextBox 78"/>
          <p:cNvSpPr txBox="1"/>
          <p:nvPr/>
        </p:nvSpPr>
        <p:spPr>
          <a:xfrm>
            <a:off x="843915" y="5220652"/>
            <a:ext cx="5872401"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消费者可自由浏览所有商家——仅默认排序有优先，可通过筛选/搜索/分类/地图找到任何商家。</a:t>
            </a:r>
          </a:p>
        </p:txBody>
      </p:sp>
      <p:sp>
        <p:nvSpPr>
          <p:cNvPr id="79" name="TextBox 79"/>
          <p:cNvSpPr txBox="1"/>
          <p:nvPr/>
        </p:nvSpPr>
        <p:spPr>
          <a:xfrm>
            <a:off x="8081962" y="5098256"/>
            <a:ext cx="1746290" cy="228600"/>
          </a:xfrm>
          <a:prstGeom prst="rect">
            <a:avLst/>
          </a:prstGeom>
          <a:noFill/>
          <a:ln>
            <a:noFill/>
          </a:ln>
        </p:spPr>
        <p:txBody>
          <a:bodyPr wrap="none" lIns="0" tIns="0" rIns="0" bIns="0" anchor="t" anchorCtr="0">
            <a:spAutoFit/>
          </a:bodyPr>
          <a:lstStyle/>
          <a:p>
            <a:pPr algn="l"/>
            <a:r>
              <a:rPr lang="zh-CN" sz="1125" dirty="0">
                <a:solidFill>
                  <a:srgbClr val="E67E22"/>
                </a:solidFill>
                <a:latin typeface="Arial"/>
                <a:ea typeface="Microsoft YaHei"/>
                <a:cs typeface="Arial"/>
              </a:rPr>
              <a:t>筛选 · 搜索 · 分类 · 地图</a:t>
            </a:r>
          </a:p>
        </p:txBody>
      </p:sp>
      <p:sp>
        <p:nvSpPr>
          <p:cNvPr id="80" name="Polygon 80"/>
          <p:cNvSpPr/>
          <p:nvPr/>
        </p:nvSpPr>
        <p:spPr>
          <a:xfrm>
            <a:off x="7905750" y="5172075"/>
            <a:ext cx="95250" cy="95250"/>
          </a:xfrm>
          <a:custGeom>
            <a:avLst/>
            <a:gdLst/>
            <a:ahLst/>
            <a:cxnLst/>
            <a:rect l="l" t="t" r="r" b="b"/>
            <a:pathLst>
              <a:path w="95250" h="95250">
                <a:moveTo>
                  <a:pt x="0" y="0"/>
                </a:moveTo>
                <a:lnTo>
                  <a:pt x="95250" y="47625"/>
                </a:lnTo>
                <a:lnTo>
                  <a:pt x="0" y="95250"/>
                </a:lnTo>
                <a:close/>
              </a:path>
            </a:pathLst>
          </a:custGeom>
          <a:solidFill>
            <a:srgbClr val="E67E22"/>
          </a:solidFill>
          <a:ln>
            <a:noFill/>
          </a:ln>
        </p:spPr>
      </p:sp>
      <p:sp>
        <p:nvSpPr>
          <p:cNvPr id="81" name="Line 81"/>
          <p:cNvSpPr/>
          <p:nvPr/>
        </p:nvSpPr>
        <p:spPr>
          <a:xfrm>
            <a:off x="571500" y="5581650"/>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82" name="TextBox 82"/>
          <p:cNvSpPr txBox="1"/>
          <p:nvPr/>
        </p:nvSpPr>
        <p:spPr>
          <a:xfrm>
            <a:off x="559118" y="5724049"/>
            <a:ext cx="7383685"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三个层级对应三种商家类型：直营品牌(高投入高回报) → 优质社区店(标准工具) → 补充供给(轻量接入)。消费者路径不受限制。</a:t>
            </a:r>
          </a:p>
        </p:txBody>
      </p:sp>
      <p:sp>
        <p:nvSpPr>
          <p:cNvPr id="83" name="TextBox 83"/>
          <p:cNvSpPr txBox="1"/>
          <p:nvPr/>
        </p:nvSpPr>
        <p:spPr>
          <a:xfrm>
            <a:off x="559118" y="5933599"/>
            <a:ext cx="6545080"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搜索加权仅影响默认排序——+2(前移两位)、0(基准位)、-2(后移两位)，所有商家均可通过筛选条件被平等发现。</a:t>
            </a:r>
          </a:p>
        </p:txBody>
      </p:sp>
      <p:sp>
        <p:nvSpPr>
          <p:cNvPr id="84" name="TextBox 84"/>
          <p:cNvSpPr txBox="1"/>
          <p:nvPr/>
        </p:nvSpPr>
        <p:spPr>
          <a:xfrm>
            <a:off x="558165" y="6477952"/>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
        <p:nvSpPr>
          <p:cNvPr id="85" name="TextBox 85"/>
          <p:cNvSpPr txBox="1"/>
          <p:nvPr/>
        </p:nvSpPr>
        <p:spPr>
          <a:xfrm>
            <a:off x="11453146" y="6477952"/>
            <a:ext cx="180689" cy="213360"/>
          </a:xfrm>
          <a:prstGeom prst="rect">
            <a:avLst/>
          </a:prstGeom>
          <a:noFill/>
          <a:ln>
            <a:noFill/>
          </a:ln>
        </p:spPr>
        <p:txBody>
          <a:bodyPr wrap="none" lIns="0" tIns="0" rIns="0" bIns="0" anchor="t" anchorCtr="0">
            <a:spAutoFit/>
          </a:bodyPr>
          <a:lstStyle/>
          <a:p>
            <a:pPr algn="r"/>
            <a:r>
              <a:rPr lang="zh-CN" sz="1050" dirty="0">
                <a:solidFill>
                  <a:srgbClr val="A0A0A0"/>
                </a:solidFill>
                <a:latin typeface="Arial"/>
                <a:ea typeface="Microsoft YaHei"/>
                <a:cs typeface="Arial"/>
              </a:rPr>
              <a:t>27</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342900"/>
            <a:ext cx="57150" cy="381000"/>
          </a:xfrm>
          <a:prstGeom prst="roundRect">
            <a:avLst>
              <a:gd name="adj" fmla="val 50000"/>
            </a:avLst>
          </a:prstGeom>
          <a:solidFill>
            <a:srgbClr val="1A5276"/>
          </a:solidFill>
          <a:ln>
            <a:noFill/>
          </a:ln>
        </p:spPr>
      </p:sp>
      <p:sp>
        <p:nvSpPr>
          <p:cNvPr id="4" name="TextBox 4"/>
          <p:cNvSpPr txBox="1"/>
          <p:nvPr/>
        </p:nvSpPr>
        <p:spPr>
          <a:xfrm>
            <a:off x="727710" y="337185"/>
            <a:ext cx="6986845"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三级管理：城市服务商 → 服务站 → 推广者</a:t>
            </a:r>
          </a:p>
        </p:txBody>
      </p:sp>
      <p:sp>
        <p:nvSpPr>
          <p:cNvPr id="5" name="Rectangle 5"/>
          <p:cNvSpPr/>
          <p:nvPr/>
        </p:nvSpPr>
        <p:spPr>
          <a:xfrm>
            <a:off x="571500" y="952500"/>
            <a:ext cx="6477000" cy="4191000"/>
          </a:xfrm>
          <a:prstGeom prst="roundRect">
            <a:avLst>
              <a:gd name="adj" fmla="val 3182"/>
            </a:avLst>
          </a:prstGeom>
          <a:solidFill>
            <a:srgbClr val="F5F0EA"/>
          </a:solidFill>
          <a:ln>
            <a:noFill/>
          </a:ln>
          <a:effectLst>
            <a:outerShdw blurRad="76200" dist="19050" dir="5400000" algn="ctr" rotWithShape="0">
              <a:srgbClr val="2C2C2C">
                <a:alpha val="4500"/>
              </a:srgbClr>
            </a:outerShdw>
          </a:effectLst>
        </p:spPr>
      </p:sp>
      <p:sp>
        <p:nvSpPr>
          <p:cNvPr id="6" name="TextBox 6"/>
          <p:cNvSpPr txBox="1"/>
          <p:nvPr/>
        </p:nvSpPr>
        <p:spPr>
          <a:xfrm>
            <a:off x="3502628" y="1182052"/>
            <a:ext cx="614744" cy="213360"/>
          </a:xfrm>
          <a:prstGeom prst="rect">
            <a:avLst/>
          </a:prstGeom>
          <a:noFill/>
          <a:ln>
            <a:noFill/>
          </a:ln>
        </p:spPr>
        <p:txBody>
          <a:bodyPr wrap="none" lIns="0" tIns="0" rIns="0" bIns="0" anchor="t" anchorCtr="0">
            <a:spAutoFit/>
          </a:bodyPr>
          <a:lstStyle/>
          <a:p>
            <a:pPr algn="ctr"/>
            <a:r>
              <a:rPr lang="zh-CN" sz="1050" b="1" dirty="0">
                <a:solidFill>
                  <a:srgbClr val="7F8C8D"/>
                </a:solidFill>
                <a:latin typeface="Arial"/>
                <a:ea typeface="Microsoft YaHei"/>
                <a:cs typeface="Arial"/>
              </a:rPr>
              <a:t>组织架构</a:t>
            </a:r>
          </a:p>
        </p:txBody>
      </p:sp>
      <p:sp>
        <p:nvSpPr>
          <p:cNvPr id="7" name="Rectangle 7"/>
          <p:cNvSpPr/>
          <p:nvPr/>
        </p:nvSpPr>
        <p:spPr>
          <a:xfrm>
            <a:off x="2286000" y="1485900"/>
            <a:ext cx="3048000" cy="685800"/>
          </a:xfrm>
          <a:prstGeom prst="roundRect">
            <a:avLst>
              <a:gd name="adj" fmla="val 16667"/>
            </a:avLst>
          </a:prstGeom>
          <a:solidFill>
            <a:srgbClr val="1A5276"/>
          </a:solidFill>
          <a:ln>
            <a:noFill/>
          </a:ln>
          <a:effectLst>
            <a:outerShdw blurRad="76200" dist="19050" dir="5400000" algn="ctr" rotWithShape="0">
              <a:srgbClr val="2C2C2C">
                <a:alpha val="4500"/>
              </a:srgbClr>
            </a:outerShdw>
          </a:effectLst>
        </p:spPr>
      </p:sp>
      <p:sp>
        <p:nvSpPr>
          <p:cNvPr id="8" name="TextBox 8"/>
          <p:cNvSpPr txBox="1"/>
          <p:nvPr/>
        </p:nvSpPr>
        <p:spPr>
          <a:xfrm>
            <a:off x="3265884" y="1581150"/>
            <a:ext cx="108823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KaiTi"/>
                <a:cs typeface="Georgia"/>
              </a:rPr>
              <a:t>城市服务商</a:t>
            </a:r>
          </a:p>
        </p:txBody>
      </p:sp>
      <p:sp>
        <p:nvSpPr>
          <p:cNvPr id="9" name="TextBox 9"/>
          <p:cNvSpPr txBox="1"/>
          <p:nvPr/>
        </p:nvSpPr>
        <p:spPr>
          <a:xfrm>
            <a:off x="3114080" y="1848802"/>
            <a:ext cx="1391841" cy="213360"/>
          </a:xfrm>
          <a:prstGeom prst="rect">
            <a:avLst/>
          </a:prstGeom>
          <a:noFill/>
          <a:ln>
            <a:noFill/>
          </a:ln>
        </p:spPr>
        <p:txBody>
          <a:bodyPr wrap="none" lIns="0" tIns="0" rIns="0" bIns="0" anchor="t" anchorCtr="0">
            <a:spAutoFit/>
          </a:bodyPr>
          <a:lstStyle/>
          <a:p>
            <a:pPr algn="ctr"/>
            <a:r>
              <a:rPr lang="zh-CN" sz="1050" dirty="0">
                <a:solidFill>
                  <a:srgbClr val="D4E6F1"/>
                </a:solidFill>
                <a:latin typeface="Arial"/>
                <a:ea typeface="Microsoft YaHei"/>
                <a:cs typeface="Arial"/>
              </a:rPr>
              <a:t>区域合伙人 · 1% 分账</a:t>
            </a:r>
          </a:p>
        </p:txBody>
      </p:sp>
      <p:sp>
        <p:nvSpPr>
          <p:cNvPr id="10" name="TextBox 10"/>
          <p:cNvSpPr txBox="1"/>
          <p:nvPr/>
        </p:nvSpPr>
        <p:spPr>
          <a:xfrm>
            <a:off x="3078480" y="2017395"/>
            <a:ext cx="1463040" cy="182880"/>
          </a:xfrm>
          <a:prstGeom prst="rect">
            <a:avLst/>
          </a:prstGeom>
          <a:noFill/>
          <a:ln>
            <a:noFill/>
          </a:ln>
        </p:spPr>
        <p:txBody>
          <a:bodyPr wrap="none" lIns="0" tIns="0" rIns="0" bIns="0" anchor="t" anchorCtr="0">
            <a:spAutoFit/>
          </a:bodyPr>
          <a:lstStyle/>
          <a:p>
            <a:pPr algn="ctr"/>
            <a:r>
              <a:rPr lang="zh-CN" sz="900" dirty="0">
                <a:solidFill>
                  <a:srgbClr val="A9CCE3"/>
                </a:solidFill>
                <a:latin typeface="Arial"/>
                <a:ea typeface="Microsoft YaHei"/>
                <a:cs typeface="Arial"/>
              </a:rPr>
              <a:t>核心能力：组织，不是销售</a:t>
            </a:r>
          </a:p>
        </p:txBody>
      </p:sp>
      <p:sp>
        <p:nvSpPr>
          <p:cNvPr id="11" name="Line 11"/>
          <p:cNvSpPr/>
          <p:nvPr/>
        </p:nvSpPr>
        <p:spPr>
          <a:xfrm>
            <a:off x="3810000" y="2171700"/>
            <a:ext cx="9525" cy="400050"/>
          </a:xfrm>
          <a:custGeom>
            <a:avLst/>
            <a:gdLst/>
            <a:ahLst/>
            <a:cxnLst/>
            <a:rect l="l" t="t" r="r" b="b"/>
            <a:pathLst>
              <a:path w="9525" h="400050">
                <a:moveTo>
                  <a:pt x="0" y="0"/>
                </a:moveTo>
                <a:lnTo>
                  <a:pt x="0" y="400050"/>
                </a:lnTo>
              </a:path>
            </a:pathLst>
          </a:custGeom>
          <a:noFill/>
          <a:ln w="23812">
            <a:solidFill>
              <a:srgbClr val="1A5276"/>
            </a:solidFill>
          </a:ln>
        </p:spPr>
      </p:sp>
      <p:sp>
        <p:nvSpPr>
          <p:cNvPr id="12" name="Ellipse 12"/>
          <p:cNvSpPr/>
          <p:nvPr/>
        </p:nvSpPr>
        <p:spPr>
          <a:xfrm>
            <a:off x="3771900" y="2552700"/>
            <a:ext cx="76200" cy="76200"/>
          </a:xfrm>
          <a:prstGeom prst="ellipse">
            <a:avLst/>
          </a:prstGeom>
          <a:solidFill>
            <a:srgbClr val="1A5276"/>
          </a:solidFill>
          <a:ln>
            <a:noFill/>
          </a:ln>
        </p:spPr>
      </p:sp>
      <p:sp>
        <p:nvSpPr>
          <p:cNvPr id="13" name="Line 13"/>
          <p:cNvSpPr/>
          <p:nvPr/>
        </p:nvSpPr>
        <p:spPr>
          <a:xfrm>
            <a:off x="2476500" y="2628900"/>
            <a:ext cx="1333500" cy="9525"/>
          </a:xfrm>
          <a:custGeom>
            <a:avLst/>
            <a:gdLst/>
            <a:ahLst/>
            <a:cxnLst/>
            <a:rect l="l" t="t" r="r" b="b"/>
            <a:pathLst>
              <a:path w="1333500" h="9525">
                <a:moveTo>
                  <a:pt x="1333500" y="0"/>
                </a:moveTo>
                <a:lnTo>
                  <a:pt x="0" y="0"/>
                </a:lnTo>
              </a:path>
            </a:pathLst>
          </a:custGeom>
          <a:noFill/>
          <a:ln w="14288">
            <a:solidFill>
              <a:srgbClr val="1A5276"/>
            </a:solidFill>
          </a:ln>
        </p:spPr>
      </p:sp>
      <p:sp>
        <p:nvSpPr>
          <p:cNvPr id="14" name="Line 14"/>
          <p:cNvSpPr/>
          <p:nvPr/>
        </p:nvSpPr>
        <p:spPr>
          <a:xfrm>
            <a:off x="3810000" y="2628900"/>
            <a:ext cx="1333500" cy="9525"/>
          </a:xfrm>
          <a:custGeom>
            <a:avLst/>
            <a:gdLst/>
            <a:ahLst/>
            <a:cxnLst/>
            <a:rect l="l" t="t" r="r" b="b"/>
            <a:pathLst>
              <a:path w="1333500" h="9525">
                <a:moveTo>
                  <a:pt x="0" y="0"/>
                </a:moveTo>
                <a:lnTo>
                  <a:pt x="1333500" y="0"/>
                </a:lnTo>
              </a:path>
            </a:pathLst>
          </a:custGeom>
          <a:noFill/>
          <a:ln w="14288">
            <a:solidFill>
              <a:srgbClr val="1A5276"/>
            </a:solidFill>
          </a:ln>
        </p:spPr>
      </p:sp>
      <p:sp>
        <p:nvSpPr>
          <p:cNvPr id="15" name="Line 15"/>
          <p:cNvSpPr/>
          <p:nvPr/>
        </p:nvSpPr>
        <p:spPr>
          <a:xfrm>
            <a:off x="2476500" y="2628900"/>
            <a:ext cx="9525" cy="190500"/>
          </a:xfrm>
          <a:custGeom>
            <a:avLst/>
            <a:gdLst/>
            <a:ahLst/>
            <a:cxnLst/>
            <a:rect l="l" t="t" r="r" b="b"/>
            <a:pathLst>
              <a:path w="9525" h="190500">
                <a:moveTo>
                  <a:pt x="0" y="0"/>
                </a:moveTo>
                <a:lnTo>
                  <a:pt x="0" y="190500"/>
                </a:lnTo>
              </a:path>
            </a:pathLst>
          </a:custGeom>
          <a:noFill/>
          <a:ln w="19050">
            <a:solidFill>
              <a:srgbClr val="1E8449"/>
            </a:solidFill>
          </a:ln>
        </p:spPr>
      </p:sp>
      <p:sp>
        <p:nvSpPr>
          <p:cNvPr id="16" name="Line 16"/>
          <p:cNvSpPr/>
          <p:nvPr/>
        </p:nvSpPr>
        <p:spPr>
          <a:xfrm>
            <a:off x="5143500" y="2628900"/>
            <a:ext cx="9525" cy="190500"/>
          </a:xfrm>
          <a:custGeom>
            <a:avLst/>
            <a:gdLst/>
            <a:ahLst/>
            <a:cxnLst/>
            <a:rect l="l" t="t" r="r" b="b"/>
            <a:pathLst>
              <a:path w="9525" h="190500">
                <a:moveTo>
                  <a:pt x="0" y="0"/>
                </a:moveTo>
                <a:lnTo>
                  <a:pt x="0" y="190500"/>
                </a:lnTo>
              </a:path>
            </a:pathLst>
          </a:custGeom>
          <a:noFill/>
          <a:ln w="19050">
            <a:solidFill>
              <a:srgbClr val="1E8449"/>
            </a:solidFill>
          </a:ln>
        </p:spPr>
      </p:sp>
      <p:sp>
        <p:nvSpPr>
          <p:cNvPr id="17" name="Rectangle 17"/>
          <p:cNvSpPr/>
          <p:nvPr/>
        </p:nvSpPr>
        <p:spPr>
          <a:xfrm>
            <a:off x="1333500" y="2838450"/>
            <a:ext cx="2286000" cy="590550"/>
          </a:xfrm>
          <a:prstGeom prst="roundRect">
            <a:avLst>
              <a:gd name="adj" fmla="val 19355"/>
            </a:avLst>
          </a:prstGeom>
          <a:solidFill>
            <a:srgbClr val="1E8449"/>
          </a:solidFill>
          <a:ln>
            <a:noFill/>
          </a:ln>
          <a:effectLst>
            <a:outerShdw blurRad="76200" dist="19050" dir="5400000" algn="ctr" rotWithShape="0">
              <a:srgbClr val="2C2C2C">
                <a:alpha val="4500"/>
              </a:srgbClr>
            </a:outerShdw>
          </a:effectLst>
        </p:spPr>
      </p:sp>
      <p:sp>
        <p:nvSpPr>
          <p:cNvPr id="18" name="TextBox 18"/>
          <p:cNvSpPr txBox="1"/>
          <p:nvPr/>
        </p:nvSpPr>
        <p:spPr>
          <a:xfrm>
            <a:off x="2175820" y="2921318"/>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Georgia"/>
                <a:ea typeface="KaiTi"/>
                <a:cs typeface="Georgia"/>
              </a:rPr>
              <a:t>服务站</a:t>
            </a:r>
          </a:p>
        </p:txBody>
      </p:sp>
      <p:sp>
        <p:nvSpPr>
          <p:cNvPr id="19" name="TextBox 19"/>
          <p:cNvSpPr txBox="1"/>
          <p:nvPr/>
        </p:nvSpPr>
        <p:spPr>
          <a:xfrm>
            <a:off x="2204085" y="3152299"/>
            <a:ext cx="544830" cy="198120"/>
          </a:xfrm>
          <a:prstGeom prst="rect">
            <a:avLst/>
          </a:prstGeom>
          <a:noFill/>
          <a:ln>
            <a:noFill/>
          </a:ln>
        </p:spPr>
        <p:txBody>
          <a:bodyPr wrap="none" lIns="0" tIns="0" rIns="0" bIns="0" anchor="t" anchorCtr="0">
            <a:spAutoFit/>
          </a:bodyPr>
          <a:lstStyle/>
          <a:p>
            <a:pPr algn="ctr"/>
            <a:r>
              <a:rPr lang="zh-CN" sz="975" dirty="0">
                <a:solidFill>
                  <a:srgbClr val="D5F5E3"/>
                </a:solidFill>
                <a:latin typeface="Arial"/>
                <a:ea typeface="Microsoft YaHei"/>
                <a:cs typeface="Arial"/>
              </a:rPr>
              <a:t>社区节点</a:t>
            </a:r>
          </a:p>
        </p:txBody>
      </p:sp>
      <p:sp>
        <p:nvSpPr>
          <p:cNvPr id="20" name="TextBox 20"/>
          <p:cNvSpPr txBox="1"/>
          <p:nvPr/>
        </p:nvSpPr>
        <p:spPr>
          <a:xfrm>
            <a:off x="1925003" y="3293745"/>
            <a:ext cx="1102995" cy="182880"/>
          </a:xfrm>
          <a:prstGeom prst="rect">
            <a:avLst/>
          </a:prstGeom>
          <a:noFill/>
          <a:ln>
            <a:noFill/>
          </a:ln>
        </p:spPr>
        <p:txBody>
          <a:bodyPr wrap="none" lIns="0" tIns="0" rIns="0" bIns="0" anchor="t" anchorCtr="0">
            <a:spAutoFit/>
          </a:bodyPr>
          <a:lstStyle/>
          <a:p>
            <a:pPr algn="ctr"/>
            <a:r>
              <a:rPr lang="zh-CN" sz="900" dirty="0">
                <a:solidFill>
                  <a:srgbClr val="A9DFBF"/>
                </a:solidFill>
                <a:latin typeface="Arial"/>
                <a:ea typeface="Microsoft YaHei"/>
                <a:cs typeface="Arial"/>
              </a:rPr>
              <a:t>核心能力：服务商家</a:t>
            </a:r>
          </a:p>
        </p:txBody>
      </p:sp>
      <p:sp>
        <p:nvSpPr>
          <p:cNvPr id="21" name="Rectangle 21"/>
          <p:cNvSpPr/>
          <p:nvPr/>
        </p:nvSpPr>
        <p:spPr>
          <a:xfrm>
            <a:off x="4000500" y="2838450"/>
            <a:ext cx="2286000" cy="590550"/>
          </a:xfrm>
          <a:prstGeom prst="roundRect">
            <a:avLst>
              <a:gd name="adj" fmla="val 19355"/>
            </a:avLst>
          </a:prstGeom>
          <a:solidFill>
            <a:srgbClr val="1E8449"/>
          </a:solidFill>
          <a:ln>
            <a:noFill/>
          </a:ln>
          <a:effectLst>
            <a:outerShdw blurRad="76200" dist="19050" dir="5400000" algn="ctr" rotWithShape="0">
              <a:srgbClr val="2C2C2C">
                <a:alpha val="4500"/>
              </a:srgbClr>
            </a:outerShdw>
          </a:effectLst>
        </p:spPr>
      </p:sp>
      <p:sp>
        <p:nvSpPr>
          <p:cNvPr id="22" name="TextBox 22"/>
          <p:cNvSpPr txBox="1"/>
          <p:nvPr/>
        </p:nvSpPr>
        <p:spPr>
          <a:xfrm>
            <a:off x="4842820" y="2921318"/>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Georgia"/>
                <a:ea typeface="KaiTi"/>
                <a:cs typeface="Georgia"/>
              </a:rPr>
              <a:t>服务站</a:t>
            </a:r>
          </a:p>
        </p:txBody>
      </p:sp>
      <p:sp>
        <p:nvSpPr>
          <p:cNvPr id="23" name="TextBox 23"/>
          <p:cNvSpPr txBox="1"/>
          <p:nvPr/>
        </p:nvSpPr>
        <p:spPr>
          <a:xfrm>
            <a:off x="4871085" y="3152299"/>
            <a:ext cx="544830" cy="198120"/>
          </a:xfrm>
          <a:prstGeom prst="rect">
            <a:avLst/>
          </a:prstGeom>
          <a:noFill/>
          <a:ln>
            <a:noFill/>
          </a:ln>
        </p:spPr>
        <p:txBody>
          <a:bodyPr wrap="none" lIns="0" tIns="0" rIns="0" bIns="0" anchor="t" anchorCtr="0">
            <a:spAutoFit/>
          </a:bodyPr>
          <a:lstStyle/>
          <a:p>
            <a:pPr algn="ctr"/>
            <a:r>
              <a:rPr lang="zh-CN" sz="975" dirty="0">
                <a:solidFill>
                  <a:srgbClr val="D5F5E3"/>
                </a:solidFill>
                <a:latin typeface="Arial"/>
                <a:ea typeface="Microsoft YaHei"/>
                <a:cs typeface="Arial"/>
              </a:rPr>
              <a:t>社区节点</a:t>
            </a:r>
          </a:p>
        </p:txBody>
      </p:sp>
      <p:sp>
        <p:nvSpPr>
          <p:cNvPr id="24" name="TextBox 24"/>
          <p:cNvSpPr txBox="1"/>
          <p:nvPr/>
        </p:nvSpPr>
        <p:spPr>
          <a:xfrm>
            <a:off x="4571000" y="3293745"/>
            <a:ext cx="1145000" cy="182880"/>
          </a:xfrm>
          <a:prstGeom prst="rect">
            <a:avLst/>
          </a:prstGeom>
          <a:noFill/>
          <a:ln>
            <a:noFill/>
          </a:ln>
        </p:spPr>
        <p:txBody>
          <a:bodyPr wrap="none" lIns="0" tIns="0" rIns="0" bIns="0" anchor="t" anchorCtr="0">
            <a:spAutoFit/>
          </a:bodyPr>
          <a:lstStyle/>
          <a:p>
            <a:pPr algn="ctr"/>
            <a:r>
              <a:rPr lang="zh-CN" sz="900" dirty="0">
                <a:solidFill>
                  <a:srgbClr val="A9DFBF"/>
                </a:solidFill>
                <a:latin typeface="Arial"/>
                <a:ea typeface="Microsoft YaHei"/>
                <a:cs typeface="Arial"/>
              </a:rPr>
              <a:t>佣金池内 35:65 分配</a:t>
            </a:r>
          </a:p>
        </p:txBody>
      </p:sp>
      <p:sp>
        <p:nvSpPr>
          <p:cNvPr id="25" name="Line 25"/>
          <p:cNvSpPr/>
          <p:nvPr/>
        </p:nvSpPr>
        <p:spPr>
          <a:xfrm>
            <a:off x="2476500" y="3429000"/>
            <a:ext cx="9525" cy="314325"/>
          </a:xfrm>
          <a:custGeom>
            <a:avLst/>
            <a:gdLst/>
            <a:ahLst/>
            <a:cxnLst/>
            <a:rect l="l" t="t" r="r" b="b"/>
            <a:pathLst>
              <a:path w="9525" h="314325">
                <a:moveTo>
                  <a:pt x="0" y="0"/>
                </a:moveTo>
                <a:lnTo>
                  <a:pt x="0" y="314325"/>
                </a:lnTo>
              </a:path>
            </a:pathLst>
          </a:custGeom>
          <a:noFill/>
          <a:ln w="19050">
            <a:solidFill>
              <a:srgbClr val="1E8449"/>
            </a:solidFill>
          </a:ln>
        </p:spPr>
      </p:sp>
      <p:sp>
        <p:nvSpPr>
          <p:cNvPr id="26" name="Line 26"/>
          <p:cNvSpPr/>
          <p:nvPr/>
        </p:nvSpPr>
        <p:spPr>
          <a:xfrm>
            <a:off x="5143500" y="3429000"/>
            <a:ext cx="9525" cy="314325"/>
          </a:xfrm>
          <a:custGeom>
            <a:avLst/>
            <a:gdLst/>
            <a:ahLst/>
            <a:cxnLst/>
            <a:rect l="l" t="t" r="r" b="b"/>
            <a:pathLst>
              <a:path w="9525" h="314325">
                <a:moveTo>
                  <a:pt x="0" y="0"/>
                </a:moveTo>
                <a:lnTo>
                  <a:pt x="0" y="314325"/>
                </a:lnTo>
              </a:path>
            </a:pathLst>
          </a:custGeom>
          <a:noFill/>
          <a:ln w="19050">
            <a:solidFill>
              <a:srgbClr val="1E8449"/>
            </a:solidFill>
          </a:ln>
        </p:spPr>
      </p:sp>
      <p:sp>
        <p:nvSpPr>
          <p:cNvPr id="27" name="Ellipse 27"/>
          <p:cNvSpPr/>
          <p:nvPr/>
        </p:nvSpPr>
        <p:spPr>
          <a:xfrm>
            <a:off x="2438400" y="3724275"/>
            <a:ext cx="76200" cy="76200"/>
          </a:xfrm>
          <a:prstGeom prst="ellipse">
            <a:avLst/>
          </a:prstGeom>
          <a:solidFill>
            <a:srgbClr val="1E8449"/>
          </a:solidFill>
          <a:ln>
            <a:noFill/>
          </a:ln>
        </p:spPr>
      </p:sp>
      <p:sp>
        <p:nvSpPr>
          <p:cNvPr id="28" name="Ellipse 28"/>
          <p:cNvSpPr/>
          <p:nvPr/>
        </p:nvSpPr>
        <p:spPr>
          <a:xfrm>
            <a:off x="5105400" y="3724275"/>
            <a:ext cx="76200" cy="76200"/>
          </a:xfrm>
          <a:prstGeom prst="ellipse">
            <a:avLst/>
          </a:prstGeom>
          <a:solidFill>
            <a:srgbClr val="1E8449"/>
          </a:solidFill>
          <a:ln>
            <a:noFill/>
          </a:ln>
        </p:spPr>
      </p:sp>
      <p:sp>
        <p:nvSpPr>
          <p:cNvPr id="29" name="Line 29"/>
          <p:cNvSpPr/>
          <p:nvPr/>
        </p:nvSpPr>
        <p:spPr>
          <a:xfrm>
            <a:off x="1905000" y="3800475"/>
            <a:ext cx="571500" cy="9525"/>
          </a:xfrm>
          <a:custGeom>
            <a:avLst/>
            <a:gdLst/>
            <a:ahLst/>
            <a:cxnLst/>
            <a:rect l="l" t="t" r="r" b="b"/>
            <a:pathLst>
              <a:path w="571500" h="9525">
                <a:moveTo>
                  <a:pt x="571500" y="0"/>
                </a:moveTo>
                <a:lnTo>
                  <a:pt x="0" y="0"/>
                </a:lnTo>
              </a:path>
            </a:pathLst>
          </a:custGeom>
          <a:noFill/>
          <a:ln w="14288">
            <a:solidFill>
              <a:srgbClr val="1E8449"/>
            </a:solidFill>
          </a:ln>
        </p:spPr>
      </p:sp>
      <p:sp>
        <p:nvSpPr>
          <p:cNvPr id="30" name="Line 30"/>
          <p:cNvSpPr/>
          <p:nvPr/>
        </p:nvSpPr>
        <p:spPr>
          <a:xfrm>
            <a:off x="2476500" y="3800475"/>
            <a:ext cx="571500" cy="9525"/>
          </a:xfrm>
          <a:custGeom>
            <a:avLst/>
            <a:gdLst/>
            <a:ahLst/>
            <a:cxnLst/>
            <a:rect l="l" t="t" r="r" b="b"/>
            <a:pathLst>
              <a:path w="571500" h="9525">
                <a:moveTo>
                  <a:pt x="0" y="0"/>
                </a:moveTo>
                <a:lnTo>
                  <a:pt x="571500" y="0"/>
                </a:lnTo>
              </a:path>
            </a:pathLst>
          </a:custGeom>
          <a:noFill/>
          <a:ln w="14288">
            <a:solidFill>
              <a:srgbClr val="1E8449"/>
            </a:solidFill>
          </a:ln>
        </p:spPr>
      </p:sp>
      <p:sp>
        <p:nvSpPr>
          <p:cNvPr id="31" name="Line 31"/>
          <p:cNvSpPr/>
          <p:nvPr/>
        </p:nvSpPr>
        <p:spPr>
          <a:xfrm>
            <a:off x="4572000" y="3800475"/>
            <a:ext cx="571500" cy="9525"/>
          </a:xfrm>
          <a:custGeom>
            <a:avLst/>
            <a:gdLst/>
            <a:ahLst/>
            <a:cxnLst/>
            <a:rect l="l" t="t" r="r" b="b"/>
            <a:pathLst>
              <a:path w="571500" h="9525">
                <a:moveTo>
                  <a:pt x="571500" y="0"/>
                </a:moveTo>
                <a:lnTo>
                  <a:pt x="0" y="0"/>
                </a:lnTo>
              </a:path>
            </a:pathLst>
          </a:custGeom>
          <a:noFill/>
          <a:ln w="14288">
            <a:solidFill>
              <a:srgbClr val="1E8449"/>
            </a:solidFill>
          </a:ln>
        </p:spPr>
      </p:sp>
      <p:sp>
        <p:nvSpPr>
          <p:cNvPr id="32" name="Line 32"/>
          <p:cNvSpPr/>
          <p:nvPr/>
        </p:nvSpPr>
        <p:spPr>
          <a:xfrm>
            <a:off x="5143500" y="3800475"/>
            <a:ext cx="571500" cy="9525"/>
          </a:xfrm>
          <a:custGeom>
            <a:avLst/>
            <a:gdLst/>
            <a:ahLst/>
            <a:cxnLst/>
            <a:rect l="l" t="t" r="r" b="b"/>
            <a:pathLst>
              <a:path w="571500" h="9525">
                <a:moveTo>
                  <a:pt x="0" y="0"/>
                </a:moveTo>
                <a:lnTo>
                  <a:pt x="571500" y="0"/>
                </a:lnTo>
              </a:path>
            </a:pathLst>
          </a:custGeom>
          <a:noFill/>
          <a:ln w="14288">
            <a:solidFill>
              <a:srgbClr val="1E8449"/>
            </a:solidFill>
          </a:ln>
        </p:spPr>
      </p:sp>
      <p:sp>
        <p:nvSpPr>
          <p:cNvPr id="33" name="Line 33"/>
          <p:cNvSpPr/>
          <p:nvPr/>
        </p:nvSpPr>
        <p:spPr>
          <a:xfrm>
            <a:off x="1905000" y="3800475"/>
            <a:ext cx="9525" cy="161925"/>
          </a:xfrm>
          <a:custGeom>
            <a:avLst/>
            <a:gdLst/>
            <a:ahLst/>
            <a:cxnLst/>
            <a:rect l="l" t="t" r="r" b="b"/>
            <a:pathLst>
              <a:path w="9525" h="161925">
                <a:moveTo>
                  <a:pt x="0" y="0"/>
                </a:moveTo>
                <a:lnTo>
                  <a:pt x="0" y="161925"/>
                </a:lnTo>
              </a:path>
            </a:pathLst>
          </a:custGeom>
          <a:noFill/>
          <a:ln w="19050">
            <a:solidFill>
              <a:srgbClr val="D4A574"/>
            </a:solidFill>
          </a:ln>
        </p:spPr>
      </p:sp>
      <p:sp>
        <p:nvSpPr>
          <p:cNvPr id="34" name="Line 34"/>
          <p:cNvSpPr/>
          <p:nvPr/>
        </p:nvSpPr>
        <p:spPr>
          <a:xfrm>
            <a:off x="3048000" y="3800475"/>
            <a:ext cx="9525" cy="161925"/>
          </a:xfrm>
          <a:custGeom>
            <a:avLst/>
            <a:gdLst/>
            <a:ahLst/>
            <a:cxnLst/>
            <a:rect l="l" t="t" r="r" b="b"/>
            <a:pathLst>
              <a:path w="9525" h="161925">
                <a:moveTo>
                  <a:pt x="0" y="0"/>
                </a:moveTo>
                <a:lnTo>
                  <a:pt x="0" y="161925"/>
                </a:lnTo>
              </a:path>
            </a:pathLst>
          </a:custGeom>
          <a:noFill/>
          <a:ln w="19050">
            <a:solidFill>
              <a:srgbClr val="D4A574"/>
            </a:solidFill>
          </a:ln>
        </p:spPr>
      </p:sp>
      <p:sp>
        <p:nvSpPr>
          <p:cNvPr id="35" name="Line 35"/>
          <p:cNvSpPr/>
          <p:nvPr/>
        </p:nvSpPr>
        <p:spPr>
          <a:xfrm>
            <a:off x="4572000" y="3800475"/>
            <a:ext cx="9525" cy="161925"/>
          </a:xfrm>
          <a:custGeom>
            <a:avLst/>
            <a:gdLst/>
            <a:ahLst/>
            <a:cxnLst/>
            <a:rect l="l" t="t" r="r" b="b"/>
            <a:pathLst>
              <a:path w="9525" h="161925">
                <a:moveTo>
                  <a:pt x="0" y="0"/>
                </a:moveTo>
                <a:lnTo>
                  <a:pt x="0" y="161925"/>
                </a:lnTo>
              </a:path>
            </a:pathLst>
          </a:custGeom>
          <a:noFill/>
          <a:ln w="19050">
            <a:solidFill>
              <a:srgbClr val="D4A574"/>
            </a:solidFill>
          </a:ln>
        </p:spPr>
      </p:sp>
      <p:sp>
        <p:nvSpPr>
          <p:cNvPr id="36" name="Line 36"/>
          <p:cNvSpPr/>
          <p:nvPr/>
        </p:nvSpPr>
        <p:spPr>
          <a:xfrm>
            <a:off x="5715000" y="3800475"/>
            <a:ext cx="9525" cy="161925"/>
          </a:xfrm>
          <a:custGeom>
            <a:avLst/>
            <a:gdLst/>
            <a:ahLst/>
            <a:cxnLst/>
            <a:rect l="l" t="t" r="r" b="b"/>
            <a:pathLst>
              <a:path w="9525" h="161925">
                <a:moveTo>
                  <a:pt x="0" y="0"/>
                </a:moveTo>
                <a:lnTo>
                  <a:pt x="0" y="161925"/>
                </a:lnTo>
              </a:path>
            </a:pathLst>
          </a:custGeom>
          <a:noFill/>
          <a:ln w="19050">
            <a:solidFill>
              <a:srgbClr val="D4A574"/>
            </a:solidFill>
          </a:ln>
        </p:spPr>
      </p:sp>
      <p:sp>
        <p:nvSpPr>
          <p:cNvPr id="37" name="Rectangle 37"/>
          <p:cNvSpPr/>
          <p:nvPr/>
        </p:nvSpPr>
        <p:spPr>
          <a:xfrm>
            <a:off x="1447800" y="3981450"/>
            <a:ext cx="914400" cy="438150"/>
          </a:xfrm>
          <a:prstGeom prst="roundRect">
            <a:avLst>
              <a:gd name="adj" fmla="val 21739"/>
            </a:avLst>
          </a:prstGeom>
          <a:solidFill>
            <a:srgbClr val="D4A574"/>
          </a:solidFill>
          <a:ln>
            <a:noFill/>
          </a:ln>
          <a:effectLst>
            <a:outerShdw blurRad="76200" dist="19050" dir="5400000" algn="ctr" rotWithShape="0">
              <a:srgbClr val="2C2C2C">
                <a:alpha val="4500"/>
              </a:srgbClr>
            </a:outerShdw>
          </a:effectLst>
        </p:spPr>
      </p:sp>
      <p:sp>
        <p:nvSpPr>
          <p:cNvPr id="38" name="TextBox 38"/>
          <p:cNvSpPr txBox="1"/>
          <p:nvPr/>
        </p:nvSpPr>
        <p:spPr>
          <a:xfrm>
            <a:off x="1687842" y="4066699"/>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推广者</a:t>
            </a:r>
          </a:p>
        </p:txBody>
      </p:sp>
      <p:sp>
        <p:nvSpPr>
          <p:cNvPr id="39" name="TextBox 39"/>
          <p:cNvSpPr txBox="1"/>
          <p:nvPr/>
        </p:nvSpPr>
        <p:spPr>
          <a:xfrm>
            <a:off x="1729502" y="4235291"/>
            <a:ext cx="350996" cy="167640"/>
          </a:xfrm>
          <a:prstGeom prst="rect">
            <a:avLst/>
          </a:prstGeom>
          <a:noFill/>
          <a:ln>
            <a:noFill/>
          </a:ln>
        </p:spPr>
        <p:txBody>
          <a:bodyPr wrap="none" lIns="0" tIns="0" rIns="0" bIns="0" anchor="t" anchorCtr="0">
            <a:spAutoFit/>
          </a:bodyPr>
          <a:lstStyle/>
          <a:p>
            <a:pPr algn="ctr"/>
            <a:r>
              <a:rPr lang="zh-CN" sz="825" dirty="0">
                <a:solidFill>
                  <a:srgbClr val="FFF5EB"/>
                </a:solidFill>
                <a:latin typeface="Arial"/>
                <a:ea typeface="Microsoft YaHei"/>
                <a:cs typeface="Arial"/>
              </a:rPr>
              <a:t>找商家</a:t>
            </a:r>
          </a:p>
        </p:txBody>
      </p:sp>
      <p:sp>
        <p:nvSpPr>
          <p:cNvPr id="40" name="Rectangle 40"/>
          <p:cNvSpPr/>
          <p:nvPr/>
        </p:nvSpPr>
        <p:spPr>
          <a:xfrm>
            <a:off x="2590800" y="3981450"/>
            <a:ext cx="914400" cy="438150"/>
          </a:xfrm>
          <a:prstGeom prst="roundRect">
            <a:avLst>
              <a:gd name="adj" fmla="val 21739"/>
            </a:avLst>
          </a:prstGeom>
          <a:solidFill>
            <a:srgbClr val="D4A574"/>
          </a:solidFill>
          <a:ln>
            <a:noFill/>
          </a:ln>
          <a:effectLst>
            <a:outerShdw blurRad="76200" dist="19050" dir="5400000" algn="ctr" rotWithShape="0">
              <a:srgbClr val="2C2C2C">
                <a:alpha val="4500"/>
              </a:srgbClr>
            </a:outerShdw>
          </a:effectLst>
        </p:spPr>
      </p:sp>
      <p:sp>
        <p:nvSpPr>
          <p:cNvPr id="41" name="TextBox 41"/>
          <p:cNvSpPr txBox="1"/>
          <p:nvPr/>
        </p:nvSpPr>
        <p:spPr>
          <a:xfrm>
            <a:off x="2830842" y="4066699"/>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推广者</a:t>
            </a:r>
          </a:p>
        </p:txBody>
      </p:sp>
      <p:sp>
        <p:nvSpPr>
          <p:cNvPr id="42" name="TextBox 42"/>
          <p:cNvSpPr txBox="1"/>
          <p:nvPr/>
        </p:nvSpPr>
        <p:spPr>
          <a:xfrm>
            <a:off x="2817495" y="4235291"/>
            <a:ext cx="461010" cy="167640"/>
          </a:xfrm>
          <a:prstGeom prst="rect">
            <a:avLst/>
          </a:prstGeom>
          <a:noFill/>
          <a:ln>
            <a:noFill/>
          </a:ln>
        </p:spPr>
        <p:txBody>
          <a:bodyPr wrap="none" lIns="0" tIns="0" rIns="0" bIns="0" anchor="t" anchorCtr="0">
            <a:spAutoFit/>
          </a:bodyPr>
          <a:lstStyle/>
          <a:p>
            <a:pPr algn="ctr"/>
            <a:r>
              <a:rPr lang="zh-CN" sz="825" dirty="0">
                <a:solidFill>
                  <a:srgbClr val="FFF5EB"/>
                </a:solidFill>
                <a:latin typeface="Arial"/>
                <a:ea typeface="Microsoft YaHei"/>
                <a:cs typeface="Arial"/>
              </a:rPr>
              <a:t>兼职起步</a:t>
            </a:r>
          </a:p>
        </p:txBody>
      </p:sp>
      <p:sp>
        <p:nvSpPr>
          <p:cNvPr id="43" name="Rectangle 43"/>
          <p:cNvSpPr/>
          <p:nvPr/>
        </p:nvSpPr>
        <p:spPr>
          <a:xfrm>
            <a:off x="4114800" y="3981450"/>
            <a:ext cx="914400" cy="438150"/>
          </a:xfrm>
          <a:prstGeom prst="roundRect">
            <a:avLst>
              <a:gd name="adj" fmla="val 21739"/>
            </a:avLst>
          </a:prstGeom>
          <a:solidFill>
            <a:srgbClr val="D4A574"/>
          </a:solidFill>
          <a:ln>
            <a:noFill/>
          </a:ln>
          <a:effectLst>
            <a:outerShdw blurRad="76200" dist="19050" dir="5400000" algn="ctr" rotWithShape="0">
              <a:srgbClr val="2C2C2C">
                <a:alpha val="4500"/>
              </a:srgbClr>
            </a:outerShdw>
          </a:effectLst>
        </p:spPr>
      </p:sp>
      <p:sp>
        <p:nvSpPr>
          <p:cNvPr id="44" name="TextBox 44"/>
          <p:cNvSpPr txBox="1"/>
          <p:nvPr/>
        </p:nvSpPr>
        <p:spPr>
          <a:xfrm>
            <a:off x="4354842" y="4066699"/>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推广者</a:t>
            </a:r>
          </a:p>
        </p:txBody>
      </p:sp>
      <p:sp>
        <p:nvSpPr>
          <p:cNvPr id="45" name="TextBox 45"/>
          <p:cNvSpPr txBox="1"/>
          <p:nvPr/>
        </p:nvSpPr>
        <p:spPr>
          <a:xfrm>
            <a:off x="4341495" y="4235291"/>
            <a:ext cx="461010" cy="167640"/>
          </a:xfrm>
          <a:prstGeom prst="rect">
            <a:avLst/>
          </a:prstGeom>
          <a:noFill/>
          <a:ln>
            <a:noFill/>
          </a:ln>
        </p:spPr>
        <p:txBody>
          <a:bodyPr wrap="none" lIns="0" tIns="0" rIns="0" bIns="0" anchor="t" anchorCtr="0">
            <a:spAutoFit/>
          </a:bodyPr>
          <a:lstStyle/>
          <a:p>
            <a:pPr algn="ctr"/>
            <a:r>
              <a:rPr lang="zh-CN" sz="825" dirty="0">
                <a:solidFill>
                  <a:srgbClr val="FFF5EB"/>
                </a:solidFill>
                <a:latin typeface="Arial"/>
                <a:ea typeface="Microsoft YaHei"/>
                <a:cs typeface="Arial"/>
              </a:rPr>
              <a:t>一线推广</a:t>
            </a:r>
          </a:p>
        </p:txBody>
      </p:sp>
      <p:sp>
        <p:nvSpPr>
          <p:cNvPr id="46" name="Rectangle 46"/>
          <p:cNvSpPr/>
          <p:nvPr/>
        </p:nvSpPr>
        <p:spPr>
          <a:xfrm>
            <a:off x="5257800" y="3981450"/>
            <a:ext cx="914400" cy="438150"/>
          </a:xfrm>
          <a:prstGeom prst="roundRect">
            <a:avLst>
              <a:gd name="adj" fmla="val 21739"/>
            </a:avLst>
          </a:prstGeom>
          <a:solidFill>
            <a:srgbClr val="D4A574"/>
          </a:solidFill>
          <a:ln>
            <a:noFill/>
          </a:ln>
          <a:effectLst>
            <a:outerShdw blurRad="76200" dist="19050" dir="5400000" algn="ctr" rotWithShape="0">
              <a:srgbClr val="2C2C2C">
                <a:alpha val="4500"/>
              </a:srgbClr>
            </a:outerShdw>
          </a:effectLst>
        </p:spPr>
      </p:sp>
      <p:sp>
        <p:nvSpPr>
          <p:cNvPr id="47" name="TextBox 47"/>
          <p:cNvSpPr txBox="1"/>
          <p:nvPr/>
        </p:nvSpPr>
        <p:spPr>
          <a:xfrm>
            <a:off x="5497842" y="4066699"/>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推广者</a:t>
            </a:r>
          </a:p>
        </p:txBody>
      </p:sp>
      <p:sp>
        <p:nvSpPr>
          <p:cNvPr id="48" name="TextBox 48"/>
          <p:cNvSpPr txBox="1"/>
          <p:nvPr/>
        </p:nvSpPr>
        <p:spPr>
          <a:xfrm>
            <a:off x="5539502" y="4235291"/>
            <a:ext cx="350996" cy="167640"/>
          </a:xfrm>
          <a:prstGeom prst="rect">
            <a:avLst/>
          </a:prstGeom>
          <a:noFill/>
          <a:ln>
            <a:noFill/>
          </a:ln>
        </p:spPr>
        <p:txBody>
          <a:bodyPr wrap="none" lIns="0" tIns="0" rIns="0" bIns="0" anchor="t" anchorCtr="0">
            <a:spAutoFit/>
          </a:bodyPr>
          <a:lstStyle/>
          <a:p>
            <a:pPr algn="ctr"/>
            <a:r>
              <a:rPr lang="zh-CN" sz="825" dirty="0">
                <a:solidFill>
                  <a:srgbClr val="FFF5EB"/>
                </a:solidFill>
                <a:latin typeface="Arial"/>
                <a:ea typeface="Microsoft YaHei"/>
                <a:cs typeface="Arial"/>
              </a:rPr>
              <a:t>找商家</a:t>
            </a:r>
          </a:p>
        </p:txBody>
      </p:sp>
      <p:sp>
        <p:nvSpPr>
          <p:cNvPr id="49" name="TextBox 49"/>
          <p:cNvSpPr txBox="1"/>
          <p:nvPr/>
        </p:nvSpPr>
        <p:spPr>
          <a:xfrm>
            <a:off x="6364605" y="4102418"/>
            <a:ext cx="331327" cy="274320"/>
          </a:xfrm>
          <a:prstGeom prst="rect">
            <a:avLst/>
          </a:prstGeom>
          <a:noFill/>
          <a:ln>
            <a:noFill/>
          </a:ln>
        </p:spPr>
        <p:txBody>
          <a:bodyPr wrap="none" lIns="0" tIns="0" rIns="0" bIns="0" anchor="t" anchorCtr="0">
            <a:spAutoFit/>
          </a:bodyPr>
          <a:lstStyle/>
          <a:p>
            <a:pPr algn="l"/>
            <a:r>
              <a:rPr lang="zh-CN" sz="1350" dirty="0">
                <a:solidFill>
                  <a:srgbClr val="7F8C8D"/>
                </a:solidFill>
                <a:latin typeface="Arial"/>
                <a:ea typeface="Microsoft YaHei"/>
                <a:cs typeface="Arial"/>
              </a:rPr>
              <a:t>...</a:t>
            </a:r>
          </a:p>
        </p:txBody>
      </p:sp>
      <p:sp>
        <p:nvSpPr>
          <p:cNvPr id="50" name="TextBox 50"/>
          <p:cNvSpPr txBox="1"/>
          <p:nvPr/>
        </p:nvSpPr>
        <p:spPr>
          <a:xfrm>
            <a:off x="6607564" y="1182052"/>
            <a:ext cx="1643872" cy="213360"/>
          </a:xfrm>
          <a:prstGeom prst="rect">
            <a:avLst/>
          </a:prstGeom>
          <a:noFill/>
          <a:ln>
            <a:noFill/>
          </a:ln>
        </p:spPr>
        <p:txBody>
          <a:bodyPr wrap="none" lIns="0" tIns="0" rIns="0" bIns="0" anchor="t" anchorCtr="0">
            <a:spAutoFit/>
          </a:bodyPr>
          <a:lstStyle/>
          <a:p>
            <a:pPr algn="ctr"/>
            <a:r>
              <a:rPr lang="zh-CN" sz="1050" b="1" dirty="0">
                <a:solidFill>
                  <a:srgbClr val="7F8C8D"/>
                </a:solidFill>
                <a:latin typeface="Arial"/>
                <a:ea typeface="Microsoft YaHei"/>
                <a:cs typeface="Arial"/>
              </a:rPr>
              <a:t>角色定位与核心能力对比</a:t>
            </a:r>
          </a:p>
        </p:txBody>
      </p:sp>
      <p:sp>
        <p:nvSpPr>
          <p:cNvPr id="51" name="Rectangle 51"/>
          <p:cNvSpPr/>
          <p:nvPr/>
        </p:nvSpPr>
        <p:spPr>
          <a:xfrm>
            <a:off x="7239000" y="1485900"/>
            <a:ext cx="4381500" cy="1047750"/>
          </a:xfrm>
          <a:prstGeom prst="roundRect">
            <a:avLst>
              <a:gd name="adj" fmla="val 12727"/>
            </a:avLst>
          </a:prstGeom>
          <a:solidFill>
            <a:srgbClr val="F5F0EA"/>
          </a:solidFill>
          <a:ln>
            <a:noFill/>
          </a:ln>
          <a:effectLst>
            <a:outerShdw blurRad="76200" dist="19050" dir="5400000" algn="ctr" rotWithShape="0">
              <a:srgbClr val="2C2C2C">
                <a:alpha val="4500"/>
              </a:srgbClr>
            </a:outerShdw>
          </a:effectLst>
        </p:spPr>
      </p:sp>
      <p:sp>
        <p:nvSpPr>
          <p:cNvPr id="52" name="Rectangle 52"/>
          <p:cNvSpPr/>
          <p:nvPr/>
        </p:nvSpPr>
        <p:spPr>
          <a:xfrm>
            <a:off x="7239000" y="1485900"/>
            <a:ext cx="57150" cy="1047750"/>
          </a:xfrm>
          <a:prstGeom prst="roundRect">
            <a:avLst>
              <a:gd name="adj" fmla="val 50000"/>
            </a:avLst>
          </a:prstGeom>
          <a:solidFill>
            <a:srgbClr val="1A5276"/>
          </a:solidFill>
          <a:ln>
            <a:noFill/>
          </a:ln>
        </p:spPr>
      </p:sp>
      <p:sp>
        <p:nvSpPr>
          <p:cNvPr id="53" name="Rectangle 53"/>
          <p:cNvSpPr/>
          <p:nvPr/>
        </p:nvSpPr>
        <p:spPr>
          <a:xfrm>
            <a:off x="7486650" y="1619250"/>
            <a:ext cx="609600" cy="247650"/>
          </a:xfrm>
          <a:prstGeom prst="roundRect">
            <a:avLst>
              <a:gd name="adj" fmla="val 23077"/>
            </a:avLst>
          </a:prstGeom>
          <a:solidFill>
            <a:srgbClr val="1A5276">
              <a:alpha val="12000"/>
            </a:srgbClr>
          </a:solidFill>
          <a:ln>
            <a:noFill/>
          </a:ln>
        </p:spPr>
      </p:sp>
      <p:sp>
        <p:nvSpPr>
          <p:cNvPr id="54" name="TextBox 54"/>
          <p:cNvSpPr txBox="1"/>
          <p:nvPr/>
        </p:nvSpPr>
        <p:spPr>
          <a:xfrm>
            <a:off x="7710711" y="1693545"/>
            <a:ext cx="161477" cy="182880"/>
          </a:xfrm>
          <a:prstGeom prst="rect">
            <a:avLst/>
          </a:prstGeom>
          <a:noFill/>
          <a:ln>
            <a:noFill/>
          </a:ln>
        </p:spPr>
        <p:txBody>
          <a:bodyPr wrap="none" lIns="0" tIns="0" rIns="0" bIns="0" anchor="t" anchorCtr="0">
            <a:spAutoFit/>
          </a:bodyPr>
          <a:lstStyle/>
          <a:p>
            <a:pPr algn="ctr"/>
            <a:r>
              <a:rPr lang="zh-CN" sz="900" b="1" dirty="0">
                <a:solidFill>
                  <a:srgbClr val="1A5276"/>
                </a:solidFill>
                <a:latin typeface="Arial"/>
                <a:ea typeface="Microsoft YaHei"/>
                <a:cs typeface="Arial"/>
              </a:rPr>
              <a:t>L1</a:t>
            </a:r>
          </a:p>
        </p:txBody>
      </p:sp>
      <p:sp>
        <p:nvSpPr>
          <p:cNvPr id="55" name="TextBox 55"/>
          <p:cNvSpPr txBox="1"/>
          <p:nvPr/>
        </p:nvSpPr>
        <p:spPr>
          <a:xfrm>
            <a:off x="8174355" y="1644968"/>
            <a:ext cx="979408"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Georgia"/>
                <a:ea typeface="KaiTi"/>
                <a:cs typeface="Georgia"/>
              </a:rPr>
              <a:t>城市服务商</a:t>
            </a:r>
          </a:p>
        </p:txBody>
      </p:sp>
      <p:sp>
        <p:nvSpPr>
          <p:cNvPr id="56" name="TextBox 56"/>
          <p:cNvSpPr txBox="1"/>
          <p:nvPr/>
        </p:nvSpPr>
        <p:spPr>
          <a:xfrm>
            <a:off x="8178165" y="1905952"/>
            <a:ext cx="1727883"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区域合伙人 · 城市独家授权</a:t>
            </a:r>
          </a:p>
        </p:txBody>
      </p:sp>
      <p:sp>
        <p:nvSpPr>
          <p:cNvPr id="57" name="TextBox 57"/>
          <p:cNvSpPr txBox="1"/>
          <p:nvPr/>
        </p:nvSpPr>
        <p:spPr>
          <a:xfrm>
            <a:off x="8178165" y="2115502"/>
            <a:ext cx="3121057"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核心能力：组织——构建服务站网络，管理区域生态</a:t>
            </a:r>
          </a:p>
        </p:txBody>
      </p:sp>
      <p:sp>
        <p:nvSpPr>
          <p:cNvPr id="58" name="TextBox 58"/>
          <p:cNvSpPr txBox="1"/>
          <p:nvPr/>
        </p:nvSpPr>
        <p:spPr>
          <a:xfrm>
            <a:off x="8179118" y="2333149"/>
            <a:ext cx="2852618"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收入来源：1% 平台交易额分账 + 服务站管理激励</a:t>
            </a:r>
          </a:p>
        </p:txBody>
      </p:sp>
      <p:sp>
        <p:nvSpPr>
          <p:cNvPr id="59" name="Rectangle 59"/>
          <p:cNvSpPr/>
          <p:nvPr/>
        </p:nvSpPr>
        <p:spPr>
          <a:xfrm>
            <a:off x="7239000" y="2667000"/>
            <a:ext cx="4381500" cy="1047750"/>
          </a:xfrm>
          <a:prstGeom prst="roundRect">
            <a:avLst>
              <a:gd name="adj" fmla="val 12727"/>
            </a:avLst>
          </a:prstGeom>
          <a:solidFill>
            <a:srgbClr val="F5F0EA"/>
          </a:solidFill>
          <a:ln>
            <a:noFill/>
          </a:ln>
          <a:effectLst>
            <a:outerShdw blurRad="76200" dist="19050" dir="5400000" algn="ctr" rotWithShape="0">
              <a:srgbClr val="2C2C2C">
                <a:alpha val="4500"/>
              </a:srgbClr>
            </a:outerShdw>
          </a:effectLst>
        </p:spPr>
      </p:sp>
      <p:sp>
        <p:nvSpPr>
          <p:cNvPr id="60" name="Rectangle 60"/>
          <p:cNvSpPr/>
          <p:nvPr/>
        </p:nvSpPr>
        <p:spPr>
          <a:xfrm>
            <a:off x="7239000" y="2667000"/>
            <a:ext cx="57150" cy="1047750"/>
          </a:xfrm>
          <a:prstGeom prst="roundRect">
            <a:avLst>
              <a:gd name="adj" fmla="val 50000"/>
            </a:avLst>
          </a:prstGeom>
          <a:solidFill>
            <a:srgbClr val="1E8449"/>
          </a:solidFill>
          <a:ln>
            <a:noFill/>
          </a:ln>
        </p:spPr>
      </p:sp>
      <p:sp>
        <p:nvSpPr>
          <p:cNvPr id="61" name="Rectangle 61"/>
          <p:cNvSpPr/>
          <p:nvPr/>
        </p:nvSpPr>
        <p:spPr>
          <a:xfrm>
            <a:off x="7486650" y="2800350"/>
            <a:ext cx="609600" cy="247650"/>
          </a:xfrm>
          <a:prstGeom prst="roundRect">
            <a:avLst>
              <a:gd name="adj" fmla="val 23077"/>
            </a:avLst>
          </a:prstGeom>
          <a:solidFill>
            <a:srgbClr val="1E8449">
              <a:alpha val="12000"/>
            </a:srgbClr>
          </a:solidFill>
          <a:ln>
            <a:noFill/>
          </a:ln>
        </p:spPr>
      </p:sp>
      <p:sp>
        <p:nvSpPr>
          <p:cNvPr id="62" name="TextBox 62"/>
          <p:cNvSpPr txBox="1"/>
          <p:nvPr/>
        </p:nvSpPr>
        <p:spPr>
          <a:xfrm>
            <a:off x="7710711" y="2874645"/>
            <a:ext cx="161477" cy="182880"/>
          </a:xfrm>
          <a:prstGeom prst="rect">
            <a:avLst/>
          </a:prstGeom>
          <a:noFill/>
          <a:ln>
            <a:noFill/>
          </a:ln>
        </p:spPr>
        <p:txBody>
          <a:bodyPr wrap="none" lIns="0" tIns="0" rIns="0" bIns="0" anchor="t" anchorCtr="0">
            <a:spAutoFit/>
          </a:bodyPr>
          <a:lstStyle/>
          <a:p>
            <a:pPr algn="ctr"/>
            <a:r>
              <a:rPr lang="zh-CN" sz="900" b="1" dirty="0">
                <a:solidFill>
                  <a:srgbClr val="1E8449"/>
                </a:solidFill>
                <a:latin typeface="Arial"/>
                <a:ea typeface="Microsoft YaHei"/>
                <a:cs typeface="Arial"/>
              </a:rPr>
              <a:t>L2</a:t>
            </a:r>
          </a:p>
        </p:txBody>
      </p:sp>
      <p:sp>
        <p:nvSpPr>
          <p:cNvPr id="63" name="TextBox 63"/>
          <p:cNvSpPr txBox="1"/>
          <p:nvPr/>
        </p:nvSpPr>
        <p:spPr>
          <a:xfrm>
            <a:off x="8174355" y="2826068"/>
            <a:ext cx="601361" cy="274320"/>
          </a:xfrm>
          <a:prstGeom prst="rect">
            <a:avLst/>
          </a:prstGeom>
          <a:noFill/>
          <a:ln>
            <a:noFill/>
          </a:ln>
        </p:spPr>
        <p:txBody>
          <a:bodyPr wrap="none" lIns="0" tIns="0" rIns="0" bIns="0" anchor="t" anchorCtr="0">
            <a:spAutoFit/>
          </a:bodyPr>
          <a:lstStyle/>
          <a:p>
            <a:pPr algn="l"/>
            <a:r>
              <a:rPr lang="zh-CN" sz="1350" b="1" dirty="0">
                <a:solidFill>
                  <a:srgbClr val="1E8449"/>
                </a:solidFill>
                <a:latin typeface="Georgia"/>
                <a:ea typeface="KaiTi"/>
                <a:cs typeface="Georgia"/>
              </a:rPr>
              <a:t>服务站</a:t>
            </a:r>
          </a:p>
        </p:txBody>
      </p:sp>
      <p:sp>
        <p:nvSpPr>
          <p:cNvPr id="64" name="TextBox 64"/>
          <p:cNvSpPr txBox="1"/>
          <p:nvPr/>
        </p:nvSpPr>
        <p:spPr>
          <a:xfrm>
            <a:off x="8178165" y="3087052"/>
            <a:ext cx="1727883"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社区节点 · 地推与服务前线</a:t>
            </a:r>
          </a:p>
        </p:txBody>
      </p:sp>
      <p:sp>
        <p:nvSpPr>
          <p:cNvPr id="65" name="TextBox 65"/>
          <p:cNvSpPr txBox="1"/>
          <p:nvPr/>
        </p:nvSpPr>
        <p:spPr>
          <a:xfrm>
            <a:off x="8178165" y="3296602"/>
            <a:ext cx="3443097"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核心能力：服务商家——入驻指导 + 运营支持 + 问题解决</a:t>
            </a:r>
          </a:p>
        </p:txBody>
      </p:sp>
      <p:sp>
        <p:nvSpPr>
          <p:cNvPr id="66" name="TextBox 66"/>
          <p:cNvSpPr txBox="1"/>
          <p:nvPr/>
        </p:nvSpPr>
        <p:spPr>
          <a:xfrm>
            <a:off x="8179118" y="3514249"/>
            <a:ext cx="438681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收入来源：佣金池35%（服务站留存）+ 推广者管理佣金65%（分配推广者）</a:t>
            </a:r>
          </a:p>
        </p:txBody>
      </p:sp>
      <p:sp>
        <p:nvSpPr>
          <p:cNvPr id="67" name="Rectangle 67"/>
          <p:cNvSpPr/>
          <p:nvPr/>
        </p:nvSpPr>
        <p:spPr>
          <a:xfrm>
            <a:off x="7239000" y="3848100"/>
            <a:ext cx="4381500" cy="952500"/>
          </a:xfrm>
          <a:prstGeom prst="roundRect">
            <a:avLst>
              <a:gd name="adj" fmla="val 14000"/>
            </a:avLst>
          </a:prstGeom>
          <a:solidFill>
            <a:srgbClr val="F5F0EA"/>
          </a:solidFill>
          <a:ln>
            <a:noFill/>
          </a:ln>
          <a:effectLst>
            <a:outerShdw blurRad="76200" dist="19050" dir="5400000" algn="ctr" rotWithShape="0">
              <a:srgbClr val="2C2C2C">
                <a:alpha val="4500"/>
              </a:srgbClr>
            </a:outerShdw>
          </a:effectLst>
        </p:spPr>
      </p:sp>
      <p:sp>
        <p:nvSpPr>
          <p:cNvPr id="68" name="Rectangle 68"/>
          <p:cNvSpPr/>
          <p:nvPr/>
        </p:nvSpPr>
        <p:spPr>
          <a:xfrm>
            <a:off x="7239000" y="3848100"/>
            <a:ext cx="57150" cy="952500"/>
          </a:xfrm>
          <a:prstGeom prst="roundRect">
            <a:avLst>
              <a:gd name="adj" fmla="val 50000"/>
            </a:avLst>
          </a:prstGeom>
          <a:solidFill>
            <a:srgbClr val="D4A574"/>
          </a:solidFill>
          <a:ln>
            <a:noFill/>
          </a:ln>
        </p:spPr>
      </p:sp>
      <p:sp>
        <p:nvSpPr>
          <p:cNvPr id="69" name="Rectangle 69"/>
          <p:cNvSpPr/>
          <p:nvPr/>
        </p:nvSpPr>
        <p:spPr>
          <a:xfrm>
            <a:off x="7486650" y="3981450"/>
            <a:ext cx="609600" cy="247650"/>
          </a:xfrm>
          <a:prstGeom prst="roundRect">
            <a:avLst>
              <a:gd name="adj" fmla="val 23077"/>
            </a:avLst>
          </a:prstGeom>
          <a:solidFill>
            <a:srgbClr val="D4A574">
              <a:alpha val="18000"/>
            </a:srgbClr>
          </a:solidFill>
          <a:ln>
            <a:noFill/>
          </a:ln>
        </p:spPr>
      </p:sp>
      <p:sp>
        <p:nvSpPr>
          <p:cNvPr id="70" name="TextBox 70"/>
          <p:cNvSpPr txBox="1"/>
          <p:nvPr/>
        </p:nvSpPr>
        <p:spPr>
          <a:xfrm>
            <a:off x="7710711" y="4055745"/>
            <a:ext cx="161477" cy="182880"/>
          </a:xfrm>
          <a:prstGeom prst="rect">
            <a:avLst/>
          </a:prstGeom>
          <a:noFill/>
          <a:ln>
            <a:noFill/>
          </a:ln>
        </p:spPr>
        <p:txBody>
          <a:bodyPr wrap="none" lIns="0" tIns="0" rIns="0" bIns="0" anchor="t" anchorCtr="0">
            <a:spAutoFit/>
          </a:bodyPr>
          <a:lstStyle/>
          <a:p>
            <a:pPr algn="ctr"/>
            <a:r>
              <a:rPr lang="zh-CN" sz="900" b="1" dirty="0">
                <a:solidFill>
                  <a:srgbClr val="D4A574"/>
                </a:solidFill>
                <a:latin typeface="Arial"/>
                <a:ea typeface="Microsoft YaHei"/>
                <a:cs typeface="Arial"/>
              </a:rPr>
              <a:t>L3</a:t>
            </a:r>
          </a:p>
        </p:txBody>
      </p:sp>
      <p:sp>
        <p:nvSpPr>
          <p:cNvPr id="71" name="TextBox 71"/>
          <p:cNvSpPr txBox="1"/>
          <p:nvPr/>
        </p:nvSpPr>
        <p:spPr>
          <a:xfrm>
            <a:off x="8174355" y="4007168"/>
            <a:ext cx="601361" cy="274320"/>
          </a:xfrm>
          <a:prstGeom prst="rect">
            <a:avLst/>
          </a:prstGeom>
          <a:noFill/>
          <a:ln>
            <a:noFill/>
          </a:ln>
        </p:spPr>
        <p:txBody>
          <a:bodyPr wrap="none" lIns="0" tIns="0" rIns="0" bIns="0" anchor="t" anchorCtr="0">
            <a:spAutoFit/>
          </a:bodyPr>
          <a:lstStyle/>
          <a:p>
            <a:pPr algn="l"/>
            <a:r>
              <a:rPr lang="zh-CN" sz="1350" b="1" dirty="0">
                <a:solidFill>
                  <a:srgbClr val="D4A574"/>
                </a:solidFill>
                <a:latin typeface="Georgia"/>
                <a:ea typeface="KaiTi"/>
                <a:cs typeface="Georgia"/>
              </a:rPr>
              <a:t>推广者</a:t>
            </a:r>
          </a:p>
        </p:txBody>
      </p:sp>
      <p:sp>
        <p:nvSpPr>
          <p:cNvPr id="72" name="TextBox 72"/>
          <p:cNvSpPr txBox="1"/>
          <p:nvPr/>
        </p:nvSpPr>
        <p:spPr>
          <a:xfrm>
            <a:off x="8178165" y="4268152"/>
            <a:ext cx="2168938"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一线推广 · 兼职起步 · 零门槛参与</a:t>
            </a:r>
          </a:p>
        </p:txBody>
      </p:sp>
      <p:sp>
        <p:nvSpPr>
          <p:cNvPr id="73" name="TextBox 73"/>
          <p:cNvSpPr txBox="1"/>
          <p:nvPr/>
        </p:nvSpPr>
        <p:spPr>
          <a:xfrm>
            <a:off x="8178165" y="4477702"/>
            <a:ext cx="3121057"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核心能力：找商家——发现并引入优质商户入驻平台</a:t>
            </a:r>
          </a:p>
        </p:txBody>
      </p:sp>
      <p:sp>
        <p:nvSpPr>
          <p:cNvPr id="74" name="TextBox 74"/>
          <p:cNvSpPr txBox="1"/>
          <p:nvPr/>
        </p:nvSpPr>
        <p:spPr>
          <a:xfrm>
            <a:off x="8181022" y="4673441"/>
            <a:ext cx="3007828" cy="167640"/>
          </a:xfrm>
          <a:prstGeom prst="rect">
            <a:avLst/>
          </a:prstGeom>
          <a:noFill/>
          <a:ln>
            <a:noFill/>
          </a:ln>
        </p:spPr>
        <p:txBody>
          <a:bodyPr wrap="none" lIns="0" tIns="0" rIns="0" bIns="0" anchor="t" anchorCtr="0">
            <a:spAutoFit/>
          </a:bodyPr>
          <a:lstStyle/>
          <a:p>
            <a:pPr algn="l"/>
            <a:r>
              <a:rPr lang="zh-CN" sz="825" dirty="0">
                <a:solidFill>
                  <a:srgbClr val="C0392B"/>
                </a:solidFill>
                <a:latin typeface="Arial"/>
                <a:ea typeface="Microsoft YaHei"/>
                <a:cs typeface="Arial"/>
              </a:rPr>
              <a:t>零门槛参与 ≠ 零门槛创业。推广者以兼职身份获取推荐佣金。</a:t>
            </a:r>
          </a:p>
        </p:txBody>
      </p:sp>
      <p:sp>
        <p:nvSpPr>
          <p:cNvPr id="75" name="Rectangle 75"/>
          <p:cNvSpPr/>
          <p:nvPr/>
        </p:nvSpPr>
        <p:spPr>
          <a:xfrm>
            <a:off x="571500" y="5314950"/>
            <a:ext cx="11049000" cy="533400"/>
          </a:xfrm>
          <a:prstGeom prst="roundRect">
            <a:avLst>
              <a:gd name="adj" fmla="val 21429"/>
            </a:avLst>
          </a:prstGeom>
          <a:solidFill>
            <a:srgbClr val="F0EDE8"/>
          </a:solidFill>
          <a:ln>
            <a:noFill/>
          </a:ln>
        </p:spPr>
      </p:sp>
      <p:sp>
        <p:nvSpPr>
          <p:cNvPr id="76" name="Rectangle 76"/>
          <p:cNvSpPr/>
          <p:nvPr/>
        </p:nvSpPr>
        <p:spPr>
          <a:xfrm>
            <a:off x="571500" y="5314950"/>
            <a:ext cx="57150" cy="533400"/>
          </a:xfrm>
          <a:prstGeom prst="roundRect">
            <a:avLst>
              <a:gd name="adj" fmla="val 50000"/>
            </a:avLst>
          </a:prstGeom>
          <a:solidFill>
            <a:srgbClr val="E67E22"/>
          </a:solidFill>
          <a:ln>
            <a:noFill/>
          </a:ln>
        </p:spPr>
      </p:sp>
      <p:sp>
        <p:nvSpPr>
          <p:cNvPr id="77" name="TextBox 77"/>
          <p:cNvSpPr txBox="1"/>
          <p:nvPr/>
        </p:nvSpPr>
        <p:spPr>
          <a:xfrm>
            <a:off x="841058" y="5405914"/>
            <a:ext cx="746474" cy="259080"/>
          </a:xfrm>
          <a:prstGeom prst="rect">
            <a:avLst/>
          </a:prstGeom>
          <a:noFill/>
          <a:ln>
            <a:noFill/>
          </a:ln>
        </p:spPr>
        <p:txBody>
          <a:bodyPr wrap="none" lIns="0" tIns="0" rIns="0" bIns="0" anchor="t" anchorCtr="0">
            <a:spAutoFit/>
          </a:bodyPr>
          <a:lstStyle/>
          <a:p>
            <a:pPr algn="l"/>
            <a:r>
              <a:rPr lang="zh-CN" sz="1275" b="1" dirty="0">
                <a:solidFill>
                  <a:srgbClr val="E67E22"/>
                </a:solidFill>
                <a:latin typeface="Arial"/>
                <a:ea typeface="Microsoft YaHei"/>
                <a:cs typeface="Arial"/>
              </a:rPr>
              <a:t>关键洞察</a:t>
            </a:r>
          </a:p>
        </p:txBody>
      </p:sp>
      <p:sp>
        <p:nvSpPr>
          <p:cNvPr id="78" name="TextBox 78"/>
          <p:cNvSpPr txBox="1"/>
          <p:nvPr/>
        </p:nvSpPr>
        <p:spPr>
          <a:xfrm>
            <a:off x="1888808" y="5405914"/>
            <a:ext cx="4333923"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城市服务商不是代理商——核心能力是"组织"，不是"销售"</a:t>
            </a:r>
          </a:p>
        </p:txBody>
      </p:sp>
      <p:sp>
        <p:nvSpPr>
          <p:cNvPr id="79" name="TextBox 79"/>
          <p:cNvSpPr txBox="1"/>
          <p:nvPr/>
        </p:nvSpPr>
        <p:spPr>
          <a:xfrm>
            <a:off x="843915" y="5639752"/>
            <a:ext cx="8931783"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三级管理体系的本质是"组织能力下放"——城市服务商组织服务站网络，服务站服务商家，推广者发现商家。每一层的能力要求不同，KPI也不同。</a:t>
            </a:r>
          </a:p>
        </p:txBody>
      </p:sp>
      <p:sp>
        <p:nvSpPr>
          <p:cNvPr id="80" name="Line 80"/>
          <p:cNvSpPr/>
          <p:nvPr/>
        </p:nvSpPr>
        <p:spPr>
          <a:xfrm>
            <a:off x="571500" y="5981700"/>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81" name="TextBox 81"/>
          <p:cNvSpPr txBox="1"/>
          <p:nvPr/>
        </p:nvSpPr>
        <p:spPr>
          <a:xfrm>
            <a:off x="559118" y="6105049"/>
            <a:ext cx="8677346"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城市服务商以城市为单位授权，非省级代理。服务站以社区为单位覆盖，5公里服务半径。推广者以兼职模式参与，无固定薪资，按推荐效果获取佣金。</a:t>
            </a:r>
          </a:p>
        </p:txBody>
      </p:sp>
      <p:sp>
        <p:nvSpPr>
          <p:cNvPr id="82" name="TextBox 82"/>
          <p:cNvSpPr txBox="1"/>
          <p:nvPr/>
        </p:nvSpPr>
        <p:spPr>
          <a:xfrm>
            <a:off x="558165" y="6477952"/>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
        <p:nvSpPr>
          <p:cNvPr id="83" name="TextBox 83"/>
          <p:cNvSpPr txBox="1"/>
          <p:nvPr/>
        </p:nvSpPr>
        <p:spPr>
          <a:xfrm>
            <a:off x="11453146" y="6477952"/>
            <a:ext cx="180689" cy="213360"/>
          </a:xfrm>
          <a:prstGeom prst="rect">
            <a:avLst/>
          </a:prstGeom>
          <a:noFill/>
          <a:ln>
            <a:noFill/>
          </a:ln>
        </p:spPr>
        <p:txBody>
          <a:bodyPr wrap="none" lIns="0" tIns="0" rIns="0" bIns="0" anchor="t" anchorCtr="0">
            <a:spAutoFit/>
          </a:bodyPr>
          <a:lstStyle/>
          <a:p>
            <a:pPr algn="r"/>
            <a:r>
              <a:rPr lang="zh-CN" sz="1050" dirty="0">
                <a:solidFill>
                  <a:srgbClr val="A0A0A0"/>
                </a:solidFill>
                <a:latin typeface="Arial"/>
                <a:ea typeface="Microsoft YaHei"/>
                <a:cs typeface="Arial"/>
              </a:rPr>
              <a:t>28</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342900"/>
            <a:ext cx="57150" cy="381000"/>
          </a:xfrm>
          <a:prstGeom prst="roundRect">
            <a:avLst>
              <a:gd name="adj" fmla="val 50000"/>
            </a:avLst>
          </a:prstGeom>
          <a:solidFill>
            <a:srgbClr val="E67E22"/>
          </a:solidFill>
          <a:ln>
            <a:noFill/>
          </a:ln>
        </p:spPr>
      </p:sp>
      <p:sp>
        <p:nvSpPr>
          <p:cNvPr id="4" name="TextBox 4"/>
          <p:cNvSpPr txBox="1"/>
          <p:nvPr/>
        </p:nvSpPr>
        <p:spPr>
          <a:xfrm>
            <a:off x="727710" y="337185"/>
            <a:ext cx="4983194"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卷二总结：商业模型关键数字</a:t>
            </a:r>
          </a:p>
        </p:txBody>
      </p:sp>
      <p:sp>
        <p:nvSpPr>
          <p:cNvPr id="5" name="TextBox 5"/>
          <p:cNvSpPr txBox="1"/>
          <p:nvPr/>
        </p:nvSpPr>
        <p:spPr>
          <a:xfrm>
            <a:off x="746760" y="803910"/>
            <a:ext cx="2534793"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服务费结算模型 V3.2 · 跨店通兑版</a:t>
            </a:r>
          </a:p>
        </p:txBody>
      </p:sp>
      <p:sp>
        <p:nvSpPr>
          <p:cNvPr id="6" name="Rectangle 6"/>
          <p:cNvSpPr/>
          <p:nvPr/>
        </p:nvSpPr>
        <p:spPr>
          <a:xfrm>
            <a:off x="571500" y="11430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7" name="Rectangle 7"/>
          <p:cNvSpPr/>
          <p:nvPr/>
        </p:nvSpPr>
        <p:spPr>
          <a:xfrm>
            <a:off x="571500" y="1143000"/>
            <a:ext cx="2076450" cy="57150"/>
          </a:xfrm>
          <a:prstGeom prst="roundRect">
            <a:avLst>
              <a:gd name="adj" fmla="val 50000"/>
            </a:avLst>
          </a:prstGeom>
          <a:solidFill>
            <a:srgbClr val="1A5276"/>
          </a:solidFill>
          <a:ln>
            <a:noFill/>
          </a:ln>
        </p:spPr>
      </p:sp>
      <p:sp>
        <p:nvSpPr>
          <p:cNvPr id="8" name="TextBox 8"/>
          <p:cNvSpPr txBox="1"/>
          <p:nvPr/>
        </p:nvSpPr>
        <p:spPr>
          <a:xfrm>
            <a:off x="951657" y="1327785"/>
            <a:ext cx="1316136" cy="548640"/>
          </a:xfrm>
          <a:prstGeom prst="rect">
            <a:avLst/>
          </a:prstGeom>
          <a:noFill/>
          <a:ln>
            <a:noFill/>
          </a:ln>
        </p:spPr>
        <p:txBody>
          <a:bodyPr wrap="none" lIns="0" tIns="0" rIns="0" bIns="0" anchor="t" anchorCtr="0">
            <a:spAutoFit/>
          </a:bodyPr>
          <a:lstStyle/>
          <a:p>
            <a:pPr algn="ctr"/>
            <a:r>
              <a:rPr lang="zh-CN" sz="2700" b="1" dirty="0">
                <a:solidFill>
                  <a:srgbClr val="1A5276"/>
                </a:solidFill>
                <a:latin typeface="Arial"/>
                <a:ea typeface="Microsoft YaHei"/>
                <a:cs typeface="Arial"/>
              </a:rPr>
              <a:t>40,500</a:t>
            </a:r>
          </a:p>
        </p:txBody>
      </p:sp>
      <p:sp>
        <p:nvSpPr>
          <p:cNvPr id="9" name="TextBox 9"/>
          <p:cNvSpPr txBox="1"/>
          <p:nvPr/>
        </p:nvSpPr>
        <p:spPr>
          <a:xfrm>
            <a:off x="1295400" y="1764506"/>
            <a:ext cx="628650"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盈亏平衡</a:t>
            </a:r>
          </a:p>
        </p:txBody>
      </p:sp>
      <p:sp>
        <p:nvSpPr>
          <p:cNvPr id="10" name="TextBox 10"/>
          <p:cNvSpPr txBox="1"/>
          <p:nvPr/>
        </p:nvSpPr>
        <p:spPr>
          <a:xfrm>
            <a:off x="1417868" y="1982152"/>
            <a:ext cx="383715"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笔/月</a:t>
            </a:r>
          </a:p>
        </p:txBody>
      </p:sp>
      <p:sp>
        <p:nvSpPr>
          <p:cNvPr id="11" name="Rectangle 11"/>
          <p:cNvSpPr/>
          <p:nvPr/>
        </p:nvSpPr>
        <p:spPr>
          <a:xfrm>
            <a:off x="2790825" y="11430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12" name="Rectangle 12"/>
          <p:cNvSpPr/>
          <p:nvPr/>
        </p:nvSpPr>
        <p:spPr>
          <a:xfrm>
            <a:off x="2790825" y="1143000"/>
            <a:ext cx="2076450" cy="57150"/>
          </a:xfrm>
          <a:prstGeom prst="roundRect">
            <a:avLst>
              <a:gd name="adj" fmla="val 50000"/>
            </a:avLst>
          </a:prstGeom>
          <a:solidFill>
            <a:srgbClr val="1E8449"/>
          </a:solidFill>
          <a:ln>
            <a:noFill/>
          </a:ln>
        </p:spPr>
      </p:sp>
      <p:sp>
        <p:nvSpPr>
          <p:cNvPr id="13" name="TextBox 13"/>
          <p:cNvSpPr txBox="1"/>
          <p:nvPr/>
        </p:nvSpPr>
        <p:spPr>
          <a:xfrm>
            <a:off x="3237140" y="1327785"/>
            <a:ext cx="1183819" cy="548640"/>
          </a:xfrm>
          <a:prstGeom prst="rect">
            <a:avLst/>
          </a:prstGeom>
          <a:noFill/>
          <a:ln>
            <a:noFill/>
          </a:ln>
        </p:spPr>
        <p:txBody>
          <a:bodyPr wrap="none" lIns="0" tIns="0" rIns="0" bIns="0" anchor="t" anchorCtr="0">
            <a:spAutoFit/>
          </a:bodyPr>
          <a:lstStyle/>
          <a:p>
            <a:pPr algn="ctr"/>
            <a:r>
              <a:rPr lang="zh-CN" sz="2700" b="1" dirty="0">
                <a:solidFill>
                  <a:srgbClr val="1E8449"/>
                </a:solidFill>
                <a:latin typeface="Arial"/>
                <a:ea typeface="Microsoft YaHei"/>
                <a:cs typeface="Arial"/>
              </a:rPr>
              <a:t>0.89%</a:t>
            </a:r>
          </a:p>
        </p:txBody>
      </p:sp>
      <p:sp>
        <p:nvSpPr>
          <p:cNvPr id="14" name="TextBox 14"/>
          <p:cNvSpPr txBox="1"/>
          <p:nvPr/>
        </p:nvSpPr>
        <p:spPr>
          <a:xfrm>
            <a:off x="3439716" y="1764506"/>
            <a:ext cx="778669"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基准净利率</a:t>
            </a:r>
          </a:p>
        </p:txBody>
      </p:sp>
      <p:sp>
        <p:nvSpPr>
          <p:cNvPr id="15" name="TextBox 15"/>
          <p:cNvSpPr txBox="1"/>
          <p:nvPr/>
        </p:nvSpPr>
        <p:spPr>
          <a:xfrm>
            <a:off x="3280148" y="1982152"/>
            <a:ext cx="1097804"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月净利约3.6万元</a:t>
            </a:r>
          </a:p>
        </p:txBody>
      </p:sp>
      <p:sp>
        <p:nvSpPr>
          <p:cNvPr id="16" name="Rectangle 16"/>
          <p:cNvSpPr/>
          <p:nvPr/>
        </p:nvSpPr>
        <p:spPr>
          <a:xfrm>
            <a:off x="5010150" y="11430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17" name="Rectangle 17"/>
          <p:cNvSpPr/>
          <p:nvPr/>
        </p:nvSpPr>
        <p:spPr>
          <a:xfrm>
            <a:off x="5010150" y="1143000"/>
            <a:ext cx="2076450" cy="57150"/>
          </a:xfrm>
          <a:prstGeom prst="roundRect">
            <a:avLst>
              <a:gd name="adj" fmla="val 50000"/>
            </a:avLst>
          </a:prstGeom>
          <a:solidFill>
            <a:srgbClr val="E67E22"/>
          </a:solidFill>
          <a:ln>
            <a:noFill/>
          </a:ln>
        </p:spPr>
      </p:sp>
      <p:sp>
        <p:nvSpPr>
          <p:cNvPr id="18" name="TextBox 18"/>
          <p:cNvSpPr txBox="1"/>
          <p:nvPr/>
        </p:nvSpPr>
        <p:spPr>
          <a:xfrm>
            <a:off x="5456465" y="1327785"/>
            <a:ext cx="1183819" cy="548640"/>
          </a:xfrm>
          <a:prstGeom prst="rect">
            <a:avLst/>
          </a:prstGeom>
          <a:noFill/>
          <a:ln>
            <a:noFill/>
          </a:ln>
        </p:spPr>
        <p:txBody>
          <a:bodyPr wrap="none" lIns="0" tIns="0" rIns="0" bIns="0" anchor="t" anchorCtr="0">
            <a:spAutoFit/>
          </a:bodyPr>
          <a:lstStyle/>
          <a:p>
            <a:pPr algn="ctr"/>
            <a:r>
              <a:rPr lang="zh-CN" sz="2700" b="1" dirty="0">
                <a:solidFill>
                  <a:srgbClr val="E67E22"/>
                </a:solidFill>
                <a:latin typeface="Arial"/>
                <a:ea typeface="Microsoft YaHei"/>
                <a:cs typeface="Arial"/>
              </a:rPr>
              <a:t>77.9%</a:t>
            </a:r>
          </a:p>
        </p:txBody>
      </p:sp>
      <p:sp>
        <p:nvSpPr>
          <p:cNvPr id="19" name="TextBox 19"/>
          <p:cNvSpPr txBox="1"/>
          <p:nvPr/>
        </p:nvSpPr>
        <p:spPr>
          <a:xfrm>
            <a:off x="5584031" y="1764506"/>
            <a:ext cx="928688"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商家最高分账</a:t>
            </a:r>
          </a:p>
        </p:txBody>
      </p:sp>
      <p:sp>
        <p:nvSpPr>
          <p:cNvPr id="20" name="TextBox 20"/>
          <p:cNvSpPr txBox="1"/>
          <p:nvPr/>
        </p:nvSpPr>
        <p:spPr>
          <a:xfrm>
            <a:off x="5614988" y="1982152"/>
            <a:ext cx="866775"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综合商城业态</a:t>
            </a:r>
          </a:p>
        </p:txBody>
      </p:sp>
      <p:sp>
        <p:nvSpPr>
          <p:cNvPr id="21" name="Rectangle 21"/>
          <p:cNvSpPr/>
          <p:nvPr/>
        </p:nvSpPr>
        <p:spPr>
          <a:xfrm>
            <a:off x="7229475" y="11430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22" name="Rectangle 22"/>
          <p:cNvSpPr/>
          <p:nvPr/>
        </p:nvSpPr>
        <p:spPr>
          <a:xfrm>
            <a:off x="7229475" y="1143000"/>
            <a:ext cx="2076450" cy="57150"/>
          </a:xfrm>
          <a:prstGeom prst="roundRect">
            <a:avLst>
              <a:gd name="adj" fmla="val 50000"/>
            </a:avLst>
          </a:prstGeom>
          <a:solidFill>
            <a:srgbClr val="7F8C8D"/>
          </a:solidFill>
          <a:ln>
            <a:noFill/>
          </a:ln>
        </p:spPr>
      </p:sp>
      <p:sp>
        <p:nvSpPr>
          <p:cNvPr id="23" name="TextBox 23"/>
          <p:cNvSpPr txBox="1"/>
          <p:nvPr/>
        </p:nvSpPr>
        <p:spPr>
          <a:xfrm>
            <a:off x="7779753" y="1327785"/>
            <a:ext cx="975893" cy="548640"/>
          </a:xfrm>
          <a:prstGeom prst="rect">
            <a:avLst/>
          </a:prstGeom>
          <a:noFill/>
          <a:ln>
            <a:noFill/>
          </a:ln>
        </p:spPr>
        <p:txBody>
          <a:bodyPr wrap="none" lIns="0" tIns="0" rIns="0" bIns="0" anchor="t" anchorCtr="0">
            <a:spAutoFit/>
          </a:bodyPr>
          <a:lstStyle/>
          <a:p>
            <a:pPr algn="ctr"/>
            <a:r>
              <a:rPr lang="zh-CN" sz="2700" b="1" dirty="0">
                <a:solidFill>
                  <a:srgbClr val="7F8C8D"/>
                </a:solidFill>
                <a:latin typeface="Arial"/>
                <a:ea typeface="Microsoft YaHei"/>
                <a:cs typeface="Arial"/>
              </a:rPr>
              <a:t>0.6%</a:t>
            </a:r>
          </a:p>
        </p:txBody>
      </p:sp>
      <p:sp>
        <p:nvSpPr>
          <p:cNvPr id="24" name="TextBox 24"/>
          <p:cNvSpPr txBox="1"/>
          <p:nvPr/>
        </p:nvSpPr>
        <p:spPr>
          <a:xfrm>
            <a:off x="7953375" y="1764506"/>
            <a:ext cx="628650"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渠道成本</a:t>
            </a:r>
          </a:p>
        </p:txBody>
      </p:sp>
      <p:sp>
        <p:nvSpPr>
          <p:cNvPr id="25" name="TextBox 25"/>
          <p:cNvSpPr txBox="1"/>
          <p:nvPr/>
        </p:nvSpPr>
        <p:spPr>
          <a:xfrm>
            <a:off x="7974330" y="1982152"/>
            <a:ext cx="586740"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汇付收单</a:t>
            </a:r>
          </a:p>
        </p:txBody>
      </p:sp>
      <p:sp>
        <p:nvSpPr>
          <p:cNvPr id="26" name="Rectangle 26"/>
          <p:cNvSpPr/>
          <p:nvPr/>
        </p:nvSpPr>
        <p:spPr>
          <a:xfrm>
            <a:off x="9448800" y="11430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27" name="Rectangle 27"/>
          <p:cNvSpPr/>
          <p:nvPr/>
        </p:nvSpPr>
        <p:spPr>
          <a:xfrm>
            <a:off x="9448800" y="1143000"/>
            <a:ext cx="2076450" cy="57150"/>
          </a:xfrm>
          <a:prstGeom prst="roundRect">
            <a:avLst>
              <a:gd name="adj" fmla="val 50000"/>
            </a:avLst>
          </a:prstGeom>
          <a:solidFill>
            <a:srgbClr val="D4A574"/>
          </a:solidFill>
          <a:ln>
            <a:noFill/>
          </a:ln>
        </p:spPr>
      </p:sp>
      <p:sp>
        <p:nvSpPr>
          <p:cNvPr id="28" name="TextBox 28"/>
          <p:cNvSpPr txBox="1"/>
          <p:nvPr/>
        </p:nvSpPr>
        <p:spPr>
          <a:xfrm>
            <a:off x="10207004" y="1327785"/>
            <a:ext cx="560041" cy="548640"/>
          </a:xfrm>
          <a:prstGeom prst="rect">
            <a:avLst/>
          </a:prstGeom>
          <a:noFill/>
          <a:ln>
            <a:noFill/>
          </a:ln>
        </p:spPr>
        <p:txBody>
          <a:bodyPr wrap="none" lIns="0" tIns="0" rIns="0" bIns="0" anchor="t" anchorCtr="0">
            <a:spAutoFit/>
          </a:bodyPr>
          <a:lstStyle/>
          <a:p>
            <a:pPr algn="ctr"/>
            <a:r>
              <a:rPr lang="zh-CN" sz="2700" b="1" dirty="0">
                <a:solidFill>
                  <a:srgbClr val="D4A574"/>
                </a:solidFill>
                <a:latin typeface="Arial"/>
                <a:ea typeface="Microsoft YaHei"/>
                <a:cs typeface="Arial"/>
              </a:rPr>
              <a:t>1%</a:t>
            </a:r>
          </a:p>
        </p:txBody>
      </p:sp>
      <p:sp>
        <p:nvSpPr>
          <p:cNvPr id="29" name="TextBox 29"/>
          <p:cNvSpPr txBox="1"/>
          <p:nvPr/>
        </p:nvSpPr>
        <p:spPr>
          <a:xfrm>
            <a:off x="9947672" y="1764506"/>
            <a:ext cx="107870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城市服务商分账</a:t>
            </a:r>
          </a:p>
        </p:txBody>
      </p:sp>
      <p:sp>
        <p:nvSpPr>
          <p:cNvPr id="30" name="TextBox 30"/>
          <p:cNvSpPr txBox="1"/>
          <p:nvPr/>
        </p:nvSpPr>
        <p:spPr>
          <a:xfrm>
            <a:off x="10053638" y="1982152"/>
            <a:ext cx="866775"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城市独家授权</a:t>
            </a:r>
          </a:p>
        </p:txBody>
      </p:sp>
      <p:sp>
        <p:nvSpPr>
          <p:cNvPr id="31" name="Rectangle 31"/>
          <p:cNvSpPr/>
          <p:nvPr/>
        </p:nvSpPr>
        <p:spPr>
          <a:xfrm>
            <a:off x="571500" y="28194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32" name="Rectangle 32"/>
          <p:cNvSpPr/>
          <p:nvPr/>
        </p:nvSpPr>
        <p:spPr>
          <a:xfrm>
            <a:off x="571500" y="2819400"/>
            <a:ext cx="2076450" cy="57150"/>
          </a:xfrm>
          <a:prstGeom prst="roundRect">
            <a:avLst>
              <a:gd name="adj" fmla="val 50000"/>
            </a:avLst>
          </a:prstGeom>
          <a:solidFill>
            <a:srgbClr val="C0392B"/>
          </a:solidFill>
          <a:ln>
            <a:noFill/>
          </a:ln>
        </p:spPr>
      </p:sp>
      <p:sp>
        <p:nvSpPr>
          <p:cNvPr id="33" name="TextBox 33"/>
          <p:cNvSpPr txBox="1"/>
          <p:nvPr/>
        </p:nvSpPr>
        <p:spPr>
          <a:xfrm>
            <a:off x="1329704" y="3004185"/>
            <a:ext cx="560041" cy="548640"/>
          </a:xfrm>
          <a:prstGeom prst="rect">
            <a:avLst/>
          </a:prstGeom>
          <a:noFill/>
          <a:ln>
            <a:noFill/>
          </a:ln>
        </p:spPr>
        <p:txBody>
          <a:bodyPr wrap="none" lIns="0" tIns="0" rIns="0" bIns="0" anchor="t" anchorCtr="0">
            <a:spAutoFit/>
          </a:bodyPr>
          <a:lstStyle/>
          <a:p>
            <a:pPr algn="ctr"/>
            <a:r>
              <a:rPr lang="zh-CN" sz="2700" b="1" dirty="0">
                <a:solidFill>
                  <a:srgbClr val="C0392B"/>
                </a:solidFill>
                <a:latin typeface="Arial"/>
                <a:ea typeface="Microsoft YaHei"/>
                <a:cs typeface="Arial"/>
              </a:rPr>
              <a:t>2%</a:t>
            </a:r>
          </a:p>
        </p:txBody>
      </p:sp>
      <p:sp>
        <p:nvSpPr>
          <p:cNvPr id="34" name="TextBox 34"/>
          <p:cNvSpPr txBox="1"/>
          <p:nvPr/>
        </p:nvSpPr>
        <p:spPr>
          <a:xfrm>
            <a:off x="1220391" y="3440906"/>
            <a:ext cx="778669"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风控备用金</a:t>
            </a:r>
          </a:p>
        </p:txBody>
      </p:sp>
      <p:sp>
        <p:nvSpPr>
          <p:cNvPr id="35" name="TextBox 35"/>
          <p:cNvSpPr txBox="1"/>
          <p:nvPr/>
        </p:nvSpPr>
        <p:spPr>
          <a:xfrm>
            <a:off x="1316355" y="3658552"/>
            <a:ext cx="586740"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汇付托管</a:t>
            </a:r>
          </a:p>
        </p:txBody>
      </p:sp>
      <p:sp>
        <p:nvSpPr>
          <p:cNvPr id="36" name="Rectangle 36"/>
          <p:cNvSpPr/>
          <p:nvPr/>
        </p:nvSpPr>
        <p:spPr>
          <a:xfrm>
            <a:off x="2790825" y="28194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37" name="Rectangle 37"/>
          <p:cNvSpPr/>
          <p:nvPr/>
        </p:nvSpPr>
        <p:spPr>
          <a:xfrm>
            <a:off x="2790825" y="2819400"/>
            <a:ext cx="2076450" cy="57150"/>
          </a:xfrm>
          <a:prstGeom prst="roundRect">
            <a:avLst>
              <a:gd name="adj" fmla="val 50000"/>
            </a:avLst>
          </a:prstGeom>
          <a:solidFill>
            <a:srgbClr val="E67E22"/>
          </a:solidFill>
          <a:ln>
            <a:noFill/>
          </a:ln>
        </p:spPr>
      </p:sp>
      <p:sp>
        <p:nvSpPr>
          <p:cNvPr id="38" name="TextBox 38"/>
          <p:cNvSpPr txBox="1"/>
          <p:nvPr/>
        </p:nvSpPr>
        <p:spPr>
          <a:xfrm>
            <a:off x="3210496" y="3036570"/>
            <a:ext cx="1237107" cy="487680"/>
          </a:xfrm>
          <a:prstGeom prst="rect">
            <a:avLst/>
          </a:prstGeom>
          <a:noFill/>
          <a:ln>
            <a:noFill/>
          </a:ln>
        </p:spPr>
        <p:txBody>
          <a:bodyPr wrap="none" lIns="0" tIns="0" rIns="0" bIns="0" anchor="t" anchorCtr="0">
            <a:spAutoFit/>
          </a:bodyPr>
          <a:lstStyle/>
          <a:p>
            <a:pPr algn="ctr"/>
            <a:r>
              <a:rPr lang="zh-CN" sz="2400" b="1" dirty="0">
                <a:solidFill>
                  <a:srgbClr val="E67E22"/>
                </a:solidFill>
                <a:latin typeface="Arial"/>
                <a:ea typeface="Microsoft YaHei"/>
                <a:cs typeface="Arial"/>
              </a:rPr>
              <a:t>3.5~4%</a:t>
            </a:r>
          </a:p>
        </p:txBody>
      </p:sp>
      <p:sp>
        <p:nvSpPr>
          <p:cNvPr id="39" name="TextBox 39"/>
          <p:cNvSpPr txBox="1"/>
          <p:nvPr/>
        </p:nvSpPr>
        <p:spPr>
          <a:xfrm>
            <a:off x="3589734" y="3440906"/>
            <a:ext cx="478631"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营销池</a:t>
            </a:r>
          </a:p>
        </p:txBody>
      </p:sp>
      <p:sp>
        <p:nvSpPr>
          <p:cNvPr id="40" name="TextBox 40"/>
          <p:cNvSpPr txBox="1"/>
          <p:nvPr/>
        </p:nvSpPr>
        <p:spPr>
          <a:xfrm>
            <a:off x="3255645" y="3658552"/>
            <a:ext cx="1146810"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三元营销统一调配</a:t>
            </a:r>
          </a:p>
        </p:txBody>
      </p:sp>
      <p:sp>
        <p:nvSpPr>
          <p:cNvPr id="41" name="Rectangle 41"/>
          <p:cNvSpPr/>
          <p:nvPr/>
        </p:nvSpPr>
        <p:spPr>
          <a:xfrm>
            <a:off x="5010150" y="28194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42" name="Rectangle 42"/>
          <p:cNvSpPr/>
          <p:nvPr/>
        </p:nvSpPr>
        <p:spPr>
          <a:xfrm>
            <a:off x="5010150" y="2819400"/>
            <a:ext cx="2076450" cy="57150"/>
          </a:xfrm>
          <a:prstGeom prst="roundRect">
            <a:avLst>
              <a:gd name="adj" fmla="val 50000"/>
            </a:avLst>
          </a:prstGeom>
          <a:solidFill>
            <a:srgbClr val="E67E22"/>
          </a:solidFill>
          <a:ln>
            <a:noFill/>
          </a:ln>
        </p:spPr>
      </p:sp>
      <p:sp>
        <p:nvSpPr>
          <p:cNvPr id="43" name="TextBox 43"/>
          <p:cNvSpPr txBox="1"/>
          <p:nvPr/>
        </p:nvSpPr>
        <p:spPr>
          <a:xfrm>
            <a:off x="5664391" y="3004185"/>
            <a:ext cx="767967" cy="548640"/>
          </a:xfrm>
          <a:prstGeom prst="rect">
            <a:avLst/>
          </a:prstGeom>
          <a:noFill/>
          <a:ln>
            <a:noFill/>
          </a:ln>
        </p:spPr>
        <p:txBody>
          <a:bodyPr wrap="none" lIns="0" tIns="0" rIns="0" bIns="0" anchor="t" anchorCtr="0">
            <a:spAutoFit/>
          </a:bodyPr>
          <a:lstStyle/>
          <a:p>
            <a:pPr algn="ctr"/>
            <a:r>
              <a:rPr lang="zh-CN" sz="2700" b="1" dirty="0">
                <a:solidFill>
                  <a:srgbClr val="E67E22"/>
                </a:solidFill>
                <a:latin typeface="Arial"/>
                <a:ea typeface="Microsoft YaHei"/>
                <a:cs typeface="Arial"/>
              </a:rPr>
              <a:t>30%</a:t>
            </a:r>
          </a:p>
        </p:txBody>
      </p:sp>
      <p:sp>
        <p:nvSpPr>
          <p:cNvPr id="44" name="TextBox 44"/>
          <p:cNvSpPr txBox="1"/>
          <p:nvPr/>
        </p:nvSpPr>
        <p:spPr>
          <a:xfrm>
            <a:off x="5509022" y="3440906"/>
            <a:ext cx="107870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代金券抵扣上限</a:t>
            </a:r>
          </a:p>
        </p:txBody>
      </p:sp>
      <p:sp>
        <p:nvSpPr>
          <p:cNvPr id="45" name="TextBox 45"/>
          <p:cNvSpPr txBox="1"/>
          <p:nvPr/>
        </p:nvSpPr>
        <p:spPr>
          <a:xfrm>
            <a:off x="5684996" y="3658552"/>
            <a:ext cx="726758"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全平台通用</a:t>
            </a:r>
          </a:p>
        </p:txBody>
      </p:sp>
      <p:sp>
        <p:nvSpPr>
          <p:cNvPr id="46" name="Rectangle 46"/>
          <p:cNvSpPr/>
          <p:nvPr/>
        </p:nvSpPr>
        <p:spPr>
          <a:xfrm>
            <a:off x="7229475" y="28194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47" name="Rectangle 47"/>
          <p:cNvSpPr/>
          <p:nvPr/>
        </p:nvSpPr>
        <p:spPr>
          <a:xfrm>
            <a:off x="7229475" y="2819400"/>
            <a:ext cx="2076450" cy="57150"/>
          </a:xfrm>
          <a:prstGeom prst="roundRect">
            <a:avLst>
              <a:gd name="adj" fmla="val 50000"/>
            </a:avLst>
          </a:prstGeom>
          <a:solidFill>
            <a:srgbClr val="1A5276"/>
          </a:solidFill>
          <a:ln>
            <a:noFill/>
          </a:ln>
        </p:spPr>
      </p:sp>
      <p:sp>
        <p:nvSpPr>
          <p:cNvPr id="48" name="TextBox 48"/>
          <p:cNvSpPr txBox="1"/>
          <p:nvPr/>
        </p:nvSpPr>
        <p:spPr>
          <a:xfrm>
            <a:off x="7883716" y="3004185"/>
            <a:ext cx="767967" cy="548640"/>
          </a:xfrm>
          <a:prstGeom prst="rect">
            <a:avLst/>
          </a:prstGeom>
          <a:noFill/>
          <a:ln>
            <a:noFill/>
          </a:ln>
        </p:spPr>
        <p:txBody>
          <a:bodyPr wrap="none" lIns="0" tIns="0" rIns="0" bIns="0" anchor="t" anchorCtr="0">
            <a:spAutoFit/>
          </a:bodyPr>
          <a:lstStyle/>
          <a:p>
            <a:pPr algn="ctr"/>
            <a:r>
              <a:rPr lang="zh-CN" sz="2700" b="1" dirty="0">
                <a:solidFill>
                  <a:srgbClr val="1A5276"/>
                </a:solidFill>
                <a:latin typeface="Arial"/>
                <a:ea typeface="Microsoft YaHei"/>
                <a:cs typeface="Arial"/>
              </a:rPr>
              <a:t>20%</a:t>
            </a:r>
          </a:p>
        </p:txBody>
      </p:sp>
      <p:sp>
        <p:nvSpPr>
          <p:cNvPr id="49" name="TextBox 49"/>
          <p:cNvSpPr txBox="1"/>
          <p:nvPr/>
        </p:nvSpPr>
        <p:spPr>
          <a:xfrm>
            <a:off x="7803356" y="3440906"/>
            <a:ext cx="928688"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积分抵扣上限</a:t>
            </a:r>
          </a:p>
        </p:txBody>
      </p:sp>
      <p:sp>
        <p:nvSpPr>
          <p:cNvPr id="50" name="TextBox 50"/>
          <p:cNvSpPr txBox="1"/>
          <p:nvPr/>
        </p:nvSpPr>
        <p:spPr>
          <a:xfrm>
            <a:off x="7904321" y="3658552"/>
            <a:ext cx="726758"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全平台通用</a:t>
            </a:r>
          </a:p>
        </p:txBody>
      </p:sp>
      <p:sp>
        <p:nvSpPr>
          <p:cNvPr id="51" name="Rectangle 51"/>
          <p:cNvSpPr/>
          <p:nvPr/>
        </p:nvSpPr>
        <p:spPr>
          <a:xfrm>
            <a:off x="9448800" y="2819400"/>
            <a:ext cx="2076450" cy="1428750"/>
          </a:xfrm>
          <a:prstGeom prst="roundRect">
            <a:avLst>
              <a:gd name="adj" fmla="val 9333"/>
            </a:avLst>
          </a:prstGeom>
          <a:solidFill>
            <a:srgbClr val="F5F0EA"/>
          </a:solidFill>
          <a:ln>
            <a:noFill/>
          </a:ln>
          <a:effectLst>
            <a:outerShdw blurRad="76200" dist="19050" dir="5400000" algn="ctr" rotWithShape="0">
              <a:srgbClr val="2C2C2C">
                <a:alpha val="4500"/>
              </a:srgbClr>
            </a:outerShdw>
          </a:effectLst>
        </p:spPr>
      </p:sp>
      <p:sp>
        <p:nvSpPr>
          <p:cNvPr id="52" name="Rectangle 52"/>
          <p:cNvSpPr/>
          <p:nvPr/>
        </p:nvSpPr>
        <p:spPr>
          <a:xfrm>
            <a:off x="9448800" y="2819400"/>
            <a:ext cx="2076450" cy="57150"/>
          </a:xfrm>
          <a:prstGeom prst="roundRect">
            <a:avLst>
              <a:gd name="adj" fmla="val 50000"/>
            </a:avLst>
          </a:prstGeom>
          <a:solidFill>
            <a:srgbClr val="D4A574"/>
          </a:solidFill>
          <a:ln>
            <a:noFill/>
          </a:ln>
        </p:spPr>
      </p:sp>
      <p:sp>
        <p:nvSpPr>
          <p:cNvPr id="53" name="TextBox 53"/>
          <p:cNvSpPr txBox="1"/>
          <p:nvPr/>
        </p:nvSpPr>
        <p:spPr>
          <a:xfrm>
            <a:off x="10103041" y="3004185"/>
            <a:ext cx="767967" cy="548640"/>
          </a:xfrm>
          <a:prstGeom prst="rect">
            <a:avLst/>
          </a:prstGeom>
          <a:noFill/>
          <a:ln>
            <a:noFill/>
          </a:ln>
        </p:spPr>
        <p:txBody>
          <a:bodyPr wrap="none" lIns="0" tIns="0" rIns="0" bIns="0" anchor="t" anchorCtr="0">
            <a:spAutoFit/>
          </a:bodyPr>
          <a:lstStyle/>
          <a:p>
            <a:pPr algn="ctr"/>
            <a:r>
              <a:rPr lang="zh-CN" sz="2700" b="1" dirty="0">
                <a:solidFill>
                  <a:srgbClr val="D4A574"/>
                </a:solidFill>
                <a:latin typeface="Arial"/>
                <a:ea typeface="Microsoft YaHei"/>
                <a:cs typeface="Arial"/>
              </a:rPr>
              <a:t>30%</a:t>
            </a:r>
          </a:p>
        </p:txBody>
      </p:sp>
      <p:sp>
        <p:nvSpPr>
          <p:cNvPr id="54" name="TextBox 54"/>
          <p:cNvSpPr txBox="1"/>
          <p:nvPr/>
        </p:nvSpPr>
        <p:spPr>
          <a:xfrm>
            <a:off x="9947672" y="3440906"/>
            <a:ext cx="1078706"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消费金核销上限</a:t>
            </a:r>
          </a:p>
        </p:txBody>
      </p:sp>
      <p:sp>
        <p:nvSpPr>
          <p:cNvPr id="55" name="TextBox 55"/>
          <p:cNvSpPr txBox="1"/>
          <p:nvPr/>
        </p:nvSpPr>
        <p:spPr>
          <a:xfrm>
            <a:off x="10123646" y="3658552"/>
            <a:ext cx="726758" cy="213360"/>
          </a:xfrm>
          <a:prstGeom prst="rect">
            <a:avLst/>
          </a:prstGeom>
          <a:noFill/>
          <a:ln>
            <a:noFill/>
          </a:ln>
        </p:spPr>
        <p:txBody>
          <a:bodyPr wrap="none" lIns="0" tIns="0" rIns="0" bIns="0" anchor="t" anchorCtr="0">
            <a:spAutoFit/>
          </a:bodyPr>
          <a:lstStyle/>
          <a:p>
            <a:pPr algn="ctr"/>
            <a:r>
              <a:rPr lang="zh-CN" sz="1050" dirty="0">
                <a:solidFill>
                  <a:srgbClr val="2C2C2C"/>
                </a:solidFill>
                <a:latin typeface="Arial"/>
                <a:ea typeface="Microsoft YaHei"/>
                <a:cs typeface="Arial"/>
              </a:rPr>
              <a:t>全平台通用</a:t>
            </a:r>
          </a:p>
        </p:txBody>
      </p:sp>
      <p:sp>
        <p:nvSpPr>
          <p:cNvPr id="56" name="Rectangle 56"/>
          <p:cNvSpPr/>
          <p:nvPr/>
        </p:nvSpPr>
        <p:spPr>
          <a:xfrm>
            <a:off x="571500" y="4533900"/>
            <a:ext cx="11049000" cy="514350"/>
          </a:xfrm>
          <a:prstGeom prst="roundRect">
            <a:avLst>
              <a:gd name="adj" fmla="val 22222"/>
            </a:avLst>
          </a:prstGeom>
          <a:solidFill>
            <a:srgbClr val="F0EDE8"/>
          </a:solidFill>
          <a:ln>
            <a:noFill/>
          </a:ln>
        </p:spPr>
      </p:sp>
      <p:sp>
        <p:nvSpPr>
          <p:cNvPr id="57" name="Rectangle 57"/>
          <p:cNvSpPr/>
          <p:nvPr/>
        </p:nvSpPr>
        <p:spPr>
          <a:xfrm>
            <a:off x="571500" y="4533900"/>
            <a:ext cx="57150" cy="514350"/>
          </a:xfrm>
          <a:prstGeom prst="roundRect">
            <a:avLst>
              <a:gd name="adj" fmla="val 50000"/>
            </a:avLst>
          </a:prstGeom>
          <a:solidFill>
            <a:srgbClr val="E67E22"/>
          </a:solidFill>
          <a:ln>
            <a:noFill/>
          </a:ln>
        </p:spPr>
      </p:sp>
      <p:sp>
        <p:nvSpPr>
          <p:cNvPr id="58" name="TextBox 58"/>
          <p:cNvSpPr txBox="1"/>
          <p:nvPr/>
        </p:nvSpPr>
        <p:spPr>
          <a:xfrm>
            <a:off x="842010" y="4632960"/>
            <a:ext cx="1038606"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卷二核心逻辑</a:t>
            </a:r>
          </a:p>
        </p:txBody>
      </p:sp>
      <p:sp>
        <p:nvSpPr>
          <p:cNvPr id="59" name="TextBox 59"/>
          <p:cNvSpPr txBox="1"/>
          <p:nvPr/>
        </p:nvSpPr>
        <p:spPr>
          <a:xfrm>
            <a:off x="2175510" y="4632960"/>
            <a:ext cx="7535418"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交易即服务费结算 → 零固定费用 · 零预充值 · 零资金占用 → 商家独立经营 · 生态会员互通 · 消费权益流转</a:t>
            </a:r>
          </a:p>
        </p:txBody>
      </p:sp>
      <p:sp>
        <p:nvSpPr>
          <p:cNvPr id="60" name="TextBox 60"/>
          <p:cNvSpPr txBox="1"/>
          <p:nvPr/>
        </p:nvSpPr>
        <p:spPr>
          <a:xfrm>
            <a:off x="843915" y="4858702"/>
            <a:ext cx="634846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以上所有数字来源于服务费结算模型 V3.2（跨店通兑版），经6/4会议共识确认，并已通过合规审查。</a:t>
            </a:r>
          </a:p>
        </p:txBody>
      </p:sp>
      <p:sp>
        <p:nvSpPr>
          <p:cNvPr id="61" name="Rectangle 61"/>
          <p:cNvSpPr/>
          <p:nvPr/>
        </p:nvSpPr>
        <p:spPr>
          <a:xfrm>
            <a:off x="9048750" y="4610100"/>
            <a:ext cx="2381250" cy="342900"/>
          </a:xfrm>
          <a:prstGeom prst="roundRect">
            <a:avLst>
              <a:gd name="adj" fmla="val 22222"/>
            </a:avLst>
          </a:prstGeom>
          <a:solidFill>
            <a:srgbClr val="1E8449">
              <a:alpha val="10000"/>
            </a:srgbClr>
          </a:solidFill>
          <a:ln>
            <a:noFill/>
          </a:ln>
        </p:spPr>
      </p:sp>
      <p:sp>
        <p:nvSpPr>
          <p:cNvPr id="62" name="TextBox 62"/>
          <p:cNvSpPr txBox="1"/>
          <p:nvPr/>
        </p:nvSpPr>
        <p:spPr>
          <a:xfrm>
            <a:off x="9784985" y="4649152"/>
            <a:ext cx="908780"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合规审查通过</a:t>
            </a:r>
          </a:p>
        </p:txBody>
      </p:sp>
      <p:sp>
        <p:nvSpPr>
          <p:cNvPr id="63" name="TextBox 63"/>
          <p:cNvSpPr txBox="1"/>
          <p:nvPr/>
        </p:nvSpPr>
        <p:spPr>
          <a:xfrm>
            <a:off x="9843849" y="4806791"/>
            <a:ext cx="791051"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三条红线零触碰</a:t>
            </a:r>
          </a:p>
        </p:txBody>
      </p:sp>
      <p:sp>
        <p:nvSpPr>
          <p:cNvPr id="64" name="Line 64"/>
          <p:cNvSpPr/>
          <p:nvPr/>
        </p:nvSpPr>
        <p:spPr>
          <a:xfrm>
            <a:off x="571500" y="5219700"/>
            <a:ext cx="11049000" cy="9525"/>
          </a:xfrm>
          <a:custGeom>
            <a:avLst/>
            <a:gdLst/>
            <a:ahLst/>
            <a:cxnLst/>
            <a:rect l="l" t="t" r="r" b="b"/>
            <a:pathLst>
              <a:path w="11049000" h="9525">
                <a:moveTo>
                  <a:pt x="0" y="0"/>
                </a:moveTo>
                <a:lnTo>
                  <a:pt x="11049000" y="0"/>
                </a:lnTo>
              </a:path>
            </a:pathLst>
          </a:custGeom>
          <a:noFill/>
          <a:ln w="9525">
            <a:solidFill>
              <a:srgbClr val="E8E3DC"/>
            </a:solidFill>
          </a:ln>
        </p:spPr>
      </p:sp>
      <p:sp>
        <p:nvSpPr>
          <p:cNvPr id="65" name="TextBox 65"/>
          <p:cNvSpPr txBox="1"/>
          <p:nvPr/>
        </p:nvSpPr>
        <p:spPr>
          <a:xfrm>
            <a:off x="559118" y="5362099"/>
            <a:ext cx="6876621"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平台收入公式 = 交易笔数 × 单笔均价 × (平台费率 + 渠道费)。月固定成本含云服务、研发维护、运营人员、合规审计。</a:t>
            </a:r>
          </a:p>
        </p:txBody>
      </p:sp>
      <p:sp>
        <p:nvSpPr>
          <p:cNvPr id="66" name="TextBox 66"/>
          <p:cNvSpPr txBox="1"/>
          <p:nvPr/>
        </p:nvSpPr>
        <p:spPr>
          <a:xfrm>
            <a:off x="559118" y="5571649"/>
            <a:ext cx="6727103" cy="198120"/>
          </a:xfrm>
          <a:prstGeom prst="rect">
            <a:avLst/>
          </a:prstGeom>
          <a:noFill/>
          <a:ln>
            <a:noFill/>
          </a:ln>
        </p:spPr>
        <p:txBody>
          <a:bodyPr wrap="none" lIns="0" tIns="0" rIns="0" bIns="0" anchor="t" anchorCtr="0">
            <a:spAutoFit/>
          </a:bodyPr>
          <a:lstStyle/>
          <a:p>
            <a:pPr algn="l"/>
            <a:r>
              <a:rPr lang="zh-CN" sz="975" dirty="0">
                <a:solidFill>
                  <a:srgbClr val="A0A0A0"/>
                </a:solidFill>
                <a:latin typeface="Arial"/>
                <a:ea typeface="Microsoft YaHei"/>
                <a:cs typeface="Arial"/>
              </a:rPr>
              <a:t>三业态加权平均平台费率 = 5.2%（平台商家5.0% × 权0.4 + 联盟商家9.5% × 权0.35 + 综合商城6.0% × 权0.25）。</a:t>
            </a:r>
          </a:p>
        </p:txBody>
      </p:sp>
      <p:sp>
        <p:nvSpPr>
          <p:cNvPr id="67" name="Rectangle 67"/>
          <p:cNvSpPr/>
          <p:nvPr/>
        </p:nvSpPr>
        <p:spPr>
          <a:xfrm>
            <a:off x="571500" y="5886450"/>
            <a:ext cx="11049000" cy="19050"/>
          </a:xfrm>
          <a:prstGeom prst="roundRect">
            <a:avLst>
              <a:gd name="adj" fmla="val 50000"/>
            </a:avLst>
          </a:prstGeom>
          <a:solidFill>
            <a:srgbClr val="E8E3DC"/>
          </a:solidFill>
          <a:ln>
            <a:noFill/>
          </a:ln>
        </p:spPr>
      </p:sp>
      <p:sp>
        <p:nvSpPr>
          <p:cNvPr id="68" name="Rectangle 68"/>
          <p:cNvSpPr/>
          <p:nvPr/>
        </p:nvSpPr>
        <p:spPr>
          <a:xfrm>
            <a:off x="5524500" y="5848350"/>
            <a:ext cx="1143000" cy="95250"/>
          </a:xfrm>
          <a:prstGeom prst="roundRect">
            <a:avLst>
              <a:gd name="adj" fmla="val 50000"/>
            </a:avLst>
          </a:prstGeom>
          <a:solidFill>
            <a:srgbClr val="E67E22">
              <a:alpha val="30000"/>
            </a:srgbClr>
          </a:solidFill>
          <a:ln>
            <a:noFill/>
          </a:ln>
        </p:spPr>
      </p:sp>
      <p:sp>
        <p:nvSpPr>
          <p:cNvPr id="69" name="TextBox 69"/>
          <p:cNvSpPr txBox="1"/>
          <p:nvPr/>
        </p:nvSpPr>
        <p:spPr>
          <a:xfrm>
            <a:off x="552450" y="6010275"/>
            <a:ext cx="1959840" cy="304800"/>
          </a:xfrm>
          <a:prstGeom prst="rect">
            <a:avLst/>
          </a:prstGeom>
          <a:noFill/>
          <a:ln>
            <a:noFill/>
          </a:ln>
        </p:spPr>
        <p:txBody>
          <a:bodyPr wrap="none" lIns="0" tIns="0" rIns="0" bIns="0" anchor="t" anchorCtr="0">
            <a:spAutoFit/>
          </a:bodyPr>
          <a:lstStyle/>
          <a:p>
            <a:pPr algn="l"/>
            <a:r>
              <a:rPr lang="zh-CN" sz="1500" b="1" dirty="0">
                <a:solidFill>
                  <a:srgbClr val="7F8C8D"/>
                </a:solidFill>
                <a:latin typeface="Georgia"/>
                <a:ea typeface="KaiTi"/>
                <a:cs typeface="Georgia"/>
              </a:rPr>
              <a:t>卷二：商业模型 · 完</a:t>
            </a:r>
          </a:p>
        </p:txBody>
      </p:sp>
      <p:sp>
        <p:nvSpPr>
          <p:cNvPr id="70" name="TextBox 70"/>
          <p:cNvSpPr txBox="1"/>
          <p:nvPr/>
        </p:nvSpPr>
        <p:spPr>
          <a:xfrm>
            <a:off x="2463165" y="6058852"/>
            <a:ext cx="3023044"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下一卷：卷三·营销策略与推广体系（P30-P45）</a:t>
            </a:r>
          </a:p>
        </p:txBody>
      </p:sp>
      <p:sp>
        <p:nvSpPr>
          <p:cNvPr id="71" name="TextBox 71"/>
          <p:cNvSpPr txBox="1"/>
          <p:nvPr/>
        </p:nvSpPr>
        <p:spPr>
          <a:xfrm>
            <a:off x="558165" y="6477952"/>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
        <p:nvSpPr>
          <p:cNvPr id="72" name="TextBox 72"/>
          <p:cNvSpPr txBox="1"/>
          <p:nvPr/>
        </p:nvSpPr>
        <p:spPr>
          <a:xfrm>
            <a:off x="11453146" y="6477952"/>
            <a:ext cx="180689" cy="213360"/>
          </a:xfrm>
          <a:prstGeom prst="rect">
            <a:avLst/>
          </a:prstGeom>
          <a:noFill/>
          <a:ln>
            <a:noFill/>
          </a:ln>
        </p:spPr>
        <p:txBody>
          <a:bodyPr wrap="none" lIns="0" tIns="0" rIns="0" bIns="0" anchor="t" anchorCtr="0">
            <a:spAutoFit/>
          </a:bodyPr>
          <a:lstStyle/>
          <a:p>
            <a:pPr algn="r"/>
            <a:r>
              <a:rPr lang="zh-CN" sz="1050" dirty="0">
                <a:solidFill>
                  <a:srgbClr val="A0A0A0"/>
                </a:solidFill>
                <a:latin typeface="Arial"/>
                <a:ea typeface="Microsoft YaHei"/>
                <a:cs typeface="Arial"/>
              </a:rPr>
              <a:t>29</a:t>
            </a:r>
          </a:p>
        </p:txBody>
      </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4762500" cy="6858000"/>
          </a:xfrm>
          <a:prstGeom prst="rect">
            <a:avLst/>
          </a:prstGeom>
          <a:gradFill>
            <a:gsLst>
              <a:gs pos="0">
                <a:srgbClr val="1A5276">
                  <a:alpha val="12000"/>
                </a:srgbClr>
              </a:gs>
              <a:gs pos="100000">
                <a:srgbClr val="FAFAF5">
                  <a:alpha val="0"/>
                </a:srgbClr>
              </a:gs>
            </a:gsLst>
            <a:lin ang="0" scaled="1"/>
          </a:gradFill>
          <a:ln>
            <a:noFill/>
          </a:ln>
        </p:spPr>
      </p:sp>
      <p:sp>
        <p:nvSpPr>
          <p:cNvPr id="4" name="TextBox 4"/>
          <p:cNvSpPr txBox="1"/>
          <p:nvPr/>
        </p:nvSpPr>
        <p:spPr>
          <a:xfrm>
            <a:off x="861060" y="1889760"/>
            <a:ext cx="1090193" cy="1463040"/>
          </a:xfrm>
          <a:prstGeom prst="rect">
            <a:avLst/>
          </a:prstGeom>
          <a:noFill/>
          <a:ln>
            <a:noFill/>
          </a:ln>
        </p:spPr>
        <p:txBody>
          <a:bodyPr wrap="none" lIns="0" tIns="0" rIns="0" bIns="0" anchor="t" anchorCtr="0">
            <a:spAutoFit/>
          </a:bodyPr>
          <a:lstStyle/>
          <a:p>
            <a:pPr algn="l"/>
            <a:r>
              <a:rPr lang="zh-CN" sz="7200" b="1" dirty="0">
                <a:solidFill>
                  <a:srgbClr val="1A5276">
                    <a:alphaMod val="25000"/>
                  </a:srgbClr>
                </a:solidFill>
                <a:latin typeface="Georgia"/>
                <a:ea typeface="KaiTi"/>
                <a:cs typeface="Georgia"/>
              </a:rPr>
              <a:t>III</a:t>
            </a:r>
          </a:p>
        </p:txBody>
      </p:sp>
      <p:sp>
        <p:nvSpPr>
          <p:cNvPr id="5" name="TextBox 5"/>
          <p:cNvSpPr txBox="1"/>
          <p:nvPr/>
        </p:nvSpPr>
        <p:spPr>
          <a:xfrm>
            <a:off x="906780" y="3230880"/>
            <a:ext cx="2611755" cy="731520"/>
          </a:xfrm>
          <a:prstGeom prst="rect">
            <a:avLst/>
          </a:prstGeom>
          <a:noFill/>
          <a:ln>
            <a:noFill/>
          </a:ln>
        </p:spPr>
        <p:txBody>
          <a:bodyPr wrap="none" lIns="0" tIns="0" rIns="0" bIns="0" anchor="t" anchorCtr="0">
            <a:spAutoFit/>
          </a:bodyPr>
          <a:lstStyle/>
          <a:p>
            <a:pPr algn="l"/>
            <a:r>
              <a:rPr lang="zh-CN" sz="3600" b="1" dirty="0">
                <a:solidFill>
                  <a:srgbClr val="2C2C2C"/>
                </a:solidFill>
                <a:latin typeface="Georgia"/>
                <a:ea typeface="KaiTi"/>
                <a:cs typeface="Georgia"/>
              </a:rPr>
              <a:t>执行路线图</a:t>
            </a:r>
          </a:p>
        </p:txBody>
      </p:sp>
      <p:sp>
        <p:nvSpPr>
          <p:cNvPr id="6" name="TextBox 6"/>
          <p:cNvSpPr txBox="1"/>
          <p:nvPr/>
        </p:nvSpPr>
        <p:spPr>
          <a:xfrm>
            <a:off x="931545" y="3917632"/>
            <a:ext cx="922020" cy="335280"/>
          </a:xfrm>
          <a:prstGeom prst="rect">
            <a:avLst/>
          </a:prstGeom>
          <a:noFill/>
          <a:ln>
            <a:noFill/>
          </a:ln>
        </p:spPr>
        <p:txBody>
          <a:bodyPr wrap="none" lIns="0" tIns="0" rIns="0" bIns="0" anchor="t" anchorCtr="0">
            <a:spAutoFit/>
          </a:bodyPr>
          <a:lstStyle/>
          <a:p>
            <a:pPr algn="l"/>
            <a:r>
              <a:rPr lang="zh-CN" sz="1650" dirty="0">
                <a:solidFill>
                  <a:srgbClr val="7F8C8D"/>
                </a:solidFill>
                <a:latin typeface="Arial"/>
                <a:ea typeface="Microsoft YaHei"/>
                <a:cs typeface="Arial"/>
              </a:rPr>
              <a:t>我怎么做</a:t>
            </a:r>
          </a:p>
        </p:txBody>
      </p:sp>
      <p:sp>
        <p:nvSpPr>
          <p:cNvPr id="7" name="TextBox 7"/>
          <p:cNvSpPr txBox="1"/>
          <p:nvPr/>
        </p:nvSpPr>
        <p:spPr>
          <a:xfrm>
            <a:off x="6176962" y="17835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本卷内容</a:t>
            </a:r>
          </a:p>
        </p:txBody>
      </p:sp>
      <p:sp>
        <p:nvSpPr>
          <p:cNvPr id="8" name="TextBox 8"/>
          <p:cNvSpPr txBox="1"/>
          <p:nvPr/>
        </p:nvSpPr>
        <p:spPr>
          <a:xfrm>
            <a:off x="6172200" y="2219325"/>
            <a:ext cx="4098608"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瓶颈全景 · 第〇段信息补全 · 第一段验证飞轮</a:t>
            </a:r>
          </a:p>
        </p:txBody>
      </p:sp>
      <p:sp>
        <p:nvSpPr>
          <p:cNvPr id="9" name="TextBox 9"/>
          <p:cNvSpPr txBox="1"/>
          <p:nvPr/>
        </p:nvSpPr>
        <p:spPr>
          <a:xfrm>
            <a:off x="6172200" y="2552700"/>
            <a:ext cx="5128736"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第二段复制验证 · 第三段品类传教士 · 预算框架 · 三不投</a:t>
            </a:r>
          </a:p>
        </p:txBody>
      </p:sp>
      <p:sp>
        <p:nvSpPr>
          <p:cNvPr id="10" name="Rectangle 10"/>
          <p:cNvSpPr/>
          <p:nvPr/>
        </p:nvSpPr>
        <p:spPr>
          <a:xfrm>
            <a:off x="5715000" y="4000500"/>
            <a:ext cx="5905500" cy="571500"/>
          </a:xfrm>
          <a:prstGeom prst="roundRect">
            <a:avLst>
              <a:gd name="adj" fmla="val 23333"/>
            </a:avLst>
          </a:prstGeom>
          <a:solidFill>
            <a:srgbClr val="FFFFFF"/>
          </a:solidFill>
          <a:ln w="9525">
            <a:solidFill>
              <a:srgbClr val="F0EDE8"/>
            </a:solidFill>
          </a:ln>
        </p:spPr>
      </p:sp>
      <p:sp>
        <p:nvSpPr>
          <p:cNvPr id="11" name="TextBox 11"/>
          <p:cNvSpPr txBox="1"/>
          <p:nvPr/>
        </p:nvSpPr>
        <p:spPr>
          <a:xfrm>
            <a:off x="5941266" y="4216718"/>
            <a:ext cx="5452967" cy="274320"/>
          </a:xfrm>
          <a:prstGeom prst="rect">
            <a:avLst/>
          </a:prstGeom>
          <a:noFill/>
          <a:ln>
            <a:noFill/>
          </a:ln>
        </p:spPr>
        <p:txBody>
          <a:bodyPr wrap="none" lIns="0" tIns="0" rIns="0" bIns="0" anchor="t" anchorCtr="0">
            <a:spAutoFit/>
          </a:bodyPr>
          <a:lstStyle/>
          <a:p>
            <a:pPr algn="ctr"/>
            <a:r>
              <a:rPr lang="zh-CN" sz="1350" dirty="0">
                <a:solidFill>
                  <a:srgbClr val="1A5276"/>
                </a:solidFill>
                <a:latin typeface="Arial"/>
                <a:ea typeface="Microsoft YaHei"/>
                <a:cs typeface="Arial"/>
              </a:rPr>
              <a:t>核心诊断：战略资产过剩，组织资产归零——没有错误路径的沉没成本</a:t>
            </a:r>
          </a:p>
        </p:txBody>
      </p:sp>
      <p:sp>
        <p:nvSpPr>
          <p:cNvPr id="12" name="TextBox 12"/>
          <p:cNvSpPr txBox="1"/>
          <p:nvPr/>
        </p:nvSpPr>
        <p:spPr>
          <a:xfrm>
            <a:off x="560070" y="6522720"/>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13" name="TextBox 13"/>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30</a:t>
            </a:r>
          </a:p>
        </p:txBody>
      </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C0392B"/>
          </a:solidFill>
          <a:ln>
            <a:noFill/>
          </a:ln>
        </p:spPr>
      </p:sp>
      <p:sp>
        <p:nvSpPr>
          <p:cNvPr id="4" name="TextBox 4"/>
          <p:cNvSpPr txBox="1"/>
          <p:nvPr/>
        </p:nvSpPr>
        <p:spPr>
          <a:xfrm>
            <a:off x="727710" y="375285"/>
            <a:ext cx="7629525"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第〇段：在动任何执行之前，先填满信息黑洞</a:t>
            </a:r>
          </a:p>
        </p:txBody>
      </p:sp>
      <p:sp>
        <p:nvSpPr>
          <p:cNvPr id="5" name="TextBox 5"/>
          <p:cNvSpPr txBox="1"/>
          <p:nvPr/>
        </p:nvSpPr>
        <p:spPr>
          <a:xfrm>
            <a:off x="742950" y="838200"/>
            <a:ext cx="7959090"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12个问题，5天（6/18-6/22）。答案可以是「零」或「未启动」，但不能是「不知道」。</a:t>
            </a:r>
          </a:p>
        </p:txBody>
      </p:sp>
      <p:sp>
        <p:nvSpPr>
          <p:cNvPr id="6" name="Rectangle 6"/>
          <p:cNvSpPr/>
          <p:nvPr/>
        </p:nvSpPr>
        <p:spPr>
          <a:xfrm>
            <a:off x="571500" y="1333500"/>
            <a:ext cx="5381625" cy="2000250"/>
          </a:xfrm>
          <a:prstGeom prst="roundRect">
            <a:avLst>
              <a:gd name="adj" fmla="val 6667"/>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333500"/>
            <a:ext cx="5381625" cy="2000250"/>
          </a:xfrm>
          <a:prstGeom prst="roundRect">
            <a:avLst>
              <a:gd name="adj" fmla="val 6667"/>
            </a:avLst>
          </a:prstGeom>
          <a:noFill/>
          <a:ln w="9525">
            <a:solidFill>
              <a:srgbClr val="E8E3DC"/>
            </a:solidFill>
          </a:ln>
        </p:spPr>
      </p:sp>
      <p:sp>
        <p:nvSpPr>
          <p:cNvPr id="8" name="Rectangle 8"/>
          <p:cNvSpPr/>
          <p:nvPr/>
        </p:nvSpPr>
        <p:spPr>
          <a:xfrm>
            <a:off x="571500" y="1333500"/>
            <a:ext cx="5381625" cy="38100"/>
          </a:xfrm>
          <a:prstGeom prst="roundRect">
            <a:avLst>
              <a:gd name="adj" fmla="val 50000"/>
            </a:avLst>
          </a:prstGeom>
          <a:solidFill>
            <a:srgbClr val="1A5276"/>
          </a:solidFill>
          <a:ln>
            <a:noFill/>
          </a:ln>
        </p:spPr>
      </p:sp>
      <p:sp>
        <p:nvSpPr>
          <p:cNvPr id="9" name="Ellipse 9"/>
          <p:cNvSpPr/>
          <p:nvPr/>
        </p:nvSpPr>
        <p:spPr>
          <a:xfrm>
            <a:off x="752475" y="1466850"/>
            <a:ext cx="304800" cy="304800"/>
          </a:xfrm>
          <a:prstGeom prst="ellipse">
            <a:avLst/>
          </a:prstGeom>
          <a:solidFill>
            <a:srgbClr val="1A5276">
              <a:alpha val="12000"/>
            </a:srgbClr>
          </a:solidFill>
          <a:ln>
            <a:noFill/>
          </a:ln>
        </p:spPr>
      </p:sp>
      <p:sp>
        <p:nvSpPr>
          <p:cNvPr id="10" name="TextBox 10"/>
          <p:cNvSpPr txBox="1"/>
          <p:nvPr/>
        </p:nvSpPr>
        <p:spPr>
          <a:xfrm>
            <a:off x="838224" y="1530668"/>
            <a:ext cx="133302" cy="274320"/>
          </a:xfrm>
          <a:prstGeom prst="rect">
            <a:avLst/>
          </a:prstGeom>
          <a:noFill/>
          <a:ln>
            <a:noFill/>
          </a:ln>
        </p:spPr>
        <p:txBody>
          <a:bodyPr wrap="none" lIns="0" tIns="0" rIns="0" bIns="0" anchor="t" anchorCtr="0">
            <a:spAutoFit/>
          </a:bodyPr>
          <a:lstStyle/>
          <a:p>
            <a:pPr algn="ctr"/>
            <a:r>
              <a:rPr lang="zh-CN" sz="1350" dirty="0">
                <a:solidFill>
                  <a:srgbClr val="1A5276"/>
                </a:solidFill>
                <a:latin typeface="Segoe UI"/>
                <a:ea typeface="Microsoft YaHei"/>
                <a:cs typeface="Segoe UI"/>
              </a:rPr>
              <a:t>◈</a:t>
            </a:r>
          </a:p>
        </p:txBody>
      </p:sp>
      <p:sp>
        <p:nvSpPr>
          <p:cNvPr id="11" name="TextBox 11"/>
          <p:cNvSpPr txBox="1"/>
          <p:nvPr/>
        </p:nvSpPr>
        <p:spPr>
          <a:xfrm>
            <a:off x="1122045" y="1507808"/>
            <a:ext cx="3541997" cy="335280"/>
          </a:xfrm>
          <a:prstGeom prst="rect">
            <a:avLst/>
          </a:prstGeom>
          <a:noFill/>
          <a:ln>
            <a:noFill/>
          </a:ln>
        </p:spPr>
        <p:txBody>
          <a:bodyPr wrap="none" lIns="0" tIns="0" rIns="0" bIns="0" anchor="t" anchorCtr="0">
            <a:spAutoFit/>
          </a:bodyPr>
          <a:lstStyle/>
          <a:p>
            <a:pPr algn="l"/>
            <a:r>
              <a:rPr lang="zh-CN" sz="1650" b="1" dirty="0">
                <a:solidFill>
                  <a:srgbClr val="1A5276"/>
                </a:solidFill>
                <a:latin typeface="Arial"/>
                <a:ea typeface="Microsoft YaHei"/>
                <a:cs typeface="Arial"/>
              </a:rPr>
              <a:t>Q1 向数字化中心（张冬/江周辉）</a:t>
            </a:r>
          </a:p>
        </p:txBody>
      </p:sp>
      <p:sp>
        <p:nvSpPr>
          <p:cNvPr id="12" name="Rectangle 12"/>
          <p:cNvSpPr/>
          <p:nvPr/>
        </p:nvSpPr>
        <p:spPr>
          <a:xfrm>
            <a:off x="762000" y="1828800"/>
            <a:ext cx="76200" cy="76200"/>
          </a:xfrm>
          <a:prstGeom prst="roundRect">
            <a:avLst>
              <a:gd name="adj" fmla="val 25000"/>
            </a:avLst>
          </a:prstGeom>
          <a:solidFill>
            <a:srgbClr val="E67E22"/>
          </a:solidFill>
          <a:ln>
            <a:noFill/>
          </a:ln>
        </p:spPr>
      </p:sp>
      <p:sp>
        <p:nvSpPr>
          <p:cNvPr id="13" name="TextBox 13"/>
          <p:cNvSpPr txBox="1"/>
          <p:nvPr/>
        </p:nvSpPr>
        <p:spPr>
          <a:xfrm>
            <a:off x="917258" y="1776889"/>
            <a:ext cx="2276666"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当前SaaS功能清单与完成度？</a:t>
            </a:r>
          </a:p>
        </p:txBody>
      </p:sp>
      <p:sp>
        <p:nvSpPr>
          <p:cNvPr id="14" name="Rectangle 14"/>
          <p:cNvSpPr/>
          <p:nvPr/>
        </p:nvSpPr>
        <p:spPr>
          <a:xfrm>
            <a:off x="762000" y="2076450"/>
            <a:ext cx="76200" cy="76200"/>
          </a:xfrm>
          <a:prstGeom prst="roundRect">
            <a:avLst>
              <a:gd name="adj" fmla="val 25000"/>
            </a:avLst>
          </a:prstGeom>
          <a:solidFill>
            <a:srgbClr val="E67E22"/>
          </a:solidFill>
          <a:ln>
            <a:noFill/>
          </a:ln>
        </p:spPr>
      </p:sp>
      <p:sp>
        <p:nvSpPr>
          <p:cNvPr id="15" name="TextBox 15"/>
          <p:cNvSpPr txBox="1"/>
          <p:nvPr/>
        </p:nvSpPr>
        <p:spPr>
          <a:xfrm>
            <a:off x="917258" y="2024539"/>
            <a:ext cx="2922746"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汇付对接当前状态与技术对接时间线？</a:t>
            </a:r>
          </a:p>
        </p:txBody>
      </p:sp>
      <p:sp>
        <p:nvSpPr>
          <p:cNvPr id="16" name="Rectangle 16"/>
          <p:cNvSpPr/>
          <p:nvPr/>
        </p:nvSpPr>
        <p:spPr>
          <a:xfrm>
            <a:off x="762000" y="2324100"/>
            <a:ext cx="76200" cy="76200"/>
          </a:xfrm>
          <a:prstGeom prst="roundRect">
            <a:avLst>
              <a:gd name="adj" fmla="val 25000"/>
            </a:avLst>
          </a:prstGeom>
          <a:solidFill>
            <a:srgbClr val="E67E22"/>
          </a:solidFill>
          <a:ln>
            <a:noFill/>
          </a:ln>
        </p:spPr>
      </p:sp>
      <p:sp>
        <p:nvSpPr>
          <p:cNvPr id="17" name="TextBox 17"/>
          <p:cNvSpPr txBox="1"/>
          <p:nvPr/>
        </p:nvSpPr>
        <p:spPr>
          <a:xfrm>
            <a:off x="917258" y="2272189"/>
            <a:ext cx="2582704"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单店分账是否已在生产环境跑通？</a:t>
            </a:r>
          </a:p>
        </p:txBody>
      </p:sp>
      <p:sp>
        <p:nvSpPr>
          <p:cNvPr id="18" name="Rectangle 18"/>
          <p:cNvSpPr/>
          <p:nvPr/>
        </p:nvSpPr>
        <p:spPr>
          <a:xfrm>
            <a:off x="762000" y="2590800"/>
            <a:ext cx="5000625" cy="9525"/>
          </a:xfrm>
          <a:prstGeom prst="rect">
            <a:avLst/>
          </a:prstGeom>
          <a:solidFill>
            <a:srgbClr val="E8E3DC"/>
          </a:solidFill>
          <a:ln>
            <a:noFill/>
          </a:ln>
        </p:spPr>
      </p:sp>
      <p:sp>
        <p:nvSpPr>
          <p:cNvPr id="19" name="TextBox 19"/>
          <p:cNvSpPr txBox="1"/>
          <p:nvPr/>
        </p:nvSpPr>
        <p:spPr>
          <a:xfrm>
            <a:off x="747712" y="2736056"/>
            <a:ext cx="329148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关键判断：技术底座是否ready决定公测能否启动</a:t>
            </a:r>
          </a:p>
        </p:txBody>
      </p:sp>
      <p:sp>
        <p:nvSpPr>
          <p:cNvPr id="20" name="Rectangle 20"/>
          <p:cNvSpPr/>
          <p:nvPr/>
        </p:nvSpPr>
        <p:spPr>
          <a:xfrm>
            <a:off x="762000" y="2990850"/>
            <a:ext cx="114300" cy="114300"/>
          </a:xfrm>
          <a:prstGeom prst="roundRect">
            <a:avLst>
              <a:gd name="adj" fmla="val 25000"/>
            </a:avLst>
          </a:prstGeom>
          <a:solidFill>
            <a:srgbClr val="C0392B">
              <a:alpha val="15000"/>
            </a:srgbClr>
          </a:solidFill>
          <a:ln>
            <a:noFill/>
          </a:ln>
        </p:spPr>
      </p:sp>
      <p:sp>
        <p:nvSpPr>
          <p:cNvPr id="21" name="TextBox 21"/>
          <p:cNvSpPr txBox="1"/>
          <p:nvPr/>
        </p:nvSpPr>
        <p:spPr>
          <a:xfrm>
            <a:off x="920115" y="2982278"/>
            <a:ext cx="673551" cy="213360"/>
          </a:xfrm>
          <a:prstGeom prst="rect">
            <a:avLst/>
          </a:prstGeom>
          <a:noFill/>
          <a:ln>
            <a:noFill/>
          </a:ln>
        </p:spPr>
        <p:txBody>
          <a:bodyPr wrap="none" lIns="0" tIns="0" rIns="0" bIns="0" anchor="t" anchorCtr="0">
            <a:spAutoFit/>
          </a:bodyPr>
          <a:lstStyle/>
          <a:p>
            <a:pPr algn="l"/>
            <a:r>
              <a:rPr lang="zh-CN" sz="1050" b="1" dirty="0">
                <a:solidFill>
                  <a:srgbClr val="C0392B"/>
                </a:solidFill>
                <a:latin typeface="Arial"/>
                <a:ea typeface="Microsoft YaHei"/>
                <a:cs typeface="Arial"/>
              </a:rPr>
              <a:t>P0 优先级</a:t>
            </a:r>
          </a:p>
        </p:txBody>
      </p:sp>
      <p:sp>
        <p:nvSpPr>
          <p:cNvPr id="22" name="Rectangle 22"/>
          <p:cNvSpPr/>
          <p:nvPr/>
        </p:nvSpPr>
        <p:spPr>
          <a:xfrm>
            <a:off x="6238875" y="1333500"/>
            <a:ext cx="5381625" cy="2000250"/>
          </a:xfrm>
          <a:prstGeom prst="roundRect">
            <a:avLst>
              <a:gd name="adj" fmla="val 6667"/>
            </a:avLst>
          </a:prstGeom>
          <a:solidFill>
            <a:srgbClr val="FFFFFF"/>
          </a:solidFill>
          <a:ln>
            <a:noFill/>
          </a:ln>
          <a:effectLst>
            <a:outerShdw blurRad="76200" dist="19050" dir="5400000" algn="ctr" rotWithShape="0">
              <a:srgbClr val="2C2C2C">
                <a:alpha val="4500"/>
              </a:srgbClr>
            </a:outerShdw>
          </a:effectLst>
        </p:spPr>
      </p:sp>
      <p:sp>
        <p:nvSpPr>
          <p:cNvPr id="23" name="Rectangle 23"/>
          <p:cNvSpPr/>
          <p:nvPr/>
        </p:nvSpPr>
        <p:spPr>
          <a:xfrm>
            <a:off x="6238875" y="1333500"/>
            <a:ext cx="5381625" cy="2000250"/>
          </a:xfrm>
          <a:prstGeom prst="roundRect">
            <a:avLst>
              <a:gd name="adj" fmla="val 6667"/>
            </a:avLst>
          </a:prstGeom>
          <a:noFill/>
          <a:ln w="9525">
            <a:solidFill>
              <a:srgbClr val="E8E3DC"/>
            </a:solidFill>
          </a:ln>
        </p:spPr>
      </p:sp>
      <p:sp>
        <p:nvSpPr>
          <p:cNvPr id="24" name="Rectangle 24"/>
          <p:cNvSpPr/>
          <p:nvPr/>
        </p:nvSpPr>
        <p:spPr>
          <a:xfrm>
            <a:off x="6238875" y="1333500"/>
            <a:ext cx="5381625" cy="38100"/>
          </a:xfrm>
          <a:prstGeom prst="roundRect">
            <a:avLst>
              <a:gd name="adj" fmla="val 50000"/>
            </a:avLst>
          </a:prstGeom>
          <a:solidFill>
            <a:srgbClr val="E67E22"/>
          </a:solidFill>
          <a:ln>
            <a:noFill/>
          </a:ln>
        </p:spPr>
      </p:sp>
      <p:sp>
        <p:nvSpPr>
          <p:cNvPr id="25" name="Ellipse 25"/>
          <p:cNvSpPr/>
          <p:nvPr/>
        </p:nvSpPr>
        <p:spPr>
          <a:xfrm>
            <a:off x="6419850" y="1466850"/>
            <a:ext cx="304800" cy="304800"/>
          </a:xfrm>
          <a:prstGeom prst="ellipse">
            <a:avLst/>
          </a:prstGeom>
          <a:solidFill>
            <a:srgbClr val="E67E22">
              <a:alpha val="12000"/>
            </a:srgbClr>
          </a:solidFill>
          <a:ln>
            <a:noFill/>
          </a:ln>
        </p:spPr>
      </p:sp>
      <p:sp>
        <p:nvSpPr>
          <p:cNvPr id="26" name="TextBox 26"/>
          <p:cNvSpPr txBox="1"/>
          <p:nvPr/>
        </p:nvSpPr>
        <p:spPr>
          <a:xfrm>
            <a:off x="6505599" y="1530668"/>
            <a:ext cx="133302" cy="274320"/>
          </a:xfrm>
          <a:prstGeom prst="rect">
            <a:avLst/>
          </a:prstGeom>
          <a:noFill/>
          <a:ln>
            <a:noFill/>
          </a:ln>
        </p:spPr>
        <p:txBody>
          <a:bodyPr wrap="none" lIns="0" tIns="0" rIns="0" bIns="0" anchor="t" anchorCtr="0">
            <a:spAutoFit/>
          </a:bodyPr>
          <a:lstStyle/>
          <a:p>
            <a:pPr algn="ctr"/>
            <a:r>
              <a:rPr lang="zh-CN" sz="1350" dirty="0">
                <a:solidFill>
                  <a:srgbClr val="E67E22"/>
                </a:solidFill>
                <a:latin typeface="Segoe UI"/>
                <a:ea typeface="Microsoft YaHei"/>
                <a:cs typeface="Segoe UI"/>
              </a:rPr>
              <a:t>◎</a:t>
            </a:r>
          </a:p>
        </p:txBody>
      </p:sp>
      <p:sp>
        <p:nvSpPr>
          <p:cNvPr id="27" name="TextBox 27"/>
          <p:cNvSpPr txBox="1"/>
          <p:nvPr/>
        </p:nvSpPr>
        <p:spPr>
          <a:xfrm>
            <a:off x="6789420" y="1507808"/>
            <a:ext cx="2178927" cy="335280"/>
          </a:xfrm>
          <a:prstGeom prst="rect">
            <a:avLst/>
          </a:prstGeom>
          <a:noFill/>
          <a:ln>
            <a:noFill/>
          </a:ln>
        </p:spPr>
        <p:txBody>
          <a:bodyPr wrap="none" lIns="0" tIns="0" rIns="0" bIns="0" anchor="t" anchorCtr="0">
            <a:spAutoFit/>
          </a:bodyPr>
          <a:lstStyle/>
          <a:p>
            <a:pPr algn="l"/>
            <a:r>
              <a:rPr lang="zh-CN" sz="1650" b="1" dirty="0">
                <a:solidFill>
                  <a:srgbClr val="E67E22"/>
                </a:solidFill>
                <a:latin typeface="Arial"/>
                <a:ea typeface="Microsoft YaHei"/>
                <a:cs typeface="Arial"/>
              </a:rPr>
              <a:t>Q2 向运营/BD负责人</a:t>
            </a:r>
          </a:p>
        </p:txBody>
      </p:sp>
      <p:sp>
        <p:nvSpPr>
          <p:cNvPr id="28" name="Rectangle 28"/>
          <p:cNvSpPr/>
          <p:nvPr/>
        </p:nvSpPr>
        <p:spPr>
          <a:xfrm>
            <a:off x="6429375" y="1828800"/>
            <a:ext cx="76200" cy="76200"/>
          </a:xfrm>
          <a:prstGeom prst="roundRect">
            <a:avLst>
              <a:gd name="adj" fmla="val 25000"/>
            </a:avLst>
          </a:prstGeom>
          <a:solidFill>
            <a:srgbClr val="1A5276"/>
          </a:solidFill>
          <a:ln>
            <a:noFill/>
          </a:ln>
        </p:spPr>
      </p:sp>
      <p:sp>
        <p:nvSpPr>
          <p:cNvPr id="29" name="TextBox 29"/>
          <p:cNvSpPr txBox="1"/>
          <p:nvPr/>
        </p:nvSpPr>
        <p:spPr>
          <a:xfrm>
            <a:off x="6584632" y="1776889"/>
            <a:ext cx="3016258"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当前已签约/意向商家数量与业态分布？</a:t>
            </a:r>
          </a:p>
        </p:txBody>
      </p:sp>
      <p:sp>
        <p:nvSpPr>
          <p:cNvPr id="30" name="Rectangle 30"/>
          <p:cNvSpPr/>
          <p:nvPr/>
        </p:nvSpPr>
        <p:spPr>
          <a:xfrm>
            <a:off x="6429375" y="2076450"/>
            <a:ext cx="76200" cy="76200"/>
          </a:xfrm>
          <a:prstGeom prst="roundRect">
            <a:avLst>
              <a:gd name="adj" fmla="val 25000"/>
            </a:avLst>
          </a:prstGeom>
          <a:solidFill>
            <a:srgbClr val="1A5276"/>
          </a:solidFill>
          <a:ln>
            <a:noFill/>
          </a:ln>
        </p:spPr>
      </p:sp>
      <p:sp>
        <p:nvSpPr>
          <p:cNvPr id="31" name="TextBox 31"/>
          <p:cNvSpPr txBox="1"/>
          <p:nvPr/>
        </p:nvSpPr>
        <p:spPr>
          <a:xfrm>
            <a:off x="6584632" y="2024539"/>
            <a:ext cx="2166152"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公测期目标城市/社区名单？</a:t>
            </a:r>
          </a:p>
        </p:txBody>
      </p:sp>
      <p:sp>
        <p:nvSpPr>
          <p:cNvPr id="32" name="Rectangle 32"/>
          <p:cNvSpPr/>
          <p:nvPr/>
        </p:nvSpPr>
        <p:spPr>
          <a:xfrm>
            <a:off x="6429375" y="2324100"/>
            <a:ext cx="76200" cy="76200"/>
          </a:xfrm>
          <a:prstGeom prst="roundRect">
            <a:avLst>
              <a:gd name="adj" fmla="val 25000"/>
            </a:avLst>
          </a:prstGeom>
          <a:solidFill>
            <a:srgbClr val="1A5276"/>
          </a:solidFill>
          <a:ln>
            <a:noFill/>
          </a:ln>
        </p:spPr>
      </p:sp>
      <p:sp>
        <p:nvSpPr>
          <p:cNvPr id="33" name="TextBox 33"/>
          <p:cNvSpPr txBox="1"/>
          <p:nvPr/>
        </p:nvSpPr>
        <p:spPr>
          <a:xfrm>
            <a:off x="6584632" y="2272189"/>
            <a:ext cx="1902619"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推广者招募进度与画像？</a:t>
            </a:r>
          </a:p>
        </p:txBody>
      </p:sp>
      <p:sp>
        <p:nvSpPr>
          <p:cNvPr id="34" name="Rectangle 34"/>
          <p:cNvSpPr/>
          <p:nvPr/>
        </p:nvSpPr>
        <p:spPr>
          <a:xfrm>
            <a:off x="6429375" y="2590800"/>
            <a:ext cx="5000625" cy="9525"/>
          </a:xfrm>
          <a:prstGeom prst="rect">
            <a:avLst/>
          </a:prstGeom>
          <a:solidFill>
            <a:srgbClr val="E8E3DC"/>
          </a:solidFill>
          <a:ln>
            <a:noFill/>
          </a:ln>
        </p:spPr>
      </p:sp>
      <p:sp>
        <p:nvSpPr>
          <p:cNvPr id="35" name="TextBox 35"/>
          <p:cNvSpPr txBox="1"/>
          <p:nvPr/>
        </p:nvSpPr>
        <p:spPr>
          <a:xfrm>
            <a:off x="6415088" y="2736056"/>
            <a:ext cx="314146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关键判断：供给侧是否ready决定试点能否落地</a:t>
            </a:r>
          </a:p>
        </p:txBody>
      </p:sp>
      <p:sp>
        <p:nvSpPr>
          <p:cNvPr id="36" name="Rectangle 36"/>
          <p:cNvSpPr/>
          <p:nvPr/>
        </p:nvSpPr>
        <p:spPr>
          <a:xfrm>
            <a:off x="6429375" y="2990850"/>
            <a:ext cx="114300" cy="114300"/>
          </a:xfrm>
          <a:prstGeom prst="roundRect">
            <a:avLst>
              <a:gd name="adj" fmla="val 25000"/>
            </a:avLst>
          </a:prstGeom>
          <a:solidFill>
            <a:srgbClr val="E67E22">
              <a:alpha val="15000"/>
            </a:srgbClr>
          </a:solidFill>
          <a:ln>
            <a:noFill/>
          </a:ln>
        </p:spPr>
      </p:sp>
      <p:sp>
        <p:nvSpPr>
          <p:cNvPr id="37" name="TextBox 37"/>
          <p:cNvSpPr txBox="1"/>
          <p:nvPr/>
        </p:nvSpPr>
        <p:spPr>
          <a:xfrm>
            <a:off x="6587490" y="2982278"/>
            <a:ext cx="673551"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P1 优先级</a:t>
            </a:r>
          </a:p>
        </p:txBody>
      </p:sp>
      <p:sp>
        <p:nvSpPr>
          <p:cNvPr id="38" name="Rectangle 38"/>
          <p:cNvSpPr/>
          <p:nvPr/>
        </p:nvSpPr>
        <p:spPr>
          <a:xfrm>
            <a:off x="571500" y="3524250"/>
            <a:ext cx="5381625" cy="2000250"/>
          </a:xfrm>
          <a:prstGeom prst="roundRect">
            <a:avLst>
              <a:gd name="adj" fmla="val 6667"/>
            </a:avLst>
          </a:prstGeom>
          <a:solidFill>
            <a:srgbClr val="FFFFFF"/>
          </a:solidFill>
          <a:ln>
            <a:noFill/>
          </a:ln>
          <a:effectLst>
            <a:outerShdw blurRad="76200" dist="19050" dir="5400000" algn="ctr" rotWithShape="0">
              <a:srgbClr val="2C2C2C">
                <a:alpha val="4500"/>
              </a:srgbClr>
            </a:outerShdw>
          </a:effectLst>
        </p:spPr>
      </p:sp>
      <p:sp>
        <p:nvSpPr>
          <p:cNvPr id="39" name="Rectangle 39"/>
          <p:cNvSpPr/>
          <p:nvPr/>
        </p:nvSpPr>
        <p:spPr>
          <a:xfrm>
            <a:off x="571500" y="3524250"/>
            <a:ext cx="5381625" cy="2000250"/>
          </a:xfrm>
          <a:prstGeom prst="roundRect">
            <a:avLst>
              <a:gd name="adj" fmla="val 6667"/>
            </a:avLst>
          </a:prstGeom>
          <a:noFill/>
          <a:ln w="9525">
            <a:solidFill>
              <a:srgbClr val="E8E3DC"/>
            </a:solidFill>
          </a:ln>
        </p:spPr>
      </p:sp>
      <p:sp>
        <p:nvSpPr>
          <p:cNvPr id="40" name="Rectangle 40"/>
          <p:cNvSpPr/>
          <p:nvPr/>
        </p:nvSpPr>
        <p:spPr>
          <a:xfrm>
            <a:off x="571500" y="3524250"/>
            <a:ext cx="5381625" cy="38100"/>
          </a:xfrm>
          <a:prstGeom prst="roundRect">
            <a:avLst>
              <a:gd name="adj" fmla="val 50000"/>
            </a:avLst>
          </a:prstGeom>
          <a:solidFill>
            <a:srgbClr val="D4A574"/>
          </a:solidFill>
          <a:ln>
            <a:noFill/>
          </a:ln>
        </p:spPr>
      </p:sp>
      <p:sp>
        <p:nvSpPr>
          <p:cNvPr id="41" name="Ellipse 41"/>
          <p:cNvSpPr/>
          <p:nvPr/>
        </p:nvSpPr>
        <p:spPr>
          <a:xfrm>
            <a:off x="752475" y="3657600"/>
            <a:ext cx="304800" cy="304800"/>
          </a:xfrm>
          <a:prstGeom prst="ellipse">
            <a:avLst/>
          </a:prstGeom>
          <a:solidFill>
            <a:srgbClr val="D4A574">
              <a:alpha val="15000"/>
            </a:srgbClr>
          </a:solidFill>
          <a:ln>
            <a:noFill/>
          </a:ln>
        </p:spPr>
      </p:sp>
      <p:sp>
        <p:nvSpPr>
          <p:cNvPr id="42" name="TextBox 42"/>
          <p:cNvSpPr txBox="1"/>
          <p:nvPr/>
        </p:nvSpPr>
        <p:spPr>
          <a:xfrm>
            <a:off x="838224" y="3721418"/>
            <a:ext cx="133302" cy="274320"/>
          </a:xfrm>
          <a:prstGeom prst="rect">
            <a:avLst/>
          </a:prstGeom>
          <a:noFill/>
          <a:ln>
            <a:noFill/>
          </a:ln>
        </p:spPr>
        <p:txBody>
          <a:bodyPr wrap="none" lIns="0" tIns="0" rIns="0" bIns="0" anchor="t" anchorCtr="0">
            <a:spAutoFit/>
          </a:bodyPr>
          <a:lstStyle/>
          <a:p>
            <a:pPr algn="ctr"/>
            <a:r>
              <a:rPr lang="zh-CN" sz="1350" dirty="0">
                <a:solidFill>
                  <a:srgbClr val="D4A574"/>
                </a:solidFill>
                <a:latin typeface="Segoe UI"/>
                <a:ea typeface="Microsoft YaHei"/>
                <a:cs typeface="Segoe UI"/>
              </a:rPr>
              <a:t>◆</a:t>
            </a:r>
          </a:p>
        </p:txBody>
      </p:sp>
      <p:sp>
        <p:nvSpPr>
          <p:cNvPr id="43" name="TextBox 43"/>
          <p:cNvSpPr txBox="1"/>
          <p:nvPr/>
        </p:nvSpPr>
        <p:spPr>
          <a:xfrm>
            <a:off x="1122045" y="3698558"/>
            <a:ext cx="1335672" cy="335280"/>
          </a:xfrm>
          <a:prstGeom prst="rect">
            <a:avLst/>
          </a:prstGeom>
          <a:noFill/>
          <a:ln>
            <a:noFill/>
          </a:ln>
        </p:spPr>
        <p:txBody>
          <a:bodyPr wrap="none" lIns="0" tIns="0" rIns="0" bIns="0" anchor="t" anchorCtr="0">
            <a:spAutoFit/>
          </a:bodyPr>
          <a:lstStyle/>
          <a:p>
            <a:pPr algn="l"/>
            <a:r>
              <a:rPr lang="zh-CN" sz="1650" b="1" dirty="0">
                <a:solidFill>
                  <a:srgbClr val="D4A574"/>
                </a:solidFill>
                <a:latin typeface="Arial"/>
                <a:ea typeface="Microsoft YaHei"/>
                <a:cs typeface="Arial"/>
              </a:rPr>
              <a:t>Q3 向创始人</a:t>
            </a:r>
          </a:p>
        </p:txBody>
      </p:sp>
      <p:sp>
        <p:nvSpPr>
          <p:cNvPr id="44" name="Rectangle 44"/>
          <p:cNvSpPr/>
          <p:nvPr/>
        </p:nvSpPr>
        <p:spPr>
          <a:xfrm>
            <a:off x="762000" y="4019550"/>
            <a:ext cx="76200" cy="76200"/>
          </a:xfrm>
          <a:prstGeom prst="roundRect">
            <a:avLst>
              <a:gd name="adj" fmla="val 25000"/>
            </a:avLst>
          </a:prstGeom>
          <a:solidFill>
            <a:srgbClr val="E67E22"/>
          </a:solidFill>
          <a:ln>
            <a:noFill/>
          </a:ln>
        </p:spPr>
      </p:sp>
      <p:sp>
        <p:nvSpPr>
          <p:cNvPr id="45" name="TextBox 45"/>
          <p:cNvSpPr txBox="1"/>
          <p:nvPr/>
        </p:nvSpPr>
        <p:spPr>
          <a:xfrm>
            <a:off x="917258" y="3967639"/>
            <a:ext cx="207264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品牌故事的真实起源时刻？</a:t>
            </a:r>
          </a:p>
        </p:txBody>
      </p:sp>
      <p:sp>
        <p:nvSpPr>
          <p:cNvPr id="46" name="Rectangle 46"/>
          <p:cNvSpPr/>
          <p:nvPr/>
        </p:nvSpPr>
        <p:spPr>
          <a:xfrm>
            <a:off x="762000" y="4267200"/>
            <a:ext cx="76200" cy="76200"/>
          </a:xfrm>
          <a:prstGeom prst="roundRect">
            <a:avLst>
              <a:gd name="adj" fmla="val 25000"/>
            </a:avLst>
          </a:prstGeom>
          <a:solidFill>
            <a:srgbClr val="E67E22"/>
          </a:solidFill>
          <a:ln>
            <a:noFill/>
          </a:ln>
        </p:spPr>
      </p:sp>
      <p:sp>
        <p:nvSpPr>
          <p:cNvPr id="47" name="TextBox 47"/>
          <p:cNvSpPr txBox="1"/>
          <p:nvPr/>
        </p:nvSpPr>
        <p:spPr>
          <a:xfrm>
            <a:off x="917258" y="4215289"/>
            <a:ext cx="3602831"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创始人对「三年后链邦赋商通的样子」的描述？</a:t>
            </a:r>
          </a:p>
        </p:txBody>
      </p:sp>
      <p:sp>
        <p:nvSpPr>
          <p:cNvPr id="48" name="Rectangle 48"/>
          <p:cNvSpPr/>
          <p:nvPr/>
        </p:nvSpPr>
        <p:spPr>
          <a:xfrm>
            <a:off x="762000" y="4514850"/>
            <a:ext cx="76200" cy="76200"/>
          </a:xfrm>
          <a:prstGeom prst="roundRect">
            <a:avLst>
              <a:gd name="adj" fmla="val 25000"/>
            </a:avLst>
          </a:prstGeom>
          <a:solidFill>
            <a:srgbClr val="E67E22"/>
          </a:solidFill>
          <a:ln>
            <a:noFill/>
          </a:ln>
        </p:spPr>
      </p:sp>
      <p:sp>
        <p:nvSpPr>
          <p:cNvPr id="49" name="TextBox 49"/>
          <p:cNvSpPr txBox="1"/>
          <p:nvPr/>
        </p:nvSpPr>
        <p:spPr>
          <a:xfrm>
            <a:off x="917258" y="4462939"/>
            <a:ext cx="3407307"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个人IP意愿：是否愿意公开担任品类传教士？</a:t>
            </a:r>
          </a:p>
        </p:txBody>
      </p:sp>
      <p:sp>
        <p:nvSpPr>
          <p:cNvPr id="50" name="Rectangle 50"/>
          <p:cNvSpPr/>
          <p:nvPr/>
        </p:nvSpPr>
        <p:spPr>
          <a:xfrm>
            <a:off x="762000" y="4781550"/>
            <a:ext cx="5000625" cy="9525"/>
          </a:xfrm>
          <a:prstGeom prst="rect">
            <a:avLst/>
          </a:prstGeom>
          <a:solidFill>
            <a:srgbClr val="E8E3DC"/>
          </a:solidFill>
          <a:ln>
            <a:noFill/>
          </a:ln>
        </p:spPr>
      </p:sp>
      <p:sp>
        <p:nvSpPr>
          <p:cNvPr id="51" name="TextBox 51"/>
          <p:cNvSpPr txBox="1"/>
          <p:nvPr/>
        </p:nvSpPr>
        <p:spPr>
          <a:xfrm>
            <a:off x="747712" y="4926806"/>
            <a:ext cx="2878931"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关键判断：创始人愿景决定品牌叙事的上限</a:t>
            </a:r>
          </a:p>
        </p:txBody>
      </p:sp>
      <p:sp>
        <p:nvSpPr>
          <p:cNvPr id="52" name="Rectangle 52"/>
          <p:cNvSpPr/>
          <p:nvPr/>
        </p:nvSpPr>
        <p:spPr>
          <a:xfrm>
            <a:off x="762000" y="5181600"/>
            <a:ext cx="114300" cy="114300"/>
          </a:xfrm>
          <a:prstGeom prst="roundRect">
            <a:avLst>
              <a:gd name="adj" fmla="val 25000"/>
            </a:avLst>
          </a:prstGeom>
          <a:solidFill>
            <a:srgbClr val="1A5276">
              <a:alpha val="15000"/>
            </a:srgbClr>
          </a:solidFill>
          <a:ln>
            <a:noFill/>
          </a:ln>
        </p:spPr>
      </p:sp>
      <p:sp>
        <p:nvSpPr>
          <p:cNvPr id="53" name="TextBox 53"/>
          <p:cNvSpPr txBox="1"/>
          <p:nvPr/>
        </p:nvSpPr>
        <p:spPr>
          <a:xfrm>
            <a:off x="920115" y="5173028"/>
            <a:ext cx="673551" cy="213360"/>
          </a:xfrm>
          <a:prstGeom prst="rect">
            <a:avLst/>
          </a:prstGeom>
          <a:noFill/>
          <a:ln>
            <a:noFill/>
          </a:ln>
        </p:spPr>
        <p:txBody>
          <a:bodyPr wrap="none" lIns="0" tIns="0" rIns="0" bIns="0" anchor="t" anchorCtr="0">
            <a:spAutoFit/>
          </a:bodyPr>
          <a:lstStyle/>
          <a:p>
            <a:pPr algn="l"/>
            <a:r>
              <a:rPr lang="zh-CN" sz="1050" b="1" dirty="0">
                <a:solidFill>
                  <a:srgbClr val="1A5276"/>
                </a:solidFill>
                <a:latin typeface="Arial"/>
                <a:ea typeface="Microsoft YaHei"/>
                <a:cs typeface="Arial"/>
              </a:rPr>
              <a:t>P2 优先级</a:t>
            </a:r>
          </a:p>
        </p:txBody>
      </p:sp>
      <p:sp>
        <p:nvSpPr>
          <p:cNvPr id="54" name="Rectangle 54"/>
          <p:cNvSpPr/>
          <p:nvPr/>
        </p:nvSpPr>
        <p:spPr>
          <a:xfrm>
            <a:off x="6238875" y="3524250"/>
            <a:ext cx="5381625" cy="2000250"/>
          </a:xfrm>
          <a:prstGeom prst="roundRect">
            <a:avLst>
              <a:gd name="adj" fmla="val 6667"/>
            </a:avLst>
          </a:prstGeom>
          <a:solidFill>
            <a:srgbClr val="FFFFFF"/>
          </a:solidFill>
          <a:ln>
            <a:noFill/>
          </a:ln>
          <a:effectLst>
            <a:outerShdw blurRad="76200" dist="19050" dir="5400000" algn="ctr" rotWithShape="0">
              <a:srgbClr val="2C2C2C">
                <a:alpha val="4500"/>
              </a:srgbClr>
            </a:outerShdw>
          </a:effectLst>
        </p:spPr>
      </p:sp>
      <p:sp>
        <p:nvSpPr>
          <p:cNvPr id="55" name="Rectangle 55"/>
          <p:cNvSpPr/>
          <p:nvPr/>
        </p:nvSpPr>
        <p:spPr>
          <a:xfrm>
            <a:off x="6238875" y="3524250"/>
            <a:ext cx="5381625" cy="2000250"/>
          </a:xfrm>
          <a:prstGeom prst="roundRect">
            <a:avLst>
              <a:gd name="adj" fmla="val 6667"/>
            </a:avLst>
          </a:prstGeom>
          <a:noFill/>
          <a:ln w="9525">
            <a:solidFill>
              <a:srgbClr val="E8E3DC"/>
            </a:solidFill>
          </a:ln>
        </p:spPr>
      </p:sp>
      <p:sp>
        <p:nvSpPr>
          <p:cNvPr id="56" name="Rectangle 56"/>
          <p:cNvSpPr/>
          <p:nvPr/>
        </p:nvSpPr>
        <p:spPr>
          <a:xfrm>
            <a:off x="6238875" y="3524250"/>
            <a:ext cx="5381625" cy="38100"/>
          </a:xfrm>
          <a:prstGeom prst="roundRect">
            <a:avLst>
              <a:gd name="adj" fmla="val 50000"/>
            </a:avLst>
          </a:prstGeom>
          <a:solidFill>
            <a:srgbClr val="1E8449"/>
          </a:solidFill>
          <a:ln>
            <a:noFill/>
          </a:ln>
        </p:spPr>
      </p:sp>
      <p:sp>
        <p:nvSpPr>
          <p:cNvPr id="57" name="Ellipse 57"/>
          <p:cNvSpPr/>
          <p:nvPr/>
        </p:nvSpPr>
        <p:spPr>
          <a:xfrm>
            <a:off x="6419850" y="3657600"/>
            <a:ext cx="304800" cy="304800"/>
          </a:xfrm>
          <a:prstGeom prst="ellipse">
            <a:avLst/>
          </a:prstGeom>
          <a:solidFill>
            <a:srgbClr val="1E8449">
              <a:alpha val="12000"/>
            </a:srgbClr>
          </a:solidFill>
          <a:ln>
            <a:noFill/>
          </a:ln>
        </p:spPr>
      </p:sp>
      <p:sp>
        <p:nvSpPr>
          <p:cNvPr id="58" name="TextBox 58"/>
          <p:cNvSpPr txBox="1"/>
          <p:nvPr/>
        </p:nvSpPr>
        <p:spPr>
          <a:xfrm>
            <a:off x="6505599" y="3721418"/>
            <a:ext cx="133302" cy="274320"/>
          </a:xfrm>
          <a:prstGeom prst="rect">
            <a:avLst/>
          </a:prstGeom>
          <a:noFill/>
          <a:ln>
            <a:noFill/>
          </a:ln>
        </p:spPr>
        <p:txBody>
          <a:bodyPr wrap="none" lIns="0" tIns="0" rIns="0" bIns="0" anchor="t" anchorCtr="0">
            <a:spAutoFit/>
          </a:bodyPr>
          <a:lstStyle/>
          <a:p>
            <a:pPr algn="ctr"/>
            <a:r>
              <a:rPr lang="zh-CN" sz="1350" dirty="0">
                <a:solidFill>
                  <a:srgbClr val="1E8449"/>
                </a:solidFill>
                <a:latin typeface="Segoe UI"/>
                <a:ea typeface="Microsoft YaHei"/>
                <a:cs typeface="Segoe UI"/>
              </a:rPr>
              <a:t>⬡</a:t>
            </a:r>
          </a:p>
        </p:txBody>
      </p:sp>
      <p:sp>
        <p:nvSpPr>
          <p:cNvPr id="59" name="TextBox 59"/>
          <p:cNvSpPr txBox="1"/>
          <p:nvPr/>
        </p:nvSpPr>
        <p:spPr>
          <a:xfrm>
            <a:off x="6789420" y="3698558"/>
            <a:ext cx="2259787" cy="335280"/>
          </a:xfrm>
          <a:prstGeom prst="rect">
            <a:avLst/>
          </a:prstGeom>
          <a:noFill/>
          <a:ln>
            <a:noFill/>
          </a:ln>
        </p:spPr>
        <p:txBody>
          <a:bodyPr wrap="none" lIns="0" tIns="0" rIns="0" bIns="0" anchor="t" anchorCtr="0">
            <a:spAutoFit/>
          </a:bodyPr>
          <a:lstStyle/>
          <a:p>
            <a:pPr algn="l"/>
            <a:r>
              <a:rPr lang="zh-CN" sz="1650" b="1" dirty="0">
                <a:solidFill>
                  <a:srgbClr val="1E8449"/>
                </a:solidFill>
                <a:latin typeface="Arial"/>
                <a:ea typeface="Microsoft YaHei"/>
                <a:cs typeface="Arial"/>
              </a:rPr>
              <a:t>Q4 向自己（梁君衡）</a:t>
            </a:r>
          </a:p>
        </p:txBody>
      </p:sp>
      <p:sp>
        <p:nvSpPr>
          <p:cNvPr id="60" name="Rectangle 60"/>
          <p:cNvSpPr/>
          <p:nvPr/>
        </p:nvSpPr>
        <p:spPr>
          <a:xfrm>
            <a:off x="6429375" y="4019550"/>
            <a:ext cx="76200" cy="76200"/>
          </a:xfrm>
          <a:prstGeom prst="roundRect">
            <a:avLst>
              <a:gd name="adj" fmla="val 25000"/>
            </a:avLst>
          </a:prstGeom>
          <a:solidFill>
            <a:srgbClr val="1A5276"/>
          </a:solidFill>
          <a:ln>
            <a:noFill/>
          </a:ln>
        </p:spPr>
      </p:sp>
      <p:sp>
        <p:nvSpPr>
          <p:cNvPr id="61" name="TextBox 61"/>
          <p:cNvSpPr txBox="1"/>
          <p:nvPr/>
        </p:nvSpPr>
        <p:spPr>
          <a:xfrm>
            <a:off x="6584632" y="3967639"/>
            <a:ext cx="2276666"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品牌手册V2.2修改版完成度？</a:t>
            </a:r>
          </a:p>
        </p:txBody>
      </p:sp>
      <p:sp>
        <p:nvSpPr>
          <p:cNvPr id="62" name="Rectangle 62"/>
          <p:cNvSpPr/>
          <p:nvPr/>
        </p:nvSpPr>
        <p:spPr>
          <a:xfrm>
            <a:off x="6429375" y="4267200"/>
            <a:ext cx="76200" cy="76200"/>
          </a:xfrm>
          <a:prstGeom prst="roundRect">
            <a:avLst>
              <a:gd name="adj" fmla="val 25000"/>
            </a:avLst>
          </a:prstGeom>
          <a:solidFill>
            <a:srgbClr val="1A5276"/>
          </a:solidFill>
          <a:ln>
            <a:noFill/>
          </a:ln>
        </p:spPr>
      </p:sp>
      <p:sp>
        <p:nvSpPr>
          <p:cNvPr id="63" name="TextBox 63"/>
          <p:cNvSpPr txBox="1"/>
          <p:nvPr/>
        </p:nvSpPr>
        <p:spPr>
          <a:xfrm>
            <a:off x="6584632" y="4215289"/>
            <a:ext cx="2047137"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商标注册35/42/9类进度？</a:t>
            </a:r>
          </a:p>
        </p:txBody>
      </p:sp>
      <p:sp>
        <p:nvSpPr>
          <p:cNvPr id="64" name="Rectangle 64"/>
          <p:cNvSpPr/>
          <p:nvPr/>
        </p:nvSpPr>
        <p:spPr>
          <a:xfrm>
            <a:off x="6429375" y="4514850"/>
            <a:ext cx="76200" cy="76200"/>
          </a:xfrm>
          <a:prstGeom prst="roundRect">
            <a:avLst>
              <a:gd name="adj" fmla="val 25000"/>
            </a:avLst>
          </a:prstGeom>
          <a:solidFill>
            <a:srgbClr val="1A5276"/>
          </a:solidFill>
          <a:ln>
            <a:noFill/>
          </a:ln>
        </p:spPr>
      </p:sp>
      <p:sp>
        <p:nvSpPr>
          <p:cNvPr id="65" name="TextBox 65"/>
          <p:cNvSpPr txBox="1"/>
          <p:nvPr/>
        </p:nvSpPr>
        <p:spPr>
          <a:xfrm>
            <a:off x="6584632" y="4462939"/>
            <a:ext cx="2429685"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内容体系已产出vs待产出清单？</a:t>
            </a:r>
          </a:p>
        </p:txBody>
      </p:sp>
      <p:sp>
        <p:nvSpPr>
          <p:cNvPr id="66" name="Rectangle 66"/>
          <p:cNvSpPr/>
          <p:nvPr/>
        </p:nvSpPr>
        <p:spPr>
          <a:xfrm>
            <a:off x="6429375" y="4781550"/>
            <a:ext cx="5000625" cy="9525"/>
          </a:xfrm>
          <a:prstGeom prst="rect">
            <a:avLst/>
          </a:prstGeom>
          <a:solidFill>
            <a:srgbClr val="E8E3DC"/>
          </a:solidFill>
          <a:ln>
            <a:noFill/>
          </a:ln>
        </p:spPr>
      </p:sp>
      <p:sp>
        <p:nvSpPr>
          <p:cNvPr id="67" name="TextBox 67"/>
          <p:cNvSpPr txBox="1"/>
          <p:nvPr/>
        </p:nvSpPr>
        <p:spPr>
          <a:xfrm>
            <a:off x="6415088" y="4926806"/>
            <a:ext cx="257889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关键判断：自己手上的牌决定能打多快</a:t>
            </a:r>
          </a:p>
        </p:txBody>
      </p:sp>
      <p:sp>
        <p:nvSpPr>
          <p:cNvPr id="68" name="Rectangle 68"/>
          <p:cNvSpPr/>
          <p:nvPr/>
        </p:nvSpPr>
        <p:spPr>
          <a:xfrm>
            <a:off x="6429375" y="5181600"/>
            <a:ext cx="114300" cy="114300"/>
          </a:xfrm>
          <a:prstGeom prst="roundRect">
            <a:avLst>
              <a:gd name="adj" fmla="val 25000"/>
            </a:avLst>
          </a:prstGeom>
          <a:solidFill>
            <a:srgbClr val="C0392B">
              <a:alpha val="15000"/>
            </a:srgbClr>
          </a:solidFill>
          <a:ln>
            <a:noFill/>
          </a:ln>
        </p:spPr>
      </p:sp>
      <p:sp>
        <p:nvSpPr>
          <p:cNvPr id="69" name="TextBox 69"/>
          <p:cNvSpPr txBox="1"/>
          <p:nvPr/>
        </p:nvSpPr>
        <p:spPr>
          <a:xfrm>
            <a:off x="6587490" y="5173028"/>
            <a:ext cx="673551" cy="213360"/>
          </a:xfrm>
          <a:prstGeom prst="rect">
            <a:avLst/>
          </a:prstGeom>
          <a:noFill/>
          <a:ln>
            <a:noFill/>
          </a:ln>
        </p:spPr>
        <p:txBody>
          <a:bodyPr wrap="none" lIns="0" tIns="0" rIns="0" bIns="0" anchor="t" anchorCtr="0">
            <a:spAutoFit/>
          </a:bodyPr>
          <a:lstStyle/>
          <a:p>
            <a:pPr algn="l"/>
            <a:r>
              <a:rPr lang="zh-CN" sz="1050" b="1" dirty="0">
                <a:solidFill>
                  <a:srgbClr val="C0392B"/>
                </a:solidFill>
                <a:latin typeface="Arial"/>
                <a:ea typeface="Microsoft YaHei"/>
                <a:cs typeface="Arial"/>
              </a:rPr>
              <a:t>P0 优先级</a:t>
            </a:r>
          </a:p>
        </p:txBody>
      </p:sp>
      <p:sp>
        <p:nvSpPr>
          <p:cNvPr id="70" name="Rectangle 70"/>
          <p:cNvSpPr/>
          <p:nvPr/>
        </p:nvSpPr>
        <p:spPr>
          <a:xfrm>
            <a:off x="571500" y="5762625"/>
            <a:ext cx="11049000" cy="438150"/>
          </a:xfrm>
          <a:prstGeom prst="roundRect">
            <a:avLst>
              <a:gd name="adj" fmla="val 30435"/>
            </a:avLst>
          </a:prstGeom>
          <a:solidFill>
            <a:srgbClr val="F0EDE8"/>
          </a:solidFill>
          <a:ln>
            <a:noFill/>
          </a:ln>
        </p:spPr>
      </p:sp>
      <p:sp>
        <p:nvSpPr>
          <p:cNvPr id="71" name="Rectangle 71"/>
          <p:cNvSpPr/>
          <p:nvPr/>
        </p:nvSpPr>
        <p:spPr>
          <a:xfrm>
            <a:off x="571500" y="5762625"/>
            <a:ext cx="11049000" cy="438150"/>
          </a:xfrm>
          <a:prstGeom prst="roundRect">
            <a:avLst>
              <a:gd name="adj" fmla="val 30435"/>
            </a:avLst>
          </a:prstGeom>
          <a:noFill/>
          <a:ln w="9525">
            <a:solidFill>
              <a:srgbClr val="E8E3DC"/>
            </a:solidFill>
          </a:ln>
        </p:spPr>
      </p:sp>
      <p:sp>
        <p:nvSpPr>
          <p:cNvPr id="72" name="TextBox 72"/>
          <p:cNvSpPr txBox="1"/>
          <p:nvPr/>
        </p:nvSpPr>
        <p:spPr>
          <a:xfrm>
            <a:off x="841058" y="5901214"/>
            <a:ext cx="746474"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退出标准</a:t>
            </a:r>
          </a:p>
        </p:txBody>
      </p:sp>
      <p:sp>
        <p:nvSpPr>
          <p:cNvPr id="73" name="Rectangle 73"/>
          <p:cNvSpPr/>
          <p:nvPr/>
        </p:nvSpPr>
        <p:spPr>
          <a:xfrm>
            <a:off x="1762125" y="5934075"/>
            <a:ext cx="9525" cy="209550"/>
          </a:xfrm>
          <a:prstGeom prst="rect">
            <a:avLst/>
          </a:prstGeom>
          <a:solidFill>
            <a:srgbClr val="E8E3DC"/>
          </a:solidFill>
          <a:ln>
            <a:noFill/>
          </a:ln>
        </p:spPr>
      </p:sp>
      <p:sp>
        <p:nvSpPr>
          <p:cNvPr id="74" name="Ellipse 74"/>
          <p:cNvSpPr/>
          <p:nvPr/>
        </p:nvSpPr>
        <p:spPr>
          <a:xfrm>
            <a:off x="1971675" y="5962650"/>
            <a:ext cx="152400" cy="152400"/>
          </a:xfrm>
          <a:prstGeom prst="ellipse">
            <a:avLst/>
          </a:prstGeom>
          <a:solidFill>
            <a:srgbClr val="1E8449">
              <a:alpha val="20000"/>
            </a:srgbClr>
          </a:solidFill>
          <a:ln>
            <a:noFill/>
          </a:ln>
        </p:spPr>
      </p:sp>
      <p:sp>
        <p:nvSpPr>
          <p:cNvPr id="75" name="TextBox 75"/>
          <p:cNvSpPr txBox="1"/>
          <p:nvPr/>
        </p:nvSpPr>
        <p:spPr>
          <a:xfrm>
            <a:off x="1999738" y="5981224"/>
            <a:ext cx="96274" cy="198120"/>
          </a:xfrm>
          <a:prstGeom prst="rect">
            <a:avLst/>
          </a:prstGeom>
          <a:noFill/>
          <a:ln>
            <a:noFill/>
          </a:ln>
        </p:spPr>
        <p:txBody>
          <a:bodyPr wrap="none" lIns="0" tIns="0" rIns="0" bIns="0" anchor="t" anchorCtr="0">
            <a:spAutoFit/>
          </a:bodyPr>
          <a:lstStyle/>
          <a:p>
            <a:pPr algn="ctr"/>
            <a:r>
              <a:rPr lang="zh-CN" sz="975" dirty="0">
                <a:solidFill>
                  <a:srgbClr val="1E8449"/>
                </a:solidFill>
                <a:latin typeface="Segoe UI"/>
                <a:ea typeface="Microsoft YaHei"/>
                <a:cs typeface="Segoe UI"/>
              </a:rPr>
              <a:t>✓</a:t>
            </a:r>
          </a:p>
        </p:txBody>
      </p:sp>
      <p:sp>
        <p:nvSpPr>
          <p:cNvPr id="76" name="TextBox 76"/>
          <p:cNvSpPr txBox="1"/>
          <p:nvPr/>
        </p:nvSpPr>
        <p:spPr>
          <a:xfrm>
            <a:off x="2193608" y="5948839"/>
            <a:ext cx="5243536" cy="259080"/>
          </a:xfrm>
          <a:prstGeom prst="rect">
            <a:avLst/>
          </a:prstGeom>
          <a:noFill/>
          <a:ln>
            <a:noFill/>
          </a:ln>
        </p:spPr>
        <p:txBody>
          <a:bodyPr wrap="none" lIns="0" tIns="0" rIns="0" bIns="0" anchor="t" anchorCtr="0">
            <a:spAutoFit/>
          </a:bodyPr>
          <a:lstStyle/>
          <a:p>
            <a:pPr algn="l"/>
            <a:r>
              <a:rPr lang="zh-CN" sz="1275" dirty="0">
                <a:solidFill>
                  <a:srgbClr val="1E8449"/>
                </a:solidFill>
                <a:latin typeface="Arial"/>
                <a:ea typeface="Microsoft YaHei"/>
                <a:cs typeface="Arial"/>
              </a:rPr>
              <a:t>12个问题全部有明确答案（答案可以是零/未启动，但不能是不知道）</a:t>
            </a:r>
          </a:p>
        </p:txBody>
      </p:sp>
      <p:sp>
        <p:nvSpPr>
          <p:cNvPr id="77" name="TextBox 77"/>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31</a:t>
            </a:r>
          </a:p>
        </p:txBody>
      </p:sp>
      <p:sp>
        <p:nvSpPr>
          <p:cNvPr id="78" name="TextBox 78"/>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27710" y="375285"/>
            <a:ext cx="7251478"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第一段：在一个试点社区内，让飞轮转起来</a:t>
            </a:r>
          </a:p>
        </p:txBody>
      </p:sp>
      <p:sp>
        <p:nvSpPr>
          <p:cNvPr id="5" name="TextBox 5"/>
          <p:cNvSpPr txBox="1"/>
          <p:nvPr/>
        </p:nvSpPr>
        <p:spPr>
          <a:xfrm>
            <a:off x="742950" y="838200"/>
            <a:ext cx="7058978"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最重要的验证不是「技术能不能做」，而是「消费者愿不愿意在A店领券B店用」</a:t>
            </a:r>
          </a:p>
        </p:txBody>
      </p:sp>
      <p:sp>
        <p:nvSpPr>
          <p:cNvPr id="6" name="Rectangle 6"/>
          <p:cNvSpPr/>
          <p:nvPr/>
        </p:nvSpPr>
        <p:spPr>
          <a:xfrm>
            <a:off x="571500" y="1333500"/>
            <a:ext cx="3524250" cy="4714875"/>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333500"/>
            <a:ext cx="3524250" cy="4714875"/>
          </a:xfrm>
          <a:prstGeom prst="roundRect">
            <a:avLst>
              <a:gd name="adj" fmla="val 3784"/>
            </a:avLst>
          </a:prstGeom>
          <a:noFill/>
          <a:ln w="9525">
            <a:solidFill>
              <a:srgbClr val="E8E3DC"/>
            </a:solidFill>
          </a:ln>
        </p:spPr>
      </p:sp>
      <p:sp>
        <p:nvSpPr>
          <p:cNvPr id="8" name="Rectangle 8"/>
          <p:cNvSpPr/>
          <p:nvPr/>
        </p:nvSpPr>
        <p:spPr>
          <a:xfrm>
            <a:off x="571500" y="1333500"/>
            <a:ext cx="3524250" cy="666750"/>
          </a:xfrm>
          <a:prstGeom prst="roundRect">
            <a:avLst>
              <a:gd name="adj" fmla="val 20000"/>
            </a:avLst>
          </a:prstGeom>
          <a:solidFill>
            <a:srgbClr val="1A5276">
              <a:alpha val="8000"/>
            </a:srgbClr>
          </a:solidFill>
          <a:ln>
            <a:noFill/>
          </a:ln>
        </p:spPr>
      </p:sp>
      <p:sp>
        <p:nvSpPr>
          <p:cNvPr id="9" name="Rectangle 9"/>
          <p:cNvSpPr/>
          <p:nvPr/>
        </p:nvSpPr>
        <p:spPr>
          <a:xfrm>
            <a:off x="571500" y="1866900"/>
            <a:ext cx="3524250" cy="133350"/>
          </a:xfrm>
          <a:prstGeom prst="rect">
            <a:avLst/>
          </a:prstGeom>
          <a:solidFill>
            <a:srgbClr val="1A5276">
              <a:alpha val="8000"/>
            </a:srgbClr>
          </a:solidFill>
          <a:ln>
            <a:noFill/>
          </a:ln>
        </p:spPr>
      </p:sp>
      <p:sp>
        <p:nvSpPr>
          <p:cNvPr id="10" name="Ellipse 10"/>
          <p:cNvSpPr/>
          <p:nvPr/>
        </p:nvSpPr>
        <p:spPr>
          <a:xfrm>
            <a:off x="685800" y="1495425"/>
            <a:ext cx="342900" cy="342900"/>
          </a:xfrm>
          <a:prstGeom prst="ellipse">
            <a:avLst/>
          </a:prstGeom>
          <a:solidFill>
            <a:srgbClr val="C0392B">
              <a:alpha val="15000"/>
            </a:srgbClr>
          </a:solidFill>
          <a:ln>
            <a:noFill/>
          </a:ln>
        </p:spPr>
      </p:sp>
      <p:sp>
        <p:nvSpPr>
          <p:cNvPr id="11" name="TextBox 11"/>
          <p:cNvSpPr txBox="1"/>
          <p:nvPr/>
        </p:nvSpPr>
        <p:spPr>
          <a:xfrm>
            <a:off x="783193" y="1562100"/>
            <a:ext cx="148114" cy="304800"/>
          </a:xfrm>
          <a:prstGeom prst="rect">
            <a:avLst/>
          </a:prstGeom>
          <a:noFill/>
          <a:ln>
            <a:noFill/>
          </a:ln>
        </p:spPr>
        <p:txBody>
          <a:bodyPr wrap="none" lIns="0" tIns="0" rIns="0" bIns="0" anchor="t" anchorCtr="0">
            <a:spAutoFit/>
          </a:bodyPr>
          <a:lstStyle/>
          <a:p>
            <a:pPr algn="ctr"/>
            <a:r>
              <a:rPr lang="zh-CN" sz="1500" dirty="0">
                <a:solidFill>
                  <a:srgbClr val="C0392B"/>
                </a:solidFill>
                <a:latin typeface="Segoe UI"/>
                <a:ea typeface="Microsoft YaHei"/>
                <a:cs typeface="Segoe UI"/>
              </a:rPr>
              <a:t>⚠</a:t>
            </a:r>
          </a:p>
        </p:txBody>
      </p:sp>
      <p:sp>
        <p:nvSpPr>
          <p:cNvPr id="12" name="TextBox 12"/>
          <p:cNvSpPr txBox="1"/>
          <p:nvPr/>
        </p:nvSpPr>
        <p:spPr>
          <a:xfrm>
            <a:off x="1104900" y="1476375"/>
            <a:ext cx="2243376" cy="304800"/>
          </a:xfrm>
          <a:prstGeom prst="rect">
            <a:avLst/>
          </a:prstGeom>
          <a:noFill/>
          <a:ln>
            <a:noFill/>
          </a:ln>
        </p:spPr>
        <p:txBody>
          <a:bodyPr wrap="none" lIns="0" tIns="0" rIns="0" bIns="0" anchor="t" anchorCtr="0">
            <a:spAutoFit/>
          </a:bodyPr>
          <a:lstStyle/>
          <a:p>
            <a:pPr algn="l"/>
            <a:r>
              <a:rPr lang="zh-CN" sz="1500" b="1" dirty="0">
                <a:solidFill>
                  <a:srgbClr val="1A5276"/>
                </a:solidFill>
                <a:latin typeface="Arial"/>
                <a:ea typeface="Microsoft YaHei"/>
                <a:cs typeface="Arial"/>
              </a:rPr>
              <a:t>P1-1 跨店清算技术验证</a:t>
            </a:r>
          </a:p>
        </p:txBody>
      </p:sp>
      <p:sp>
        <p:nvSpPr>
          <p:cNvPr id="13" name="TextBox 13"/>
          <p:cNvSpPr txBox="1"/>
          <p:nvPr/>
        </p:nvSpPr>
        <p:spPr>
          <a:xfrm>
            <a:off x="1109662" y="1716881"/>
            <a:ext cx="635026" cy="228600"/>
          </a:xfrm>
          <a:prstGeom prst="rect">
            <a:avLst/>
          </a:prstGeom>
          <a:noFill/>
          <a:ln>
            <a:noFill/>
          </a:ln>
        </p:spPr>
        <p:txBody>
          <a:bodyPr wrap="none" lIns="0" tIns="0" rIns="0" bIns="0" anchor="t" anchorCtr="0">
            <a:spAutoFit/>
          </a:bodyPr>
          <a:lstStyle/>
          <a:p>
            <a:pPr algn="l"/>
            <a:r>
              <a:rPr lang="zh-CN" sz="1125" b="1" dirty="0">
                <a:solidFill>
                  <a:srgbClr val="C0392B"/>
                </a:solidFill>
                <a:latin typeface="Arial"/>
                <a:ea typeface="Microsoft YaHei"/>
                <a:cs typeface="Arial"/>
              </a:rPr>
              <a:t>生死线 ●</a:t>
            </a:r>
          </a:p>
        </p:txBody>
      </p:sp>
      <p:sp>
        <p:nvSpPr>
          <p:cNvPr id="14" name="Rectangle 14"/>
          <p:cNvSpPr/>
          <p:nvPr/>
        </p:nvSpPr>
        <p:spPr>
          <a:xfrm>
            <a:off x="809625" y="2190750"/>
            <a:ext cx="3048000" cy="9525"/>
          </a:xfrm>
          <a:prstGeom prst="rect">
            <a:avLst/>
          </a:prstGeom>
          <a:solidFill>
            <a:srgbClr val="E8E3DC"/>
          </a:solidFill>
          <a:ln>
            <a:noFill/>
          </a:ln>
        </p:spPr>
      </p:sp>
      <p:sp>
        <p:nvSpPr>
          <p:cNvPr id="15" name="Rectangle 15"/>
          <p:cNvSpPr/>
          <p:nvPr/>
        </p:nvSpPr>
        <p:spPr>
          <a:xfrm>
            <a:off x="809625" y="2381250"/>
            <a:ext cx="95250" cy="95250"/>
          </a:xfrm>
          <a:prstGeom prst="roundRect">
            <a:avLst>
              <a:gd name="adj" fmla="val 30000"/>
            </a:avLst>
          </a:prstGeom>
          <a:solidFill>
            <a:srgbClr val="1A5276"/>
          </a:solidFill>
          <a:ln>
            <a:noFill/>
          </a:ln>
        </p:spPr>
      </p:sp>
      <p:sp>
        <p:nvSpPr>
          <p:cNvPr id="16" name="TextBox 16"/>
          <p:cNvSpPr txBox="1"/>
          <p:nvPr/>
        </p:nvSpPr>
        <p:spPr>
          <a:xfrm>
            <a:off x="983932" y="23388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汇付对接</a:t>
            </a:r>
          </a:p>
        </p:txBody>
      </p:sp>
      <p:sp>
        <p:nvSpPr>
          <p:cNvPr id="17" name="TextBox 17"/>
          <p:cNvSpPr txBox="1"/>
          <p:nvPr/>
        </p:nvSpPr>
        <p:spPr>
          <a:xfrm>
            <a:off x="985838" y="2564606"/>
            <a:ext cx="212883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完成汇付天下支付通道技术对接</a:t>
            </a:r>
          </a:p>
        </p:txBody>
      </p:sp>
      <p:sp>
        <p:nvSpPr>
          <p:cNvPr id="18" name="Rectangle 18"/>
          <p:cNvSpPr/>
          <p:nvPr/>
        </p:nvSpPr>
        <p:spPr>
          <a:xfrm>
            <a:off x="809625" y="2952750"/>
            <a:ext cx="95250" cy="95250"/>
          </a:xfrm>
          <a:prstGeom prst="roundRect">
            <a:avLst>
              <a:gd name="adj" fmla="val 30000"/>
            </a:avLst>
          </a:prstGeom>
          <a:solidFill>
            <a:srgbClr val="1A5276"/>
          </a:solidFill>
          <a:ln>
            <a:noFill/>
          </a:ln>
        </p:spPr>
      </p:sp>
      <p:sp>
        <p:nvSpPr>
          <p:cNvPr id="19" name="TextBox 19"/>
          <p:cNvSpPr txBox="1"/>
          <p:nvPr/>
        </p:nvSpPr>
        <p:spPr>
          <a:xfrm>
            <a:off x="983932" y="2910364"/>
            <a:ext cx="1052513"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测试环境验证</a:t>
            </a:r>
          </a:p>
        </p:txBody>
      </p:sp>
      <p:sp>
        <p:nvSpPr>
          <p:cNvPr id="20" name="TextBox 20"/>
          <p:cNvSpPr txBox="1"/>
          <p:nvPr/>
        </p:nvSpPr>
        <p:spPr>
          <a:xfrm>
            <a:off x="985838" y="3136106"/>
            <a:ext cx="257889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跨店核销清分链路在测试环境完整跑通</a:t>
            </a:r>
          </a:p>
        </p:txBody>
      </p:sp>
      <p:sp>
        <p:nvSpPr>
          <p:cNvPr id="21" name="Rectangle 21"/>
          <p:cNvSpPr/>
          <p:nvPr/>
        </p:nvSpPr>
        <p:spPr>
          <a:xfrm>
            <a:off x="809625" y="3524250"/>
            <a:ext cx="95250" cy="95250"/>
          </a:xfrm>
          <a:prstGeom prst="roundRect">
            <a:avLst>
              <a:gd name="adj" fmla="val 30000"/>
            </a:avLst>
          </a:prstGeom>
          <a:solidFill>
            <a:srgbClr val="1A5276"/>
          </a:solidFill>
          <a:ln>
            <a:noFill/>
          </a:ln>
        </p:spPr>
      </p:sp>
      <p:sp>
        <p:nvSpPr>
          <p:cNvPr id="22" name="TextBox 22"/>
          <p:cNvSpPr txBox="1"/>
          <p:nvPr/>
        </p:nvSpPr>
        <p:spPr>
          <a:xfrm>
            <a:off x="983932" y="3481864"/>
            <a:ext cx="1052513"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生产环境验证</a:t>
            </a:r>
          </a:p>
        </p:txBody>
      </p:sp>
      <p:sp>
        <p:nvSpPr>
          <p:cNvPr id="23" name="TextBox 23"/>
          <p:cNvSpPr txBox="1"/>
          <p:nvPr/>
        </p:nvSpPr>
        <p:spPr>
          <a:xfrm>
            <a:off x="985838" y="3707606"/>
            <a:ext cx="2076331"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2-3家真实商户、真实交易跑通</a:t>
            </a:r>
          </a:p>
        </p:txBody>
      </p:sp>
      <p:sp>
        <p:nvSpPr>
          <p:cNvPr id="24" name="Rectangle 24"/>
          <p:cNvSpPr/>
          <p:nvPr/>
        </p:nvSpPr>
        <p:spPr>
          <a:xfrm>
            <a:off x="809625" y="4286250"/>
            <a:ext cx="3048000" cy="685800"/>
          </a:xfrm>
          <a:prstGeom prst="roundRect">
            <a:avLst>
              <a:gd name="adj" fmla="val 13889"/>
            </a:avLst>
          </a:prstGeom>
          <a:solidFill>
            <a:srgbClr val="F0EDE8"/>
          </a:solidFill>
          <a:ln>
            <a:noFill/>
          </a:ln>
        </p:spPr>
      </p:sp>
      <p:sp>
        <p:nvSpPr>
          <p:cNvPr id="25" name="TextBox 25"/>
          <p:cNvSpPr txBox="1"/>
          <p:nvPr/>
        </p:nvSpPr>
        <p:spPr>
          <a:xfrm>
            <a:off x="939165" y="4391978"/>
            <a:ext cx="58674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退出标准</a:t>
            </a:r>
          </a:p>
        </p:txBody>
      </p:sp>
      <p:sp>
        <p:nvSpPr>
          <p:cNvPr id="26" name="Rectangle 26"/>
          <p:cNvSpPr/>
          <p:nvPr/>
        </p:nvSpPr>
        <p:spPr>
          <a:xfrm>
            <a:off x="952500" y="4610100"/>
            <a:ext cx="76200" cy="76200"/>
          </a:xfrm>
          <a:prstGeom prst="roundRect">
            <a:avLst>
              <a:gd name="adj" fmla="val 25000"/>
            </a:avLst>
          </a:prstGeom>
          <a:solidFill>
            <a:srgbClr val="1E8449">
              <a:alpha val="30000"/>
            </a:srgbClr>
          </a:solidFill>
          <a:ln>
            <a:noFill/>
          </a:ln>
        </p:spPr>
      </p:sp>
      <p:sp>
        <p:nvSpPr>
          <p:cNvPr id="27" name="TextBox 27"/>
          <p:cNvSpPr txBox="1"/>
          <p:nvPr/>
        </p:nvSpPr>
        <p:spPr>
          <a:xfrm>
            <a:off x="1108710" y="4556760"/>
            <a:ext cx="2794425"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2-3家真实商户跨店交易成功 &gt;= 10笔</a:t>
            </a:r>
          </a:p>
        </p:txBody>
      </p:sp>
      <p:sp>
        <p:nvSpPr>
          <p:cNvPr id="28" name="Rectangle 28"/>
          <p:cNvSpPr/>
          <p:nvPr/>
        </p:nvSpPr>
        <p:spPr>
          <a:xfrm>
            <a:off x="809625" y="5143500"/>
            <a:ext cx="3048000" cy="381000"/>
          </a:xfrm>
          <a:prstGeom prst="roundRect">
            <a:avLst>
              <a:gd name="adj" fmla="val 20000"/>
            </a:avLst>
          </a:prstGeom>
          <a:solidFill>
            <a:srgbClr val="C0392B">
              <a:alpha val="6000"/>
            </a:srgbClr>
          </a:solidFill>
          <a:ln>
            <a:noFill/>
          </a:ln>
        </p:spPr>
      </p:sp>
      <p:sp>
        <p:nvSpPr>
          <p:cNvPr id="29" name="TextBox 29"/>
          <p:cNvSpPr txBox="1"/>
          <p:nvPr/>
        </p:nvSpPr>
        <p:spPr>
          <a:xfrm>
            <a:off x="939165" y="5268278"/>
            <a:ext cx="2126932" cy="213360"/>
          </a:xfrm>
          <a:prstGeom prst="rect">
            <a:avLst/>
          </a:prstGeom>
          <a:noFill/>
          <a:ln>
            <a:noFill/>
          </a:ln>
        </p:spPr>
        <p:txBody>
          <a:bodyPr wrap="none" lIns="0" tIns="0" rIns="0" bIns="0" anchor="t" anchorCtr="0">
            <a:spAutoFit/>
          </a:bodyPr>
          <a:lstStyle/>
          <a:p>
            <a:pPr algn="l"/>
            <a:r>
              <a:rPr lang="zh-CN" sz="1050" dirty="0">
                <a:solidFill>
                  <a:srgbClr val="C0392B"/>
                </a:solidFill>
                <a:latin typeface="Arial"/>
                <a:ea typeface="Microsoft YaHei"/>
                <a:cs typeface="Arial"/>
              </a:rPr>
              <a:t>如果这一步跑不通，公测没有意义</a:t>
            </a:r>
          </a:p>
        </p:txBody>
      </p:sp>
      <p:sp>
        <p:nvSpPr>
          <p:cNvPr id="30" name="Rectangle 30"/>
          <p:cNvSpPr/>
          <p:nvPr/>
        </p:nvSpPr>
        <p:spPr>
          <a:xfrm>
            <a:off x="4333875" y="1333500"/>
            <a:ext cx="3524250" cy="4714875"/>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31" name="Rectangle 31"/>
          <p:cNvSpPr/>
          <p:nvPr/>
        </p:nvSpPr>
        <p:spPr>
          <a:xfrm>
            <a:off x="4333875" y="1333500"/>
            <a:ext cx="3524250" cy="4714875"/>
          </a:xfrm>
          <a:prstGeom prst="roundRect">
            <a:avLst>
              <a:gd name="adj" fmla="val 3784"/>
            </a:avLst>
          </a:prstGeom>
          <a:noFill/>
          <a:ln w="9525">
            <a:solidFill>
              <a:srgbClr val="E8E3DC"/>
            </a:solidFill>
          </a:ln>
        </p:spPr>
      </p:sp>
      <p:sp>
        <p:nvSpPr>
          <p:cNvPr id="32" name="Rectangle 32"/>
          <p:cNvSpPr/>
          <p:nvPr/>
        </p:nvSpPr>
        <p:spPr>
          <a:xfrm>
            <a:off x="4333875" y="1333500"/>
            <a:ext cx="3524250" cy="666750"/>
          </a:xfrm>
          <a:prstGeom prst="roundRect">
            <a:avLst>
              <a:gd name="adj" fmla="val 20000"/>
            </a:avLst>
          </a:prstGeom>
          <a:solidFill>
            <a:srgbClr val="E67E22">
              <a:alpha val="8000"/>
            </a:srgbClr>
          </a:solidFill>
          <a:ln>
            <a:noFill/>
          </a:ln>
        </p:spPr>
      </p:sp>
      <p:sp>
        <p:nvSpPr>
          <p:cNvPr id="33" name="Rectangle 33"/>
          <p:cNvSpPr/>
          <p:nvPr/>
        </p:nvSpPr>
        <p:spPr>
          <a:xfrm>
            <a:off x="4333875" y="1866900"/>
            <a:ext cx="3524250" cy="133350"/>
          </a:xfrm>
          <a:prstGeom prst="rect">
            <a:avLst/>
          </a:prstGeom>
          <a:solidFill>
            <a:srgbClr val="E67E22">
              <a:alpha val="8000"/>
            </a:srgbClr>
          </a:solidFill>
          <a:ln>
            <a:noFill/>
          </a:ln>
        </p:spPr>
      </p:sp>
      <p:sp>
        <p:nvSpPr>
          <p:cNvPr id="34" name="Ellipse 34"/>
          <p:cNvSpPr/>
          <p:nvPr/>
        </p:nvSpPr>
        <p:spPr>
          <a:xfrm>
            <a:off x="4448175" y="1495425"/>
            <a:ext cx="342900" cy="342900"/>
          </a:xfrm>
          <a:prstGeom prst="ellipse">
            <a:avLst/>
          </a:prstGeom>
          <a:solidFill>
            <a:srgbClr val="E67E22">
              <a:alpha val="15000"/>
            </a:srgbClr>
          </a:solidFill>
          <a:ln>
            <a:noFill/>
          </a:ln>
        </p:spPr>
      </p:sp>
      <p:sp>
        <p:nvSpPr>
          <p:cNvPr id="35" name="TextBox 35"/>
          <p:cNvSpPr txBox="1"/>
          <p:nvPr/>
        </p:nvSpPr>
        <p:spPr>
          <a:xfrm>
            <a:off x="4545568" y="1562100"/>
            <a:ext cx="148114" cy="304800"/>
          </a:xfrm>
          <a:prstGeom prst="rect">
            <a:avLst/>
          </a:prstGeom>
          <a:noFill/>
          <a:ln>
            <a:noFill/>
          </a:ln>
        </p:spPr>
        <p:txBody>
          <a:bodyPr wrap="none" lIns="0" tIns="0" rIns="0" bIns="0" anchor="t" anchorCtr="0">
            <a:spAutoFit/>
          </a:bodyPr>
          <a:lstStyle/>
          <a:p>
            <a:pPr algn="ctr"/>
            <a:r>
              <a:rPr lang="zh-CN" sz="1500" dirty="0">
                <a:solidFill>
                  <a:srgbClr val="E67E22"/>
                </a:solidFill>
                <a:latin typeface="Segoe UI"/>
                <a:ea typeface="Microsoft YaHei"/>
                <a:cs typeface="Segoe UI"/>
              </a:rPr>
              <a:t>⚙</a:t>
            </a:r>
          </a:p>
        </p:txBody>
      </p:sp>
      <p:sp>
        <p:nvSpPr>
          <p:cNvPr id="36" name="TextBox 36"/>
          <p:cNvSpPr txBox="1"/>
          <p:nvPr/>
        </p:nvSpPr>
        <p:spPr>
          <a:xfrm>
            <a:off x="4867275" y="1476375"/>
            <a:ext cx="1823323" cy="304800"/>
          </a:xfrm>
          <a:prstGeom prst="rect">
            <a:avLst/>
          </a:prstGeom>
          <a:noFill/>
          <a:ln>
            <a:noFill/>
          </a:ln>
        </p:spPr>
        <p:txBody>
          <a:bodyPr wrap="none" lIns="0" tIns="0" rIns="0" bIns="0" anchor="t" anchorCtr="0">
            <a:spAutoFit/>
          </a:bodyPr>
          <a:lstStyle/>
          <a:p>
            <a:pPr algn="l"/>
            <a:r>
              <a:rPr lang="zh-CN" sz="1500" b="1" dirty="0">
                <a:solidFill>
                  <a:srgbClr val="E67E22"/>
                </a:solidFill>
                <a:latin typeface="Arial"/>
                <a:ea typeface="Microsoft YaHei"/>
                <a:cs typeface="Arial"/>
              </a:rPr>
              <a:t>P1-2 试点社区启动</a:t>
            </a:r>
          </a:p>
        </p:txBody>
      </p:sp>
      <p:sp>
        <p:nvSpPr>
          <p:cNvPr id="37" name="TextBox 37"/>
          <p:cNvSpPr txBox="1"/>
          <p:nvPr/>
        </p:nvSpPr>
        <p:spPr>
          <a:xfrm>
            <a:off x="4872038" y="1716881"/>
            <a:ext cx="950065" cy="228600"/>
          </a:xfrm>
          <a:prstGeom prst="rect">
            <a:avLst/>
          </a:prstGeom>
          <a:noFill/>
          <a:ln>
            <a:noFill/>
          </a:ln>
        </p:spPr>
        <p:txBody>
          <a:bodyPr wrap="none" lIns="0" tIns="0" rIns="0" bIns="0" anchor="t" anchorCtr="0">
            <a:spAutoFit/>
          </a:bodyPr>
          <a:lstStyle/>
          <a:p>
            <a:pPr algn="l"/>
            <a:r>
              <a:rPr lang="zh-CN" sz="1125" b="1" dirty="0">
                <a:solidFill>
                  <a:srgbClr val="E67E22"/>
                </a:solidFill>
                <a:latin typeface="Arial"/>
                <a:ea typeface="Microsoft YaHei"/>
                <a:cs typeface="Arial"/>
              </a:rPr>
              <a:t>增长发动机 ●</a:t>
            </a:r>
          </a:p>
        </p:txBody>
      </p:sp>
      <p:sp>
        <p:nvSpPr>
          <p:cNvPr id="38" name="Rectangle 38"/>
          <p:cNvSpPr/>
          <p:nvPr/>
        </p:nvSpPr>
        <p:spPr>
          <a:xfrm>
            <a:off x="4572000" y="2190750"/>
            <a:ext cx="3048000" cy="9525"/>
          </a:xfrm>
          <a:prstGeom prst="rect">
            <a:avLst/>
          </a:prstGeom>
          <a:solidFill>
            <a:srgbClr val="E8E3DC"/>
          </a:solidFill>
          <a:ln>
            <a:noFill/>
          </a:ln>
        </p:spPr>
      </p:sp>
      <p:sp>
        <p:nvSpPr>
          <p:cNvPr id="39" name="Rectangle 39"/>
          <p:cNvSpPr/>
          <p:nvPr/>
        </p:nvSpPr>
        <p:spPr>
          <a:xfrm>
            <a:off x="4572000" y="2381250"/>
            <a:ext cx="95250" cy="95250"/>
          </a:xfrm>
          <a:prstGeom prst="roundRect">
            <a:avLst>
              <a:gd name="adj" fmla="val 30000"/>
            </a:avLst>
          </a:prstGeom>
          <a:solidFill>
            <a:srgbClr val="E67E22"/>
          </a:solidFill>
          <a:ln>
            <a:noFill/>
          </a:ln>
        </p:spPr>
      </p:sp>
      <p:sp>
        <p:nvSpPr>
          <p:cNvPr id="40" name="TextBox 40"/>
          <p:cNvSpPr txBox="1"/>
          <p:nvPr/>
        </p:nvSpPr>
        <p:spPr>
          <a:xfrm>
            <a:off x="4746308" y="23388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选择标准</a:t>
            </a:r>
          </a:p>
        </p:txBody>
      </p:sp>
      <p:sp>
        <p:nvSpPr>
          <p:cNvPr id="41" name="TextBox 41"/>
          <p:cNvSpPr txBox="1"/>
          <p:nvPr/>
        </p:nvSpPr>
        <p:spPr>
          <a:xfrm>
            <a:off x="4748212" y="2564606"/>
            <a:ext cx="217384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社区密度 &gt; 城市规模 &gt; 消费能力</a:t>
            </a:r>
          </a:p>
        </p:txBody>
      </p:sp>
      <p:sp>
        <p:nvSpPr>
          <p:cNvPr id="42" name="Rectangle 42"/>
          <p:cNvSpPr/>
          <p:nvPr/>
        </p:nvSpPr>
        <p:spPr>
          <a:xfrm>
            <a:off x="4572000" y="2952750"/>
            <a:ext cx="95250" cy="95250"/>
          </a:xfrm>
          <a:prstGeom prst="roundRect">
            <a:avLst>
              <a:gd name="adj" fmla="val 30000"/>
            </a:avLst>
          </a:prstGeom>
          <a:solidFill>
            <a:srgbClr val="E67E22"/>
          </a:solidFill>
          <a:ln>
            <a:noFill/>
          </a:ln>
        </p:spPr>
      </p:sp>
      <p:sp>
        <p:nvSpPr>
          <p:cNvPr id="43" name="TextBox 43"/>
          <p:cNvSpPr txBox="1"/>
          <p:nvPr/>
        </p:nvSpPr>
        <p:spPr>
          <a:xfrm>
            <a:off x="4746308" y="2910364"/>
            <a:ext cx="372428"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规模</a:t>
            </a:r>
          </a:p>
        </p:txBody>
      </p:sp>
      <p:sp>
        <p:nvSpPr>
          <p:cNvPr id="44" name="TextBox 44"/>
          <p:cNvSpPr txBox="1"/>
          <p:nvPr/>
        </p:nvSpPr>
        <p:spPr>
          <a:xfrm>
            <a:off x="4748212" y="3136106"/>
            <a:ext cx="1513761"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20家商户 + 500消费者</a:t>
            </a:r>
          </a:p>
        </p:txBody>
      </p:sp>
      <p:sp>
        <p:nvSpPr>
          <p:cNvPr id="45" name="Rectangle 45"/>
          <p:cNvSpPr/>
          <p:nvPr/>
        </p:nvSpPr>
        <p:spPr>
          <a:xfrm>
            <a:off x="4572000" y="3524250"/>
            <a:ext cx="95250" cy="95250"/>
          </a:xfrm>
          <a:prstGeom prst="roundRect">
            <a:avLst>
              <a:gd name="adj" fmla="val 30000"/>
            </a:avLst>
          </a:prstGeom>
          <a:solidFill>
            <a:srgbClr val="E67E22"/>
          </a:solidFill>
          <a:ln>
            <a:noFill/>
          </a:ln>
        </p:spPr>
      </p:sp>
      <p:sp>
        <p:nvSpPr>
          <p:cNvPr id="46" name="TextBox 46"/>
          <p:cNvSpPr txBox="1"/>
          <p:nvPr/>
        </p:nvSpPr>
        <p:spPr>
          <a:xfrm>
            <a:off x="4746308" y="34818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试点节奏</a:t>
            </a:r>
          </a:p>
        </p:txBody>
      </p:sp>
      <p:sp>
        <p:nvSpPr>
          <p:cNvPr id="47" name="TextBox 47"/>
          <p:cNvSpPr txBox="1"/>
          <p:nvPr/>
        </p:nvSpPr>
        <p:spPr>
          <a:xfrm>
            <a:off x="4748212" y="3707606"/>
            <a:ext cx="261639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6月下旬商家入驻 → 7月上旬消费者进入</a:t>
            </a:r>
          </a:p>
        </p:txBody>
      </p:sp>
      <p:sp>
        <p:nvSpPr>
          <p:cNvPr id="48" name="TextBox 48"/>
          <p:cNvSpPr txBox="1"/>
          <p:nvPr/>
        </p:nvSpPr>
        <p:spPr>
          <a:xfrm>
            <a:off x="4748212" y="3917156"/>
            <a:ext cx="158877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 7月中旬观察跨店行为</a:t>
            </a:r>
          </a:p>
        </p:txBody>
      </p:sp>
      <p:sp>
        <p:nvSpPr>
          <p:cNvPr id="49" name="Rectangle 49"/>
          <p:cNvSpPr/>
          <p:nvPr/>
        </p:nvSpPr>
        <p:spPr>
          <a:xfrm>
            <a:off x="4572000" y="4286250"/>
            <a:ext cx="3048000" cy="685800"/>
          </a:xfrm>
          <a:prstGeom prst="roundRect">
            <a:avLst>
              <a:gd name="adj" fmla="val 13889"/>
            </a:avLst>
          </a:prstGeom>
          <a:solidFill>
            <a:srgbClr val="F0EDE8"/>
          </a:solidFill>
          <a:ln>
            <a:noFill/>
          </a:ln>
        </p:spPr>
      </p:sp>
      <p:sp>
        <p:nvSpPr>
          <p:cNvPr id="50" name="TextBox 50"/>
          <p:cNvSpPr txBox="1"/>
          <p:nvPr/>
        </p:nvSpPr>
        <p:spPr>
          <a:xfrm>
            <a:off x="4701540" y="4391978"/>
            <a:ext cx="58674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退出标准</a:t>
            </a:r>
          </a:p>
        </p:txBody>
      </p:sp>
      <p:sp>
        <p:nvSpPr>
          <p:cNvPr id="51" name="Rectangle 51"/>
          <p:cNvSpPr/>
          <p:nvPr/>
        </p:nvSpPr>
        <p:spPr>
          <a:xfrm>
            <a:off x="4714875" y="4610100"/>
            <a:ext cx="76200" cy="76200"/>
          </a:xfrm>
          <a:prstGeom prst="roundRect">
            <a:avLst>
              <a:gd name="adj" fmla="val 25000"/>
            </a:avLst>
          </a:prstGeom>
          <a:solidFill>
            <a:srgbClr val="E67E22">
              <a:alpha val="30000"/>
            </a:srgbClr>
          </a:solidFill>
          <a:ln>
            <a:noFill/>
          </a:ln>
        </p:spPr>
      </p:sp>
      <p:sp>
        <p:nvSpPr>
          <p:cNvPr id="52" name="TextBox 52"/>
          <p:cNvSpPr txBox="1"/>
          <p:nvPr/>
        </p:nvSpPr>
        <p:spPr>
          <a:xfrm>
            <a:off x="4871085" y="4556760"/>
            <a:ext cx="1685487"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30%商户产生跨店交易</a:t>
            </a:r>
          </a:p>
        </p:txBody>
      </p:sp>
      <p:sp>
        <p:nvSpPr>
          <p:cNvPr id="53" name="Rectangle 53"/>
          <p:cNvSpPr/>
          <p:nvPr/>
        </p:nvSpPr>
        <p:spPr>
          <a:xfrm>
            <a:off x="4572000" y="5143500"/>
            <a:ext cx="3048000" cy="381000"/>
          </a:xfrm>
          <a:prstGeom prst="roundRect">
            <a:avLst>
              <a:gd name="adj" fmla="val 20000"/>
            </a:avLst>
          </a:prstGeom>
          <a:solidFill>
            <a:srgbClr val="E67E22">
              <a:alpha val="6000"/>
            </a:srgbClr>
          </a:solidFill>
          <a:ln>
            <a:noFill/>
          </a:ln>
        </p:spPr>
      </p:sp>
      <p:sp>
        <p:nvSpPr>
          <p:cNvPr id="54" name="TextBox 54"/>
          <p:cNvSpPr txBox="1"/>
          <p:nvPr/>
        </p:nvSpPr>
        <p:spPr>
          <a:xfrm>
            <a:off x="4701540" y="5268278"/>
            <a:ext cx="2126932" cy="213360"/>
          </a:xfrm>
          <a:prstGeom prst="rect">
            <a:avLst/>
          </a:prstGeom>
          <a:noFill/>
          <a:ln>
            <a:noFill/>
          </a:ln>
        </p:spPr>
        <p:txBody>
          <a:bodyPr wrap="none" lIns="0" tIns="0" rIns="0" bIns="0" anchor="t" anchorCtr="0">
            <a:spAutoFit/>
          </a:bodyPr>
          <a:lstStyle/>
          <a:p>
            <a:pPr algn="l"/>
            <a:r>
              <a:rPr lang="zh-CN" sz="1050" dirty="0">
                <a:solidFill>
                  <a:srgbClr val="E67E22"/>
                </a:solidFill>
                <a:latin typeface="Arial"/>
                <a:ea typeface="Microsoft YaHei"/>
                <a:cs typeface="Arial"/>
              </a:rPr>
              <a:t>飞轮能否自转，而不是靠补贴强推</a:t>
            </a:r>
          </a:p>
        </p:txBody>
      </p:sp>
      <p:sp>
        <p:nvSpPr>
          <p:cNvPr id="55" name="Rectangle 55"/>
          <p:cNvSpPr/>
          <p:nvPr/>
        </p:nvSpPr>
        <p:spPr>
          <a:xfrm>
            <a:off x="8096250" y="1333500"/>
            <a:ext cx="3524250" cy="4714875"/>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56" name="Rectangle 56"/>
          <p:cNvSpPr/>
          <p:nvPr/>
        </p:nvSpPr>
        <p:spPr>
          <a:xfrm>
            <a:off x="8096250" y="1333500"/>
            <a:ext cx="3524250" cy="4714875"/>
          </a:xfrm>
          <a:prstGeom prst="roundRect">
            <a:avLst>
              <a:gd name="adj" fmla="val 3784"/>
            </a:avLst>
          </a:prstGeom>
          <a:noFill/>
          <a:ln w="9525">
            <a:solidFill>
              <a:srgbClr val="E8E3DC"/>
            </a:solidFill>
          </a:ln>
        </p:spPr>
      </p:sp>
      <p:sp>
        <p:nvSpPr>
          <p:cNvPr id="57" name="Rectangle 57"/>
          <p:cNvSpPr/>
          <p:nvPr/>
        </p:nvSpPr>
        <p:spPr>
          <a:xfrm>
            <a:off x="8096250" y="1333500"/>
            <a:ext cx="3524250" cy="666750"/>
          </a:xfrm>
          <a:prstGeom prst="roundRect">
            <a:avLst>
              <a:gd name="adj" fmla="val 20000"/>
            </a:avLst>
          </a:prstGeom>
          <a:solidFill>
            <a:srgbClr val="1E8449">
              <a:alpha val="8000"/>
            </a:srgbClr>
          </a:solidFill>
          <a:ln>
            <a:noFill/>
          </a:ln>
        </p:spPr>
      </p:sp>
      <p:sp>
        <p:nvSpPr>
          <p:cNvPr id="58" name="Rectangle 58"/>
          <p:cNvSpPr/>
          <p:nvPr/>
        </p:nvSpPr>
        <p:spPr>
          <a:xfrm>
            <a:off x="8096250" y="1866900"/>
            <a:ext cx="3524250" cy="133350"/>
          </a:xfrm>
          <a:prstGeom prst="rect">
            <a:avLst/>
          </a:prstGeom>
          <a:solidFill>
            <a:srgbClr val="1E8449">
              <a:alpha val="8000"/>
            </a:srgbClr>
          </a:solidFill>
          <a:ln>
            <a:noFill/>
          </a:ln>
        </p:spPr>
      </p:sp>
      <p:sp>
        <p:nvSpPr>
          <p:cNvPr id="59" name="Ellipse 59"/>
          <p:cNvSpPr/>
          <p:nvPr/>
        </p:nvSpPr>
        <p:spPr>
          <a:xfrm>
            <a:off x="8210550" y="1495425"/>
            <a:ext cx="342900" cy="342900"/>
          </a:xfrm>
          <a:prstGeom prst="ellipse">
            <a:avLst/>
          </a:prstGeom>
          <a:solidFill>
            <a:srgbClr val="1E8449">
              <a:alpha val="15000"/>
            </a:srgbClr>
          </a:solidFill>
          <a:ln>
            <a:noFill/>
          </a:ln>
        </p:spPr>
      </p:sp>
      <p:sp>
        <p:nvSpPr>
          <p:cNvPr id="60" name="TextBox 60"/>
          <p:cNvSpPr txBox="1"/>
          <p:nvPr/>
        </p:nvSpPr>
        <p:spPr>
          <a:xfrm>
            <a:off x="8307943" y="1562100"/>
            <a:ext cx="148114" cy="304800"/>
          </a:xfrm>
          <a:prstGeom prst="rect">
            <a:avLst/>
          </a:prstGeom>
          <a:noFill/>
          <a:ln>
            <a:noFill/>
          </a:ln>
        </p:spPr>
        <p:txBody>
          <a:bodyPr wrap="none" lIns="0" tIns="0" rIns="0" bIns="0" anchor="t" anchorCtr="0">
            <a:spAutoFit/>
          </a:bodyPr>
          <a:lstStyle/>
          <a:p>
            <a:pPr algn="ctr"/>
            <a:r>
              <a:rPr lang="zh-CN" sz="1500" dirty="0">
                <a:solidFill>
                  <a:srgbClr val="1E8449"/>
                </a:solidFill>
                <a:latin typeface="Segoe UI"/>
                <a:ea typeface="Microsoft YaHei"/>
                <a:cs typeface="Segoe UI"/>
              </a:rPr>
              <a:t>★</a:t>
            </a:r>
          </a:p>
        </p:txBody>
      </p:sp>
      <p:sp>
        <p:nvSpPr>
          <p:cNvPr id="61" name="TextBox 61"/>
          <p:cNvSpPr txBox="1"/>
          <p:nvPr/>
        </p:nvSpPr>
        <p:spPr>
          <a:xfrm>
            <a:off x="8629650" y="1476375"/>
            <a:ext cx="1823323" cy="304800"/>
          </a:xfrm>
          <a:prstGeom prst="rect">
            <a:avLst/>
          </a:prstGeom>
          <a:noFill/>
          <a:ln>
            <a:noFill/>
          </a:ln>
        </p:spPr>
        <p:txBody>
          <a:bodyPr wrap="none" lIns="0" tIns="0" rIns="0" bIns="0" anchor="t" anchorCtr="0">
            <a:spAutoFit/>
          </a:bodyPr>
          <a:lstStyle/>
          <a:p>
            <a:pPr algn="l"/>
            <a:r>
              <a:rPr lang="zh-CN" sz="1500" b="1" dirty="0">
                <a:solidFill>
                  <a:srgbClr val="1E8449"/>
                </a:solidFill>
                <a:latin typeface="Arial"/>
                <a:ea typeface="Microsoft YaHei"/>
                <a:cs typeface="Arial"/>
              </a:rPr>
              <a:t>P1-3 最小案例生产</a:t>
            </a:r>
          </a:p>
        </p:txBody>
      </p:sp>
      <p:sp>
        <p:nvSpPr>
          <p:cNvPr id="62" name="TextBox 62"/>
          <p:cNvSpPr txBox="1"/>
          <p:nvPr/>
        </p:nvSpPr>
        <p:spPr>
          <a:xfrm>
            <a:off x="8634412" y="1716881"/>
            <a:ext cx="792545"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复制工具 ●</a:t>
            </a:r>
          </a:p>
        </p:txBody>
      </p:sp>
      <p:sp>
        <p:nvSpPr>
          <p:cNvPr id="63" name="Rectangle 63"/>
          <p:cNvSpPr/>
          <p:nvPr/>
        </p:nvSpPr>
        <p:spPr>
          <a:xfrm>
            <a:off x="8334375" y="2190750"/>
            <a:ext cx="3048000" cy="9525"/>
          </a:xfrm>
          <a:prstGeom prst="rect">
            <a:avLst/>
          </a:prstGeom>
          <a:solidFill>
            <a:srgbClr val="E8E3DC"/>
          </a:solidFill>
          <a:ln>
            <a:noFill/>
          </a:ln>
        </p:spPr>
      </p:sp>
      <p:sp>
        <p:nvSpPr>
          <p:cNvPr id="64" name="Rectangle 64"/>
          <p:cNvSpPr/>
          <p:nvPr/>
        </p:nvSpPr>
        <p:spPr>
          <a:xfrm>
            <a:off x="8334375" y="2381250"/>
            <a:ext cx="95250" cy="95250"/>
          </a:xfrm>
          <a:prstGeom prst="roundRect">
            <a:avLst>
              <a:gd name="adj" fmla="val 30000"/>
            </a:avLst>
          </a:prstGeom>
          <a:solidFill>
            <a:srgbClr val="1E8449"/>
          </a:solidFill>
          <a:ln>
            <a:noFill/>
          </a:ln>
        </p:spPr>
      </p:sp>
      <p:sp>
        <p:nvSpPr>
          <p:cNvPr id="65" name="TextBox 65"/>
          <p:cNvSpPr txBox="1"/>
          <p:nvPr/>
        </p:nvSpPr>
        <p:spPr>
          <a:xfrm>
            <a:off x="8508682" y="23388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样板案例</a:t>
            </a:r>
          </a:p>
        </p:txBody>
      </p:sp>
      <p:sp>
        <p:nvSpPr>
          <p:cNvPr id="66" name="TextBox 66"/>
          <p:cNvSpPr txBox="1"/>
          <p:nvPr/>
        </p:nvSpPr>
        <p:spPr>
          <a:xfrm>
            <a:off x="8510588" y="2564606"/>
            <a:ext cx="147625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3-5个可复用样板案例</a:t>
            </a:r>
          </a:p>
        </p:txBody>
      </p:sp>
      <p:sp>
        <p:nvSpPr>
          <p:cNvPr id="67" name="Rectangle 67"/>
          <p:cNvSpPr/>
          <p:nvPr/>
        </p:nvSpPr>
        <p:spPr>
          <a:xfrm>
            <a:off x="8334375" y="2952750"/>
            <a:ext cx="95250" cy="95250"/>
          </a:xfrm>
          <a:prstGeom prst="roundRect">
            <a:avLst>
              <a:gd name="adj" fmla="val 30000"/>
            </a:avLst>
          </a:prstGeom>
          <a:solidFill>
            <a:srgbClr val="1E8449"/>
          </a:solidFill>
          <a:ln>
            <a:noFill/>
          </a:ln>
        </p:spPr>
      </p:sp>
      <p:sp>
        <p:nvSpPr>
          <p:cNvPr id="68" name="TextBox 68"/>
          <p:cNvSpPr txBox="1"/>
          <p:nvPr/>
        </p:nvSpPr>
        <p:spPr>
          <a:xfrm>
            <a:off x="8508682" y="2910364"/>
            <a:ext cx="712470" cy="259080"/>
          </a:xfrm>
          <a:prstGeom prst="rect">
            <a:avLst/>
          </a:prstGeom>
          <a:noFill/>
          <a:ln>
            <a:noFill/>
          </a:ln>
        </p:spPr>
        <p:txBody>
          <a:bodyPr wrap="none" lIns="0" tIns="0" rIns="0" bIns="0" anchor="t" anchorCtr="0">
            <a:spAutoFit/>
          </a:bodyPr>
          <a:lstStyle/>
          <a:p>
            <a:pPr algn="l"/>
            <a:r>
              <a:rPr lang="zh-CN" sz="1275" dirty="0">
                <a:solidFill>
                  <a:srgbClr val="2C2C2C"/>
                </a:solidFill>
                <a:latin typeface="Arial"/>
                <a:ea typeface="Microsoft YaHei"/>
                <a:cs typeface="Arial"/>
              </a:rPr>
              <a:t>案例要素</a:t>
            </a:r>
          </a:p>
        </p:txBody>
      </p:sp>
      <p:sp>
        <p:nvSpPr>
          <p:cNvPr id="69" name="TextBox 69"/>
          <p:cNvSpPr txBox="1"/>
          <p:nvPr/>
        </p:nvSpPr>
        <p:spPr>
          <a:xfrm>
            <a:off x="8510588" y="3136106"/>
            <a:ext cx="161877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商户Before/After对比</a:t>
            </a:r>
          </a:p>
        </p:txBody>
      </p:sp>
      <p:sp>
        <p:nvSpPr>
          <p:cNvPr id="70" name="TextBox 70"/>
          <p:cNvSpPr txBox="1"/>
          <p:nvPr/>
        </p:nvSpPr>
        <p:spPr>
          <a:xfrm>
            <a:off x="8510588" y="3345656"/>
            <a:ext cx="191131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数据变化（复购率/客单价）</a:t>
            </a:r>
          </a:p>
        </p:txBody>
      </p:sp>
      <p:sp>
        <p:nvSpPr>
          <p:cNvPr id="71" name="TextBox 71"/>
          <p:cNvSpPr txBox="1"/>
          <p:nvPr/>
        </p:nvSpPr>
        <p:spPr>
          <a:xfrm>
            <a:off x="8510588" y="3555206"/>
            <a:ext cx="152876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具体做法与可复制步骤</a:t>
            </a:r>
          </a:p>
        </p:txBody>
      </p:sp>
      <p:sp>
        <p:nvSpPr>
          <p:cNvPr id="72" name="Rectangle 72"/>
          <p:cNvSpPr/>
          <p:nvPr/>
        </p:nvSpPr>
        <p:spPr>
          <a:xfrm>
            <a:off x="8334375" y="4286250"/>
            <a:ext cx="3048000" cy="685800"/>
          </a:xfrm>
          <a:prstGeom prst="roundRect">
            <a:avLst>
              <a:gd name="adj" fmla="val 13889"/>
            </a:avLst>
          </a:prstGeom>
          <a:solidFill>
            <a:srgbClr val="F0EDE8"/>
          </a:solidFill>
          <a:ln>
            <a:noFill/>
          </a:ln>
        </p:spPr>
      </p:sp>
      <p:sp>
        <p:nvSpPr>
          <p:cNvPr id="73" name="TextBox 73"/>
          <p:cNvSpPr txBox="1"/>
          <p:nvPr/>
        </p:nvSpPr>
        <p:spPr>
          <a:xfrm>
            <a:off x="8463915" y="4391978"/>
            <a:ext cx="58674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退出标准</a:t>
            </a:r>
          </a:p>
        </p:txBody>
      </p:sp>
      <p:sp>
        <p:nvSpPr>
          <p:cNvPr id="74" name="Rectangle 74"/>
          <p:cNvSpPr/>
          <p:nvPr/>
        </p:nvSpPr>
        <p:spPr>
          <a:xfrm>
            <a:off x="8477250" y="4610100"/>
            <a:ext cx="76200" cy="76200"/>
          </a:xfrm>
          <a:prstGeom prst="roundRect">
            <a:avLst>
              <a:gd name="adj" fmla="val 25000"/>
            </a:avLst>
          </a:prstGeom>
          <a:solidFill>
            <a:srgbClr val="1E8449">
              <a:alpha val="30000"/>
            </a:srgbClr>
          </a:solidFill>
          <a:ln>
            <a:noFill/>
          </a:ln>
        </p:spPr>
      </p:sp>
      <p:sp>
        <p:nvSpPr>
          <p:cNvPr id="75" name="TextBox 75"/>
          <p:cNvSpPr txBox="1"/>
          <p:nvPr/>
        </p:nvSpPr>
        <p:spPr>
          <a:xfrm>
            <a:off x="8633460" y="4556760"/>
            <a:ext cx="2752420"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案例集可通过PPT/文档分发给推广者</a:t>
            </a:r>
          </a:p>
        </p:txBody>
      </p:sp>
      <p:sp>
        <p:nvSpPr>
          <p:cNvPr id="76" name="Rectangle 76"/>
          <p:cNvSpPr/>
          <p:nvPr/>
        </p:nvSpPr>
        <p:spPr>
          <a:xfrm>
            <a:off x="8334375" y="5143500"/>
            <a:ext cx="3048000" cy="381000"/>
          </a:xfrm>
          <a:prstGeom prst="roundRect">
            <a:avLst>
              <a:gd name="adj" fmla="val 20000"/>
            </a:avLst>
          </a:prstGeom>
          <a:solidFill>
            <a:srgbClr val="1E8449">
              <a:alpha val="6000"/>
            </a:srgbClr>
          </a:solidFill>
          <a:ln>
            <a:noFill/>
          </a:ln>
        </p:spPr>
      </p:sp>
      <p:sp>
        <p:nvSpPr>
          <p:cNvPr id="77" name="TextBox 77"/>
          <p:cNvSpPr txBox="1"/>
          <p:nvPr/>
        </p:nvSpPr>
        <p:spPr>
          <a:xfrm>
            <a:off x="8463915" y="5268278"/>
            <a:ext cx="1706880"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案例是推广者最重要的武器</a:t>
            </a:r>
          </a:p>
        </p:txBody>
      </p:sp>
      <p:sp>
        <p:nvSpPr>
          <p:cNvPr id="78" name="TextBox 78"/>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32</a:t>
            </a:r>
          </a:p>
        </p:txBody>
      </p:sp>
      <p:sp>
        <p:nvSpPr>
          <p:cNvPr id="79" name="TextBox 79"/>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27710" y="375285"/>
            <a:ext cx="8763667"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第二段：从「创始人亲自谈」切换到「推广者复制」</a:t>
            </a:r>
          </a:p>
        </p:txBody>
      </p:sp>
      <p:sp>
        <p:nvSpPr>
          <p:cNvPr id="5" name="TextBox 5"/>
          <p:cNvSpPr txBox="1"/>
          <p:nvPr/>
        </p:nvSpPr>
        <p:spPr>
          <a:xfrm>
            <a:off x="742950" y="838200"/>
            <a:ext cx="4038600"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推广者能不能复制「创始人谈商家的方式」？</a:t>
            </a:r>
          </a:p>
        </p:txBody>
      </p:sp>
      <p:sp>
        <p:nvSpPr>
          <p:cNvPr id="6" name="Rectangle 6"/>
          <p:cNvSpPr/>
          <p:nvPr/>
        </p:nvSpPr>
        <p:spPr>
          <a:xfrm>
            <a:off x="571500" y="1333500"/>
            <a:ext cx="3524250" cy="4714875"/>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333500"/>
            <a:ext cx="3524250" cy="4714875"/>
          </a:xfrm>
          <a:prstGeom prst="roundRect">
            <a:avLst>
              <a:gd name="adj" fmla="val 3784"/>
            </a:avLst>
          </a:prstGeom>
          <a:noFill/>
          <a:ln w="9525">
            <a:solidFill>
              <a:srgbClr val="E8E3DC"/>
            </a:solidFill>
          </a:ln>
        </p:spPr>
      </p:sp>
      <p:sp>
        <p:nvSpPr>
          <p:cNvPr id="8" name="Rectangle 8"/>
          <p:cNvSpPr/>
          <p:nvPr/>
        </p:nvSpPr>
        <p:spPr>
          <a:xfrm>
            <a:off x="571500" y="1333500"/>
            <a:ext cx="3524250" cy="666750"/>
          </a:xfrm>
          <a:prstGeom prst="roundRect">
            <a:avLst>
              <a:gd name="adj" fmla="val 20000"/>
            </a:avLst>
          </a:prstGeom>
          <a:solidFill>
            <a:srgbClr val="1A5276">
              <a:alpha val="8000"/>
            </a:srgbClr>
          </a:solidFill>
          <a:ln>
            <a:noFill/>
          </a:ln>
        </p:spPr>
      </p:sp>
      <p:sp>
        <p:nvSpPr>
          <p:cNvPr id="9" name="Rectangle 9"/>
          <p:cNvSpPr/>
          <p:nvPr/>
        </p:nvSpPr>
        <p:spPr>
          <a:xfrm>
            <a:off x="571500" y="1866900"/>
            <a:ext cx="3524250" cy="133350"/>
          </a:xfrm>
          <a:prstGeom prst="rect">
            <a:avLst/>
          </a:prstGeom>
          <a:solidFill>
            <a:srgbClr val="1A5276">
              <a:alpha val="8000"/>
            </a:srgbClr>
          </a:solidFill>
          <a:ln>
            <a:noFill/>
          </a:ln>
        </p:spPr>
      </p:sp>
      <p:sp>
        <p:nvSpPr>
          <p:cNvPr id="10" name="Ellipse 10"/>
          <p:cNvSpPr/>
          <p:nvPr/>
        </p:nvSpPr>
        <p:spPr>
          <a:xfrm>
            <a:off x="685800" y="1495425"/>
            <a:ext cx="342900" cy="342900"/>
          </a:xfrm>
          <a:prstGeom prst="ellipse">
            <a:avLst/>
          </a:prstGeom>
          <a:solidFill>
            <a:srgbClr val="1A5276">
              <a:alpha val="15000"/>
            </a:srgbClr>
          </a:solidFill>
          <a:ln>
            <a:noFill/>
          </a:ln>
        </p:spPr>
      </p:sp>
      <p:sp>
        <p:nvSpPr>
          <p:cNvPr id="11" name="TextBox 11"/>
          <p:cNvSpPr txBox="1"/>
          <p:nvPr/>
        </p:nvSpPr>
        <p:spPr>
          <a:xfrm>
            <a:off x="783193" y="1562100"/>
            <a:ext cx="148114" cy="304800"/>
          </a:xfrm>
          <a:prstGeom prst="rect">
            <a:avLst/>
          </a:prstGeom>
          <a:noFill/>
          <a:ln>
            <a:noFill/>
          </a:ln>
        </p:spPr>
        <p:txBody>
          <a:bodyPr wrap="none" lIns="0" tIns="0" rIns="0" bIns="0" anchor="t" anchorCtr="0">
            <a:spAutoFit/>
          </a:bodyPr>
          <a:lstStyle/>
          <a:p>
            <a:pPr algn="ctr"/>
            <a:r>
              <a:rPr lang="zh-CN" sz="1500" dirty="0">
                <a:solidFill>
                  <a:srgbClr val="1A5276"/>
                </a:solidFill>
                <a:latin typeface="Segoe UI"/>
                <a:ea typeface="Microsoft YaHei"/>
                <a:cs typeface="Segoe UI"/>
              </a:rPr>
              <a:t>↗</a:t>
            </a:r>
          </a:p>
        </p:txBody>
      </p:sp>
      <p:sp>
        <p:nvSpPr>
          <p:cNvPr id="12" name="TextBox 12"/>
          <p:cNvSpPr txBox="1"/>
          <p:nvPr/>
        </p:nvSpPr>
        <p:spPr>
          <a:xfrm>
            <a:off x="1104900" y="1476375"/>
            <a:ext cx="983218" cy="304800"/>
          </a:xfrm>
          <a:prstGeom prst="rect">
            <a:avLst/>
          </a:prstGeom>
          <a:noFill/>
          <a:ln>
            <a:noFill/>
          </a:ln>
        </p:spPr>
        <p:txBody>
          <a:bodyPr wrap="none" lIns="0" tIns="0" rIns="0" bIns="0" anchor="t" anchorCtr="0">
            <a:spAutoFit/>
          </a:bodyPr>
          <a:lstStyle/>
          <a:p>
            <a:pPr algn="l"/>
            <a:r>
              <a:rPr lang="zh-CN" sz="1500" b="1" dirty="0">
                <a:solidFill>
                  <a:srgbClr val="1A5276"/>
                </a:solidFill>
                <a:latin typeface="Arial"/>
                <a:ea typeface="Microsoft YaHei"/>
                <a:cs typeface="Arial"/>
              </a:rPr>
              <a:t>P2-1 扩量</a:t>
            </a:r>
          </a:p>
        </p:txBody>
      </p:sp>
      <p:sp>
        <p:nvSpPr>
          <p:cNvPr id="13" name="Rectangle 13"/>
          <p:cNvSpPr/>
          <p:nvPr/>
        </p:nvSpPr>
        <p:spPr>
          <a:xfrm>
            <a:off x="809625" y="2190750"/>
            <a:ext cx="3048000" cy="9525"/>
          </a:xfrm>
          <a:prstGeom prst="rect">
            <a:avLst/>
          </a:prstGeom>
          <a:solidFill>
            <a:srgbClr val="E8E3DC"/>
          </a:solidFill>
          <a:ln>
            <a:noFill/>
          </a:ln>
        </p:spPr>
      </p:sp>
      <p:sp>
        <p:nvSpPr>
          <p:cNvPr id="14" name="Rectangle 14"/>
          <p:cNvSpPr/>
          <p:nvPr/>
        </p:nvSpPr>
        <p:spPr>
          <a:xfrm>
            <a:off x="809625" y="2381250"/>
            <a:ext cx="3048000" cy="619125"/>
          </a:xfrm>
          <a:prstGeom prst="roundRect">
            <a:avLst>
              <a:gd name="adj" fmla="val 15385"/>
            </a:avLst>
          </a:prstGeom>
          <a:solidFill>
            <a:srgbClr val="F0EDE8"/>
          </a:solidFill>
          <a:ln>
            <a:noFill/>
          </a:ln>
        </p:spPr>
      </p:sp>
      <p:sp>
        <p:nvSpPr>
          <p:cNvPr id="15" name="TextBox 15"/>
          <p:cNvSpPr txBox="1"/>
          <p:nvPr/>
        </p:nvSpPr>
        <p:spPr>
          <a:xfrm>
            <a:off x="985838" y="252650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商家规模</a:t>
            </a:r>
          </a:p>
        </p:txBody>
      </p:sp>
      <p:sp>
        <p:nvSpPr>
          <p:cNvPr id="16" name="TextBox 16"/>
          <p:cNvSpPr txBox="1"/>
          <p:nvPr/>
        </p:nvSpPr>
        <p:spPr>
          <a:xfrm>
            <a:off x="973455" y="2649855"/>
            <a:ext cx="1494120" cy="426720"/>
          </a:xfrm>
          <a:prstGeom prst="rect">
            <a:avLst/>
          </a:prstGeom>
          <a:noFill/>
          <a:ln>
            <a:noFill/>
          </a:ln>
        </p:spPr>
        <p:txBody>
          <a:bodyPr wrap="none" lIns="0" tIns="0" rIns="0" bIns="0" anchor="t" anchorCtr="0">
            <a:spAutoFit/>
          </a:bodyPr>
          <a:lstStyle/>
          <a:p>
            <a:pPr algn="l"/>
            <a:r>
              <a:rPr lang="zh-CN" sz="2100" b="1" dirty="0">
                <a:solidFill>
                  <a:srgbClr val="1A5276"/>
                </a:solidFill>
                <a:latin typeface="Georgia"/>
                <a:ea typeface="KaiTi"/>
                <a:cs typeface="Georgia"/>
              </a:rPr>
              <a:t>20 -&gt; 50家</a:t>
            </a:r>
          </a:p>
        </p:txBody>
      </p:sp>
      <p:sp>
        <p:nvSpPr>
          <p:cNvPr id="17" name="TextBox 17"/>
          <p:cNvSpPr txBox="1"/>
          <p:nvPr/>
        </p:nvSpPr>
        <p:spPr>
          <a:xfrm>
            <a:off x="2652712" y="2526506"/>
            <a:ext cx="3286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商户</a:t>
            </a:r>
          </a:p>
        </p:txBody>
      </p:sp>
      <p:sp>
        <p:nvSpPr>
          <p:cNvPr id="18" name="Rectangle 18"/>
          <p:cNvSpPr/>
          <p:nvPr/>
        </p:nvSpPr>
        <p:spPr>
          <a:xfrm>
            <a:off x="809625" y="3162300"/>
            <a:ext cx="3048000" cy="619125"/>
          </a:xfrm>
          <a:prstGeom prst="roundRect">
            <a:avLst>
              <a:gd name="adj" fmla="val 15385"/>
            </a:avLst>
          </a:prstGeom>
          <a:solidFill>
            <a:srgbClr val="F0EDE8"/>
          </a:solidFill>
          <a:ln>
            <a:noFill/>
          </a:ln>
        </p:spPr>
      </p:sp>
      <p:sp>
        <p:nvSpPr>
          <p:cNvPr id="19" name="TextBox 19"/>
          <p:cNvSpPr txBox="1"/>
          <p:nvPr/>
        </p:nvSpPr>
        <p:spPr>
          <a:xfrm>
            <a:off x="985838" y="3307556"/>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引入推广者</a:t>
            </a:r>
          </a:p>
        </p:txBody>
      </p:sp>
      <p:sp>
        <p:nvSpPr>
          <p:cNvPr id="20" name="TextBox 20"/>
          <p:cNvSpPr txBox="1"/>
          <p:nvPr/>
        </p:nvSpPr>
        <p:spPr>
          <a:xfrm>
            <a:off x="973455" y="3430905"/>
            <a:ext cx="1420611" cy="426720"/>
          </a:xfrm>
          <a:prstGeom prst="rect">
            <a:avLst/>
          </a:prstGeom>
          <a:noFill/>
          <a:ln>
            <a:noFill/>
          </a:ln>
        </p:spPr>
        <p:txBody>
          <a:bodyPr wrap="none" lIns="0" tIns="0" rIns="0" bIns="0" anchor="t" anchorCtr="0">
            <a:spAutoFit/>
          </a:bodyPr>
          <a:lstStyle/>
          <a:p>
            <a:pPr algn="l"/>
            <a:r>
              <a:rPr lang="zh-CN" sz="2100" b="1" dirty="0">
                <a:solidFill>
                  <a:srgbClr val="E67E22"/>
                </a:solidFill>
                <a:latin typeface="Georgia"/>
                <a:ea typeface="KaiTi"/>
                <a:cs typeface="Georgia"/>
              </a:rPr>
              <a:t>1-2名试点</a:t>
            </a:r>
          </a:p>
        </p:txBody>
      </p:sp>
      <p:sp>
        <p:nvSpPr>
          <p:cNvPr id="21" name="Rectangle 21"/>
          <p:cNvSpPr/>
          <p:nvPr/>
        </p:nvSpPr>
        <p:spPr>
          <a:xfrm>
            <a:off x="809625" y="4000500"/>
            <a:ext cx="3048000" cy="685800"/>
          </a:xfrm>
          <a:prstGeom prst="roundRect">
            <a:avLst>
              <a:gd name="adj" fmla="val 13889"/>
            </a:avLst>
          </a:prstGeom>
          <a:solidFill>
            <a:srgbClr val="F0EDE8"/>
          </a:solidFill>
          <a:ln>
            <a:noFill/>
          </a:ln>
        </p:spPr>
      </p:sp>
      <p:sp>
        <p:nvSpPr>
          <p:cNvPr id="22" name="TextBox 22"/>
          <p:cNvSpPr txBox="1"/>
          <p:nvPr/>
        </p:nvSpPr>
        <p:spPr>
          <a:xfrm>
            <a:off x="939165" y="4106228"/>
            <a:ext cx="58674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退出标准</a:t>
            </a:r>
          </a:p>
        </p:txBody>
      </p:sp>
      <p:sp>
        <p:nvSpPr>
          <p:cNvPr id="23" name="Rectangle 23"/>
          <p:cNvSpPr/>
          <p:nvPr/>
        </p:nvSpPr>
        <p:spPr>
          <a:xfrm>
            <a:off x="952500" y="4324350"/>
            <a:ext cx="76200" cy="76200"/>
          </a:xfrm>
          <a:prstGeom prst="roundRect">
            <a:avLst>
              <a:gd name="adj" fmla="val 25000"/>
            </a:avLst>
          </a:prstGeom>
          <a:solidFill>
            <a:srgbClr val="1E8449">
              <a:alpha val="30000"/>
            </a:srgbClr>
          </a:solidFill>
          <a:ln>
            <a:noFill/>
          </a:ln>
        </p:spPr>
      </p:sp>
      <p:sp>
        <p:nvSpPr>
          <p:cNvPr id="24" name="TextBox 24"/>
          <p:cNvSpPr txBox="1"/>
          <p:nvPr/>
        </p:nvSpPr>
        <p:spPr>
          <a:xfrm>
            <a:off x="1108710" y="4271010"/>
            <a:ext cx="2088737"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推广者独立签约 &gt;= 5家商户</a:t>
            </a:r>
          </a:p>
        </p:txBody>
      </p:sp>
      <p:sp>
        <p:nvSpPr>
          <p:cNvPr id="25" name="Rectangle 25"/>
          <p:cNvSpPr/>
          <p:nvPr/>
        </p:nvSpPr>
        <p:spPr>
          <a:xfrm>
            <a:off x="809625" y="4857750"/>
            <a:ext cx="3048000" cy="523875"/>
          </a:xfrm>
          <a:prstGeom prst="roundRect">
            <a:avLst>
              <a:gd name="adj" fmla="val 14545"/>
            </a:avLst>
          </a:prstGeom>
          <a:solidFill>
            <a:srgbClr val="1A5276">
              <a:alpha val="5000"/>
            </a:srgbClr>
          </a:solidFill>
          <a:ln>
            <a:noFill/>
          </a:ln>
        </p:spPr>
      </p:sp>
      <p:sp>
        <p:nvSpPr>
          <p:cNvPr id="26" name="TextBox 26"/>
          <p:cNvSpPr txBox="1"/>
          <p:nvPr/>
        </p:nvSpPr>
        <p:spPr>
          <a:xfrm>
            <a:off x="939165" y="4982528"/>
            <a:ext cx="2280952" cy="213360"/>
          </a:xfrm>
          <a:prstGeom prst="rect">
            <a:avLst/>
          </a:prstGeom>
          <a:noFill/>
          <a:ln>
            <a:noFill/>
          </a:ln>
        </p:spPr>
        <p:txBody>
          <a:bodyPr wrap="none" lIns="0" tIns="0" rIns="0" bIns="0" anchor="t" anchorCtr="0">
            <a:spAutoFit/>
          </a:bodyPr>
          <a:lstStyle/>
          <a:p>
            <a:pPr algn="l"/>
            <a:r>
              <a:rPr lang="zh-CN" sz="1050" dirty="0">
                <a:solidFill>
                  <a:srgbClr val="1A5276"/>
                </a:solidFill>
                <a:latin typeface="Arial"/>
                <a:ea typeface="Microsoft YaHei"/>
                <a:cs typeface="Arial"/>
              </a:rPr>
              <a:t>验证的不是增长，是「可复制性」——</a:t>
            </a:r>
          </a:p>
        </p:txBody>
      </p:sp>
      <p:sp>
        <p:nvSpPr>
          <p:cNvPr id="27" name="TextBox 27"/>
          <p:cNvSpPr txBox="1"/>
          <p:nvPr/>
        </p:nvSpPr>
        <p:spPr>
          <a:xfrm>
            <a:off x="939165" y="5173028"/>
            <a:ext cx="1986915" cy="213360"/>
          </a:xfrm>
          <a:prstGeom prst="rect">
            <a:avLst/>
          </a:prstGeom>
          <a:noFill/>
          <a:ln>
            <a:noFill/>
          </a:ln>
        </p:spPr>
        <p:txBody>
          <a:bodyPr wrap="none" lIns="0" tIns="0" rIns="0" bIns="0" anchor="t" anchorCtr="0">
            <a:spAutoFit/>
          </a:bodyPr>
          <a:lstStyle/>
          <a:p>
            <a:pPr algn="l"/>
            <a:r>
              <a:rPr lang="zh-CN" sz="1050" dirty="0">
                <a:solidFill>
                  <a:srgbClr val="1A5276"/>
                </a:solidFill>
                <a:latin typeface="Arial"/>
                <a:ea typeface="Microsoft YaHei"/>
                <a:cs typeface="Arial"/>
              </a:rPr>
              <a:t>推广者能不能做创始人做过的事</a:t>
            </a:r>
          </a:p>
        </p:txBody>
      </p:sp>
      <p:sp>
        <p:nvSpPr>
          <p:cNvPr id="28" name="Rectangle 28"/>
          <p:cNvSpPr/>
          <p:nvPr/>
        </p:nvSpPr>
        <p:spPr>
          <a:xfrm>
            <a:off x="4333875" y="1333500"/>
            <a:ext cx="3524250" cy="4714875"/>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29" name="Rectangle 29"/>
          <p:cNvSpPr/>
          <p:nvPr/>
        </p:nvSpPr>
        <p:spPr>
          <a:xfrm>
            <a:off x="4333875" y="1333500"/>
            <a:ext cx="3524250" cy="4714875"/>
          </a:xfrm>
          <a:prstGeom prst="roundRect">
            <a:avLst>
              <a:gd name="adj" fmla="val 3784"/>
            </a:avLst>
          </a:prstGeom>
          <a:noFill/>
          <a:ln w="9525">
            <a:solidFill>
              <a:srgbClr val="E8E3DC"/>
            </a:solidFill>
          </a:ln>
        </p:spPr>
      </p:sp>
      <p:sp>
        <p:nvSpPr>
          <p:cNvPr id="30" name="Rectangle 30"/>
          <p:cNvSpPr/>
          <p:nvPr/>
        </p:nvSpPr>
        <p:spPr>
          <a:xfrm>
            <a:off x="4333875" y="1333500"/>
            <a:ext cx="3524250" cy="666750"/>
          </a:xfrm>
          <a:prstGeom prst="roundRect">
            <a:avLst>
              <a:gd name="adj" fmla="val 20000"/>
            </a:avLst>
          </a:prstGeom>
          <a:solidFill>
            <a:srgbClr val="E67E22">
              <a:alpha val="8000"/>
            </a:srgbClr>
          </a:solidFill>
          <a:ln>
            <a:noFill/>
          </a:ln>
        </p:spPr>
      </p:sp>
      <p:sp>
        <p:nvSpPr>
          <p:cNvPr id="31" name="Rectangle 31"/>
          <p:cNvSpPr/>
          <p:nvPr/>
        </p:nvSpPr>
        <p:spPr>
          <a:xfrm>
            <a:off x="4333875" y="1866900"/>
            <a:ext cx="3524250" cy="133350"/>
          </a:xfrm>
          <a:prstGeom prst="rect">
            <a:avLst/>
          </a:prstGeom>
          <a:solidFill>
            <a:srgbClr val="E67E22">
              <a:alpha val="8000"/>
            </a:srgbClr>
          </a:solidFill>
          <a:ln>
            <a:noFill/>
          </a:ln>
        </p:spPr>
      </p:sp>
      <p:sp>
        <p:nvSpPr>
          <p:cNvPr id="32" name="Ellipse 32"/>
          <p:cNvSpPr/>
          <p:nvPr/>
        </p:nvSpPr>
        <p:spPr>
          <a:xfrm>
            <a:off x="4448175" y="1495425"/>
            <a:ext cx="342900" cy="342900"/>
          </a:xfrm>
          <a:prstGeom prst="ellipse">
            <a:avLst/>
          </a:prstGeom>
          <a:solidFill>
            <a:srgbClr val="E67E22">
              <a:alpha val="15000"/>
            </a:srgbClr>
          </a:solidFill>
          <a:ln>
            <a:noFill/>
          </a:ln>
        </p:spPr>
      </p:sp>
      <p:sp>
        <p:nvSpPr>
          <p:cNvPr id="33" name="TextBox 33"/>
          <p:cNvSpPr txBox="1"/>
          <p:nvPr/>
        </p:nvSpPr>
        <p:spPr>
          <a:xfrm>
            <a:off x="4545568" y="1562100"/>
            <a:ext cx="148114" cy="304800"/>
          </a:xfrm>
          <a:prstGeom prst="rect">
            <a:avLst/>
          </a:prstGeom>
          <a:noFill/>
          <a:ln>
            <a:noFill/>
          </a:ln>
        </p:spPr>
        <p:txBody>
          <a:bodyPr wrap="none" lIns="0" tIns="0" rIns="0" bIns="0" anchor="t" anchorCtr="0">
            <a:spAutoFit/>
          </a:bodyPr>
          <a:lstStyle/>
          <a:p>
            <a:pPr algn="ctr"/>
            <a:r>
              <a:rPr lang="zh-CN" sz="1500" dirty="0">
                <a:solidFill>
                  <a:srgbClr val="E67E22"/>
                </a:solidFill>
                <a:latin typeface="Segoe UI"/>
                <a:ea typeface="Microsoft YaHei"/>
                <a:cs typeface="Segoe UI"/>
              </a:rPr>
              <a:t>📚</a:t>
            </a:r>
          </a:p>
        </p:txBody>
      </p:sp>
      <p:sp>
        <p:nvSpPr>
          <p:cNvPr id="34" name="TextBox 34"/>
          <p:cNvSpPr txBox="1"/>
          <p:nvPr/>
        </p:nvSpPr>
        <p:spPr>
          <a:xfrm>
            <a:off x="4867275" y="1476375"/>
            <a:ext cx="2453402" cy="304800"/>
          </a:xfrm>
          <a:prstGeom prst="rect">
            <a:avLst/>
          </a:prstGeom>
          <a:noFill/>
          <a:ln>
            <a:noFill/>
          </a:ln>
        </p:spPr>
        <p:txBody>
          <a:bodyPr wrap="none" lIns="0" tIns="0" rIns="0" bIns="0" anchor="t" anchorCtr="0">
            <a:spAutoFit/>
          </a:bodyPr>
          <a:lstStyle/>
          <a:p>
            <a:pPr algn="l"/>
            <a:r>
              <a:rPr lang="zh-CN" sz="1500" b="1" dirty="0">
                <a:solidFill>
                  <a:srgbClr val="E67E22"/>
                </a:solidFill>
                <a:latin typeface="Arial"/>
                <a:ea typeface="Microsoft YaHei"/>
                <a:cs typeface="Arial"/>
              </a:rPr>
              <a:t>P2-2 推广者最小培训体系</a:t>
            </a:r>
          </a:p>
        </p:txBody>
      </p:sp>
      <p:sp>
        <p:nvSpPr>
          <p:cNvPr id="35" name="Rectangle 35"/>
          <p:cNvSpPr/>
          <p:nvPr/>
        </p:nvSpPr>
        <p:spPr>
          <a:xfrm>
            <a:off x="4572000" y="2190750"/>
            <a:ext cx="3048000" cy="9525"/>
          </a:xfrm>
          <a:prstGeom prst="rect">
            <a:avLst/>
          </a:prstGeom>
          <a:solidFill>
            <a:srgbClr val="E8E3DC"/>
          </a:solidFill>
          <a:ln>
            <a:noFill/>
          </a:ln>
        </p:spPr>
      </p:sp>
      <p:sp>
        <p:nvSpPr>
          <p:cNvPr id="36" name="TextBox 36"/>
          <p:cNvSpPr txBox="1"/>
          <p:nvPr/>
        </p:nvSpPr>
        <p:spPr>
          <a:xfrm>
            <a:off x="4652962" y="2307431"/>
            <a:ext cx="146125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培训工具包（4件）：</a:t>
            </a:r>
          </a:p>
        </p:txBody>
      </p:sp>
      <p:sp>
        <p:nvSpPr>
          <p:cNvPr id="37" name="Rectangle 37"/>
          <p:cNvSpPr/>
          <p:nvPr/>
        </p:nvSpPr>
        <p:spPr>
          <a:xfrm>
            <a:off x="4667250" y="2590800"/>
            <a:ext cx="2762250" cy="285750"/>
          </a:xfrm>
          <a:prstGeom prst="roundRect">
            <a:avLst>
              <a:gd name="adj" fmla="val 20000"/>
            </a:avLst>
          </a:prstGeom>
          <a:solidFill>
            <a:srgbClr val="F5F0EA"/>
          </a:solidFill>
          <a:ln>
            <a:noFill/>
          </a:ln>
        </p:spPr>
      </p:sp>
      <p:sp>
        <p:nvSpPr>
          <p:cNvPr id="38" name="TextBox 38"/>
          <p:cNvSpPr txBox="1"/>
          <p:nvPr/>
        </p:nvSpPr>
        <p:spPr>
          <a:xfrm>
            <a:off x="4795838" y="2659856"/>
            <a:ext cx="838676"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1. 商家话术</a:t>
            </a:r>
          </a:p>
        </p:txBody>
      </p:sp>
      <p:sp>
        <p:nvSpPr>
          <p:cNvPr id="39" name="Rectangle 39"/>
          <p:cNvSpPr/>
          <p:nvPr/>
        </p:nvSpPr>
        <p:spPr>
          <a:xfrm>
            <a:off x="4667250" y="2971800"/>
            <a:ext cx="2762250" cy="285750"/>
          </a:xfrm>
          <a:prstGeom prst="roundRect">
            <a:avLst>
              <a:gd name="adj" fmla="val 20000"/>
            </a:avLst>
          </a:prstGeom>
          <a:solidFill>
            <a:srgbClr val="F5F0EA"/>
          </a:solidFill>
          <a:ln>
            <a:noFill/>
          </a:ln>
        </p:spPr>
      </p:sp>
      <p:sp>
        <p:nvSpPr>
          <p:cNvPr id="40" name="TextBox 40"/>
          <p:cNvSpPr txBox="1"/>
          <p:nvPr/>
        </p:nvSpPr>
        <p:spPr>
          <a:xfrm>
            <a:off x="4795838" y="3040856"/>
            <a:ext cx="838676"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2. 入驻指南</a:t>
            </a:r>
          </a:p>
        </p:txBody>
      </p:sp>
      <p:sp>
        <p:nvSpPr>
          <p:cNvPr id="41" name="Rectangle 41"/>
          <p:cNvSpPr/>
          <p:nvPr/>
        </p:nvSpPr>
        <p:spPr>
          <a:xfrm>
            <a:off x="4667250" y="3352800"/>
            <a:ext cx="2762250" cy="285750"/>
          </a:xfrm>
          <a:prstGeom prst="roundRect">
            <a:avLst>
              <a:gd name="adj" fmla="val 20000"/>
            </a:avLst>
          </a:prstGeom>
          <a:solidFill>
            <a:srgbClr val="F5F0EA"/>
          </a:solidFill>
          <a:ln>
            <a:noFill/>
          </a:ln>
        </p:spPr>
      </p:sp>
      <p:sp>
        <p:nvSpPr>
          <p:cNvPr id="42" name="TextBox 42"/>
          <p:cNvSpPr txBox="1"/>
          <p:nvPr/>
        </p:nvSpPr>
        <p:spPr>
          <a:xfrm>
            <a:off x="4795838" y="3421856"/>
            <a:ext cx="113871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3. 常见拒绝应对</a:t>
            </a:r>
          </a:p>
        </p:txBody>
      </p:sp>
      <p:sp>
        <p:nvSpPr>
          <p:cNvPr id="43" name="Rectangle 43"/>
          <p:cNvSpPr/>
          <p:nvPr/>
        </p:nvSpPr>
        <p:spPr>
          <a:xfrm>
            <a:off x="4667250" y="3733800"/>
            <a:ext cx="2762250" cy="285750"/>
          </a:xfrm>
          <a:prstGeom prst="roundRect">
            <a:avLst>
              <a:gd name="adj" fmla="val 20000"/>
            </a:avLst>
          </a:prstGeom>
          <a:solidFill>
            <a:srgbClr val="F5F0EA"/>
          </a:solidFill>
          <a:ln>
            <a:noFill/>
          </a:ln>
        </p:spPr>
      </p:sp>
      <p:sp>
        <p:nvSpPr>
          <p:cNvPr id="44" name="TextBox 44"/>
          <p:cNvSpPr txBox="1"/>
          <p:nvPr/>
        </p:nvSpPr>
        <p:spPr>
          <a:xfrm>
            <a:off x="4795838" y="3802856"/>
            <a:ext cx="988695"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4. 样板案例集</a:t>
            </a:r>
          </a:p>
        </p:txBody>
      </p:sp>
      <p:sp>
        <p:nvSpPr>
          <p:cNvPr id="45" name="Rectangle 45"/>
          <p:cNvSpPr/>
          <p:nvPr/>
        </p:nvSpPr>
        <p:spPr>
          <a:xfrm>
            <a:off x="4572000" y="4191000"/>
            <a:ext cx="3048000" cy="9525"/>
          </a:xfrm>
          <a:prstGeom prst="rect">
            <a:avLst/>
          </a:prstGeom>
          <a:solidFill>
            <a:srgbClr val="E8E3DC"/>
          </a:solidFill>
          <a:ln>
            <a:noFill/>
          </a:ln>
        </p:spPr>
      </p:sp>
      <p:sp>
        <p:nvSpPr>
          <p:cNvPr id="46" name="TextBox 46"/>
          <p:cNvSpPr txBox="1"/>
          <p:nvPr/>
        </p:nvSpPr>
        <p:spPr>
          <a:xfrm>
            <a:off x="4652962" y="4307681"/>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培训方式：</a:t>
            </a:r>
          </a:p>
        </p:txBody>
      </p:sp>
      <p:sp>
        <p:nvSpPr>
          <p:cNvPr id="47" name="TextBox 47"/>
          <p:cNvSpPr txBox="1"/>
          <p:nvPr/>
        </p:nvSpPr>
        <p:spPr>
          <a:xfrm>
            <a:off x="4652010" y="4537710"/>
            <a:ext cx="1206627"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「带着走一轮」</a:t>
            </a:r>
          </a:p>
        </p:txBody>
      </p:sp>
      <p:sp>
        <p:nvSpPr>
          <p:cNvPr id="48" name="TextBox 48"/>
          <p:cNvSpPr txBox="1"/>
          <p:nvPr/>
        </p:nvSpPr>
        <p:spPr>
          <a:xfrm>
            <a:off x="4652962" y="4783931"/>
            <a:ext cx="19263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创始人带推广者跑3-5家商家</a:t>
            </a:r>
          </a:p>
        </p:txBody>
      </p:sp>
      <p:sp>
        <p:nvSpPr>
          <p:cNvPr id="49" name="Rectangle 49"/>
          <p:cNvSpPr/>
          <p:nvPr/>
        </p:nvSpPr>
        <p:spPr>
          <a:xfrm>
            <a:off x="4572000" y="5143500"/>
            <a:ext cx="3048000" cy="381000"/>
          </a:xfrm>
          <a:prstGeom prst="roundRect">
            <a:avLst>
              <a:gd name="adj" fmla="val 20000"/>
            </a:avLst>
          </a:prstGeom>
          <a:solidFill>
            <a:srgbClr val="1E8449">
              <a:alpha val="6000"/>
            </a:srgbClr>
          </a:solidFill>
          <a:ln>
            <a:noFill/>
          </a:ln>
        </p:spPr>
      </p:sp>
      <p:sp>
        <p:nvSpPr>
          <p:cNvPr id="50" name="TextBox 50"/>
          <p:cNvSpPr txBox="1"/>
          <p:nvPr/>
        </p:nvSpPr>
        <p:spPr>
          <a:xfrm>
            <a:off x="4701540" y="5268278"/>
            <a:ext cx="2378964" cy="213360"/>
          </a:xfrm>
          <a:prstGeom prst="rect">
            <a:avLst/>
          </a:prstGeom>
          <a:noFill/>
          <a:ln>
            <a:noFill/>
          </a:ln>
        </p:spPr>
        <p:txBody>
          <a:bodyPr wrap="none" lIns="0" tIns="0" rIns="0" bIns="0" anchor="t" anchorCtr="0">
            <a:spAutoFit/>
          </a:bodyPr>
          <a:lstStyle/>
          <a:p>
            <a:pPr algn="l"/>
            <a:r>
              <a:rPr lang="zh-CN" sz="1050" b="1" dirty="0">
                <a:solidFill>
                  <a:srgbClr val="1E8449"/>
                </a:solidFill>
                <a:latin typeface="Arial"/>
                <a:ea typeface="Microsoft YaHei"/>
                <a:cs typeface="Arial"/>
              </a:rPr>
              <a:t>退出：推广者独立完成完整入驻流程</a:t>
            </a:r>
          </a:p>
        </p:txBody>
      </p:sp>
      <p:sp>
        <p:nvSpPr>
          <p:cNvPr id="51" name="Rectangle 51"/>
          <p:cNvSpPr/>
          <p:nvPr/>
        </p:nvSpPr>
        <p:spPr>
          <a:xfrm>
            <a:off x="8096250" y="1333500"/>
            <a:ext cx="3524250" cy="4714875"/>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52" name="Rectangle 52"/>
          <p:cNvSpPr/>
          <p:nvPr/>
        </p:nvSpPr>
        <p:spPr>
          <a:xfrm>
            <a:off x="8096250" y="1333500"/>
            <a:ext cx="3524250" cy="4714875"/>
          </a:xfrm>
          <a:prstGeom prst="roundRect">
            <a:avLst>
              <a:gd name="adj" fmla="val 3784"/>
            </a:avLst>
          </a:prstGeom>
          <a:noFill/>
          <a:ln w="9525">
            <a:solidFill>
              <a:srgbClr val="E8E3DC"/>
            </a:solidFill>
          </a:ln>
        </p:spPr>
      </p:sp>
      <p:sp>
        <p:nvSpPr>
          <p:cNvPr id="53" name="Rectangle 53"/>
          <p:cNvSpPr/>
          <p:nvPr/>
        </p:nvSpPr>
        <p:spPr>
          <a:xfrm>
            <a:off x="8096250" y="1333500"/>
            <a:ext cx="3524250" cy="666750"/>
          </a:xfrm>
          <a:prstGeom prst="roundRect">
            <a:avLst>
              <a:gd name="adj" fmla="val 20000"/>
            </a:avLst>
          </a:prstGeom>
          <a:solidFill>
            <a:srgbClr val="1E8449">
              <a:alpha val="8000"/>
            </a:srgbClr>
          </a:solidFill>
          <a:ln>
            <a:noFill/>
          </a:ln>
        </p:spPr>
      </p:sp>
      <p:sp>
        <p:nvSpPr>
          <p:cNvPr id="54" name="Rectangle 54"/>
          <p:cNvSpPr/>
          <p:nvPr/>
        </p:nvSpPr>
        <p:spPr>
          <a:xfrm>
            <a:off x="8096250" y="1866900"/>
            <a:ext cx="3524250" cy="133350"/>
          </a:xfrm>
          <a:prstGeom prst="rect">
            <a:avLst/>
          </a:prstGeom>
          <a:solidFill>
            <a:srgbClr val="1E8449">
              <a:alpha val="8000"/>
            </a:srgbClr>
          </a:solidFill>
          <a:ln>
            <a:noFill/>
          </a:ln>
        </p:spPr>
      </p:sp>
      <p:sp>
        <p:nvSpPr>
          <p:cNvPr id="55" name="Ellipse 55"/>
          <p:cNvSpPr/>
          <p:nvPr/>
        </p:nvSpPr>
        <p:spPr>
          <a:xfrm>
            <a:off x="8210550" y="1495425"/>
            <a:ext cx="342900" cy="342900"/>
          </a:xfrm>
          <a:prstGeom prst="ellipse">
            <a:avLst/>
          </a:prstGeom>
          <a:solidFill>
            <a:srgbClr val="1E8449">
              <a:alpha val="15000"/>
            </a:srgbClr>
          </a:solidFill>
          <a:ln>
            <a:noFill/>
          </a:ln>
        </p:spPr>
      </p:sp>
      <p:sp>
        <p:nvSpPr>
          <p:cNvPr id="56" name="TextBox 56"/>
          <p:cNvSpPr txBox="1"/>
          <p:nvPr/>
        </p:nvSpPr>
        <p:spPr>
          <a:xfrm>
            <a:off x="8307943" y="1562100"/>
            <a:ext cx="148114" cy="304800"/>
          </a:xfrm>
          <a:prstGeom prst="rect">
            <a:avLst/>
          </a:prstGeom>
          <a:noFill/>
          <a:ln>
            <a:noFill/>
          </a:ln>
        </p:spPr>
        <p:txBody>
          <a:bodyPr wrap="none" lIns="0" tIns="0" rIns="0" bIns="0" anchor="t" anchorCtr="0">
            <a:spAutoFit/>
          </a:bodyPr>
          <a:lstStyle/>
          <a:p>
            <a:pPr algn="ctr"/>
            <a:r>
              <a:rPr lang="zh-CN" sz="1500" dirty="0">
                <a:solidFill>
                  <a:srgbClr val="1E8449"/>
                </a:solidFill>
                <a:latin typeface="Segoe UI"/>
                <a:ea typeface="Microsoft YaHei"/>
                <a:cs typeface="Segoe UI"/>
              </a:rPr>
              <a:t>✎</a:t>
            </a:r>
          </a:p>
        </p:txBody>
      </p:sp>
      <p:sp>
        <p:nvSpPr>
          <p:cNvPr id="57" name="TextBox 57"/>
          <p:cNvSpPr txBox="1"/>
          <p:nvPr/>
        </p:nvSpPr>
        <p:spPr>
          <a:xfrm>
            <a:off x="8629650" y="1476375"/>
            <a:ext cx="2033349" cy="304800"/>
          </a:xfrm>
          <a:prstGeom prst="rect">
            <a:avLst/>
          </a:prstGeom>
          <a:noFill/>
          <a:ln>
            <a:noFill/>
          </a:ln>
        </p:spPr>
        <p:txBody>
          <a:bodyPr wrap="none" lIns="0" tIns="0" rIns="0" bIns="0" anchor="t" anchorCtr="0">
            <a:spAutoFit/>
          </a:bodyPr>
          <a:lstStyle/>
          <a:p>
            <a:pPr algn="l"/>
            <a:r>
              <a:rPr lang="zh-CN" sz="1500" b="1" dirty="0">
                <a:solidFill>
                  <a:srgbClr val="1E8449"/>
                </a:solidFill>
                <a:latin typeface="Arial"/>
                <a:ea typeface="Microsoft YaHei"/>
                <a:cs typeface="Arial"/>
              </a:rPr>
              <a:t>P2-3 内容体系组织化</a:t>
            </a:r>
          </a:p>
        </p:txBody>
      </p:sp>
      <p:sp>
        <p:nvSpPr>
          <p:cNvPr id="58" name="Rectangle 58"/>
          <p:cNvSpPr/>
          <p:nvPr/>
        </p:nvSpPr>
        <p:spPr>
          <a:xfrm>
            <a:off x="8334375" y="2190750"/>
            <a:ext cx="3048000" cy="9525"/>
          </a:xfrm>
          <a:prstGeom prst="rect">
            <a:avLst/>
          </a:prstGeom>
          <a:solidFill>
            <a:srgbClr val="E8E3DC"/>
          </a:solidFill>
          <a:ln>
            <a:noFill/>
          </a:ln>
        </p:spPr>
      </p:sp>
      <p:sp>
        <p:nvSpPr>
          <p:cNvPr id="59" name="TextBox 59"/>
          <p:cNvSpPr txBox="1"/>
          <p:nvPr/>
        </p:nvSpPr>
        <p:spPr>
          <a:xfrm>
            <a:off x="8415338" y="2307431"/>
            <a:ext cx="1393746"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内容矩阵（10篇）：</a:t>
            </a:r>
          </a:p>
        </p:txBody>
      </p:sp>
      <p:sp>
        <p:nvSpPr>
          <p:cNvPr id="60" name="Rectangle 60"/>
          <p:cNvSpPr/>
          <p:nvPr/>
        </p:nvSpPr>
        <p:spPr>
          <a:xfrm>
            <a:off x="8429625" y="2590800"/>
            <a:ext cx="2809875" cy="361950"/>
          </a:xfrm>
          <a:prstGeom prst="roundRect">
            <a:avLst>
              <a:gd name="adj" fmla="val 15789"/>
            </a:avLst>
          </a:prstGeom>
          <a:solidFill>
            <a:srgbClr val="F5F0EA"/>
          </a:solidFill>
          <a:ln>
            <a:noFill/>
          </a:ln>
        </p:spPr>
      </p:sp>
      <p:sp>
        <p:nvSpPr>
          <p:cNvPr id="61" name="Rectangle 61"/>
          <p:cNvSpPr/>
          <p:nvPr/>
        </p:nvSpPr>
        <p:spPr>
          <a:xfrm>
            <a:off x="8477250" y="2638425"/>
            <a:ext cx="1333500" cy="266700"/>
          </a:xfrm>
          <a:prstGeom prst="roundRect">
            <a:avLst>
              <a:gd name="adj" fmla="val 17857"/>
            </a:avLst>
          </a:prstGeom>
          <a:solidFill>
            <a:srgbClr val="1A5276"/>
          </a:solidFill>
          <a:ln>
            <a:noFill/>
          </a:ln>
        </p:spPr>
      </p:sp>
      <p:sp>
        <p:nvSpPr>
          <p:cNvPr id="62" name="TextBox 62"/>
          <p:cNvSpPr txBox="1"/>
          <p:nvPr/>
        </p:nvSpPr>
        <p:spPr>
          <a:xfrm>
            <a:off x="8774145" y="2706052"/>
            <a:ext cx="73970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商家端 3篇</a:t>
            </a:r>
          </a:p>
        </p:txBody>
      </p:sp>
      <p:sp>
        <p:nvSpPr>
          <p:cNvPr id="63" name="Rectangle 63"/>
          <p:cNvSpPr/>
          <p:nvPr/>
        </p:nvSpPr>
        <p:spPr>
          <a:xfrm>
            <a:off x="8429625" y="3048000"/>
            <a:ext cx="2809875" cy="361950"/>
          </a:xfrm>
          <a:prstGeom prst="roundRect">
            <a:avLst>
              <a:gd name="adj" fmla="val 15789"/>
            </a:avLst>
          </a:prstGeom>
          <a:solidFill>
            <a:srgbClr val="F5F0EA"/>
          </a:solidFill>
          <a:ln>
            <a:noFill/>
          </a:ln>
        </p:spPr>
      </p:sp>
      <p:sp>
        <p:nvSpPr>
          <p:cNvPr id="64" name="Rectangle 64"/>
          <p:cNvSpPr/>
          <p:nvPr/>
        </p:nvSpPr>
        <p:spPr>
          <a:xfrm>
            <a:off x="8477250" y="3095625"/>
            <a:ext cx="1333500" cy="266700"/>
          </a:xfrm>
          <a:prstGeom prst="roundRect">
            <a:avLst>
              <a:gd name="adj" fmla="val 17857"/>
            </a:avLst>
          </a:prstGeom>
          <a:solidFill>
            <a:srgbClr val="E67E22"/>
          </a:solidFill>
          <a:ln>
            <a:noFill/>
          </a:ln>
        </p:spPr>
      </p:sp>
      <p:sp>
        <p:nvSpPr>
          <p:cNvPr id="65" name="TextBox 65"/>
          <p:cNvSpPr txBox="1"/>
          <p:nvPr/>
        </p:nvSpPr>
        <p:spPr>
          <a:xfrm>
            <a:off x="8700636" y="3163252"/>
            <a:ext cx="88672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消费者端 5篇</a:t>
            </a:r>
          </a:p>
        </p:txBody>
      </p:sp>
      <p:sp>
        <p:nvSpPr>
          <p:cNvPr id="66" name="Rectangle 66"/>
          <p:cNvSpPr/>
          <p:nvPr/>
        </p:nvSpPr>
        <p:spPr>
          <a:xfrm>
            <a:off x="8429625" y="3505200"/>
            <a:ext cx="2809875" cy="361950"/>
          </a:xfrm>
          <a:prstGeom prst="roundRect">
            <a:avLst>
              <a:gd name="adj" fmla="val 15789"/>
            </a:avLst>
          </a:prstGeom>
          <a:solidFill>
            <a:srgbClr val="F5F0EA"/>
          </a:solidFill>
          <a:ln>
            <a:noFill/>
          </a:ln>
        </p:spPr>
      </p:sp>
      <p:sp>
        <p:nvSpPr>
          <p:cNvPr id="67" name="Rectangle 67"/>
          <p:cNvSpPr/>
          <p:nvPr/>
        </p:nvSpPr>
        <p:spPr>
          <a:xfrm>
            <a:off x="8477250" y="3552825"/>
            <a:ext cx="1333500" cy="266700"/>
          </a:xfrm>
          <a:prstGeom prst="roundRect">
            <a:avLst>
              <a:gd name="adj" fmla="val 17857"/>
            </a:avLst>
          </a:prstGeom>
          <a:solidFill>
            <a:srgbClr val="D4A574"/>
          </a:solidFill>
          <a:ln>
            <a:noFill/>
          </a:ln>
        </p:spPr>
      </p:sp>
      <p:sp>
        <p:nvSpPr>
          <p:cNvPr id="68" name="TextBox 68"/>
          <p:cNvSpPr txBox="1"/>
          <p:nvPr/>
        </p:nvSpPr>
        <p:spPr>
          <a:xfrm>
            <a:off x="8774145" y="3620452"/>
            <a:ext cx="73970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行业端 1篇</a:t>
            </a:r>
          </a:p>
        </p:txBody>
      </p:sp>
      <p:sp>
        <p:nvSpPr>
          <p:cNvPr id="69" name="Rectangle 69"/>
          <p:cNvSpPr/>
          <p:nvPr/>
        </p:nvSpPr>
        <p:spPr>
          <a:xfrm>
            <a:off x="8429625" y="3962400"/>
            <a:ext cx="2809875" cy="361950"/>
          </a:xfrm>
          <a:prstGeom prst="roundRect">
            <a:avLst>
              <a:gd name="adj" fmla="val 15789"/>
            </a:avLst>
          </a:prstGeom>
          <a:solidFill>
            <a:srgbClr val="F5F0EA"/>
          </a:solidFill>
          <a:ln>
            <a:noFill/>
          </a:ln>
        </p:spPr>
      </p:sp>
      <p:sp>
        <p:nvSpPr>
          <p:cNvPr id="70" name="Rectangle 70"/>
          <p:cNvSpPr/>
          <p:nvPr/>
        </p:nvSpPr>
        <p:spPr>
          <a:xfrm>
            <a:off x="8477250" y="4010025"/>
            <a:ext cx="1333500" cy="266700"/>
          </a:xfrm>
          <a:prstGeom prst="roundRect">
            <a:avLst>
              <a:gd name="adj" fmla="val 17857"/>
            </a:avLst>
          </a:prstGeom>
          <a:solidFill>
            <a:srgbClr val="1E8449"/>
          </a:solidFill>
          <a:ln>
            <a:noFill/>
          </a:ln>
        </p:spPr>
      </p:sp>
      <p:sp>
        <p:nvSpPr>
          <p:cNvPr id="71" name="TextBox 71"/>
          <p:cNvSpPr txBox="1"/>
          <p:nvPr/>
        </p:nvSpPr>
        <p:spPr>
          <a:xfrm>
            <a:off x="8774145" y="4077652"/>
            <a:ext cx="73970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招商端 1份</a:t>
            </a:r>
          </a:p>
        </p:txBody>
      </p:sp>
      <p:sp>
        <p:nvSpPr>
          <p:cNvPr id="72" name="Rectangle 72"/>
          <p:cNvSpPr/>
          <p:nvPr/>
        </p:nvSpPr>
        <p:spPr>
          <a:xfrm>
            <a:off x="8334375" y="4524375"/>
            <a:ext cx="3048000" cy="685800"/>
          </a:xfrm>
          <a:prstGeom prst="roundRect">
            <a:avLst>
              <a:gd name="adj" fmla="val 13889"/>
            </a:avLst>
          </a:prstGeom>
          <a:solidFill>
            <a:srgbClr val="F0EDE8"/>
          </a:solidFill>
          <a:ln>
            <a:noFill/>
          </a:ln>
        </p:spPr>
      </p:sp>
      <p:sp>
        <p:nvSpPr>
          <p:cNvPr id="73" name="TextBox 73"/>
          <p:cNvSpPr txBox="1"/>
          <p:nvPr/>
        </p:nvSpPr>
        <p:spPr>
          <a:xfrm>
            <a:off x="8463915" y="4630102"/>
            <a:ext cx="58674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退出标准</a:t>
            </a:r>
          </a:p>
        </p:txBody>
      </p:sp>
      <p:sp>
        <p:nvSpPr>
          <p:cNvPr id="74" name="Rectangle 74"/>
          <p:cNvSpPr/>
          <p:nvPr/>
        </p:nvSpPr>
        <p:spPr>
          <a:xfrm>
            <a:off x="8477250" y="4848225"/>
            <a:ext cx="76200" cy="76200"/>
          </a:xfrm>
          <a:prstGeom prst="roundRect">
            <a:avLst>
              <a:gd name="adj" fmla="val 25000"/>
            </a:avLst>
          </a:prstGeom>
          <a:solidFill>
            <a:srgbClr val="1E8449">
              <a:alpha val="30000"/>
            </a:srgbClr>
          </a:solidFill>
          <a:ln>
            <a:noFill/>
          </a:ln>
        </p:spPr>
      </p:sp>
      <p:sp>
        <p:nvSpPr>
          <p:cNvPr id="75" name="TextBox 75"/>
          <p:cNvSpPr txBox="1"/>
          <p:nvPr/>
        </p:nvSpPr>
        <p:spPr>
          <a:xfrm>
            <a:off x="8633460" y="4794885"/>
            <a:ext cx="1391450"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10篇内容全部可用</a:t>
            </a:r>
          </a:p>
        </p:txBody>
      </p:sp>
      <p:sp>
        <p:nvSpPr>
          <p:cNvPr id="76" name="TextBox 76"/>
          <p:cNvSpPr txBox="1"/>
          <p:nvPr/>
        </p:nvSpPr>
        <p:spPr>
          <a:xfrm>
            <a:off x="8635365" y="5011102"/>
            <a:ext cx="1006792"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内容日历已建立</a:t>
            </a:r>
          </a:p>
        </p:txBody>
      </p:sp>
      <p:sp>
        <p:nvSpPr>
          <p:cNvPr id="77" name="Rectangle 77"/>
          <p:cNvSpPr/>
          <p:nvPr/>
        </p:nvSpPr>
        <p:spPr>
          <a:xfrm>
            <a:off x="8334375" y="5286375"/>
            <a:ext cx="3048000" cy="381000"/>
          </a:xfrm>
          <a:prstGeom prst="roundRect">
            <a:avLst>
              <a:gd name="adj" fmla="val 20000"/>
            </a:avLst>
          </a:prstGeom>
          <a:solidFill>
            <a:srgbClr val="1A5276">
              <a:alpha val="5000"/>
            </a:srgbClr>
          </a:solidFill>
          <a:ln>
            <a:noFill/>
          </a:ln>
        </p:spPr>
      </p:sp>
      <p:sp>
        <p:nvSpPr>
          <p:cNvPr id="78" name="TextBox 78"/>
          <p:cNvSpPr txBox="1"/>
          <p:nvPr/>
        </p:nvSpPr>
        <p:spPr>
          <a:xfrm>
            <a:off x="8463915" y="5411152"/>
            <a:ext cx="2266950" cy="213360"/>
          </a:xfrm>
          <a:prstGeom prst="rect">
            <a:avLst/>
          </a:prstGeom>
          <a:noFill/>
          <a:ln>
            <a:noFill/>
          </a:ln>
        </p:spPr>
        <p:txBody>
          <a:bodyPr wrap="none" lIns="0" tIns="0" rIns="0" bIns="0" anchor="t" anchorCtr="0">
            <a:spAutoFit/>
          </a:bodyPr>
          <a:lstStyle/>
          <a:p>
            <a:pPr algn="l"/>
            <a:r>
              <a:rPr lang="zh-CN" sz="1050" dirty="0">
                <a:solidFill>
                  <a:srgbClr val="1A5276"/>
                </a:solidFill>
                <a:latin typeface="Arial"/>
                <a:ea typeface="Microsoft YaHei"/>
                <a:cs typeface="Arial"/>
              </a:rPr>
              <a:t>内容一定是组织能力，不是个人创意</a:t>
            </a:r>
          </a:p>
        </p:txBody>
      </p:sp>
      <p:sp>
        <p:nvSpPr>
          <p:cNvPr id="79" name="TextBox 79"/>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33</a:t>
            </a:r>
          </a:p>
        </p:txBody>
      </p:sp>
      <p:sp>
        <p:nvSpPr>
          <p:cNvPr id="80" name="TextBox 80"/>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27710" y="375285"/>
            <a:ext cx="5361242"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第三段：不投广告，做认知播种</a:t>
            </a:r>
          </a:p>
        </p:txBody>
      </p:sp>
      <p:sp>
        <p:nvSpPr>
          <p:cNvPr id="5" name="TextBox 5"/>
          <p:cNvSpPr txBox="1"/>
          <p:nvPr/>
        </p:nvSpPr>
        <p:spPr>
          <a:xfrm>
            <a:off x="742950" y="838200"/>
            <a:ext cx="7459028"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品类传教士的核心任务不是推广品牌，是定义品类——让行业先理解品类，再记住品牌</a:t>
            </a:r>
          </a:p>
        </p:txBody>
      </p:sp>
      <p:sp>
        <p:nvSpPr>
          <p:cNvPr id="6" name="Rectangle 6"/>
          <p:cNvSpPr/>
          <p:nvPr/>
        </p:nvSpPr>
        <p:spPr>
          <a:xfrm>
            <a:off x="571500" y="1333500"/>
            <a:ext cx="5381625" cy="3714750"/>
          </a:xfrm>
          <a:prstGeom prst="roundRect">
            <a:avLst>
              <a:gd name="adj" fmla="val 3590"/>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333500"/>
            <a:ext cx="5381625" cy="3714750"/>
          </a:xfrm>
          <a:prstGeom prst="roundRect">
            <a:avLst>
              <a:gd name="adj" fmla="val 3590"/>
            </a:avLst>
          </a:prstGeom>
          <a:noFill/>
          <a:ln w="9525">
            <a:solidFill>
              <a:srgbClr val="E8E3DC"/>
            </a:solidFill>
          </a:ln>
        </p:spPr>
      </p:sp>
      <p:sp>
        <p:nvSpPr>
          <p:cNvPr id="8" name="Rectangle 8"/>
          <p:cNvSpPr/>
          <p:nvPr/>
        </p:nvSpPr>
        <p:spPr>
          <a:xfrm>
            <a:off x="571500" y="1333500"/>
            <a:ext cx="5381625" cy="647700"/>
          </a:xfrm>
          <a:prstGeom prst="roundRect">
            <a:avLst>
              <a:gd name="adj" fmla="val 20588"/>
            </a:avLst>
          </a:prstGeom>
          <a:solidFill>
            <a:srgbClr val="1A5276">
              <a:alpha val="8000"/>
            </a:srgbClr>
          </a:solidFill>
          <a:ln>
            <a:noFill/>
          </a:ln>
        </p:spPr>
      </p:sp>
      <p:sp>
        <p:nvSpPr>
          <p:cNvPr id="9" name="Rectangle 9"/>
          <p:cNvSpPr/>
          <p:nvPr/>
        </p:nvSpPr>
        <p:spPr>
          <a:xfrm>
            <a:off x="571500" y="1847850"/>
            <a:ext cx="5381625" cy="133350"/>
          </a:xfrm>
          <a:prstGeom prst="rect">
            <a:avLst/>
          </a:prstGeom>
          <a:solidFill>
            <a:srgbClr val="1A5276">
              <a:alpha val="8000"/>
            </a:srgbClr>
          </a:solidFill>
          <a:ln>
            <a:noFill/>
          </a:ln>
        </p:spPr>
      </p:sp>
      <p:sp>
        <p:nvSpPr>
          <p:cNvPr id="10" name="Rectangle 10"/>
          <p:cNvSpPr/>
          <p:nvPr/>
        </p:nvSpPr>
        <p:spPr>
          <a:xfrm>
            <a:off x="762000" y="1476375"/>
            <a:ext cx="381000" cy="381000"/>
          </a:xfrm>
          <a:prstGeom prst="roundRect">
            <a:avLst>
              <a:gd name="adj" fmla="val 25000"/>
            </a:avLst>
          </a:prstGeom>
          <a:solidFill>
            <a:srgbClr val="1A5276">
              <a:alpha val="12000"/>
            </a:srgbClr>
          </a:solidFill>
          <a:ln>
            <a:noFill/>
          </a:ln>
        </p:spPr>
      </p:sp>
      <p:sp>
        <p:nvSpPr>
          <p:cNvPr id="11" name="TextBox 11"/>
          <p:cNvSpPr txBox="1"/>
          <p:nvPr/>
        </p:nvSpPr>
        <p:spPr>
          <a:xfrm>
            <a:off x="871037" y="1545908"/>
            <a:ext cx="162925" cy="335280"/>
          </a:xfrm>
          <a:prstGeom prst="rect">
            <a:avLst/>
          </a:prstGeom>
          <a:noFill/>
          <a:ln>
            <a:noFill/>
          </a:ln>
        </p:spPr>
        <p:txBody>
          <a:bodyPr wrap="none" lIns="0" tIns="0" rIns="0" bIns="0" anchor="t" anchorCtr="0">
            <a:spAutoFit/>
          </a:bodyPr>
          <a:lstStyle/>
          <a:p>
            <a:pPr algn="ctr"/>
            <a:r>
              <a:rPr lang="zh-CN" sz="1650" dirty="0">
                <a:solidFill>
                  <a:srgbClr val="1A5276"/>
                </a:solidFill>
                <a:latin typeface="Segoe UI"/>
                <a:ea typeface="Microsoft YaHei"/>
                <a:cs typeface="Segoe UI"/>
              </a:rPr>
              <a:t>📢</a:t>
            </a:r>
          </a:p>
        </p:txBody>
      </p:sp>
      <p:sp>
        <p:nvSpPr>
          <p:cNvPr id="12" name="TextBox 12"/>
          <p:cNvSpPr txBox="1"/>
          <p:nvPr/>
        </p:nvSpPr>
        <p:spPr>
          <a:xfrm>
            <a:off x="1264920" y="1460182"/>
            <a:ext cx="2155824" cy="335280"/>
          </a:xfrm>
          <a:prstGeom prst="rect">
            <a:avLst/>
          </a:prstGeom>
          <a:noFill/>
          <a:ln>
            <a:noFill/>
          </a:ln>
        </p:spPr>
        <p:txBody>
          <a:bodyPr wrap="none" lIns="0" tIns="0" rIns="0" bIns="0" anchor="t" anchorCtr="0">
            <a:spAutoFit/>
          </a:bodyPr>
          <a:lstStyle/>
          <a:p>
            <a:pPr algn="l"/>
            <a:r>
              <a:rPr lang="zh-CN" sz="1650" b="1" dirty="0">
                <a:solidFill>
                  <a:srgbClr val="1A5276"/>
                </a:solidFill>
                <a:latin typeface="Arial"/>
                <a:ea typeface="Microsoft YaHei"/>
                <a:cs typeface="Arial"/>
              </a:rPr>
              <a:t>创始人 · 品类传教士</a:t>
            </a:r>
          </a:p>
        </p:txBody>
      </p:sp>
      <p:sp>
        <p:nvSpPr>
          <p:cNvPr id="13" name="TextBox 13"/>
          <p:cNvSpPr txBox="1"/>
          <p:nvPr/>
        </p:nvSpPr>
        <p:spPr>
          <a:xfrm>
            <a:off x="1271588" y="1716881"/>
            <a:ext cx="477506" cy="228600"/>
          </a:xfrm>
          <a:prstGeom prst="rect">
            <a:avLst/>
          </a:prstGeom>
          <a:noFill/>
          <a:ln>
            <a:noFill/>
          </a:ln>
        </p:spPr>
        <p:txBody>
          <a:bodyPr wrap="none" lIns="0" tIns="0" rIns="0" bIns="0" anchor="t" anchorCtr="0">
            <a:spAutoFit/>
          </a:bodyPr>
          <a:lstStyle/>
          <a:p>
            <a:pPr algn="l"/>
            <a:r>
              <a:rPr lang="zh-CN" sz="1125" b="1" dirty="0">
                <a:solidFill>
                  <a:srgbClr val="C0392B"/>
                </a:solidFill>
                <a:latin typeface="Arial"/>
                <a:ea typeface="Microsoft YaHei"/>
                <a:cs typeface="Arial"/>
              </a:rPr>
              <a:t>公开IP</a:t>
            </a:r>
          </a:p>
        </p:txBody>
      </p:sp>
      <p:sp>
        <p:nvSpPr>
          <p:cNvPr id="14" name="Rectangle 14"/>
          <p:cNvSpPr/>
          <p:nvPr/>
        </p:nvSpPr>
        <p:spPr>
          <a:xfrm>
            <a:off x="809625" y="2143125"/>
            <a:ext cx="4953000" cy="9525"/>
          </a:xfrm>
          <a:prstGeom prst="rect">
            <a:avLst/>
          </a:prstGeom>
          <a:solidFill>
            <a:srgbClr val="E8E3DC"/>
          </a:solidFill>
          <a:ln>
            <a:noFill/>
          </a:ln>
        </p:spPr>
      </p:sp>
      <p:sp>
        <p:nvSpPr>
          <p:cNvPr id="15" name="Rectangle 15"/>
          <p:cNvSpPr/>
          <p:nvPr/>
        </p:nvSpPr>
        <p:spPr>
          <a:xfrm>
            <a:off x="809625" y="2305050"/>
            <a:ext cx="4953000" cy="619125"/>
          </a:xfrm>
          <a:prstGeom prst="roundRect">
            <a:avLst>
              <a:gd name="adj" fmla="val 15385"/>
            </a:avLst>
          </a:prstGeom>
          <a:solidFill>
            <a:srgbClr val="F0EDE8"/>
          </a:solidFill>
          <a:ln>
            <a:noFill/>
          </a:ln>
        </p:spPr>
      </p:sp>
      <p:sp>
        <p:nvSpPr>
          <p:cNvPr id="16" name="Ellipse 16"/>
          <p:cNvSpPr/>
          <p:nvPr/>
        </p:nvSpPr>
        <p:spPr>
          <a:xfrm>
            <a:off x="876300" y="2457450"/>
            <a:ext cx="304800" cy="304800"/>
          </a:xfrm>
          <a:prstGeom prst="ellipse">
            <a:avLst/>
          </a:prstGeom>
          <a:solidFill>
            <a:srgbClr val="1A5276"/>
          </a:solidFill>
          <a:ln>
            <a:noFill/>
          </a:ln>
        </p:spPr>
      </p:sp>
      <p:sp>
        <p:nvSpPr>
          <p:cNvPr id="17" name="TextBox 17"/>
          <p:cNvSpPr txBox="1"/>
          <p:nvPr/>
        </p:nvSpPr>
        <p:spPr>
          <a:xfrm>
            <a:off x="974935" y="25536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1</a:t>
            </a:r>
          </a:p>
        </p:txBody>
      </p:sp>
      <p:sp>
        <p:nvSpPr>
          <p:cNvPr id="18" name="TextBox 18"/>
          <p:cNvSpPr txBox="1"/>
          <p:nvPr/>
        </p:nvSpPr>
        <p:spPr>
          <a:xfrm>
            <a:off x="1297305" y="2445068"/>
            <a:ext cx="790384"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行业沙龙</a:t>
            </a:r>
          </a:p>
        </p:txBody>
      </p:sp>
      <p:sp>
        <p:nvSpPr>
          <p:cNvPr id="19" name="TextBox 19"/>
          <p:cNvSpPr txBox="1"/>
          <p:nvPr/>
        </p:nvSpPr>
        <p:spPr>
          <a:xfrm>
            <a:off x="1300162" y="2697956"/>
            <a:ext cx="2211348"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每月1次，社区商业数字经营主题</a:t>
            </a:r>
          </a:p>
        </p:txBody>
      </p:sp>
      <p:sp>
        <p:nvSpPr>
          <p:cNvPr id="20" name="Rectangle 20"/>
          <p:cNvSpPr/>
          <p:nvPr/>
        </p:nvSpPr>
        <p:spPr>
          <a:xfrm>
            <a:off x="809625" y="3048000"/>
            <a:ext cx="4953000" cy="619125"/>
          </a:xfrm>
          <a:prstGeom prst="roundRect">
            <a:avLst>
              <a:gd name="adj" fmla="val 15385"/>
            </a:avLst>
          </a:prstGeom>
          <a:solidFill>
            <a:srgbClr val="F0EDE8"/>
          </a:solidFill>
          <a:ln>
            <a:noFill/>
          </a:ln>
        </p:spPr>
      </p:sp>
      <p:sp>
        <p:nvSpPr>
          <p:cNvPr id="21" name="Ellipse 21"/>
          <p:cNvSpPr/>
          <p:nvPr/>
        </p:nvSpPr>
        <p:spPr>
          <a:xfrm>
            <a:off x="876300" y="3200400"/>
            <a:ext cx="304800" cy="304800"/>
          </a:xfrm>
          <a:prstGeom prst="ellipse">
            <a:avLst/>
          </a:prstGeom>
          <a:solidFill>
            <a:srgbClr val="1A5276"/>
          </a:solidFill>
          <a:ln>
            <a:noFill/>
          </a:ln>
        </p:spPr>
      </p:sp>
      <p:sp>
        <p:nvSpPr>
          <p:cNvPr id="22" name="TextBox 22"/>
          <p:cNvSpPr txBox="1"/>
          <p:nvPr/>
        </p:nvSpPr>
        <p:spPr>
          <a:xfrm>
            <a:off x="974935" y="32966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2</a:t>
            </a:r>
          </a:p>
        </p:txBody>
      </p:sp>
      <p:sp>
        <p:nvSpPr>
          <p:cNvPr id="23" name="TextBox 23"/>
          <p:cNvSpPr txBox="1"/>
          <p:nvPr/>
        </p:nvSpPr>
        <p:spPr>
          <a:xfrm>
            <a:off x="1297305" y="3188018"/>
            <a:ext cx="790384"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深度访谈</a:t>
            </a:r>
          </a:p>
        </p:txBody>
      </p:sp>
      <p:sp>
        <p:nvSpPr>
          <p:cNvPr id="24" name="TextBox 24"/>
          <p:cNvSpPr txBox="1"/>
          <p:nvPr/>
        </p:nvSpPr>
        <p:spPr>
          <a:xfrm>
            <a:off x="1300162" y="3440906"/>
            <a:ext cx="174629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社区商业 x 数字经营 话题</a:t>
            </a:r>
          </a:p>
        </p:txBody>
      </p:sp>
      <p:sp>
        <p:nvSpPr>
          <p:cNvPr id="25" name="Rectangle 25"/>
          <p:cNvSpPr/>
          <p:nvPr/>
        </p:nvSpPr>
        <p:spPr>
          <a:xfrm>
            <a:off x="809625" y="3790950"/>
            <a:ext cx="4953000" cy="619125"/>
          </a:xfrm>
          <a:prstGeom prst="roundRect">
            <a:avLst>
              <a:gd name="adj" fmla="val 15385"/>
            </a:avLst>
          </a:prstGeom>
          <a:solidFill>
            <a:srgbClr val="F0EDE8"/>
          </a:solidFill>
          <a:ln>
            <a:noFill/>
          </a:ln>
        </p:spPr>
      </p:sp>
      <p:sp>
        <p:nvSpPr>
          <p:cNvPr id="26" name="Ellipse 26"/>
          <p:cNvSpPr/>
          <p:nvPr/>
        </p:nvSpPr>
        <p:spPr>
          <a:xfrm>
            <a:off x="876300" y="3943350"/>
            <a:ext cx="304800" cy="304800"/>
          </a:xfrm>
          <a:prstGeom prst="ellipse">
            <a:avLst/>
          </a:prstGeom>
          <a:solidFill>
            <a:srgbClr val="1A5276"/>
          </a:solidFill>
          <a:ln>
            <a:noFill/>
          </a:ln>
        </p:spPr>
      </p:sp>
      <p:sp>
        <p:nvSpPr>
          <p:cNvPr id="27" name="TextBox 27"/>
          <p:cNvSpPr txBox="1"/>
          <p:nvPr/>
        </p:nvSpPr>
        <p:spPr>
          <a:xfrm>
            <a:off x="974935" y="40395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a:t>
            </a:r>
          </a:p>
        </p:txBody>
      </p:sp>
      <p:sp>
        <p:nvSpPr>
          <p:cNvPr id="28" name="TextBox 28"/>
          <p:cNvSpPr txBox="1"/>
          <p:nvPr/>
        </p:nvSpPr>
        <p:spPr>
          <a:xfrm>
            <a:off x="1297305" y="3930968"/>
            <a:ext cx="790384"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定义品类</a:t>
            </a:r>
          </a:p>
        </p:txBody>
      </p:sp>
      <p:sp>
        <p:nvSpPr>
          <p:cNvPr id="29" name="TextBox 29"/>
          <p:cNvSpPr txBox="1"/>
          <p:nvPr/>
        </p:nvSpPr>
        <p:spPr>
          <a:xfrm>
            <a:off x="1300162" y="4183856"/>
            <a:ext cx="257889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让「社区商业数字经营」成为行业话题</a:t>
            </a:r>
          </a:p>
        </p:txBody>
      </p:sp>
      <p:sp>
        <p:nvSpPr>
          <p:cNvPr id="30" name="Rectangle 30"/>
          <p:cNvSpPr/>
          <p:nvPr/>
        </p:nvSpPr>
        <p:spPr>
          <a:xfrm>
            <a:off x="6238875" y="1333500"/>
            <a:ext cx="5381625" cy="3714750"/>
          </a:xfrm>
          <a:prstGeom prst="roundRect">
            <a:avLst>
              <a:gd name="adj" fmla="val 3590"/>
            </a:avLst>
          </a:prstGeom>
          <a:solidFill>
            <a:srgbClr val="FFFFFF"/>
          </a:solidFill>
          <a:ln>
            <a:noFill/>
          </a:ln>
          <a:effectLst>
            <a:outerShdw blurRad="76200" dist="19050" dir="5400000" algn="ctr" rotWithShape="0">
              <a:srgbClr val="2C2C2C">
                <a:alpha val="4500"/>
              </a:srgbClr>
            </a:outerShdw>
          </a:effectLst>
        </p:spPr>
      </p:sp>
      <p:sp>
        <p:nvSpPr>
          <p:cNvPr id="31" name="Rectangle 31"/>
          <p:cNvSpPr/>
          <p:nvPr/>
        </p:nvSpPr>
        <p:spPr>
          <a:xfrm>
            <a:off x="6238875" y="1333500"/>
            <a:ext cx="5381625" cy="3714750"/>
          </a:xfrm>
          <a:prstGeom prst="roundRect">
            <a:avLst>
              <a:gd name="adj" fmla="val 3590"/>
            </a:avLst>
          </a:prstGeom>
          <a:noFill/>
          <a:ln w="9525">
            <a:solidFill>
              <a:srgbClr val="E8E3DC"/>
            </a:solidFill>
          </a:ln>
        </p:spPr>
      </p:sp>
      <p:sp>
        <p:nvSpPr>
          <p:cNvPr id="32" name="Rectangle 32"/>
          <p:cNvSpPr/>
          <p:nvPr/>
        </p:nvSpPr>
        <p:spPr>
          <a:xfrm>
            <a:off x="6238875" y="1333500"/>
            <a:ext cx="5381625" cy="647700"/>
          </a:xfrm>
          <a:prstGeom prst="roundRect">
            <a:avLst>
              <a:gd name="adj" fmla="val 20588"/>
            </a:avLst>
          </a:prstGeom>
          <a:solidFill>
            <a:srgbClr val="E67E22">
              <a:alpha val="8000"/>
            </a:srgbClr>
          </a:solidFill>
          <a:ln>
            <a:noFill/>
          </a:ln>
        </p:spPr>
      </p:sp>
      <p:sp>
        <p:nvSpPr>
          <p:cNvPr id="33" name="Rectangle 33"/>
          <p:cNvSpPr/>
          <p:nvPr/>
        </p:nvSpPr>
        <p:spPr>
          <a:xfrm>
            <a:off x="6238875" y="1847850"/>
            <a:ext cx="5381625" cy="133350"/>
          </a:xfrm>
          <a:prstGeom prst="rect">
            <a:avLst/>
          </a:prstGeom>
          <a:solidFill>
            <a:srgbClr val="E67E22">
              <a:alpha val="8000"/>
            </a:srgbClr>
          </a:solidFill>
          <a:ln>
            <a:noFill/>
          </a:ln>
        </p:spPr>
      </p:sp>
      <p:sp>
        <p:nvSpPr>
          <p:cNvPr id="34" name="Rectangle 34"/>
          <p:cNvSpPr/>
          <p:nvPr/>
        </p:nvSpPr>
        <p:spPr>
          <a:xfrm>
            <a:off x="6429375" y="1476375"/>
            <a:ext cx="381000" cy="381000"/>
          </a:xfrm>
          <a:prstGeom prst="roundRect">
            <a:avLst>
              <a:gd name="adj" fmla="val 25000"/>
            </a:avLst>
          </a:prstGeom>
          <a:solidFill>
            <a:srgbClr val="E67E22">
              <a:alpha val="12000"/>
            </a:srgbClr>
          </a:solidFill>
          <a:ln>
            <a:noFill/>
          </a:ln>
        </p:spPr>
      </p:sp>
      <p:sp>
        <p:nvSpPr>
          <p:cNvPr id="35" name="TextBox 35"/>
          <p:cNvSpPr txBox="1"/>
          <p:nvPr/>
        </p:nvSpPr>
        <p:spPr>
          <a:xfrm>
            <a:off x="6538412" y="1545908"/>
            <a:ext cx="162925" cy="335280"/>
          </a:xfrm>
          <a:prstGeom prst="rect">
            <a:avLst/>
          </a:prstGeom>
          <a:noFill/>
          <a:ln>
            <a:noFill/>
          </a:ln>
        </p:spPr>
        <p:txBody>
          <a:bodyPr wrap="none" lIns="0" tIns="0" rIns="0" bIns="0" anchor="t" anchorCtr="0">
            <a:spAutoFit/>
          </a:bodyPr>
          <a:lstStyle/>
          <a:p>
            <a:pPr algn="ctr"/>
            <a:r>
              <a:rPr lang="zh-CN" sz="1650" dirty="0">
                <a:solidFill>
                  <a:srgbClr val="E67E22"/>
                </a:solidFill>
                <a:latin typeface="Segoe UI"/>
                <a:ea typeface="Microsoft YaHei"/>
                <a:cs typeface="Segoe UI"/>
              </a:rPr>
              <a:t>✎</a:t>
            </a:r>
          </a:p>
        </p:txBody>
      </p:sp>
      <p:sp>
        <p:nvSpPr>
          <p:cNvPr id="36" name="TextBox 36"/>
          <p:cNvSpPr txBox="1"/>
          <p:nvPr/>
        </p:nvSpPr>
        <p:spPr>
          <a:xfrm>
            <a:off x="6932295" y="1460182"/>
            <a:ext cx="2155824" cy="335280"/>
          </a:xfrm>
          <a:prstGeom prst="rect">
            <a:avLst/>
          </a:prstGeom>
          <a:noFill/>
          <a:ln>
            <a:noFill/>
          </a:ln>
        </p:spPr>
        <p:txBody>
          <a:bodyPr wrap="none" lIns="0" tIns="0" rIns="0" bIns="0" anchor="t" anchorCtr="0">
            <a:spAutoFit/>
          </a:bodyPr>
          <a:lstStyle/>
          <a:p>
            <a:pPr algn="l"/>
            <a:r>
              <a:rPr lang="zh-CN" sz="1650" b="1" dirty="0">
                <a:solidFill>
                  <a:srgbClr val="E67E22"/>
                </a:solidFill>
                <a:latin typeface="Arial"/>
                <a:ea typeface="Microsoft YaHei"/>
                <a:cs typeface="Arial"/>
              </a:rPr>
              <a:t>梁君衡 · 品牌架构师</a:t>
            </a:r>
          </a:p>
        </p:txBody>
      </p:sp>
      <p:sp>
        <p:nvSpPr>
          <p:cNvPr id="37" name="TextBox 37"/>
          <p:cNvSpPr txBox="1"/>
          <p:nvPr/>
        </p:nvSpPr>
        <p:spPr>
          <a:xfrm>
            <a:off x="6938962" y="1716881"/>
            <a:ext cx="635026" cy="228600"/>
          </a:xfrm>
          <a:prstGeom prst="rect">
            <a:avLst/>
          </a:prstGeom>
          <a:noFill/>
          <a:ln>
            <a:noFill/>
          </a:ln>
        </p:spPr>
        <p:txBody>
          <a:bodyPr wrap="none" lIns="0" tIns="0" rIns="0" bIns="0" anchor="t" anchorCtr="0">
            <a:spAutoFit/>
          </a:bodyPr>
          <a:lstStyle/>
          <a:p>
            <a:pPr algn="l"/>
            <a:r>
              <a:rPr lang="zh-CN" sz="1125" b="1" dirty="0">
                <a:solidFill>
                  <a:srgbClr val="D4A574"/>
                </a:solidFill>
                <a:latin typeface="Arial"/>
                <a:ea typeface="Microsoft YaHei"/>
                <a:cs typeface="Arial"/>
              </a:rPr>
              <a:t>半公开IP</a:t>
            </a:r>
          </a:p>
        </p:txBody>
      </p:sp>
      <p:sp>
        <p:nvSpPr>
          <p:cNvPr id="38" name="Rectangle 38"/>
          <p:cNvSpPr/>
          <p:nvPr/>
        </p:nvSpPr>
        <p:spPr>
          <a:xfrm>
            <a:off x="6477000" y="2143125"/>
            <a:ext cx="4953000" cy="9525"/>
          </a:xfrm>
          <a:prstGeom prst="rect">
            <a:avLst/>
          </a:prstGeom>
          <a:solidFill>
            <a:srgbClr val="E8E3DC"/>
          </a:solidFill>
          <a:ln>
            <a:noFill/>
          </a:ln>
        </p:spPr>
      </p:sp>
      <p:sp>
        <p:nvSpPr>
          <p:cNvPr id="39" name="Rectangle 39"/>
          <p:cNvSpPr/>
          <p:nvPr/>
        </p:nvSpPr>
        <p:spPr>
          <a:xfrm>
            <a:off x="6477000" y="2305050"/>
            <a:ext cx="4953000" cy="619125"/>
          </a:xfrm>
          <a:prstGeom prst="roundRect">
            <a:avLst>
              <a:gd name="adj" fmla="val 15385"/>
            </a:avLst>
          </a:prstGeom>
          <a:solidFill>
            <a:srgbClr val="F0EDE8"/>
          </a:solidFill>
          <a:ln>
            <a:noFill/>
          </a:ln>
        </p:spPr>
      </p:sp>
      <p:sp>
        <p:nvSpPr>
          <p:cNvPr id="40" name="Ellipse 40"/>
          <p:cNvSpPr/>
          <p:nvPr/>
        </p:nvSpPr>
        <p:spPr>
          <a:xfrm>
            <a:off x="6543675" y="2457450"/>
            <a:ext cx="304800" cy="304800"/>
          </a:xfrm>
          <a:prstGeom prst="ellipse">
            <a:avLst/>
          </a:prstGeom>
          <a:solidFill>
            <a:srgbClr val="E67E22"/>
          </a:solidFill>
          <a:ln>
            <a:noFill/>
          </a:ln>
        </p:spPr>
      </p:sp>
      <p:sp>
        <p:nvSpPr>
          <p:cNvPr id="41" name="TextBox 41"/>
          <p:cNvSpPr txBox="1"/>
          <p:nvPr/>
        </p:nvSpPr>
        <p:spPr>
          <a:xfrm>
            <a:off x="6642310" y="25536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1</a:t>
            </a:r>
          </a:p>
        </p:txBody>
      </p:sp>
      <p:sp>
        <p:nvSpPr>
          <p:cNvPr id="42" name="TextBox 42"/>
          <p:cNvSpPr txBox="1"/>
          <p:nvPr/>
        </p:nvSpPr>
        <p:spPr>
          <a:xfrm>
            <a:off x="6964680" y="2445068"/>
            <a:ext cx="790384"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深度文章</a:t>
            </a:r>
          </a:p>
        </p:txBody>
      </p:sp>
      <p:sp>
        <p:nvSpPr>
          <p:cNvPr id="43" name="TextBox 43"/>
          <p:cNvSpPr txBox="1"/>
          <p:nvPr/>
        </p:nvSpPr>
        <p:spPr>
          <a:xfrm>
            <a:off x="6967538" y="2697956"/>
            <a:ext cx="71116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每季度1篇</a:t>
            </a:r>
          </a:p>
        </p:txBody>
      </p:sp>
      <p:sp>
        <p:nvSpPr>
          <p:cNvPr id="44" name="Rectangle 44"/>
          <p:cNvSpPr/>
          <p:nvPr/>
        </p:nvSpPr>
        <p:spPr>
          <a:xfrm>
            <a:off x="6477000" y="3048000"/>
            <a:ext cx="4953000" cy="619125"/>
          </a:xfrm>
          <a:prstGeom prst="roundRect">
            <a:avLst>
              <a:gd name="adj" fmla="val 15385"/>
            </a:avLst>
          </a:prstGeom>
          <a:solidFill>
            <a:srgbClr val="F0EDE8"/>
          </a:solidFill>
          <a:ln>
            <a:noFill/>
          </a:ln>
        </p:spPr>
      </p:sp>
      <p:sp>
        <p:nvSpPr>
          <p:cNvPr id="45" name="Ellipse 45"/>
          <p:cNvSpPr/>
          <p:nvPr/>
        </p:nvSpPr>
        <p:spPr>
          <a:xfrm>
            <a:off x="6543675" y="3200400"/>
            <a:ext cx="304800" cy="304800"/>
          </a:xfrm>
          <a:prstGeom prst="ellipse">
            <a:avLst/>
          </a:prstGeom>
          <a:solidFill>
            <a:srgbClr val="E67E22"/>
          </a:solidFill>
          <a:ln>
            <a:noFill/>
          </a:ln>
        </p:spPr>
      </p:sp>
      <p:sp>
        <p:nvSpPr>
          <p:cNvPr id="46" name="TextBox 46"/>
          <p:cNvSpPr txBox="1"/>
          <p:nvPr/>
        </p:nvSpPr>
        <p:spPr>
          <a:xfrm>
            <a:off x="6642310" y="32966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2</a:t>
            </a:r>
          </a:p>
        </p:txBody>
      </p:sp>
      <p:sp>
        <p:nvSpPr>
          <p:cNvPr id="47" name="TextBox 47"/>
          <p:cNvSpPr txBox="1"/>
          <p:nvPr/>
        </p:nvSpPr>
        <p:spPr>
          <a:xfrm>
            <a:off x="6964680" y="3188018"/>
            <a:ext cx="412337"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渠道</a:t>
            </a:r>
          </a:p>
        </p:txBody>
      </p:sp>
      <p:sp>
        <p:nvSpPr>
          <p:cNvPr id="48" name="TextBox 48"/>
          <p:cNvSpPr txBox="1"/>
          <p:nvPr/>
        </p:nvSpPr>
        <p:spPr>
          <a:xfrm>
            <a:off x="6967538" y="3440906"/>
            <a:ext cx="218884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36氪 / 虎嗅 / 人人都是产品经理</a:t>
            </a:r>
          </a:p>
        </p:txBody>
      </p:sp>
      <p:sp>
        <p:nvSpPr>
          <p:cNvPr id="49" name="Rectangle 49"/>
          <p:cNvSpPr/>
          <p:nvPr/>
        </p:nvSpPr>
        <p:spPr>
          <a:xfrm>
            <a:off x="6477000" y="3790950"/>
            <a:ext cx="4953000" cy="619125"/>
          </a:xfrm>
          <a:prstGeom prst="roundRect">
            <a:avLst>
              <a:gd name="adj" fmla="val 15385"/>
            </a:avLst>
          </a:prstGeom>
          <a:solidFill>
            <a:srgbClr val="F0EDE8"/>
          </a:solidFill>
          <a:ln>
            <a:noFill/>
          </a:ln>
        </p:spPr>
      </p:sp>
      <p:sp>
        <p:nvSpPr>
          <p:cNvPr id="50" name="Ellipse 50"/>
          <p:cNvSpPr/>
          <p:nvPr/>
        </p:nvSpPr>
        <p:spPr>
          <a:xfrm>
            <a:off x="6543675" y="3943350"/>
            <a:ext cx="304800" cy="304800"/>
          </a:xfrm>
          <a:prstGeom prst="ellipse">
            <a:avLst/>
          </a:prstGeom>
          <a:solidFill>
            <a:srgbClr val="E67E22"/>
          </a:solidFill>
          <a:ln>
            <a:noFill/>
          </a:ln>
        </p:spPr>
      </p:sp>
      <p:sp>
        <p:nvSpPr>
          <p:cNvPr id="51" name="TextBox 51"/>
          <p:cNvSpPr txBox="1"/>
          <p:nvPr/>
        </p:nvSpPr>
        <p:spPr>
          <a:xfrm>
            <a:off x="6642310" y="40395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a:t>
            </a:r>
          </a:p>
        </p:txBody>
      </p:sp>
      <p:sp>
        <p:nvSpPr>
          <p:cNvPr id="52" name="TextBox 52"/>
          <p:cNvSpPr txBox="1"/>
          <p:nvPr/>
        </p:nvSpPr>
        <p:spPr>
          <a:xfrm>
            <a:off x="6964680" y="3930968"/>
            <a:ext cx="1168432"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建立心智锚点</a:t>
            </a:r>
          </a:p>
        </p:txBody>
      </p:sp>
      <p:sp>
        <p:nvSpPr>
          <p:cNvPr id="53" name="TextBox 53"/>
          <p:cNvSpPr txBox="1"/>
          <p:nvPr/>
        </p:nvSpPr>
        <p:spPr>
          <a:xfrm>
            <a:off x="6967538" y="4183856"/>
            <a:ext cx="156626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社区商业 =/= 本地生活</a:t>
            </a:r>
          </a:p>
        </p:txBody>
      </p:sp>
      <p:sp>
        <p:nvSpPr>
          <p:cNvPr id="54" name="Rectangle 54"/>
          <p:cNvSpPr/>
          <p:nvPr/>
        </p:nvSpPr>
        <p:spPr>
          <a:xfrm>
            <a:off x="571500" y="5219700"/>
            <a:ext cx="11049000" cy="952500"/>
          </a:xfrm>
          <a:prstGeom prst="roundRect">
            <a:avLst>
              <a:gd name="adj" fmla="val 14000"/>
            </a:avLst>
          </a:prstGeom>
          <a:solidFill>
            <a:srgbClr val="F0EDE8"/>
          </a:solidFill>
          <a:ln>
            <a:noFill/>
          </a:ln>
        </p:spPr>
      </p:sp>
      <p:sp>
        <p:nvSpPr>
          <p:cNvPr id="55" name="Rectangle 55"/>
          <p:cNvSpPr/>
          <p:nvPr/>
        </p:nvSpPr>
        <p:spPr>
          <a:xfrm>
            <a:off x="571500" y="5219700"/>
            <a:ext cx="11049000" cy="952500"/>
          </a:xfrm>
          <a:prstGeom prst="roundRect">
            <a:avLst>
              <a:gd name="adj" fmla="val 14000"/>
            </a:avLst>
          </a:prstGeom>
          <a:noFill/>
          <a:ln w="9525">
            <a:solidFill>
              <a:srgbClr val="E8E3DC"/>
            </a:solidFill>
          </a:ln>
        </p:spPr>
      </p:sp>
      <p:sp>
        <p:nvSpPr>
          <p:cNvPr id="56" name="Rectangle 56"/>
          <p:cNvSpPr/>
          <p:nvPr/>
        </p:nvSpPr>
        <p:spPr>
          <a:xfrm>
            <a:off x="809625" y="5381625"/>
            <a:ext cx="5095875" cy="647700"/>
          </a:xfrm>
          <a:prstGeom prst="roundRect">
            <a:avLst>
              <a:gd name="adj" fmla="val 14706"/>
            </a:avLst>
          </a:prstGeom>
          <a:solidFill>
            <a:srgbClr val="FFFFFF"/>
          </a:solidFill>
          <a:ln>
            <a:noFill/>
          </a:ln>
        </p:spPr>
      </p:sp>
      <p:sp>
        <p:nvSpPr>
          <p:cNvPr id="57" name="TextBox 57"/>
          <p:cNvSpPr txBox="1"/>
          <p:nvPr/>
        </p:nvSpPr>
        <p:spPr>
          <a:xfrm>
            <a:off x="985838" y="549830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准入条件</a:t>
            </a:r>
          </a:p>
        </p:txBody>
      </p:sp>
      <p:sp>
        <p:nvSpPr>
          <p:cNvPr id="58" name="Rectangle 58"/>
          <p:cNvSpPr/>
          <p:nvPr/>
        </p:nvSpPr>
        <p:spPr>
          <a:xfrm>
            <a:off x="1000125" y="5715000"/>
            <a:ext cx="76200" cy="76200"/>
          </a:xfrm>
          <a:prstGeom prst="roundRect">
            <a:avLst>
              <a:gd name="adj" fmla="val 25000"/>
            </a:avLst>
          </a:prstGeom>
          <a:solidFill>
            <a:srgbClr val="E67E22">
              <a:alpha val="30000"/>
            </a:srgbClr>
          </a:solidFill>
          <a:ln>
            <a:noFill/>
          </a:ln>
        </p:spPr>
      </p:sp>
      <p:sp>
        <p:nvSpPr>
          <p:cNvPr id="59" name="TextBox 59"/>
          <p:cNvSpPr txBox="1"/>
          <p:nvPr/>
        </p:nvSpPr>
        <p:spPr>
          <a:xfrm>
            <a:off x="1156335" y="5671185"/>
            <a:ext cx="227076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两人都有内容输出的意愿和能力</a:t>
            </a:r>
          </a:p>
        </p:txBody>
      </p:sp>
      <p:sp>
        <p:nvSpPr>
          <p:cNvPr id="60" name="Rectangle 60"/>
          <p:cNvSpPr/>
          <p:nvPr/>
        </p:nvSpPr>
        <p:spPr>
          <a:xfrm>
            <a:off x="1000125" y="5905500"/>
            <a:ext cx="76200" cy="76200"/>
          </a:xfrm>
          <a:prstGeom prst="roundRect">
            <a:avLst>
              <a:gd name="adj" fmla="val 25000"/>
            </a:avLst>
          </a:prstGeom>
          <a:solidFill>
            <a:srgbClr val="E67E22">
              <a:alpha val="30000"/>
            </a:srgbClr>
          </a:solidFill>
          <a:ln>
            <a:noFill/>
          </a:ln>
        </p:spPr>
      </p:sp>
      <p:sp>
        <p:nvSpPr>
          <p:cNvPr id="61" name="TextBox 61"/>
          <p:cNvSpPr txBox="1"/>
          <p:nvPr/>
        </p:nvSpPr>
        <p:spPr>
          <a:xfrm>
            <a:off x="1156335" y="5861685"/>
            <a:ext cx="419100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创始人同意公开担任品类传教士（如不同意，此段不启动）</a:t>
            </a:r>
          </a:p>
        </p:txBody>
      </p:sp>
      <p:sp>
        <p:nvSpPr>
          <p:cNvPr id="62" name="Rectangle 62"/>
          <p:cNvSpPr/>
          <p:nvPr/>
        </p:nvSpPr>
        <p:spPr>
          <a:xfrm>
            <a:off x="6143625" y="5381625"/>
            <a:ext cx="5286375" cy="647700"/>
          </a:xfrm>
          <a:prstGeom prst="roundRect">
            <a:avLst>
              <a:gd name="adj" fmla="val 14706"/>
            </a:avLst>
          </a:prstGeom>
          <a:solidFill>
            <a:srgbClr val="FFFFFF"/>
          </a:solidFill>
          <a:ln>
            <a:noFill/>
          </a:ln>
        </p:spPr>
      </p:sp>
      <p:sp>
        <p:nvSpPr>
          <p:cNvPr id="63" name="TextBox 63"/>
          <p:cNvSpPr txBox="1"/>
          <p:nvPr/>
        </p:nvSpPr>
        <p:spPr>
          <a:xfrm>
            <a:off x="6319838" y="549830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退出标准</a:t>
            </a:r>
          </a:p>
        </p:txBody>
      </p:sp>
      <p:sp>
        <p:nvSpPr>
          <p:cNvPr id="64" name="Rectangle 64"/>
          <p:cNvSpPr/>
          <p:nvPr/>
        </p:nvSpPr>
        <p:spPr>
          <a:xfrm>
            <a:off x="6334125" y="5715000"/>
            <a:ext cx="76200" cy="76200"/>
          </a:xfrm>
          <a:prstGeom prst="roundRect">
            <a:avLst>
              <a:gd name="adj" fmla="val 25000"/>
            </a:avLst>
          </a:prstGeom>
          <a:solidFill>
            <a:srgbClr val="1E8449">
              <a:alpha val="30000"/>
            </a:srgbClr>
          </a:solidFill>
          <a:ln>
            <a:noFill/>
          </a:ln>
        </p:spPr>
      </p:sp>
      <p:sp>
        <p:nvSpPr>
          <p:cNvPr id="65" name="TextBox 65"/>
          <p:cNvSpPr txBox="1"/>
          <p:nvPr/>
        </p:nvSpPr>
        <p:spPr>
          <a:xfrm>
            <a:off x="6490335" y="5671185"/>
            <a:ext cx="1920716"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公测期内 &gt;= 2次对外发声</a:t>
            </a:r>
          </a:p>
        </p:txBody>
      </p:sp>
      <p:sp>
        <p:nvSpPr>
          <p:cNvPr id="66" name="Rectangle 66"/>
          <p:cNvSpPr/>
          <p:nvPr/>
        </p:nvSpPr>
        <p:spPr>
          <a:xfrm>
            <a:off x="6334125" y="5905500"/>
            <a:ext cx="76200" cy="76200"/>
          </a:xfrm>
          <a:prstGeom prst="roundRect">
            <a:avLst>
              <a:gd name="adj" fmla="val 25000"/>
            </a:avLst>
          </a:prstGeom>
          <a:solidFill>
            <a:srgbClr val="1E8449">
              <a:alpha val="30000"/>
            </a:srgbClr>
          </a:solidFill>
          <a:ln>
            <a:noFill/>
          </a:ln>
        </p:spPr>
      </p:sp>
      <p:sp>
        <p:nvSpPr>
          <p:cNvPr id="67" name="TextBox 67"/>
          <p:cNvSpPr txBox="1"/>
          <p:nvPr/>
        </p:nvSpPr>
        <p:spPr>
          <a:xfrm>
            <a:off x="6490335" y="5861685"/>
            <a:ext cx="1878711"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每次发声后在内部做复盘</a:t>
            </a:r>
          </a:p>
        </p:txBody>
      </p:sp>
      <p:sp>
        <p:nvSpPr>
          <p:cNvPr id="68" name="TextBox 68"/>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34</a:t>
            </a:r>
          </a:p>
        </p:txBody>
      </p:sp>
      <p:sp>
        <p:nvSpPr>
          <p:cNvPr id="69" name="TextBox 69"/>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27710" y="375285"/>
            <a:ext cx="9141714"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三段序列：先开一枪，再开一炮，最后范弗里特弹药量</a:t>
            </a:r>
          </a:p>
        </p:txBody>
      </p:sp>
      <p:sp>
        <p:nvSpPr>
          <p:cNvPr id="5" name="TextBox 5"/>
          <p:cNvSpPr txBox="1"/>
          <p:nvPr/>
        </p:nvSpPr>
        <p:spPr>
          <a:xfrm>
            <a:off x="742950" y="838200"/>
            <a:ext cx="5658802"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大多数项目死在枪还没开就直接弹药量——先活一个，再复制活的</a:t>
            </a:r>
          </a:p>
        </p:txBody>
      </p:sp>
      <p:sp>
        <p:nvSpPr>
          <p:cNvPr id="6" name="Rectangle 6"/>
          <p:cNvSpPr/>
          <p:nvPr/>
        </p:nvSpPr>
        <p:spPr>
          <a:xfrm>
            <a:off x="762000" y="1905000"/>
            <a:ext cx="10668000" cy="38100"/>
          </a:xfrm>
          <a:prstGeom prst="roundRect">
            <a:avLst>
              <a:gd name="adj" fmla="val 50000"/>
            </a:avLst>
          </a:prstGeom>
          <a:solidFill>
            <a:srgbClr val="E8E3DC"/>
          </a:solidFill>
          <a:ln>
            <a:noFill/>
          </a:ln>
        </p:spPr>
      </p:sp>
      <p:sp>
        <p:nvSpPr>
          <p:cNvPr id="7" name="Ellipse 7"/>
          <p:cNvSpPr/>
          <p:nvPr/>
        </p:nvSpPr>
        <p:spPr>
          <a:xfrm>
            <a:off x="1885950" y="1714500"/>
            <a:ext cx="419100" cy="419100"/>
          </a:xfrm>
          <a:prstGeom prst="ellipse">
            <a:avLst/>
          </a:prstGeom>
          <a:solidFill>
            <a:srgbClr val="C0392B"/>
          </a:solidFill>
          <a:ln>
            <a:noFill/>
          </a:ln>
        </p:spPr>
      </p:sp>
      <p:sp>
        <p:nvSpPr>
          <p:cNvPr id="8" name="Ellipse 8"/>
          <p:cNvSpPr/>
          <p:nvPr/>
        </p:nvSpPr>
        <p:spPr>
          <a:xfrm>
            <a:off x="2000250" y="1828800"/>
            <a:ext cx="190500" cy="190500"/>
          </a:xfrm>
          <a:prstGeom prst="ellipse">
            <a:avLst/>
          </a:prstGeom>
          <a:solidFill>
            <a:srgbClr val="FFFFFF"/>
          </a:solidFill>
          <a:ln>
            <a:noFill/>
          </a:ln>
        </p:spPr>
      </p:sp>
      <p:sp>
        <p:nvSpPr>
          <p:cNvPr id="9" name="Rectangle 9"/>
          <p:cNvSpPr/>
          <p:nvPr/>
        </p:nvSpPr>
        <p:spPr>
          <a:xfrm>
            <a:off x="952500" y="2286000"/>
            <a:ext cx="2286000" cy="1238250"/>
          </a:xfrm>
          <a:prstGeom prst="roundRect">
            <a:avLst>
              <a:gd name="adj" fmla="val 10769"/>
            </a:avLst>
          </a:prstGeom>
          <a:solidFill>
            <a:srgbClr val="FFFFFF"/>
          </a:solidFill>
          <a:ln>
            <a:noFill/>
          </a:ln>
          <a:effectLst>
            <a:outerShdw blurRad="76200" dist="19050" dir="5400000" algn="ctr" rotWithShape="0">
              <a:srgbClr val="2C2C2C">
                <a:alpha val="4500"/>
              </a:srgbClr>
            </a:outerShdw>
          </a:effectLst>
        </p:spPr>
      </p:sp>
      <p:sp>
        <p:nvSpPr>
          <p:cNvPr id="10" name="Rectangle 10"/>
          <p:cNvSpPr/>
          <p:nvPr/>
        </p:nvSpPr>
        <p:spPr>
          <a:xfrm>
            <a:off x="952500" y="2286000"/>
            <a:ext cx="2286000" cy="1238250"/>
          </a:xfrm>
          <a:prstGeom prst="roundRect">
            <a:avLst>
              <a:gd name="adj" fmla="val 10769"/>
            </a:avLst>
          </a:prstGeom>
          <a:noFill/>
          <a:ln w="9525">
            <a:solidFill>
              <a:srgbClr val="E8E3DC"/>
            </a:solidFill>
          </a:ln>
        </p:spPr>
      </p:sp>
      <p:sp>
        <p:nvSpPr>
          <p:cNvPr id="11" name="Rectangle 11"/>
          <p:cNvSpPr/>
          <p:nvPr/>
        </p:nvSpPr>
        <p:spPr>
          <a:xfrm>
            <a:off x="952500" y="2286000"/>
            <a:ext cx="2286000" cy="38100"/>
          </a:xfrm>
          <a:prstGeom prst="roundRect">
            <a:avLst>
              <a:gd name="adj" fmla="val 50000"/>
            </a:avLst>
          </a:prstGeom>
          <a:solidFill>
            <a:srgbClr val="C0392B"/>
          </a:solidFill>
          <a:ln>
            <a:noFill/>
          </a:ln>
        </p:spPr>
      </p:sp>
      <p:sp>
        <p:nvSpPr>
          <p:cNvPr id="12" name="TextBox 12"/>
          <p:cNvSpPr txBox="1"/>
          <p:nvPr/>
        </p:nvSpPr>
        <p:spPr>
          <a:xfrm>
            <a:off x="1125855" y="2426018"/>
            <a:ext cx="601361" cy="274320"/>
          </a:xfrm>
          <a:prstGeom prst="rect">
            <a:avLst/>
          </a:prstGeom>
          <a:noFill/>
          <a:ln>
            <a:noFill/>
          </a:ln>
        </p:spPr>
        <p:txBody>
          <a:bodyPr wrap="none" lIns="0" tIns="0" rIns="0" bIns="0" anchor="t" anchorCtr="0">
            <a:spAutoFit/>
          </a:bodyPr>
          <a:lstStyle/>
          <a:p>
            <a:pPr algn="l"/>
            <a:r>
              <a:rPr lang="zh-CN" sz="1350" b="1" dirty="0">
                <a:solidFill>
                  <a:srgbClr val="C0392B"/>
                </a:solidFill>
                <a:latin typeface="Arial"/>
                <a:ea typeface="Microsoft YaHei"/>
                <a:cs typeface="Arial"/>
              </a:rPr>
              <a:t>第〇段</a:t>
            </a:r>
          </a:p>
        </p:txBody>
      </p:sp>
      <p:sp>
        <p:nvSpPr>
          <p:cNvPr id="13" name="TextBox 13"/>
          <p:cNvSpPr txBox="1"/>
          <p:nvPr/>
        </p:nvSpPr>
        <p:spPr>
          <a:xfrm>
            <a:off x="1129665" y="2696528"/>
            <a:ext cx="1160812"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本周 · 6/18-6/22</a:t>
            </a:r>
          </a:p>
        </p:txBody>
      </p:sp>
      <p:sp>
        <p:nvSpPr>
          <p:cNvPr id="14" name="Rectangle 14"/>
          <p:cNvSpPr/>
          <p:nvPr/>
        </p:nvSpPr>
        <p:spPr>
          <a:xfrm>
            <a:off x="1143000" y="2952750"/>
            <a:ext cx="1905000" cy="9525"/>
          </a:xfrm>
          <a:prstGeom prst="rect">
            <a:avLst/>
          </a:prstGeom>
          <a:solidFill>
            <a:srgbClr val="E8E3DC"/>
          </a:solidFill>
          <a:ln>
            <a:noFill/>
          </a:ln>
        </p:spPr>
      </p:sp>
      <p:sp>
        <p:nvSpPr>
          <p:cNvPr id="15" name="TextBox 15"/>
          <p:cNvSpPr txBox="1"/>
          <p:nvPr/>
        </p:nvSpPr>
        <p:spPr>
          <a:xfrm>
            <a:off x="1128712" y="3040856"/>
            <a:ext cx="6286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信息补全</a:t>
            </a:r>
          </a:p>
        </p:txBody>
      </p:sp>
      <p:sp>
        <p:nvSpPr>
          <p:cNvPr id="16" name="TextBox 16"/>
          <p:cNvSpPr txBox="1"/>
          <p:nvPr/>
        </p:nvSpPr>
        <p:spPr>
          <a:xfrm>
            <a:off x="1129665" y="3268028"/>
            <a:ext cx="1300829"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12个问题全部有答案</a:t>
            </a:r>
          </a:p>
        </p:txBody>
      </p:sp>
      <p:sp>
        <p:nvSpPr>
          <p:cNvPr id="17" name="Rectangle 17"/>
          <p:cNvSpPr/>
          <p:nvPr/>
        </p:nvSpPr>
        <p:spPr>
          <a:xfrm>
            <a:off x="3333750" y="1866900"/>
            <a:ext cx="1562100" cy="114300"/>
          </a:xfrm>
          <a:prstGeom prst="roundRect">
            <a:avLst>
              <a:gd name="adj" fmla="val 50000"/>
            </a:avLst>
          </a:prstGeom>
          <a:solidFill>
            <a:srgbClr val="E8E3DC"/>
          </a:solidFill>
          <a:ln>
            <a:noFill/>
          </a:ln>
        </p:spPr>
      </p:sp>
      <p:sp>
        <p:nvSpPr>
          <p:cNvPr id="18" name="TextBox 18"/>
          <p:cNvSpPr txBox="1"/>
          <p:nvPr/>
        </p:nvSpPr>
        <p:spPr>
          <a:xfrm>
            <a:off x="4070366" y="1864995"/>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Segoe UI"/>
                <a:ea typeface="Microsoft YaHei"/>
                <a:cs typeface="Segoe UI"/>
              </a:rPr>
              <a:t>▶</a:t>
            </a:r>
          </a:p>
        </p:txBody>
      </p:sp>
      <p:sp>
        <p:nvSpPr>
          <p:cNvPr id="19" name="Ellipse 19"/>
          <p:cNvSpPr/>
          <p:nvPr/>
        </p:nvSpPr>
        <p:spPr>
          <a:xfrm>
            <a:off x="5124450" y="1714500"/>
            <a:ext cx="419100" cy="419100"/>
          </a:xfrm>
          <a:prstGeom prst="ellipse">
            <a:avLst/>
          </a:prstGeom>
          <a:solidFill>
            <a:srgbClr val="E67E22"/>
          </a:solidFill>
          <a:ln>
            <a:noFill/>
          </a:ln>
        </p:spPr>
      </p:sp>
      <p:sp>
        <p:nvSpPr>
          <p:cNvPr id="20" name="Ellipse 20"/>
          <p:cNvSpPr/>
          <p:nvPr/>
        </p:nvSpPr>
        <p:spPr>
          <a:xfrm>
            <a:off x="5238750" y="1828800"/>
            <a:ext cx="190500" cy="190500"/>
          </a:xfrm>
          <a:prstGeom prst="ellipse">
            <a:avLst/>
          </a:prstGeom>
          <a:solidFill>
            <a:srgbClr val="FFFFFF"/>
          </a:solidFill>
          <a:ln>
            <a:noFill/>
          </a:ln>
        </p:spPr>
      </p:sp>
      <p:sp>
        <p:nvSpPr>
          <p:cNvPr id="21" name="Rectangle 21"/>
          <p:cNvSpPr/>
          <p:nvPr/>
        </p:nvSpPr>
        <p:spPr>
          <a:xfrm>
            <a:off x="4191000" y="2286000"/>
            <a:ext cx="2286000" cy="1238250"/>
          </a:xfrm>
          <a:prstGeom prst="roundRect">
            <a:avLst>
              <a:gd name="adj" fmla="val 10769"/>
            </a:avLst>
          </a:prstGeom>
          <a:solidFill>
            <a:srgbClr val="FFFFFF"/>
          </a:solidFill>
          <a:ln>
            <a:noFill/>
          </a:ln>
          <a:effectLst>
            <a:outerShdw blurRad="76200" dist="19050" dir="5400000" algn="ctr" rotWithShape="0">
              <a:srgbClr val="2C2C2C">
                <a:alpha val="4500"/>
              </a:srgbClr>
            </a:outerShdw>
          </a:effectLst>
        </p:spPr>
      </p:sp>
      <p:sp>
        <p:nvSpPr>
          <p:cNvPr id="22" name="Rectangle 22"/>
          <p:cNvSpPr/>
          <p:nvPr/>
        </p:nvSpPr>
        <p:spPr>
          <a:xfrm>
            <a:off x="4191000" y="2286000"/>
            <a:ext cx="2286000" cy="1238250"/>
          </a:xfrm>
          <a:prstGeom prst="roundRect">
            <a:avLst>
              <a:gd name="adj" fmla="val 10769"/>
            </a:avLst>
          </a:prstGeom>
          <a:noFill/>
          <a:ln w="9525">
            <a:solidFill>
              <a:srgbClr val="E8E3DC"/>
            </a:solidFill>
          </a:ln>
        </p:spPr>
      </p:sp>
      <p:sp>
        <p:nvSpPr>
          <p:cNvPr id="23" name="Rectangle 23"/>
          <p:cNvSpPr/>
          <p:nvPr/>
        </p:nvSpPr>
        <p:spPr>
          <a:xfrm>
            <a:off x="4191000" y="2286000"/>
            <a:ext cx="2286000" cy="38100"/>
          </a:xfrm>
          <a:prstGeom prst="roundRect">
            <a:avLst>
              <a:gd name="adj" fmla="val 50000"/>
            </a:avLst>
          </a:prstGeom>
          <a:solidFill>
            <a:srgbClr val="E67E22"/>
          </a:solidFill>
          <a:ln>
            <a:noFill/>
          </a:ln>
        </p:spPr>
      </p:sp>
      <p:sp>
        <p:nvSpPr>
          <p:cNvPr id="24" name="TextBox 24"/>
          <p:cNvSpPr txBox="1"/>
          <p:nvPr/>
        </p:nvSpPr>
        <p:spPr>
          <a:xfrm>
            <a:off x="4364355" y="2426018"/>
            <a:ext cx="601361" cy="274320"/>
          </a:xfrm>
          <a:prstGeom prst="rect">
            <a:avLst/>
          </a:prstGeom>
          <a:noFill/>
          <a:ln>
            <a:noFill/>
          </a:ln>
        </p:spPr>
        <p:txBody>
          <a:bodyPr wrap="none" lIns="0" tIns="0" rIns="0" bIns="0" anchor="t" anchorCtr="0">
            <a:spAutoFit/>
          </a:bodyPr>
          <a:lstStyle/>
          <a:p>
            <a:pPr algn="l"/>
            <a:r>
              <a:rPr lang="zh-CN" sz="1350" b="1" dirty="0">
                <a:solidFill>
                  <a:srgbClr val="E67E22"/>
                </a:solidFill>
                <a:latin typeface="Arial"/>
                <a:ea typeface="Microsoft YaHei"/>
                <a:cs typeface="Arial"/>
              </a:rPr>
              <a:t>第一段</a:t>
            </a:r>
          </a:p>
        </p:txBody>
      </p:sp>
      <p:sp>
        <p:nvSpPr>
          <p:cNvPr id="25" name="TextBox 25"/>
          <p:cNvSpPr txBox="1"/>
          <p:nvPr/>
        </p:nvSpPr>
        <p:spPr>
          <a:xfrm>
            <a:off x="4368165" y="2696528"/>
            <a:ext cx="62174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6下 - 7中</a:t>
            </a:r>
          </a:p>
        </p:txBody>
      </p:sp>
      <p:sp>
        <p:nvSpPr>
          <p:cNvPr id="26" name="Rectangle 26"/>
          <p:cNvSpPr/>
          <p:nvPr/>
        </p:nvSpPr>
        <p:spPr>
          <a:xfrm>
            <a:off x="4381500" y="2952750"/>
            <a:ext cx="1905000" cy="9525"/>
          </a:xfrm>
          <a:prstGeom prst="rect">
            <a:avLst/>
          </a:prstGeom>
          <a:solidFill>
            <a:srgbClr val="E8E3DC"/>
          </a:solidFill>
          <a:ln>
            <a:noFill/>
          </a:ln>
        </p:spPr>
      </p:sp>
      <p:sp>
        <p:nvSpPr>
          <p:cNvPr id="27" name="TextBox 27"/>
          <p:cNvSpPr txBox="1"/>
          <p:nvPr/>
        </p:nvSpPr>
        <p:spPr>
          <a:xfrm>
            <a:off x="4367212" y="3040856"/>
            <a:ext cx="6286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验证飞轮</a:t>
            </a:r>
          </a:p>
        </p:txBody>
      </p:sp>
      <p:sp>
        <p:nvSpPr>
          <p:cNvPr id="28" name="TextBox 28"/>
          <p:cNvSpPr txBox="1"/>
          <p:nvPr/>
        </p:nvSpPr>
        <p:spPr>
          <a:xfrm>
            <a:off x="4368165" y="3268028"/>
            <a:ext cx="1426845"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试点社区跨店交易跑通</a:t>
            </a:r>
          </a:p>
        </p:txBody>
      </p:sp>
      <p:sp>
        <p:nvSpPr>
          <p:cNvPr id="29" name="Rectangle 29"/>
          <p:cNvSpPr/>
          <p:nvPr/>
        </p:nvSpPr>
        <p:spPr>
          <a:xfrm>
            <a:off x="6572250" y="1866900"/>
            <a:ext cx="1562100" cy="114300"/>
          </a:xfrm>
          <a:prstGeom prst="roundRect">
            <a:avLst>
              <a:gd name="adj" fmla="val 50000"/>
            </a:avLst>
          </a:prstGeom>
          <a:solidFill>
            <a:srgbClr val="E8E3DC"/>
          </a:solidFill>
          <a:ln>
            <a:noFill/>
          </a:ln>
        </p:spPr>
      </p:sp>
      <p:sp>
        <p:nvSpPr>
          <p:cNvPr id="30" name="TextBox 30"/>
          <p:cNvSpPr txBox="1"/>
          <p:nvPr/>
        </p:nvSpPr>
        <p:spPr>
          <a:xfrm>
            <a:off x="7308866" y="1864995"/>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Segoe UI"/>
                <a:ea typeface="Microsoft YaHei"/>
                <a:cs typeface="Segoe UI"/>
              </a:rPr>
              <a:t>▶</a:t>
            </a:r>
          </a:p>
        </p:txBody>
      </p:sp>
      <p:sp>
        <p:nvSpPr>
          <p:cNvPr id="31" name="Ellipse 31"/>
          <p:cNvSpPr/>
          <p:nvPr/>
        </p:nvSpPr>
        <p:spPr>
          <a:xfrm>
            <a:off x="8362950" y="1714500"/>
            <a:ext cx="419100" cy="419100"/>
          </a:xfrm>
          <a:prstGeom prst="ellipse">
            <a:avLst/>
          </a:prstGeom>
          <a:solidFill>
            <a:srgbClr val="1A5276"/>
          </a:solidFill>
          <a:ln>
            <a:noFill/>
          </a:ln>
        </p:spPr>
      </p:sp>
      <p:sp>
        <p:nvSpPr>
          <p:cNvPr id="32" name="Ellipse 32"/>
          <p:cNvSpPr/>
          <p:nvPr/>
        </p:nvSpPr>
        <p:spPr>
          <a:xfrm>
            <a:off x="8477250" y="1828800"/>
            <a:ext cx="190500" cy="190500"/>
          </a:xfrm>
          <a:prstGeom prst="ellipse">
            <a:avLst/>
          </a:prstGeom>
          <a:solidFill>
            <a:srgbClr val="FFFFFF"/>
          </a:solidFill>
          <a:ln>
            <a:noFill/>
          </a:ln>
        </p:spPr>
      </p:sp>
      <p:sp>
        <p:nvSpPr>
          <p:cNvPr id="33" name="Rectangle 33"/>
          <p:cNvSpPr/>
          <p:nvPr/>
        </p:nvSpPr>
        <p:spPr>
          <a:xfrm>
            <a:off x="7429500" y="2286000"/>
            <a:ext cx="2286000" cy="1238250"/>
          </a:xfrm>
          <a:prstGeom prst="roundRect">
            <a:avLst>
              <a:gd name="adj" fmla="val 10769"/>
            </a:avLst>
          </a:prstGeom>
          <a:solidFill>
            <a:srgbClr val="FFFFFF"/>
          </a:solidFill>
          <a:ln>
            <a:noFill/>
          </a:ln>
          <a:effectLst>
            <a:outerShdw blurRad="76200" dist="19050" dir="5400000" algn="ctr" rotWithShape="0">
              <a:srgbClr val="2C2C2C">
                <a:alpha val="4500"/>
              </a:srgbClr>
            </a:outerShdw>
          </a:effectLst>
        </p:spPr>
      </p:sp>
      <p:sp>
        <p:nvSpPr>
          <p:cNvPr id="34" name="Rectangle 34"/>
          <p:cNvSpPr/>
          <p:nvPr/>
        </p:nvSpPr>
        <p:spPr>
          <a:xfrm>
            <a:off x="7429500" y="2286000"/>
            <a:ext cx="2286000" cy="1238250"/>
          </a:xfrm>
          <a:prstGeom prst="roundRect">
            <a:avLst>
              <a:gd name="adj" fmla="val 10769"/>
            </a:avLst>
          </a:prstGeom>
          <a:noFill/>
          <a:ln w="9525">
            <a:solidFill>
              <a:srgbClr val="E8E3DC"/>
            </a:solidFill>
          </a:ln>
        </p:spPr>
      </p:sp>
      <p:sp>
        <p:nvSpPr>
          <p:cNvPr id="35" name="Rectangle 35"/>
          <p:cNvSpPr/>
          <p:nvPr/>
        </p:nvSpPr>
        <p:spPr>
          <a:xfrm>
            <a:off x="7429500" y="2286000"/>
            <a:ext cx="2286000" cy="38100"/>
          </a:xfrm>
          <a:prstGeom prst="roundRect">
            <a:avLst>
              <a:gd name="adj" fmla="val 50000"/>
            </a:avLst>
          </a:prstGeom>
          <a:solidFill>
            <a:srgbClr val="1A5276"/>
          </a:solidFill>
          <a:ln>
            <a:noFill/>
          </a:ln>
        </p:spPr>
      </p:sp>
      <p:sp>
        <p:nvSpPr>
          <p:cNvPr id="36" name="TextBox 36"/>
          <p:cNvSpPr txBox="1"/>
          <p:nvPr/>
        </p:nvSpPr>
        <p:spPr>
          <a:xfrm>
            <a:off x="7602855" y="2426018"/>
            <a:ext cx="601361"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a:ea typeface="Microsoft YaHei"/>
                <a:cs typeface="Arial"/>
              </a:rPr>
              <a:t>第二段</a:t>
            </a:r>
          </a:p>
        </p:txBody>
      </p:sp>
      <p:sp>
        <p:nvSpPr>
          <p:cNvPr id="37" name="TextBox 37"/>
          <p:cNvSpPr txBox="1"/>
          <p:nvPr/>
        </p:nvSpPr>
        <p:spPr>
          <a:xfrm>
            <a:off x="7606665" y="2696528"/>
            <a:ext cx="621744"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7下 - 8中</a:t>
            </a:r>
          </a:p>
        </p:txBody>
      </p:sp>
      <p:sp>
        <p:nvSpPr>
          <p:cNvPr id="38" name="Rectangle 38"/>
          <p:cNvSpPr/>
          <p:nvPr/>
        </p:nvSpPr>
        <p:spPr>
          <a:xfrm>
            <a:off x="7620000" y="2952750"/>
            <a:ext cx="1905000" cy="9525"/>
          </a:xfrm>
          <a:prstGeom prst="rect">
            <a:avLst/>
          </a:prstGeom>
          <a:solidFill>
            <a:srgbClr val="E8E3DC"/>
          </a:solidFill>
          <a:ln>
            <a:noFill/>
          </a:ln>
        </p:spPr>
      </p:sp>
      <p:sp>
        <p:nvSpPr>
          <p:cNvPr id="39" name="TextBox 39"/>
          <p:cNvSpPr txBox="1"/>
          <p:nvPr/>
        </p:nvSpPr>
        <p:spPr>
          <a:xfrm>
            <a:off x="7605712" y="3040856"/>
            <a:ext cx="6286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复制验证</a:t>
            </a:r>
          </a:p>
        </p:txBody>
      </p:sp>
      <p:sp>
        <p:nvSpPr>
          <p:cNvPr id="40" name="TextBox 40"/>
          <p:cNvSpPr txBox="1"/>
          <p:nvPr/>
        </p:nvSpPr>
        <p:spPr>
          <a:xfrm>
            <a:off x="7606665" y="3268028"/>
            <a:ext cx="1146810"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推广者可独立复制</a:t>
            </a:r>
          </a:p>
        </p:txBody>
      </p:sp>
      <p:sp>
        <p:nvSpPr>
          <p:cNvPr id="41" name="Rectangle 41"/>
          <p:cNvSpPr/>
          <p:nvPr/>
        </p:nvSpPr>
        <p:spPr>
          <a:xfrm>
            <a:off x="9810750" y="1866900"/>
            <a:ext cx="1562100" cy="114300"/>
          </a:xfrm>
          <a:prstGeom prst="roundRect">
            <a:avLst>
              <a:gd name="adj" fmla="val 50000"/>
            </a:avLst>
          </a:prstGeom>
          <a:solidFill>
            <a:srgbClr val="E8E3DC"/>
          </a:solidFill>
          <a:ln>
            <a:noFill/>
          </a:ln>
        </p:spPr>
      </p:sp>
      <p:sp>
        <p:nvSpPr>
          <p:cNvPr id="42" name="TextBox 42"/>
          <p:cNvSpPr txBox="1"/>
          <p:nvPr/>
        </p:nvSpPr>
        <p:spPr>
          <a:xfrm>
            <a:off x="10547366" y="1864995"/>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Segoe UI"/>
                <a:ea typeface="Microsoft YaHei"/>
                <a:cs typeface="Segoe UI"/>
              </a:rPr>
              <a:t>▶</a:t>
            </a:r>
          </a:p>
        </p:txBody>
      </p:sp>
      <p:sp>
        <p:nvSpPr>
          <p:cNvPr id="43" name="Ellipse 43"/>
          <p:cNvSpPr/>
          <p:nvPr/>
        </p:nvSpPr>
        <p:spPr>
          <a:xfrm>
            <a:off x="10648950" y="1714500"/>
            <a:ext cx="419100" cy="419100"/>
          </a:xfrm>
          <a:prstGeom prst="ellipse">
            <a:avLst/>
          </a:prstGeom>
          <a:solidFill>
            <a:srgbClr val="1E8449"/>
          </a:solidFill>
          <a:ln>
            <a:noFill/>
          </a:ln>
        </p:spPr>
      </p:sp>
      <p:sp>
        <p:nvSpPr>
          <p:cNvPr id="44" name="Ellipse 44"/>
          <p:cNvSpPr/>
          <p:nvPr/>
        </p:nvSpPr>
        <p:spPr>
          <a:xfrm>
            <a:off x="10763250" y="1828800"/>
            <a:ext cx="190500" cy="190500"/>
          </a:xfrm>
          <a:prstGeom prst="ellipse">
            <a:avLst/>
          </a:prstGeom>
          <a:solidFill>
            <a:srgbClr val="FFFFFF"/>
          </a:solidFill>
          <a:ln>
            <a:noFill/>
          </a:ln>
        </p:spPr>
      </p:sp>
      <p:sp>
        <p:nvSpPr>
          <p:cNvPr id="45" name="Rectangle 45"/>
          <p:cNvSpPr/>
          <p:nvPr/>
        </p:nvSpPr>
        <p:spPr>
          <a:xfrm>
            <a:off x="9715500" y="2286000"/>
            <a:ext cx="1905000" cy="857250"/>
          </a:xfrm>
          <a:prstGeom prst="roundRect">
            <a:avLst>
              <a:gd name="adj" fmla="val 15556"/>
            </a:avLst>
          </a:prstGeom>
          <a:solidFill>
            <a:srgbClr val="1E8449">
              <a:alpha val="8000"/>
            </a:srgbClr>
          </a:solidFill>
          <a:ln>
            <a:noFill/>
          </a:ln>
        </p:spPr>
      </p:sp>
      <p:sp>
        <p:nvSpPr>
          <p:cNvPr id="46" name="Rectangle 46"/>
          <p:cNvSpPr/>
          <p:nvPr/>
        </p:nvSpPr>
        <p:spPr>
          <a:xfrm>
            <a:off x="9715500" y="2286000"/>
            <a:ext cx="1905000" cy="857250"/>
          </a:xfrm>
          <a:prstGeom prst="roundRect">
            <a:avLst>
              <a:gd name="adj" fmla="val 15556"/>
            </a:avLst>
          </a:prstGeom>
          <a:noFill/>
          <a:ln w="9525">
            <a:solidFill>
              <a:srgbClr val="1E8449"/>
            </a:solidFill>
            <a:prstDash val="dash"/>
          </a:ln>
        </p:spPr>
      </p:sp>
      <p:sp>
        <p:nvSpPr>
          <p:cNvPr id="47" name="Rectangle 47"/>
          <p:cNvSpPr/>
          <p:nvPr/>
        </p:nvSpPr>
        <p:spPr>
          <a:xfrm>
            <a:off x="9715500" y="2286000"/>
            <a:ext cx="1905000" cy="38100"/>
          </a:xfrm>
          <a:prstGeom prst="roundRect">
            <a:avLst>
              <a:gd name="adj" fmla="val 50000"/>
            </a:avLst>
          </a:prstGeom>
          <a:solidFill>
            <a:srgbClr val="1E8449"/>
          </a:solidFill>
          <a:ln>
            <a:noFill/>
          </a:ln>
        </p:spPr>
      </p:sp>
      <p:sp>
        <p:nvSpPr>
          <p:cNvPr id="48" name="TextBox 48"/>
          <p:cNvSpPr txBox="1"/>
          <p:nvPr/>
        </p:nvSpPr>
        <p:spPr>
          <a:xfrm>
            <a:off x="9888855" y="2426018"/>
            <a:ext cx="601361" cy="274320"/>
          </a:xfrm>
          <a:prstGeom prst="rect">
            <a:avLst/>
          </a:prstGeom>
          <a:noFill/>
          <a:ln>
            <a:noFill/>
          </a:ln>
        </p:spPr>
        <p:txBody>
          <a:bodyPr wrap="none" lIns="0" tIns="0" rIns="0" bIns="0" anchor="t" anchorCtr="0">
            <a:spAutoFit/>
          </a:bodyPr>
          <a:lstStyle/>
          <a:p>
            <a:pPr algn="l"/>
            <a:r>
              <a:rPr lang="zh-CN" sz="1350" b="1" dirty="0">
                <a:solidFill>
                  <a:srgbClr val="1E8449"/>
                </a:solidFill>
                <a:latin typeface="Arial"/>
                <a:ea typeface="Microsoft YaHei"/>
                <a:cs typeface="Arial"/>
              </a:rPr>
              <a:t>第三段</a:t>
            </a:r>
          </a:p>
        </p:txBody>
      </p:sp>
      <p:sp>
        <p:nvSpPr>
          <p:cNvPr id="49" name="TextBox 49"/>
          <p:cNvSpPr txBox="1"/>
          <p:nvPr/>
        </p:nvSpPr>
        <p:spPr>
          <a:xfrm>
            <a:off x="9892665" y="2696528"/>
            <a:ext cx="726758"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贯穿全周期</a:t>
            </a:r>
          </a:p>
        </p:txBody>
      </p:sp>
      <p:sp>
        <p:nvSpPr>
          <p:cNvPr id="50" name="Rectangle 50"/>
          <p:cNvSpPr/>
          <p:nvPr/>
        </p:nvSpPr>
        <p:spPr>
          <a:xfrm>
            <a:off x="9906000" y="2924175"/>
            <a:ext cx="1524000" cy="9525"/>
          </a:xfrm>
          <a:prstGeom prst="rect">
            <a:avLst/>
          </a:prstGeom>
          <a:solidFill>
            <a:srgbClr val="E8E3DC"/>
          </a:solidFill>
          <a:ln>
            <a:noFill/>
          </a:ln>
        </p:spPr>
      </p:sp>
      <p:sp>
        <p:nvSpPr>
          <p:cNvPr id="51" name="TextBox 51"/>
          <p:cNvSpPr txBox="1"/>
          <p:nvPr/>
        </p:nvSpPr>
        <p:spPr>
          <a:xfrm>
            <a:off x="9892665" y="2972752"/>
            <a:ext cx="866775"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持续对外发声</a:t>
            </a:r>
          </a:p>
        </p:txBody>
      </p:sp>
      <p:sp>
        <p:nvSpPr>
          <p:cNvPr id="52" name="Rectangle 52"/>
          <p:cNvSpPr/>
          <p:nvPr/>
        </p:nvSpPr>
        <p:spPr>
          <a:xfrm>
            <a:off x="762000" y="4000500"/>
            <a:ext cx="5095875" cy="1143000"/>
          </a:xfrm>
          <a:prstGeom prst="roundRect">
            <a:avLst>
              <a:gd name="adj" fmla="val 11667"/>
            </a:avLst>
          </a:prstGeom>
          <a:solidFill>
            <a:srgbClr val="FFFFFF"/>
          </a:solidFill>
          <a:ln>
            <a:noFill/>
          </a:ln>
          <a:effectLst>
            <a:outerShdw blurRad="76200" dist="19050" dir="5400000" algn="ctr" rotWithShape="0">
              <a:srgbClr val="2C2C2C">
                <a:alpha val="4500"/>
              </a:srgbClr>
            </a:outerShdw>
          </a:effectLst>
        </p:spPr>
      </p:sp>
      <p:sp>
        <p:nvSpPr>
          <p:cNvPr id="53" name="Rectangle 53"/>
          <p:cNvSpPr/>
          <p:nvPr/>
        </p:nvSpPr>
        <p:spPr>
          <a:xfrm>
            <a:off x="762000" y="4000500"/>
            <a:ext cx="5095875" cy="1143000"/>
          </a:xfrm>
          <a:prstGeom prst="roundRect">
            <a:avLst>
              <a:gd name="adj" fmla="val 11667"/>
            </a:avLst>
          </a:prstGeom>
          <a:noFill/>
          <a:ln w="9525">
            <a:solidFill>
              <a:srgbClr val="E8E3DC"/>
            </a:solidFill>
          </a:ln>
        </p:spPr>
      </p:sp>
      <p:sp>
        <p:nvSpPr>
          <p:cNvPr id="54" name="TextBox 54"/>
          <p:cNvSpPr txBox="1"/>
          <p:nvPr/>
        </p:nvSpPr>
        <p:spPr>
          <a:xfrm>
            <a:off x="1125855" y="4188142"/>
            <a:ext cx="790384"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a:ea typeface="Microsoft YaHei"/>
                <a:cs typeface="Arial"/>
              </a:rPr>
              <a:t>核心原则</a:t>
            </a:r>
          </a:p>
        </p:txBody>
      </p:sp>
      <p:sp>
        <p:nvSpPr>
          <p:cNvPr id="55" name="Rectangle 55"/>
          <p:cNvSpPr/>
          <p:nvPr/>
        </p:nvSpPr>
        <p:spPr>
          <a:xfrm>
            <a:off x="1143000" y="4495800"/>
            <a:ext cx="76200" cy="76200"/>
          </a:xfrm>
          <a:prstGeom prst="roundRect">
            <a:avLst>
              <a:gd name="adj" fmla="val 25000"/>
            </a:avLst>
          </a:prstGeom>
          <a:solidFill>
            <a:srgbClr val="C0392B"/>
          </a:solidFill>
          <a:ln>
            <a:noFill/>
          </a:ln>
        </p:spPr>
      </p:sp>
      <p:sp>
        <p:nvSpPr>
          <p:cNvPr id="56" name="TextBox 56"/>
          <p:cNvSpPr txBox="1"/>
          <p:nvPr/>
        </p:nvSpPr>
        <p:spPr>
          <a:xfrm>
            <a:off x="1318260" y="4451985"/>
            <a:ext cx="2518791"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第〇段是前提：信息不全=决策靠蒙</a:t>
            </a:r>
          </a:p>
        </p:txBody>
      </p:sp>
      <p:sp>
        <p:nvSpPr>
          <p:cNvPr id="57" name="Rectangle 57"/>
          <p:cNvSpPr/>
          <p:nvPr/>
        </p:nvSpPr>
        <p:spPr>
          <a:xfrm>
            <a:off x="1143000" y="4724400"/>
            <a:ext cx="76200" cy="76200"/>
          </a:xfrm>
          <a:prstGeom prst="roundRect">
            <a:avLst>
              <a:gd name="adj" fmla="val 25000"/>
            </a:avLst>
          </a:prstGeom>
          <a:solidFill>
            <a:srgbClr val="E67E22"/>
          </a:solidFill>
          <a:ln>
            <a:noFill/>
          </a:ln>
        </p:spPr>
      </p:sp>
      <p:sp>
        <p:nvSpPr>
          <p:cNvPr id="58" name="TextBox 58"/>
          <p:cNvSpPr txBox="1"/>
          <p:nvPr/>
        </p:nvSpPr>
        <p:spPr>
          <a:xfrm>
            <a:off x="1318260" y="4680585"/>
            <a:ext cx="3638931"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第一段是生死线：跨店交易跑不通=商业模式不成立</a:t>
            </a:r>
          </a:p>
        </p:txBody>
      </p:sp>
      <p:sp>
        <p:nvSpPr>
          <p:cNvPr id="59" name="Rectangle 59"/>
          <p:cNvSpPr/>
          <p:nvPr/>
        </p:nvSpPr>
        <p:spPr>
          <a:xfrm>
            <a:off x="1143000" y="4953000"/>
            <a:ext cx="76200" cy="76200"/>
          </a:xfrm>
          <a:prstGeom prst="roundRect">
            <a:avLst>
              <a:gd name="adj" fmla="val 25000"/>
            </a:avLst>
          </a:prstGeom>
          <a:solidFill>
            <a:srgbClr val="1A5276"/>
          </a:solidFill>
          <a:ln>
            <a:noFill/>
          </a:ln>
        </p:spPr>
      </p:sp>
      <p:sp>
        <p:nvSpPr>
          <p:cNvPr id="60" name="TextBox 60"/>
          <p:cNvSpPr txBox="1"/>
          <p:nvPr/>
        </p:nvSpPr>
        <p:spPr>
          <a:xfrm>
            <a:off x="1318260" y="4909185"/>
            <a:ext cx="339090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三段可并行但不可跳过：每段有独立的退出标准</a:t>
            </a:r>
          </a:p>
        </p:txBody>
      </p:sp>
      <p:sp>
        <p:nvSpPr>
          <p:cNvPr id="61" name="Rectangle 61"/>
          <p:cNvSpPr/>
          <p:nvPr/>
        </p:nvSpPr>
        <p:spPr>
          <a:xfrm>
            <a:off x="6143625" y="4000500"/>
            <a:ext cx="5476875" cy="1143000"/>
          </a:xfrm>
          <a:prstGeom prst="roundRect">
            <a:avLst>
              <a:gd name="adj" fmla="val 11667"/>
            </a:avLst>
          </a:prstGeom>
          <a:solidFill>
            <a:srgbClr val="FFFFFF"/>
          </a:solidFill>
          <a:ln>
            <a:noFill/>
          </a:ln>
          <a:effectLst>
            <a:outerShdw blurRad="76200" dist="19050" dir="5400000" algn="ctr" rotWithShape="0">
              <a:srgbClr val="2C2C2C">
                <a:alpha val="4500"/>
              </a:srgbClr>
            </a:outerShdw>
          </a:effectLst>
        </p:spPr>
      </p:sp>
      <p:sp>
        <p:nvSpPr>
          <p:cNvPr id="62" name="Rectangle 62"/>
          <p:cNvSpPr/>
          <p:nvPr/>
        </p:nvSpPr>
        <p:spPr>
          <a:xfrm>
            <a:off x="6143625" y="4000500"/>
            <a:ext cx="5476875" cy="1143000"/>
          </a:xfrm>
          <a:prstGeom prst="roundRect">
            <a:avLst>
              <a:gd name="adj" fmla="val 11667"/>
            </a:avLst>
          </a:prstGeom>
          <a:noFill/>
          <a:ln w="9525">
            <a:solidFill>
              <a:srgbClr val="E8E3DC"/>
            </a:solidFill>
          </a:ln>
        </p:spPr>
      </p:sp>
      <p:sp>
        <p:nvSpPr>
          <p:cNvPr id="63" name="TextBox 63"/>
          <p:cNvSpPr txBox="1"/>
          <p:nvPr/>
        </p:nvSpPr>
        <p:spPr>
          <a:xfrm>
            <a:off x="6507480" y="4188142"/>
            <a:ext cx="979408" cy="274320"/>
          </a:xfrm>
          <a:prstGeom prst="rect">
            <a:avLst/>
          </a:prstGeom>
          <a:noFill/>
          <a:ln>
            <a:noFill/>
          </a:ln>
        </p:spPr>
        <p:txBody>
          <a:bodyPr wrap="none" lIns="0" tIns="0" rIns="0" bIns="0" anchor="t" anchorCtr="0">
            <a:spAutoFit/>
          </a:bodyPr>
          <a:lstStyle/>
          <a:p>
            <a:pPr algn="l"/>
            <a:r>
              <a:rPr lang="zh-CN" sz="1350" b="1" dirty="0">
                <a:solidFill>
                  <a:srgbClr val="D4A574"/>
                </a:solidFill>
                <a:latin typeface="Arial"/>
                <a:ea typeface="Microsoft YaHei"/>
                <a:cs typeface="Arial"/>
              </a:rPr>
              <a:t>参考方法论</a:t>
            </a:r>
          </a:p>
        </p:txBody>
      </p:sp>
      <p:sp>
        <p:nvSpPr>
          <p:cNvPr id="64" name="Rectangle 64"/>
          <p:cNvSpPr/>
          <p:nvPr/>
        </p:nvSpPr>
        <p:spPr>
          <a:xfrm>
            <a:off x="6524625" y="4495800"/>
            <a:ext cx="4953000" cy="266700"/>
          </a:xfrm>
          <a:prstGeom prst="roundRect">
            <a:avLst>
              <a:gd name="adj" fmla="val 21429"/>
            </a:avLst>
          </a:prstGeom>
          <a:solidFill>
            <a:srgbClr val="F5F0EA"/>
          </a:solidFill>
          <a:ln>
            <a:noFill/>
          </a:ln>
        </p:spPr>
      </p:sp>
      <p:sp>
        <p:nvSpPr>
          <p:cNvPr id="65" name="TextBox 65"/>
          <p:cNvSpPr txBox="1"/>
          <p:nvPr/>
        </p:nvSpPr>
        <p:spPr>
          <a:xfrm>
            <a:off x="6653212" y="4555331"/>
            <a:ext cx="394406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华为：「先开一枪，再开一炮」——先验证单点，再放大投入</a:t>
            </a:r>
          </a:p>
        </p:txBody>
      </p:sp>
      <p:sp>
        <p:nvSpPr>
          <p:cNvPr id="66" name="Rectangle 66"/>
          <p:cNvSpPr/>
          <p:nvPr/>
        </p:nvSpPr>
        <p:spPr>
          <a:xfrm>
            <a:off x="6524625" y="4838700"/>
            <a:ext cx="4953000" cy="266700"/>
          </a:xfrm>
          <a:prstGeom prst="roundRect">
            <a:avLst>
              <a:gd name="adj" fmla="val 21429"/>
            </a:avLst>
          </a:prstGeom>
          <a:solidFill>
            <a:srgbClr val="F5F0EA"/>
          </a:solidFill>
          <a:ln>
            <a:noFill/>
          </a:ln>
        </p:spPr>
      </p:sp>
      <p:sp>
        <p:nvSpPr>
          <p:cNvPr id="67" name="TextBox 67"/>
          <p:cNvSpPr txBox="1"/>
          <p:nvPr/>
        </p:nvSpPr>
        <p:spPr>
          <a:xfrm>
            <a:off x="6653212" y="4898231"/>
            <a:ext cx="3794046"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美团千团大战：「先活一个城市」——单城模型不通不扩城</a:t>
            </a:r>
          </a:p>
        </p:txBody>
      </p:sp>
      <p:sp>
        <p:nvSpPr>
          <p:cNvPr id="68" name="Rectangle 68"/>
          <p:cNvSpPr/>
          <p:nvPr/>
        </p:nvSpPr>
        <p:spPr>
          <a:xfrm>
            <a:off x="6524625" y="5181600"/>
            <a:ext cx="4953000" cy="266700"/>
          </a:xfrm>
          <a:prstGeom prst="roundRect">
            <a:avLst>
              <a:gd name="adj" fmla="val 21429"/>
            </a:avLst>
          </a:prstGeom>
          <a:solidFill>
            <a:srgbClr val="F5F0EA"/>
          </a:solidFill>
          <a:ln>
            <a:noFill/>
          </a:ln>
        </p:spPr>
      </p:sp>
      <p:sp>
        <p:nvSpPr>
          <p:cNvPr id="69" name="TextBox 69"/>
          <p:cNvSpPr txBox="1"/>
          <p:nvPr/>
        </p:nvSpPr>
        <p:spPr>
          <a:xfrm>
            <a:off x="6653212" y="5241131"/>
            <a:ext cx="452163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Amazon Type 1/2决策：不可逆决策需信息充分，可逆决策快速行动</a:t>
            </a:r>
          </a:p>
        </p:txBody>
      </p:sp>
      <p:sp>
        <p:nvSpPr>
          <p:cNvPr id="70" name="Rectangle 70"/>
          <p:cNvSpPr/>
          <p:nvPr/>
        </p:nvSpPr>
        <p:spPr>
          <a:xfrm>
            <a:off x="762000" y="5429250"/>
            <a:ext cx="10668000" cy="571500"/>
          </a:xfrm>
          <a:prstGeom prst="roundRect">
            <a:avLst>
              <a:gd name="adj" fmla="val 23333"/>
            </a:avLst>
          </a:prstGeom>
          <a:solidFill>
            <a:srgbClr val="F0EDE8"/>
          </a:solidFill>
          <a:ln>
            <a:noFill/>
          </a:ln>
        </p:spPr>
      </p:sp>
      <p:sp>
        <p:nvSpPr>
          <p:cNvPr id="71" name="Rectangle 71"/>
          <p:cNvSpPr/>
          <p:nvPr/>
        </p:nvSpPr>
        <p:spPr>
          <a:xfrm>
            <a:off x="762000" y="5429250"/>
            <a:ext cx="10668000" cy="571500"/>
          </a:xfrm>
          <a:prstGeom prst="roundRect">
            <a:avLst>
              <a:gd name="adj" fmla="val 23333"/>
            </a:avLst>
          </a:prstGeom>
          <a:noFill/>
          <a:ln w="9525">
            <a:solidFill>
              <a:srgbClr val="E8E3DC"/>
            </a:solidFill>
          </a:ln>
        </p:spPr>
      </p:sp>
      <p:sp>
        <p:nvSpPr>
          <p:cNvPr id="72" name="TextBox 72"/>
          <p:cNvSpPr txBox="1"/>
          <p:nvPr/>
        </p:nvSpPr>
        <p:spPr>
          <a:xfrm>
            <a:off x="3315105" y="5534025"/>
            <a:ext cx="5561790" cy="304800"/>
          </a:xfrm>
          <a:prstGeom prst="rect">
            <a:avLst/>
          </a:prstGeom>
          <a:noFill/>
          <a:ln>
            <a:noFill/>
          </a:ln>
        </p:spPr>
        <p:txBody>
          <a:bodyPr wrap="none" lIns="0" tIns="0" rIns="0" bIns="0" anchor="t" anchorCtr="0">
            <a:spAutoFit/>
          </a:bodyPr>
          <a:lstStyle/>
          <a:p>
            <a:pPr algn="ctr"/>
            <a:r>
              <a:rPr lang="zh-CN" sz="1500" b="1" dirty="0">
                <a:solidFill>
                  <a:srgbClr val="1A5276"/>
                </a:solidFill>
                <a:latin typeface="Georgia"/>
                <a:ea typeface="KaiTi"/>
                <a:cs typeface="Georgia"/>
              </a:rPr>
              <a:t>枪（验证飞轮） → 炮（复制验证） → 弹药量（品类传教士）</a:t>
            </a:r>
          </a:p>
        </p:txBody>
      </p:sp>
      <p:sp>
        <p:nvSpPr>
          <p:cNvPr id="73" name="TextBox 73"/>
          <p:cNvSpPr txBox="1"/>
          <p:nvPr/>
        </p:nvSpPr>
        <p:spPr>
          <a:xfrm>
            <a:off x="4581525" y="5784056"/>
            <a:ext cx="3028950"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每段成功才进入下一段；第〇段是枪的瞄准镜</a:t>
            </a:r>
          </a:p>
        </p:txBody>
      </p:sp>
      <p:sp>
        <p:nvSpPr>
          <p:cNvPr id="74" name="TextBox 74"/>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35</a:t>
            </a:r>
          </a:p>
        </p:txBody>
      </p:sp>
      <p:sp>
        <p:nvSpPr>
          <p:cNvPr id="75" name="TextBox 75"/>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27710" y="375285"/>
            <a:ext cx="6552090"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预算顺序 &gt; 预算金额：公测期三步预算</a:t>
            </a:r>
          </a:p>
        </p:txBody>
      </p:sp>
      <p:sp>
        <p:nvSpPr>
          <p:cNvPr id="5" name="TextBox 5"/>
          <p:cNvSpPr txBox="1"/>
          <p:nvPr/>
        </p:nvSpPr>
        <p:spPr>
          <a:xfrm>
            <a:off x="742950" y="838200"/>
            <a:ext cx="8859202"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先验证飞轮，后优化产品——同样的预算，投千面千店升级得到「更漂亮」，投试点社区得到「真相」</a:t>
            </a:r>
          </a:p>
        </p:txBody>
      </p:sp>
      <p:sp>
        <p:nvSpPr>
          <p:cNvPr id="6" name="Rectangle 6"/>
          <p:cNvSpPr/>
          <p:nvPr/>
        </p:nvSpPr>
        <p:spPr>
          <a:xfrm>
            <a:off x="571500" y="1333500"/>
            <a:ext cx="4095750" cy="4857750"/>
          </a:xfrm>
          <a:prstGeom prst="roundRect">
            <a:avLst>
              <a:gd name="adj" fmla="val 3256"/>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333500"/>
            <a:ext cx="4095750" cy="4857750"/>
          </a:xfrm>
          <a:prstGeom prst="roundRect">
            <a:avLst>
              <a:gd name="adj" fmla="val 3256"/>
            </a:avLst>
          </a:prstGeom>
          <a:noFill/>
          <a:ln w="9525">
            <a:solidFill>
              <a:srgbClr val="E8E3DC"/>
            </a:solidFill>
          </a:ln>
        </p:spPr>
      </p:sp>
      <p:sp>
        <p:nvSpPr>
          <p:cNvPr id="8" name="TextBox 8"/>
          <p:cNvSpPr txBox="1"/>
          <p:nvPr/>
        </p:nvSpPr>
        <p:spPr>
          <a:xfrm>
            <a:off x="1865233" y="1533525"/>
            <a:ext cx="1508284" cy="304800"/>
          </a:xfrm>
          <a:prstGeom prst="rect">
            <a:avLst/>
          </a:prstGeom>
          <a:noFill/>
          <a:ln>
            <a:noFill/>
          </a:ln>
        </p:spPr>
        <p:txBody>
          <a:bodyPr wrap="none" lIns="0" tIns="0" rIns="0" bIns="0" anchor="t" anchorCtr="0">
            <a:spAutoFit/>
          </a:bodyPr>
          <a:lstStyle/>
          <a:p>
            <a:pPr algn="ctr"/>
            <a:r>
              <a:rPr lang="zh-CN" sz="1500" b="1" dirty="0">
                <a:solidFill>
                  <a:srgbClr val="2C2C2C"/>
                </a:solidFill>
                <a:latin typeface="Arial"/>
                <a:ea typeface="Microsoft YaHei"/>
                <a:cs typeface="Arial"/>
              </a:rPr>
              <a:t>公测期预算分配</a:t>
            </a:r>
          </a:p>
        </p:txBody>
      </p:sp>
      <p:sp>
        <p:nvSpPr>
          <p:cNvPr id="9" name="Arc 9"/>
          <p:cNvSpPr/>
          <p:nvPr/>
        </p:nvSpPr>
        <p:spPr>
          <a:xfrm>
            <a:off x="1309688" y="2691345"/>
            <a:ext cx="2079454" cy="1309183"/>
          </a:xfrm>
          <a:custGeom>
            <a:avLst/>
            <a:gdLst/>
            <a:ahLst/>
            <a:cxnLst/>
            <a:rect l="l" t="t" r="r" b="b"/>
            <a:pathLst>
              <a:path w="2079454" h="1309183">
                <a:moveTo>
                  <a:pt x="0" y="1309183"/>
                </a:moveTo>
                <a:lnTo>
                  <a:pt x="6535" y="1178487"/>
                </a:lnTo>
                <a:lnTo>
                  <a:pt x="26079" y="1049094"/>
                </a:lnTo>
                <a:lnTo>
                  <a:pt x="58439" y="922298"/>
                </a:lnTo>
                <a:lnTo>
                  <a:pt x="103290" y="799364"/>
                </a:lnTo>
                <a:lnTo>
                  <a:pt x="160185" y="681520"/>
                </a:lnTo>
                <a:lnTo>
                  <a:pt x="228556" y="569941"/>
                </a:lnTo>
                <a:lnTo>
                  <a:pt x="307721" y="465743"/>
                </a:lnTo>
                <a:lnTo>
                  <a:pt x="396888" y="369964"/>
                </a:lnTo>
                <a:lnTo>
                  <a:pt x="495169" y="283562"/>
                </a:lnTo>
                <a:lnTo>
                  <a:pt x="601581" y="207399"/>
                </a:lnTo>
                <a:lnTo>
                  <a:pt x="715062" y="142235"/>
                </a:lnTo>
                <a:lnTo>
                  <a:pt x="834480" y="88721"/>
                </a:lnTo>
                <a:lnTo>
                  <a:pt x="958642" y="47391"/>
                </a:lnTo>
                <a:lnTo>
                  <a:pt x="1086309" y="18658"/>
                </a:lnTo>
                <a:lnTo>
                  <a:pt x="1216206" y="2808"/>
                </a:lnTo>
                <a:lnTo>
                  <a:pt x="1347036" y="0"/>
                </a:lnTo>
                <a:lnTo>
                  <a:pt x="1477493" y="10262"/>
                </a:lnTo>
                <a:lnTo>
                  <a:pt x="1606275" y="33491"/>
                </a:lnTo>
                <a:lnTo>
                  <a:pt x="1732096" y="69456"/>
                </a:lnTo>
                <a:lnTo>
                  <a:pt x="1853699" y="117797"/>
                </a:lnTo>
                <a:lnTo>
                  <a:pt x="1969872" y="178033"/>
                </a:lnTo>
                <a:lnTo>
                  <a:pt x="2079454" y="249560"/>
                </a:lnTo>
                <a:lnTo>
                  <a:pt x="1771547" y="673398"/>
                </a:lnTo>
                <a:lnTo>
                  <a:pt x="1705798" y="630481"/>
                </a:lnTo>
                <a:lnTo>
                  <a:pt x="1636095" y="594340"/>
                </a:lnTo>
                <a:lnTo>
                  <a:pt x="1563132" y="565336"/>
                </a:lnTo>
                <a:lnTo>
                  <a:pt x="1487640" y="543757"/>
                </a:lnTo>
                <a:lnTo>
                  <a:pt x="1410371" y="529819"/>
                </a:lnTo>
                <a:lnTo>
                  <a:pt x="1332096" y="523662"/>
                </a:lnTo>
                <a:lnTo>
                  <a:pt x="1253598" y="525347"/>
                </a:lnTo>
                <a:lnTo>
                  <a:pt x="1175660" y="534856"/>
                </a:lnTo>
                <a:lnTo>
                  <a:pt x="1099060" y="552096"/>
                </a:lnTo>
                <a:lnTo>
                  <a:pt x="1024563" y="576894"/>
                </a:lnTo>
                <a:lnTo>
                  <a:pt x="952912" y="609003"/>
                </a:lnTo>
                <a:lnTo>
                  <a:pt x="884824" y="648101"/>
                </a:lnTo>
                <a:lnTo>
                  <a:pt x="820976" y="693799"/>
                </a:lnTo>
                <a:lnTo>
                  <a:pt x="762008" y="745640"/>
                </a:lnTo>
                <a:lnTo>
                  <a:pt x="708507" y="803108"/>
                </a:lnTo>
                <a:lnTo>
                  <a:pt x="661009" y="865627"/>
                </a:lnTo>
                <a:lnTo>
                  <a:pt x="619986" y="932574"/>
                </a:lnTo>
                <a:lnTo>
                  <a:pt x="585849" y="1003281"/>
                </a:lnTo>
                <a:lnTo>
                  <a:pt x="558938" y="1077041"/>
                </a:lnTo>
                <a:lnTo>
                  <a:pt x="539523" y="1153119"/>
                </a:lnTo>
                <a:lnTo>
                  <a:pt x="527796" y="1230754"/>
                </a:lnTo>
                <a:lnTo>
                  <a:pt x="523875" y="1309172"/>
                </a:lnTo>
                <a:close/>
              </a:path>
            </a:pathLst>
          </a:custGeom>
          <a:solidFill>
            <a:srgbClr val="1A5276"/>
          </a:solidFill>
          <a:ln>
            <a:noFill/>
          </a:ln>
        </p:spPr>
      </p:sp>
      <p:sp>
        <p:nvSpPr>
          <p:cNvPr id="10" name="Arc 10"/>
          <p:cNvSpPr/>
          <p:nvPr/>
        </p:nvSpPr>
        <p:spPr>
          <a:xfrm>
            <a:off x="2619409" y="2940908"/>
            <a:ext cx="1308720" cy="2369280"/>
          </a:xfrm>
          <a:custGeom>
            <a:avLst/>
            <a:gdLst/>
            <a:ahLst/>
            <a:cxnLst/>
            <a:rect l="l" t="t" r="r" b="b"/>
            <a:pathLst>
              <a:path w="1308720" h="2369280">
                <a:moveTo>
                  <a:pt x="769736" y="0"/>
                </a:moveTo>
                <a:lnTo>
                  <a:pt x="872192" y="82605"/>
                </a:lnTo>
                <a:lnTo>
                  <a:pt x="965840" y="175076"/>
                </a:lnTo>
                <a:lnTo>
                  <a:pt x="1049735" y="276479"/>
                </a:lnTo>
                <a:lnTo>
                  <a:pt x="1123029" y="385789"/>
                </a:lnTo>
                <a:lnTo>
                  <a:pt x="1184983" y="501904"/>
                </a:lnTo>
                <a:lnTo>
                  <a:pt x="1234970" y="623650"/>
                </a:lnTo>
                <a:lnTo>
                  <a:pt x="1272486" y="749798"/>
                </a:lnTo>
                <a:lnTo>
                  <a:pt x="1297153" y="879074"/>
                </a:lnTo>
                <a:lnTo>
                  <a:pt x="1308720" y="1010174"/>
                </a:lnTo>
                <a:lnTo>
                  <a:pt x="1307072" y="1141772"/>
                </a:lnTo>
                <a:lnTo>
                  <a:pt x="1292225" y="1272540"/>
                </a:lnTo>
                <a:lnTo>
                  <a:pt x="1264329" y="1401159"/>
                </a:lnTo>
                <a:lnTo>
                  <a:pt x="1223665" y="1526328"/>
                </a:lnTo>
                <a:lnTo>
                  <a:pt x="1170644" y="1646783"/>
                </a:lnTo>
                <a:lnTo>
                  <a:pt x="1105802" y="1761310"/>
                </a:lnTo>
                <a:lnTo>
                  <a:pt x="1029793" y="1868751"/>
                </a:lnTo>
                <a:lnTo>
                  <a:pt x="943385" y="1968020"/>
                </a:lnTo>
                <a:lnTo>
                  <a:pt x="847450" y="2058117"/>
                </a:lnTo>
                <a:lnTo>
                  <a:pt x="742957" y="2138130"/>
                </a:lnTo>
                <a:lnTo>
                  <a:pt x="630962" y="2207253"/>
                </a:lnTo>
                <a:lnTo>
                  <a:pt x="512595" y="2264786"/>
                </a:lnTo>
                <a:lnTo>
                  <a:pt x="389052" y="2310149"/>
                </a:lnTo>
                <a:lnTo>
                  <a:pt x="261579" y="2342885"/>
                </a:lnTo>
                <a:lnTo>
                  <a:pt x="131465" y="2362661"/>
                </a:lnTo>
                <a:lnTo>
                  <a:pt x="23" y="2369280"/>
                </a:lnTo>
                <a:lnTo>
                  <a:pt x="0" y="1845405"/>
                </a:lnTo>
                <a:lnTo>
                  <a:pt x="78865" y="1841434"/>
                </a:lnTo>
                <a:lnTo>
                  <a:pt x="156934" y="1829568"/>
                </a:lnTo>
                <a:lnTo>
                  <a:pt x="233417" y="1809926"/>
                </a:lnTo>
                <a:lnTo>
                  <a:pt x="307543" y="1782708"/>
                </a:lnTo>
                <a:lnTo>
                  <a:pt x="378564" y="1748188"/>
                </a:lnTo>
                <a:lnTo>
                  <a:pt x="445761" y="1706715"/>
                </a:lnTo>
                <a:lnTo>
                  <a:pt x="508456" y="1658707"/>
                </a:lnTo>
                <a:lnTo>
                  <a:pt x="566017" y="1604649"/>
                </a:lnTo>
                <a:lnTo>
                  <a:pt x="617862" y="1545087"/>
                </a:lnTo>
                <a:lnTo>
                  <a:pt x="663467" y="1480623"/>
                </a:lnTo>
                <a:lnTo>
                  <a:pt x="702373" y="1411907"/>
                </a:lnTo>
                <a:lnTo>
                  <a:pt x="734185" y="1339633"/>
                </a:lnTo>
                <a:lnTo>
                  <a:pt x="758583" y="1264532"/>
                </a:lnTo>
                <a:lnTo>
                  <a:pt x="775321" y="1187361"/>
                </a:lnTo>
                <a:lnTo>
                  <a:pt x="784230" y="1108900"/>
                </a:lnTo>
                <a:lnTo>
                  <a:pt x="785219" y="1029941"/>
                </a:lnTo>
                <a:lnTo>
                  <a:pt x="778278" y="951281"/>
                </a:lnTo>
                <a:lnTo>
                  <a:pt x="763478" y="873716"/>
                </a:lnTo>
                <a:lnTo>
                  <a:pt x="740968" y="798027"/>
                </a:lnTo>
                <a:lnTo>
                  <a:pt x="710976" y="724979"/>
                </a:lnTo>
                <a:lnTo>
                  <a:pt x="673804" y="655310"/>
                </a:lnTo>
                <a:lnTo>
                  <a:pt x="629827" y="589724"/>
                </a:lnTo>
                <a:lnTo>
                  <a:pt x="579490" y="528882"/>
                </a:lnTo>
                <a:lnTo>
                  <a:pt x="523301" y="473400"/>
                </a:lnTo>
                <a:lnTo>
                  <a:pt x="461828" y="423837"/>
                </a:lnTo>
                <a:close/>
              </a:path>
            </a:pathLst>
          </a:custGeom>
          <a:solidFill>
            <a:srgbClr val="E67E22"/>
          </a:solidFill>
          <a:ln>
            <a:noFill/>
          </a:ln>
        </p:spPr>
      </p:sp>
      <p:sp>
        <p:nvSpPr>
          <p:cNvPr id="11" name="Arc 11"/>
          <p:cNvSpPr/>
          <p:nvPr/>
        </p:nvSpPr>
        <p:spPr>
          <a:xfrm>
            <a:off x="1309688" y="4000517"/>
            <a:ext cx="1309745" cy="1309670"/>
          </a:xfrm>
          <a:custGeom>
            <a:avLst/>
            <a:gdLst/>
            <a:ahLst/>
            <a:cxnLst/>
            <a:rect l="l" t="t" r="r" b="b"/>
            <a:pathLst>
              <a:path w="1309745" h="1309670">
                <a:moveTo>
                  <a:pt x="1309745" y="1309670"/>
                </a:moveTo>
                <a:lnTo>
                  <a:pt x="1181371" y="1303369"/>
                </a:lnTo>
                <a:lnTo>
                  <a:pt x="1054233" y="1284516"/>
                </a:lnTo>
                <a:lnTo>
                  <a:pt x="929555" y="1253291"/>
                </a:lnTo>
                <a:lnTo>
                  <a:pt x="808538" y="1209995"/>
                </a:lnTo>
                <a:lnTo>
                  <a:pt x="692348" y="1155047"/>
                </a:lnTo>
                <a:lnTo>
                  <a:pt x="582103" y="1088974"/>
                </a:lnTo>
                <a:lnTo>
                  <a:pt x="478865" y="1012413"/>
                </a:lnTo>
                <a:lnTo>
                  <a:pt x="383629" y="926102"/>
                </a:lnTo>
                <a:lnTo>
                  <a:pt x="297311" y="830872"/>
                </a:lnTo>
                <a:lnTo>
                  <a:pt x="220744" y="727639"/>
                </a:lnTo>
                <a:lnTo>
                  <a:pt x="154664" y="617398"/>
                </a:lnTo>
                <a:lnTo>
                  <a:pt x="99708" y="501212"/>
                </a:lnTo>
                <a:lnTo>
                  <a:pt x="56405" y="380198"/>
                </a:lnTo>
                <a:lnTo>
                  <a:pt x="25172" y="255522"/>
                </a:lnTo>
                <a:lnTo>
                  <a:pt x="6309" y="128385"/>
                </a:lnTo>
                <a:lnTo>
                  <a:pt x="0" y="11"/>
                </a:lnTo>
                <a:lnTo>
                  <a:pt x="523875" y="0"/>
                </a:lnTo>
                <a:lnTo>
                  <a:pt x="527661" y="77024"/>
                </a:lnTo>
                <a:lnTo>
                  <a:pt x="538978" y="153306"/>
                </a:lnTo>
                <a:lnTo>
                  <a:pt x="557718" y="228112"/>
                </a:lnTo>
                <a:lnTo>
                  <a:pt x="583700" y="300720"/>
                </a:lnTo>
                <a:lnTo>
                  <a:pt x="616673" y="370432"/>
                </a:lnTo>
                <a:lnTo>
                  <a:pt x="656321" y="436576"/>
                </a:lnTo>
                <a:lnTo>
                  <a:pt x="702262" y="498516"/>
                </a:lnTo>
                <a:lnTo>
                  <a:pt x="754052" y="555654"/>
                </a:lnTo>
                <a:lnTo>
                  <a:pt x="811194" y="607441"/>
                </a:lnTo>
                <a:lnTo>
                  <a:pt x="873137" y="653378"/>
                </a:lnTo>
                <a:lnTo>
                  <a:pt x="939284" y="693021"/>
                </a:lnTo>
                <a:lnTo>
                  <a:pt x="1008998" y="725990"/>
                </a:lnTo>
                <a:lnTo>
                  <a:pt x="1081608" y="751968"/>
                </a:lnTo>
                <a:lnTo>
                  <a:pt x="1156415" y="770702"/>
                </a:lnTo>
                <a:lnTo>
                  <a:pt x="1232698" y="782015"/>
                </a:lnTo>
                <a:lnTo>
                  <a:pt x="1309722" y="785795"/>
                </a:lnTo>
                <a:close/>
              </a:path>
            </a:pathLst>
          </a:custGeom>
          <a:solidFill>
            <a:srgbClr val="D4A574"/>
          </a:solidFill>
          <a:ln>
            <a:noFill/>
          </a:ln>
        </p:spPr>
      </p:sp>
      <p:sp>
        <p:nvSpPr>
          <p:cNvPr id="12" name="Ellipse 12"/>
          <p:cNvSpPr/>
          <p:nvPr/>
        </p:nvSpPr>
        <p:spPr>
          <a:xfrm>
            <a:off x="2095500" y="3476625"/>
            <a:ext cx="1047750" cy="1047750"/>
          </a:xfrm>
          <a:prstGeom prst="ellipse">
            <a:avLst/>
          </a:prstGeom>
          <a:solidFill>
            <a:srgbClr val="FAFAF5"/>
          </a:solidFill>
          <a:ln>
            <a:noFill/>
          </a:ln>
        </p:spPr>
      </p:sp>
      <p:sp>
        <p:nvSpPr>
          <p:cNvPr id="13" name="TextBox 13"/>
          <p:cNvSpPr txBox="1"/>
          <p:nvPr/>
        </p:nvSpPr>
        <p:spPr>
          <a:xfrm>
            <a:off x="2212753" y="3700462"/>
            <a:ext cx="813245" cy="457200"/>
          </a:xfrm>
          <a:prstGeom prst="rect">
            <a:avLst/>
          </a:prstGeom>
          <a:noFill/>
          <a:ln>
            <a:noFill/>
          </a:ln>
        </p:spPr>
        <p:txBody>
          <a:bodyPr wrap="none" lIns="0" tIns="0" rIns="0" bIns="0" anchor="t" anchorCtr="0">
            <a:spAutoFit/>
          </a:bodyPr>
          <a:lstStyle/>
          <a:p>
            <a:pPr algn="ctr"/>
            <a:r>
              <a:rPr lang="zh-CN" sz="2250" b="1" dirty="0">
                <a:solidFill>
                  <a:srgbClr val="2C2C2C"/>
                </a:solidFill>
                <a:latin typeface="Georgia"/>
                <a:ea typeface="KaiTi"/>
                <a:cs typeface="Georgia"/>
              </a:rPr>
              <a:t>100%</a:t>
            </a:r>
          </a:p>
        </p:txBody>
      </p:sp>
      <p:sp>
        <p:nvSpPr>
          <p:cNvPr id="14" name="TextBox 14"/>
          <p:cNvSpPr txBox="1"/>
          <p:nvPr/>
        </p:nvSpPr>
        <p:spPr>
          <a:xfrm>
            <a:off x="2380059" y="4069556"/>
            <a:ext cx="478631"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a:ea typeface="Microsoft YaHei"/>
                <a:cs typeface="Arial"/>
              </a:rPr>
              <a:t>公测期</a:t>
            </a:r>
          </a:p>
        </p:txBody>
      </p:sp>
      <p:sp>
        <p:nvSpPr>
          <p:cNvPr id="15" name="Rectangle 15"/>
          <p:cNvSpPr/>
          <p:nvPr/>
        </p:nvSpPr>
        <p:spPr>
          <a:xfrm>
            <a:off x="952500" y="5143500"/>
            <a:ext cx="133350" cy="133350"/>
          </a:xfrm>
          <a:prstGeom prst="roundRect">
            <a:avLst>
              <a:gd name="adj" fmla="val 21429"/>
            </a:avLst>
          </a:prstGeom>
          <a:solidFill>
            <a:srgbClr val="1A5276"/>
          </a:solidFill>
          <a:ln>
            <a:noFill/>
          </a:ln>
        </p:spPr>
      </p:sp>
      <p:sp>
        <p:nvSpPr>
          <p:cNvPr id="16" name="TextBox 16"/>
          <p:cNvSpPr txBox="1"/>
          <p:nvPr/>
        </p:nvSpPr>
        <p:spPr>
          <a:xfrm>
            <a:off x="1147762" y="5145881"/>
            <a:ext cx="1611273"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P1 支付与跨店验证 35%</a:t>
            </a:r>
          </a:p>
        </p:txBody>
      </p:sp>
      <p:sp>
        <p:nvSpPr>
          <p:cNvPr id="17" name="Rectangle 17"/>
          <p:cNvSpPr/>
          <p:nvPr/>
        </p:nvSpPr>
        <p:spPr>
          <a:xfrm>
            <a:off x="2667000" y="5143500"/>
            <a:ext cx="133350" cy="133350"/>
          </a:xfrm>
          <a:prstGeom prst="roundRect">
            <a:avLst>
              <a:gd name="adj" fmla="val 21429"/>
            </a:avLst>
          </a:prstGeom>
          <a:solidFill>
            <a:srgbClr val="E67E22"/>
          </a:solidFill>
          <a:ln>
            <a:noFill/>
          </a:ln>
        </p:spPr>
      </p:sp>
      <p:sp>
        <p:nvSpPr>
          <p:cNvPr id="18" name="TextBox 18"/>
          <p:cNvSpPr txBox="1"/>
          <p:nvPr/>
        </p:nvSpPr>
        <p:spPr>
          <a:xfrm>
            <a:off x="2862262" y="5145881"/>
            <a:ext cx="116121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P2 试点社区 40%</a:t>
            </a:r>
          </a:p>
        </p:txBody>
      </p:sp>
      <p:sp>
        <p:nvSpPr>
          <p:cNvPr id="19" name="Rectangle 19"/>
          <p:cNvSpPr/>
          <p:nvPr/>
        </p:nvSpPr>
        <p:spPr>
          <a:xfrm>
            <a:off x="952500" y="5429250"/>
            <a:ext cx="133350" cy="133350"/>
          </a:xfrm>
          <a:prstGeom prst="roundRect">
            <a:avLst>
              <a:gd name="adj" fmla="val 21429"/>
            </a:avLst>
          </a:prstGeom>
          <a:solidFill>
            <a:srgbClr val="D4A574"/>
          </a:solidFill>
          <a:ln>
            <a:noFill/>
          </a:ln>
        </p:spPr>
      </p:sp>
      <p:sp>
        <p:nvSpPr>
          <p:cNvPr id="20" name="TextBox 20"/>
          <p:cNvSpPr txBox="1"/>
          <p:nvPr/>
        </p:nvSpPr>
        <p:spPr>
          <a:xfrm>
            <a:off x="1147762" y="5431631"/>
            <a:ext cx="116121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P3 内容体系 25%</a:t>
            </a:r>
          </a:p>
        </p:txBody>
      </p:sp>
      <p:sp>
        <p:nvSpPr>
          <p:cNvPr id="21" name="TextBox 21"/>
          <p:cNvSpPr txBox="1"/>
          <p:nvPr/>
        </p:nvSpPr>
        <p:spPr>
          <a:xfrm>
            <a:off x="1241822" y="5752624"/>
            <a:ext cx="2755106" cy="198120"/>
          </a:xfrm>
          <a:prstGeom prst="rect">
            <a:avLst/>
          </a:prstGeom>
          <a:noFill/>
          <a:ln>
            <a:noFill/>
          </a:ln>
        </p:spPr>
        <p:txBody>
          <a:bodyPr wrap="none" lIns="0" tIns="0" rIns="0" bIns="0" anchor="t" anchorCtr="0">
            <a:spAutoFit/>
          </a:bodyPr>
          <a:lstStyle/>
          <a:p>
            <a:pPr algn="ctr"/>
            <a:r>
              <a:rPr lang="zh-CN" sz="975" dirty="0">
                <a:solidFill>
                  <a:srgbClr val="A0A0A0"/>
                </a:solidFill>
                <a:latin typeface="Arial"/>
                <a:ea typeface="Microsoft YaHei"/>
                <a:cs typeface="Arial"/>
              </a:rPr>
              <a:t>注：具体金额待信息补全后确定，此为比例框架</a:t>
            </a:r>
          </a:p>
        </p:txBody>
      </p:sp>
      <p:sp>
        <p:nvSpPr>
          <p:cNvPr id="22" name="Rectangle 22"/>
          <p:cNvSpPr/>
          <p:nvPr/>
        </p:nvSpPr>
        <p:spPr>
          <a:xfrm>
            <a:off x="4953000" y="1333500"/>
            <a:ext cx="6667500" cy="1000125"/>
          </a:xfrm>
          <a:prstGeom prst="roundRect">
            <a:avLst>
              <a:gd name="adj" fmla="val 13333"/>
            </a:avLst>
          </a:prstGeom>
          <a:solidFill>
            <a:srgbClr val="FFFFFF"/>
          </a:solidFill>
          <a:ln>
            <a:noFill/>
          </a:ln>
          <a:effectLst>
            <a:outerShdw blurRad="76200" dist="19050" dir="5400000" algn="ctr" rotWithShape="0">
              <a:srgbClr val="2C2C2C">
                <a:alpha val="4500"/>
              </a:srgbClr>
            </a:outerShdw>
          </a:effectLst>
        </p:spPr>
      </p:sp>
      <p:sp>
        <p:nvSpPr>
          <p:cNvPr id="23" name="Rectangle 23"/>
          <p:cNvSpPr/>
          <p:nvPr/>
        </p:nvSpPr>
        <p:spPr>
          <a:xfrm>
            <a:off x="4953000" y="1333500"/>
            <a:ext cx="6667500" cy="1000125"/>
          </a:xfrm>
          <a:prstGeom prst="roundRect">
            <a:avLst>
              <a:gd name="adj" fmla="val 13333"/>
            </a:avLst>
          </a:prstGeom>
          <a:noFill/>
          <a:ln w="9525">
            <a:solidFill>
              <a:srgbClr val="E8E3DC"/>
            </a:solidFill>
          </a:ln>
        </p:spPr>
      </p:sp>
      <p:sp>
        <p:nvSpPr>
          <p:cNvPr id="24" name="Rectangle 24"/>
          <p:cNvSpPr/>
          <p:nvPr/>
        </p:nvSpPr>
        <p:spPr>
          <a:xfrm>
            <a:off x="4953000" y="1333500"/>
            <a:ext cx="57150" cy="1000125"/>
          </a:xfrm>
          <a:prstGeom prst="roundRect">
            <a:avLst>
              <a:gd name="adj" fmla="val 50000"/>
            </a:avLst>
          </a:prstGeom>
          <a:solidFill>
            <a:srgbClr val="1A5276"/>
          </a:solidFill>
          <a:ln>
            <a:noFill/>
          </a:ln>
        </p:spPr>
      </p:sp>
      <p:sp>
        <p:nvSpPr>
          <p:cNvPr id="25" name="Rectangle 25"/>
          <p:cNvSpPr/>
          <p:nvPr/>
        </p:nvSpPr>
        <p:spPr>
          <a:xfrm>
            <a:off x="5191125" y="1476375"/>
            <a:ext cx="857250" cy="304800"/>
          </a:xfrm>
          <a:prstGeom prst="roundRect">
            <a:avLst>
              <a:gd name="adj" fmla="val 25000"/>
            </a:avLst>
          </a:prstGeom>
          <a:solidFill>
            <a:srgbClr val="1A5276"/>
          </a:solidFill>
          <a:ln>
            <a:noFill/>
          </a:ln>
        </p:spPr>
      </p:sp>
      <p:sp>
        <p:nvSpPr>
          <p:cNvPr id="26" name="TextBox 26"/>
          <p:cNvSpPr txBox="1"/>
          <p:nvPr/>
        </p:nvSpPr>
        <p:spPr>
          <a:xfrm>
            <a:off x="5282547" y="1564481"/>
            <a:ext cx="67440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P1 · 35%</a:t>
            </a:r>
          </a:p>
        </p:txBody>
      </p:sp>
      <p:sp>
        <p:nvSpPr>
          <p:cNvPr id="27" name="TextBox 27"/>
          <p:cNvSpPr txBox="1"/>
          <p:nvPr/>
        </p:nvSpPr>
        <p:spPr>
          <a:xfrm>
            <a:off x="6173152" y="1446371"/>
            <a:ext cx="1432870" cy="289560"/>
          </a:xfrm>
          <a:prstGeom prst="rect">
            <a:avLst/>
          </a:prstGeom>
          <a:noFill/>
          <a:ln>
            <a:noFill/>
          </a:ln>
        </p:spPr>
        <p:txBody>
          <a:bodyPr wrap="none" lIns="0" tIns="0" rIns="0" bIns="0" anchor="t" anchorCtr="0">
            <a:spAutoFit/>
          </a:bodyPr>
          <a:lstStyle/>
          <a:p>
            <a:pPr algn="l"/>
            <a:r>
              <a:rPr lang="zh-CN" sz="1425" b="1" dirty="0">
                <a:solidFill>
                  <a:srgbClr val="2C2C2C"/>
                </a:solidFill>
                <a:latin typeface="Arial"/>
                <a:ea typeface="Microsoft YaHei"/>
                <a:cs typeface="Arial"/>
              </a:rPr>
              <a:t>支付与跨店验证</a:t>
            </a:r>
          </a:p>
        </p:txBody>
      </p:sp>
      <p:sp>
        <p:nvSpPr>
          <p:cNvPr id="28" name="TextBox 28"/>
          <p:cNvSpPr txBox="1"/>
          <p:nvPr/>
        </p:nvSpPr>
        <p:spPr>
          <a:xfrm>
            <a:off x="6176962" y="1726406"/>
            <a:ext cx="529423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赌一个答案——不管结果如何都要花。跨店清算技术验证是商业模式的前置条件。</a:t>
            </a:r>
          </a:p>
        </p:txBody>
      </p:sp>
      <p:sp>
        <p:nvSpPr>
          <p:cNvPr id="29" name="TextBox 29"/>
          <p:cNvSpPr txBox="1"/>
          <p:nvPr/>
        </p:nvSpPr>
        <p:spPr>
          <a:xfrm>
            <a:off x="6177915" y="1963102"/>
            <a:ext cx="3401092" cy="213360"/>
          </a:xfrm>
          <a:prstGeom prst="rect">
            <a:avLst/>
          </a:prstGeom>
          <a:noFill/>
          <a:ln>
            <a:noFill/>
          </a:ln>
        </p:spPr>
        <p:txBody>
          <a:bodyPr wrap="none" lIns="0" tIns="0" rIns="0" bIns="0" anchor="t" anchorCtr="0">
            <a:spAutoFit/>
          </a:bodyPr>
          <a:lstStyle/>
          <a:p>
            <a:pPr algn="l"/>
            <a:r>
              <a:rPr lang="zh-CN" sz="1050" dirty="0">
                <a:solidFill>
                  <a:srgbClr val="1A5276"/>
                </a:solidFill>
                <a:latin typeface="Arial"/>
                <a:ea typeface="Microsoft YaHei"/>
                <a:cs typeface="Arial"/>
              </a:rPr>
              <a:t>汇付对接 + 测试环境 + 生产环境验证 + 2-3家真实商户</a:t>
            </a:r>
          </a:p>
        </p:txBody>
      </p:sp>
      <p:sp>
        <p:nvSpPr>
          <p:cNvPr id="30" name="Rectangle 30"/>
          <p:cNvSpPr/>
          <p:nvPr/>
        </p:nvSpPr>
        <p:spPr>
          <a:xfrm>
            <a:off x="4953000" y="2476500"/>
            <a:ext cx="6667500" cy="1000125"/>
          </a:xfrm>
          <a:prstGeom prst="roundRect">
            <a:avLst>
              <a:gd name="adj" fmla="val 13333"/>
            </a:avLst>
          </a:prstGeom>
          <a:solidFill>
            <a:srgbClr val="FFFFFF"/>
          </a:solidFill>
          <a:ln>
            <a:noFill/>
          </a:ln>
          <a:effectLst>
            <a:outerShdw blurRad="76200" dist="19050" dir="5400000" algn="ctr" rotWithShape="0">
              <a:srgbClr val="2C2C2C">
                <a:alpha val="4500"/>
              </a:srgbClr>
            </a:outerShdw>
          </a:effectLst>
        </p:spPr>
      </p:sp>
      <p:sp>
        <p:nvSpPr>
          <p:cNvPr id="31" name="Rectangle 31"/>
          <p:cNvSpPr/>
          <p:nvPr/>
        </p:nvSpPr>
        <p:spPr>
          <a:xfrm>
            <a:off x="4953000" y="2476500"/>
            <a:ext cx="6667500" cy="1000125"/>
          </a:xfrm>
          <a:prstGeom prst="roundRect">
            <a:avLst>
              <a:gd name="adj" fmla="val 13333"/>
            </a:avLst>
          </a:prstGeom>
          <a:noFill/>
          <a:ln w="9525">
            <a:solidFill>
              <a:srgbClr val="E8E3DC"/>
            </a:solidFill>
          </a:ln>
        </p:spPr>
      </p:sp>
      <p:sp>
        <p:nvSpPr>
          <p:cNvPr id="32" name="Rectangle 32"/>
          <p:cNvSpPr/>
          <p:nvPr/>
        </p:nvSpPr>
        <p:spPr>
          <a:xfrm>
            <a:off x="4953000" y="2476500"/>
            <a:ext cx="57150" cy="1000125"/>
          </a:xfrm>
          <a:prstGeom prst="roundRect">
            <a:avLst>
              <a:gd name="adj" fmla="val 50000"/>
            </a:avLst>
          </a:prstGeom>
          <a:solidFill>
            <a:srgbClr val="E67E22"/>
          </a:solidFill>
          <a:ln>
            <a:noFill/>
          </a:ln>
        </p:spPr>
      </p:sp>
      <p:sp>
        <p:nvSpPr>
          <p:cNvPr id="33" name="Rectangle 33"/>
          <p:cNvSpPr/>
          <p:nvPr/>
        </p:nvSpPr>
        <p:spPr>
          <a:xfrm>
            <a:off x="5191125" y="2619375"/>
            <a:ext cx="857250" cy="304800"/>
          </a:xfrm>
          <a:prstGeom prst="roundRect">
            <a:avLst>
              <a:gd name="adj" fmla="val 25000"/>
            </a:avLst>
          </a:prstGeom>
          <a:solidFill>
            <a:srgbClr val="E67E22"/>
          </a:solidFill>
          <a:ln>
            <a:noFill/>
          </a:ln>
        </p:spPr>
      </p:sp>
      <p:sp>
        <p:nvSpPr>
          <p:cNvPr id="34" name="TextBox 34"/>
          <p:cNvSpPr txBox="1"/>
          <p:nvPr/>
        </p:nvSpPr>
        <p:spPr>
          <a:xfrm>
            <a:off x="5282547" y="2707481"/>
            <a:ext cx="67440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P2 · 40%</a:t>
            </a:r>
          </a:p>
        </p:txBody>
      </p:sp>
      <p:sp>
        <p:nvSpPr>
          <p:cNvPr id="35" name="TextBox 35"/>
          <p:cNvSpPr txBox="1"/>
          <p:nvPr/>
        </p:nvSpPr>
        <p:spPr>
          <a:xfrm>
            <a:off x="6173152" y="2589371"/>
            <a:ext cx="834295" cy="289560"/>
          </a:xfrm>
          <a:prstGeom prst="rect">
            <a:avLst/>
          </a:prstGeom>
          <a:noFill/>
          <a:ln>
            <a:noFill/>
          </a:ln>
        </p:spPr>
        <p:txBody>
          <a:bodyPr wrap="none" lIns="0" tIns="0" rIns="0" bIns="0" anchor="t" anchorCtr="0">
            <a:spAutoFit/>
          </a:bodyPr>
          <a:lstStyle/>
          <a:p>
            <a:pPr algn="l"/>
            <a:r>
              <a:rPr lang="zh-CN" sz="1425" b="1" dirty="0">
                <a:solidFill>
                  <a:srgbClr val="2C2C2C"/>
                </a:solidFill>
                <a:latin typeface="Arial"/>
                <a:ea typeface="Microsoft YaHei"/>
                <a:cs typeface="Arial"/>
              </a:rPr>
              <a:t>试点社区</a:t>
            </a:r>
          </a:p>
        </p:txBody>
      </p:sp>
      <p:sp>
        <p:nvSpPr>
          <p:cNvPr id="36" name="TextBox 36"/>
          <p:cNvSpPr txBox="1"/>
          <p:nvPr/>
        </p:nvSpPr>
        <p:spPr>
          <a:xfrm>
            <a:off x="6176962" y="2869406"/>
            <a:ext cx="553426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养一个飞轮——花好了能带来持续增长。是预算中最大的一块，也是ROI最高的部分。</a:t>
            </a:r>
          </a:p>
        </p:txBody>
      </p:sp>
      <p:sp>
        <p:nvSpPr>
          <p:cNvPr id="37" name="TextBox 37"/>
          <p:cNvSpPr txBox="1"/>
          <p:nvPr/>
        </p:nvSpPr>
        <p:spPr>
          <a:xfrm>
            <a:off x="6177915" y="3106102"/>
            <a:ext cx="3135058" cy="213360"/>
          </a:xfrm>
          <a:prstGeom prst="rect">
            <a:avLst/>
          </a:prstGeom>
          <a:noFill/>
          <a:ln>
            <a:noFill/>
          </a:ln>
        </p:spPr>
        <p:txBody>
          <a:bodyPr wrap="none" lIns="0" tIns="0" rIns="0" bIns="0" anchor="t" anchorCtr="0">
            <a:spAutoFit/>
          </a:bodyPr>
          <a:lstStyle/>
          <a:p>
            <a:pPr algn="l"/>
            <a:r>
              <a:rPr lang="zh-CN" sz="1050" dirty="0">
                <a:solidFill>
                  <a:srgbClr val="E67E22"/>
                </a:solidFill>
                <a:latin typeface="Arial"/>
                <a:ea typeface="Microsoft YaHei"/>
                <a:cs typeface="Arial"/>
              </a:rPr>
              <a:t>20家商户入驻 + 500消费者 + 社区运营 + 数据监测</a:t>
            </a:r>
          </a:p>
        </p:txBody>
      </p:sp>
      <p:sp>
        <p:nvSpPr>
          <p:cNvPr id="38" name="Rectangle 38"/>
          <p:cNvSpPr/>
          <p:nvPr/>
        </p:nvSpPr>
        <p:spPr>
          <a:xfrm>
            <a:off x="4953000" y="3619500"/>
            <a:ext cx="6667500" cy="1000125"/>
          </a:xfrm>
          <a:prstGeom prst="roundRect">
            <a:avLst>
              <a:gd name="adj" fmla="val 13333"/>
            </a:avLst>
          </a:prstGeom>
          <a:solidFill>
            <a:srgbClr val="FFFFFF"/>
          </a:solidFill>
          <a:ln>
            <a:noFill/>
          </a:ln>
          <a:effectLst>
            <a:outerShdw blurRad="76200" dist="19050" dir="5400000" algn="ctr" rotWithShape="0">
              <a:srgbClr val="2C2C2C">
                <a:alpha val="4500"/>
              </a:srgbClr>
            </a:outerShdw>
          </a:effectLst>
        </p:spPr>
      </p:sp>
      <p:sp>
        <p:nvSpPr>
          <p:cNvPr id="39" name="Rectangle 39"/>
          <p:cNvSpPr/>
          <p:nvPr/>
        </p:nvSpPr>
        <p:spPr>
          <a:xfrm>
            <a:off x="4953000" y="3619500"/>
            <a:ext cx="6667500" cy="1000125"/>
          </a:xfrm>
          <a:prstGeom prst="roundRect">
            <a:avLst>
              <a:gd name="adj" fmla="val 13333"/>
            </a:avLst>
          </a:prstGeom>
          <a:noFill/>
          <a:ln w="9525">
            <a:solidFill>
              <a:srgbClr val="E8E3DC"/>
            </a:solidFill>
          </a:ln>
        </p:spPr>
      </p:sp>
      <p:sp>
        <p:nvSpPr>
          <p:cNvPr id="40" name="Rectangle 40"/>
          <p:cNvSpPr/>
          <p:nvPr/>
        </p:nvSpPr>
        <p:spPr>
          <a:xfrm>
            <a:off x="4953000" y="3619500"/>
            <a:ext cx="57150" cy="1000125"/>
          </a:xfrm>
          <a:prstGeom prst="roundRect">
            <a:avLst>
              <a:gd name="adj" fmla="val 50000"/>
            </a:avLst>
          </a:prstGeom>
          <a:solidFill>
            <a:srgbClr val="D4A574"/>
          </a:solidFill>
          <a:ln>
            <a:noFill/>
          </a:ln>
        </p:spPr>
      </p:sp>
      <p:sp>
        <p:nvSpPr>
          <p:cNvPr id="41" name="Rectangle 41"/>
          <p:cNvSpPr/>
          <p:nvPr/>
        </p:nvSpPr>
        <p:spPr>
          <a:xfrm>
            <a:off x="5191125" y="3762375"/>
            <a:ext cx="857250" cy="304800"/>
          </a:xfrm>
          <a:prstGeom prst="roundRect">
            <a:avLst>
              <a:gd name="adj" fmla="val 25000"/>
            </a:avLst>
          </a:prstGeom>
          <a:solidFill>
            <a:srgbClr val="D4A574"/>
          </a:solidFill>
          <a:ln>
            <a:noFill/>
          </a:ln>
        </p:spPr>
      </p:sp>
      <p:sp>
        <p:nvSpPr>
          <p:cNvPr id="42" name="TextBox 42"/>
          <p:cNvSpPr txBox="1"/>
          <p:nvPr/>
        </p:nvSpPr>
        <p:spPr>
          <a:xfrm>
            <a:off x="5282547" y="3850481"/>
            <a:ext cx="67440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P3 · 25%</a:t>
            </a:r>
          </a:p>
        </p:txBody>
      </p:sp>
      <p:sp>
        <p:nvSpPr>
          <p:cNvPr id="43" name="TextBox 43"/>
          <p:cNvSpPr txBox="1"/>
          <p:nvPr/>
        </p:nvSpPr>
        <p:spPr>
          <a:xfrm>
            <a:off x="6173152" y="3732371"/>
            <a:ext cx="834295" cy="289560"/>
          </a:xfrm>
          <a:prstGeom prst="rect">
            <a:avLst/>
          </a:prstGeom>
          <a:noFill/>
          <a:ln>
            <a:noFill/>
          </a:ln>
        </p:spPr>
        <p:txBody>
          <a:bodyPr wrap="none" lIns="0" tIns="0" rIns="0" bIns="0" anchor="t" anchorCtr="0">
            <a:spAutoFit/>
          </a:bodyPr>
          <a:lstStyle/>
          <a:p>
            <a:pPr algn="l"/>
            <a:r>
              <a:rPr lang="zh-CN" sz="1425" b="1" dirty="0">
                <a:solidFill>
                  <a:srgbClr val="2C2C2C"/>
                </a:solidFill>
                <a:latin typeface="Arial"/>
                <a:ea typeface="Microsoft YaHei"/>
                <a:cs typeface="Arial"/>
              </a:rPr>
              <a:t>内容体系</a:t>
            </a:r>
          </a:p>
        </p:txBody>
      </p:sp>
      <p:sp>
        <p:nvSpPr>
          <p:cNvPr id="44" name="TextBox 44"/>
          <p:cNvSpPr txBox="1"/>
          <p:nvPr/>
        </p:nvSpPr>
        <p:spPr>
          <a:xfrm>
            <a:off x="6176962" y="4012406"/>
            <a:ext cx="4664154"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做复制工具——P1P2确认后ROI最高。案例比广告更能说服下一个商家。</a:t>
            </a:r>
          </a:p>
        </p:txBody>
      </p:sp>
      <p:sp>
        <p:nvSpPr>
          <p:cNvPr id="45" name="TextBox 45"/>
          <p:cNvSpPr txBox="1"/>
          <p:nvPr/>
        </p:nvSpPr>
        <p:spPr>
          <a:xfrm>
            <a:off x="6177915" y="4249102"/>
            <a:ext cx="2322957" cy="213360"/>
          </a:xfrm>
          <a:prstGeom prst="rect">
            <a:avLst/>
          </a:prstGeom>
          <a:noFill/>
          <a:ln>
            <a:noFill/>
          </a:ln>
        </p:spPr>
        <p:txBody>
          <a:bodyPr wrap="none" lIns="0" tIns="0" rIns="0" bIns="0" anchor="t" anchorCtr="0">
            <a:spAutoFit/>
          </a:bodyPr>
          <a:lstStyle/>
          <a:p>
            <a:pPr algn="l"/>
            <a:r>
              <a:rPr lang="zh-CN" sz="1050" dirty="0">
                <a:solidFill>
                  <a:srgbClr val="D4A574"/>
                </a:solidFill>
                <a:latin typeface="Arial"/>
                <a:ea typeface="Microsoft YaHei"/>
                <a:cs typeface="Arial"/>
              </a:rPr>
              <a:t>10篇内容 + 样板案例集 + 培训工具包</a:t>
            </a:r>
          </a:p>
        </p:txBody>
      </p:sp>
      <p:sp>
        <p:nvSpPr>
          <p:cNvPr id="46" name="Rectangle 46"/>
          <p:cNvSpPr/>
          <p:nvPr/>
        </p:nvSpPr>
        <p:spPr>
          <a:xfrm>
            <a:off x="4953000" y="4810125"/>
            <a:ext cx="6667500" cy="476250"/>
          </a:xfrm>
          <a:prstGeom prst="roundRect">
            <a:avLst>
              <a:gd name="adj" fmla="val 20000"/>
            </a:avLst>
          </a:prstGeom>
          <a:solidFill>
            <a:srgbClr val="C0392B">
              <a:alpha val="5000"/>
            </a:srgbClr>
          </a:solidFill>
          <a:ln>
            <a:noFill/>
          </a:ln>
        </p:spPr>
      </p:sp>
      <p:sp>
        <p:nvSpPr>
          <p:cNvPr id="47" name="Rectangle 47"/>
          <p:cNvSpPr/>
          <p:nvPr/>
        </p:nvSpPr>
        <p:spPr>
          <a:xfrm>
            <a:off x="4953000" y="4810125"/>
            <a:ext cx="6667500" cy="476250"/>
          </a:xfrm>
          <a:prstGeom prst="roundRect">
            <a:avLst>
              <a:gd name="adj" fmla="val 20000"/>
            </a:avLst>
          </a:prstGeom>
          <a:noFill/>
          <a:ln w="14288">
            <a:solidFill>
              <a:srgbClr val="C0392B"/>
            </a:solidFill>
            <a:custDash>
              <a:ds d="400000" sp="266666"/>
            </a:custDash>
          </a:ln>
        </p:spPr>
      </p:sp>
      <p:sp>
        <p:nvSpPr>
          <p:cNvPr id="48" name="TextBox 48"/>
          <p:cNvSpPr txBox="1"/>
          <p:nvPr/>
        </p:nvSpPr>
        <p:spPr>
          <a:xfrm>
            <a:off x="5203508" y="4958239"/>
            <a:ext cx="2353175" cy="259080"/>
          </a:xfrm>
          <a:prstGeom prst="rect">
            <a:avLst/>
          </a:prstGeom>
          <a:noFill/>
          <a:ln>
            <a:noFill/>
          </a:ln>
        </p:spPr>
        <p:txBody>
          <a:bodyPr wrap="none" lIns="0" tIns="0" rIns="0" bIns="0" anchor="t" anchorCtr="0">
            <a:spAutoFit/>
          </a:bodyPr>
          <a:lstStyle/>
          <a:p>
            <a:pPr algn="l"/>
            <a:r>
              <a:rPr lang="zh-CN" sz="1275" b="1" dirty="0">
                <a:solidFill>
                  <a:srgbClr val="C0392B"/>
                </a:solidFill>
                <a:latin typeface="Arial"/>
                <a:ea typeface="Microsoft YaHei"/>
                <a:cs typeface="Arial"/>
              </a:rPr>
              <a:t>三不投（公测期内严禁支出）</a:t>
            </a:r>
          </a:p>
        </p:txBody>
      </p:sp>
      <p:sp>
        <p:nvSpPr>
          <p:cNvPr id="49" name="Rectangle 49"/>
          <p:cNvSpPr/>
          <p:nvPr/>
        </p:nvSpPr>
        <p:spPr>
          <a:xfrm>
            <a:off x="5048250" y="5429250"/>
            <a:ext cx="2095500" cy="419100"/>
          </a:xfrm>
          <a:prstGeom prst="roundRect">
            <a:avLst>
              <a:gd name="adj" fmla="val 18182"/>
            </a:avLst>
          </a:prstGeom>
          <a:solidFill>
            <a:srgbClr val="FFFFFF"/>
          </a:solidFill>
          <a:ln w="9525">
            <a:solidFill>
              <a:srgbClr val="C0392B"/>
            </a:solidFill>
          </a:ln>
        </p:spPr>
      </p:sp>
      <p:sp>
        <p:nvSpPr>
          <p:cNvPr id="50" name="TextBox 50"/>
          <p:cNvSpPr txBox="1"/>
          <p:nvPr/>
        </p:nvSpPr>
        <p:spPr>
          <a:xfrm>
            <a:off x="5505288" y="5556885"/>
            <a:ext cx="1181424"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 品牌广告投流</a:t>
            </a:r>
          </a:p>
        </p:txBody>
      </p:sp>
      <p:sp>
        <p:nvSpPr>
          <p:cNvPr id="51" name="Rectangle 51"/>
          <p:cNvSpPr/>
          <p:nvPr/>
        </p:nvSpPr>
        <p:spPr>
          <a:xfrm>
            <a:off x="7239000" y="5429250"/>
            <a:ext cx="2095500" cy="419100"/>
          </a:xfrm>
          <a:prstGeom prst="roundRect">
            <a:avLst>
              <a:gd name="adj" fmla="val 18182"/>
            </a:avLst>
          </a:prstGeom>
          <a:solidFill>
            <a:srgbClr val="FFFFFF"/>
          </a:solidFill>
          <a:ln w="9525">
            <a:solidFill>
              <a:srgbClr val="C0392B"/>
            </a:solidFill>
          </a:ln>
        </p:spPr>
      </p:sp>
      <p:sp>
        <p:nvSpPr>
          <p:cNvPr id="52" name="TextBox 52"/>
          <p:cNvSpPr txBox="1"/>
          <p:nvPr/>
        </p:nvSpPr>
        <p:spPr>
          <a:xfrm>
            <a:off x="7612028" y="5556885"/>
            <a:ext cx="1349445"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 大规模城市招商</a:t>
            </a:r>
          </a:p>
        </p:txBody>
      </p:sp>
      <p:sp>
        <p:nvSpPr>
          <p:cNvPr id="53" name="Rectangle 53"/>
          <p:cNvSpPr/>
          <p:nvPr/>
        </p:nvSpPr>
        <p:spPr>
          <a:xfrm>
            <a:off x="9429750" y="5429250"/>
            <a:ext cx="2190750" cy="419100"/>
          </a:xfrm>
          <a:prstGeom prst="roundRect">
            <a:avLst>
              <a:gd name="adj" fmla="val 18182"/>
            </a:avLst>
          </a:prstGeom>
          <a:solidFill>
            <a:srgbClr val="FFFFFF"/>
          </a:solidFill>
          <a:ln w="9525">
            <a:solidFill>
              <a:srgbClr val="C0392B"/>
            </a:solidFill>
          </a:ln>
        </p:spPr>
      </p:sp>
      <p:sp>
        <p:nvSpPr>
          <p:cNvPr id="54" name="TextBox 54"/>
          <p:cNvSpPr txBox="1"/>
          <p:nvPr/>
        </p:nvSpPr>
        <p:spPr>
          <a:xfrm>
            <a:off x="9678181" y="5556885"/>
            <a:ext cx="1693888" cy="243840"/>
          </a:xfrm>
          <a:prstGeom prst="rect">
            <a:avLst/>
          </a:prstGeom>
          <a:noFill/>
          <a:ln>
            <a:noFill/>
          </a:ln>
        </p:spPr>
        <p:txBody>
          <a:bodyPr wrap="none" lIns="0" tIns="0" rIns="0" bIns="0" anchor="t" anchorCtr="0">
            <a:spAutoFit/>
          </a:bodyPr>
          <a:lstStyle/>
          <a:p>
            <a:pPr algn="ctr"/>
            <a:r>
              <a:rPr lang="zh-CN" sz="1200" b="1" dirty="0">
                <a:solidFill>
                  <a:srgbClr val="C0392B"/>
                </a:solidFill>
                <a:latin typeface="Arial"/>
                <a:ea typeface="Microsoft YaHei"/>
                <a:cs typeface="Arial"/>
              </a:rPr>
              <a:t>✗ 深度UI/千面千店2.0</a:t>
            </a:r>
          </a:p>
        </p:txBody>
      </p:sp>
      <p:sp>
        <p:nvSpPr>
          <p:cNvPr id="55" name="TextBox 55"/>
          <p:cNvSpPr txBox="1"/>
          <p:nvPr/>
        </p:nvSpPr>
        <p:spPr>
          <a:xfrm>
            <a:off x="5034915" y="5982652"/>
            <a:ext cx="6677501"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理由：飞轮没转之前，投品牌广告=给空店招客；投城市招商=卖没验证的模型；投UI升级=优化没人用的页面</a:t>
            </a:r>
          </a:p>
        </p:txBody>
      </p:sp>
      <p:sp>
        <p:nvSpPr>
          <p:cNvPr id="56" name="TextBox 56"/>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36</a:t>
            </a:r>
          </a:p>
        </p:txBody>
      </p:sp>
      <p:sp>
        <p:nvSpPr>
          <p:cNvPr id="57" name="TextBox 57"/>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27710" y="375285"/>
            <a:ext cx="6741114"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试点社区：尚未做出的关键 Type 1 决策</a:t>
            </a:r>
          </a:p>
        </p:txBody>
      </p:sp>
      <p:sp>
        <p:nvSpPr>
          <p:cNvPr id="5" name="TextBox 5"/>
          <p:cNvSpPr txBox="1"/>
          <p:nvPr/>
        </p:nvSpPr>
        <p:spPr>
          <a:xfrm>
            <a:off x="742950" y="838200"/>
            <a:ext cx="5208746"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社区密度（3km半径业态混搭程度）&gt; 城市规模 &gt; 消费能力</a:t>
            </a:r>
          </a:p>
        </p:txBody>
      </p:sp>
      <p:sp>
        <p:nvSpPr>
          <p:cNvPr id="6" name="Rectangle 6"/>
          <p:cNvSpPr/>
          <p:nvPr/>
        </p:nvSpPr>
        <p:spPr>
          <a:xfrm>
            <a:off x="571500" y="1333500"/>
            <a:ext cx="5524500" cy="3524250"/>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7" name="Rectangle 7"/>
          <p:cNvSpPr/>
          <p:nvPr/>
        </p:nvSpPr>
        <p:spPr>
          <a:xfrm>
            <a:off x="571500" y="1333500"/>
            <a:ext cx="5524500" cy="3524250"/>
          </a:xfrm>
          <a:prstGeom prst="roundRect">
            <a:avLst>
              <a:gd name="adj" fmla="val 3784"/>
            </a:avLst>
          </a:prstGeom>
          <a:noFill/>
          <a:ln w="9525">
            <a:solidFill>
              <a:srgbClr val="E8E3DC"/>
            </a:solidFill>
          </a:ln>
        </p:spPr>
      </p:sp>
      <p:sp>
        <p:nvSpPr>
          <p:cNvPr id="8" name="TextBox 8"/>
          <p:cNvSpPr txBox="1"/>
          <p:nvPr/>
        </p:nvSpPr>
        <p:spPr>
          <a:xfrm>
            <a:off x="2684621" y="1552575"/>
            <a:ext cx="1298258" cy="304800"/>
          </a:xfrm>
          <a:prstGeom prst="rect">
            <a:avLst/>
          </a:prstGeom>
          <a:noFill/>
          <a:ln>
            <a:noFill/>
          </a:ln>
        </p:spPr>
        <p:txBody>
          <a:bodyPr wrap="none" lIns="0" tIns="0" rIns="0" bIns="0" anchor="t" anchorCtr="0">
            <a:spAutoFit/>
          </a:bodyPr>
          <a:lstStyle/>
          <a:p>
            <a:pPr algn="ctr"/>
            <a:r>
              <a:rPr lang="zh-CN" sz="1500" b="1" dirty="0">
                <a:solidFill>
                  <a:srgbClr val="2C2C2C"/>
                </a:solidFill>
                <a:latin typeface="Arial"/>
                <a:ea typeface="Microsoft YaHei"/>
                <a:cs typeface="Arial"/>
              </a:rPr>
              <a:t>三维评估体系</a:t>
            </a:r>
          </a:p>
        </p:txBody>
      </p:sp>
      <p:sp>
        <p:nvSpPr>
          <p:cNvPr id="9" name="TextBox 9"/>
          <p:cNvSpPr txBox="1"/>
          <p:nvPr/>
        </p:nvSpPr>
        <p:spPr>
          <a:xfrm>
            <a:off x="2319290" y="1839278"/>
            <a:ext cx="2028920" cy="213360"/>
          </a:xfrm>
          <a:prstGeom prst="rect">
            <a:avLst/>
          </a:prstGeom>
          <a:noFill/>
          <a:ln>
            <a:noFill/>
          </a:ln>
        </p:spPr>
        <p:txBody>
          <a:bodyPr wrap="none" lIns="0" tIns="0" rIns="0" bIns="0" anchor="t" anchorCtr="0">
            <a:spAutoFit/>
          </a:bodyPr>
          <a:lstStyle/>
          <a:p>
            <a:pPr algn="ctr"/>
            <a:r>
              <a:rPr lang="zh-CN" sz="1050" dirty="0">
                <a:solidFill>
                  <a:srgbClr val="7F8C8D"/>
                </a:solidFill>
                <a:latin typeface="Arial"/>
                <a:ea typeface="Microsoft YaHei"/>
                <a:cs typeface="Arial"/>
              </a:rPr>
              <a:t>按权重排序：密度 &gt; 规模 &gt; 能力</a:t>
            </a:r>
          </a:p>
        </p:txBody>
      </p:sp>
      <p:sp>
        <p:nvSpPr>
          <p:cNvPr id="10" name="Rectangle 10"/>
          <p:cNvSpPr/>
          <p:nvPr/>
        </p:nvSpPr>
        <p:spPr>
          <a:xfrm>
            <a:off x="857250" y="2190750"/>
            <a:ext cx="4953000" cy="714375"/>
          </a:xfrm>
          <a:prstGeom prst="roundRect">
            <a:avLst>
              <a:gd name="adj" fmla="val 16000"/>
            </a:avLst>
          </a:prstGeom>
          <a:solidFill>
            <a:srgbClr val="F0EDE8"/>
          </a:solidFill>
          <a:ln>
            <a:noFill/>
          </a:ln>
        </p:spPr>
      </p:sp>
      <p:sp>
        <p:nvSpPr>
          <p:cNvPr id="11" name="TextBox 11"/>
          <p:cNvSpPr txBox="1"/>
          <p:nvPr/>
        </p:nvSpPr>
        <p:spPr>
          <a:xfrm>
            <a:off x="1078230" y="2311718"/>
            <a:ext cx="1055018"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a:ea typeface="Microsoft YaHei"/>
                <a:cs typeface="Arial"/>
              </a:rPr>
              <a:t>1. 社区密度</a:t>
            </a:r>
          </a:p>
        </p:txBody>
      </p:sp>
      <p:sp>
        <p:nvSpPr>
          <p:cNvPr id="12" name="Rectangle 12"/>
          <p:cNvSpPr/>
          <p:nvPr/>
        </p:nvSpPr>
        <p:spPr>
          <a:xfrm>
            <a:off x="2095500" y="2362200"/>
            <a:ext cx="476250" cy="190500"/>
          </a:xfrm>
          <a:prstGeom prst="roundRect">
            <a:avLst>
              <a:gd name="adj" fmla="val 30000"/>
            </a:avLst>
          </a:prstGeom>
          <a:solidFill>
            <a:srgbClr val="1A5276"/>
          </a:solidFill>
          <a:ln>
            <a:noFill/>
          </a:ln>
        </p:spPr>
      </p:sp>
      <p:sp>
        <p:nvSpPr>
          <p:cNvPr id="13" name="TextBox 13"/>
          <p:cNvSpPr txBox="1"/>
          <p:nvPr/>
        </p:nvSpPr>
        <p:spPr>
          <a:xfrm>
            <a:off x="2116467" y="239982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权重高</a:t>
            </a:r>
          </a:p>
        </p:txBody>
      </p:sp>
      <p:sp>
        <p:nvSpPr>
          <p:cNvPr id="14" name="TextBox 14"/>
          <p:cNvSpPr txBox="1"/>
          <p:nvPr/>
        </p:nvSpPr>
        <p:spPr>
          <a:xfrm>
            <a:off x="1081088" y="2574131"/>
            <a:ext cx="27214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3km半径内餐饮+零售+服务业态混搭程度</a:t>
            </a:r>
          </a:p>
        </p:txBody>
      </p:sp>
      <p:sp>
        <p:nvSpPr>
          <p:cNvPr id="15" name="Rectangle 15"/>
          <p:cNvSpPr/>
          <p:nvPr/>
        </p:nvSpPr>
        <p:spPr>
          <a:xfrm>
            <a:off x="1095375" y="2762250"/>
            <a:ext cx="4476750" cy="57150"/>
          </a:xfrm>
          <a:prstGeom prst="roundRect">
            <a:avLst>
              <a:gd name="adj" fmla="val 50000"/>
            </a:avLst>
          </a:prstGeom>
          <a:solidFill>
            <a:srgbClr val="E8E3DC"/>
          </a:solidFill>
          <a:ln>
            <a:noFill/>
          </a:ln>
        </p:spPr>
      </p:sp>
      <p:sp>
        <p:nvSpPr>
          <p:cNvPr id="16" name="Rectangle 16"/>
          <p:cNvSpPr/>
          <p:nvPr/>
        </p:nvSpPr>
        <p:spPr>
          <a:xfrm>
            <a:off x="1095375" y="2762250"/>
            <a:ext cx="3810000" cy="57150"/>
          </a:xfrm>
          <a:prstGeom prst="roundRect">
            <a:avLst>
              <a:gd name="adj" fmla="val 50000"/>
            </a:avLst>
          </a:prstGeom>
          <a:solidFill>
            <a:srgbClr val="1A5276"/>
          </a:solidFill>
          <a:ln>
            <a:noFill/>
          </a:ln>
        </p:spPr>
      </p:sp>
      <p:sp>
        <p:nvSpPr>
          <p:cNvPr id="17" name="Rectangle 17"/>
          <p:cNvSpPr/>
          <p:nvPr/>
        </p:nvSpPr>
        <p:spPr>
          <a:xfrm>
            <a:off x="857250" y="3048000"/>
            <a:ext cx="4953000" cy="714375"/>
          </a:xfrm>
          <a:prstGeom prst="roundRect">
            <a:avLst>
              <a:gd name="adj" fmla="val 16000"/>
            </a:avLst>
          </a:prstGeom>
          <a:solidFill>
            <a:srgbClr val="F0EDE8"/>
          </a:solidFill>
          <a:ln>
            <a:noFill/>
          </a:ln>
        </p:spPr>
      </p:sp>
      <p:sp>
        <p:nvSpPr>
          <p:cNvPr id="18" name="TextBox 18"/>
          <p:cNvSpPr txBox="1"/>
          <p:nvPr/>
        </p:nvSpPr>
        <p:spPr>
          <a:xfrm>
            <a:off x="1078230" y="3168968"/>
            <a:ext cx="1055018" cy="274320"/>
          </a:xfrm>
          <a:prstGeom prst="rect">
            <a:avLst/>
          </a:prstGeom>
          <a:noFill/>
          <a:ln>
            <a:noFill/>
          </a:ln>
        </p:spPr>
        <p:txBody>
          <a:bodyPr wrap="none" lIns="0" tIns="0" rIns="0" bIns="0" anchor="t" anchorCtr="0">
            <a:spAutoFit/>
          </a:bodyPr>
          <a:lstStyle/>
          <a:p>
            <a:pPr algn="l"/>
            <a:r>
              <a:rPr lang="zh-CN" sz="1350" b="1" dirty="0">
                <a:solidFill>
                  <a:srgbClr val="E67E22"/>
                </a:solidFill>
                <a:latin typeface="Arial"/>
                <a:ea typeface="Microsoft YaHei"/>
                <a:cs typeface="Arial"/>
              </a:rPr>
              <a:t>2. 城市规模</a:t>
            </a:r>
          </a:p>
        </p:txBody>
      </p:sp>
      <p:sp>
        <p:nvSpPr>
          <p:cNvPr id="19" name="Rectangle 19"/>
          <p:cNvSpPr/>
          <p:nvPr/>
        </p:nvSpPr>
        <p:spPr>
          <a:xfrm>
            <a:off x="2095500" y="3219450"/>
            <a:ext cx="476250" cy="190500"/>
          </a:xfrm>
          <a:prstGeom prst="roundRect">
            <a:avLst>
              <a:gd name="adj" fmla="val 30000"/>
            </a:avLst>
          </a:prstGeom>
          <a:solidFill>
            <a:srgbClr val="E67E22"/>
          </a:solidFill>
          <a:ln>
            <a:noFill/>
          </a:ln>
        </p:spPr>
      </p:sp>
      <p:sp>
        <p:nvSpPr>
          <p:cNvPr id="20" name="TextBox 20"/>
          <p:cNvSpPr txBox="1"/>
          <p:nvPr/>
        </p:nvSpPr>
        <p:spPr>
          <a:xfrm>
            <a:off x="2116467" y="325707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权重中</a:t>
            </a:r>
          </a:p>
        </p:txBody>
      </p:sp>
      <p:sp>
        <p:nvSpPr>
          <p:cNvPr id="21" name="TextBox 21"/>
          <p:cNvSpPr txBox="1"/>
          <p:nvPr/>
        </p:nvSpPr>
        <p:spPr>
          <a:xfrm>
            <a:off x="1081088" y="3431381"/>
            <a:ext cx="2878931"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可控的中等规模城市，便于观察和数据收集</a:t>
            </a:r>
          </a:p>
        </p:txBody>
      </p:sp>
      <p:sp>
        <p:nvSpPr>
          <p:cNvPr id="22" name="Rectangle 22"/>
          <p:cNvSpPr/>
          <p:nvPr/>
        </p:nvSpPr>
        <p:spPr>
          <a:xfrm>
            <a:off x="1095375" y="3619500"/>
            <a:ext cx="4476750" cy="57150"/>
          </a:xfrm>
          <a:prstGeom prst="roundRect">
            <a:avLst>
              <a:gd name="adj" fmla="val 50000"/>
            </a:avLst>
          </a:prstGeom>
          <a:solidFill>
            <a:srgbClr val="E8E3DC"/>
          </a:solidFill>
          <a:ln>
            <a:noFill/>
          </a:ln>
        </p:spPr>
      </p:sp>
      <p:sp>
        <p:nvSpPr>
          <p:cNvPr id="23" name="Rectangle 23"/>
          <p:cNvSpPr/>
          <p:nvPr/>
        </p:nvSpPr>
        <p:spPr>
          <a:xfrm>
            <a:off x="1095375" y="3619500"/>
            <a:ext cx="2667000" cy="57150"/>
          </a:xfrm>
          <a:prstGeom prst="roundRect">
            <a:avLst>
              <a:gd name="adj" fmla="val 50000"/>
            </a:avLst>
          </a:prstGeom>
          <a:solidFill>
            <a:srgbClr val="E67E22"/>
          </a:solidFill>
          <a:ln>
            <a:noFill/>
          </a:ln>
        </p:spPr>
      </p:sp>
      <p:sp>
        <p:nvSpPr>
          <p:cNvPr id="24" name="Rectangle 24"/>
          <p:cNvSpPr/>
          <p:nvPr/>
        </p:nvSpPr>
        <p:spPr>
          <a:xfrm>
            <a:off x="857250" y="3905250"/>
            <a:ext cx="4953000" cy="714375"/>
          </a:xfrm>
          <a:prstGeom prst="roundRect">
            <a:avLst>
              <a:gd name="adj" fmla="val 16000"/>
            </a:avLst>
          </a:prstGeom>
          <a:solidFill>
            <a:srgbClr val="F0EDE8"/>
          </a:solidFill>
          <a:ln>
            <a:noFill/>
          </a:ln>
        </p:spPr>
      </p:sp>
      <p:sp>
        <p:nvSpPr>
          <p:cNvPr id="25" name="TextBox 25"/>
          <p:cNvSpPr txBox="1"/>
          <p:nvPr/>
        </p:nvSpPr>
        <p:spPr>
          <a:xfrm>
            <a:off x="1078230" y="4026218"/>
            <a:ext cx="1055018" cy="274320"/>
          </a:xfrm>
          <a:prstGeom prst="rect">
            <a:avLst/>
          </a:prstGeom>
          <a:noFill/>
          <a:ln>
            <a:noFill/>
          </a:ln>
        </p:spPr>
        <p:txBody>
          <a:bodyPr wrap="none" lIns="0" tIns="0" rIns="0" bIns="0" anchor="t" anchorCtr="0">
            <a:spAutoFit/>
          </a:bodyPr>
          <a:lstStyle/>
          <a:p>
            <a:pPr algn="l"/>
            <a:r>
              <a:rPr lang="zh-CN" sz="1350" b="1" dirty="0">
                <a:solidFill>
                  <a:srgbClr val="D4A574"/>
                </a:solidFill>
                <a:latin typeface="Arial"/>
                <a:ea typeface="Microsoft YaHei"/>
                <a:cs typeface="Arial"/>
              </a:rPr>
              <a:t>3. 消费能力</a:t>
            </a:r>
          </a:p>
        </p:txBody>
      </p:sp>
      <p:sp>
        <p:nvSpPr>
          <p:cNvPr id="26" name="Rectangle 26"/>
          <p:cNvSpPr/>
          <p:nvPr/>
        </p:nvSpPr>
        <p:spPr>
          <a:xfrm>
            <a:off x="2095500" y="4076700"/>
            <a:ext cx="476250" cy="190500"/>
          </a:xfrm>
          <a:prstGeom prst="roundRect">
            <a:avLst>
              <a:gd name="adj" fmla="val 30000"/>
            </a:avLst>
          </a:prstGeom>
          <a:solidFill>
            <a:srgbClr val="D4A574"/>
          </a:solidFill>
          <a:ln>
            <a:noFill/>
          </a:ln>
        </p:spPr>
      </p:sp>
      <p:sp>
        <p:nvSpPr>
          <p:cNvPr id="27" name="TextBox 27"/>
          <p:cNvSpPr txBox="1"/>
          <p:nvPr/>
        </p:nvSpPr>
        <p:spPr>
          <a:xfrm>
            <a:off x="2116467" y="411432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权重低</a:t>
            </a:r>
          </a:p>
        </p:txBody>
      </p:sp>
      <p:sp>
        <p:nvSpPr>
          <p:cNvPr id="28" name="TextBox 28"/>
          <p:cNvSpPr txBox="1"/>
          <p:nvPr/>
        </p:nvSpPr>
        <p:spPr>
          <a:xfrm>
            <a:off x="1081088" y="4288631"/>
            <a:ext cx="2728912"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可支撑日常消费即可，不需高消费力社区</a:t>
            </a:r>
          </a:p>
        </p:txBody>
      </p:sp>
      <p:sp>
        <p:nvSpPr>
          <p:cNvPr id="29" name="Rectangle 29"/>
          <p:cNvSpPr/>
          <p:nvPr/>
        </p:nvSpPr>
        <p:spPr>
          <a:xfrm>
            <a:off x="1095375" y="4476750"/>
            <a:ext cx="4476750" cy="57150"/>
          </a:xfrm>
          <a:prstGeom prst="roundRect">
            <a:avLst>
              <a:gd name="adj" fmla="val 50000"/>
            </a:avLst>
          </a:prstGeom>
          <a:solidFill>
            <a:srgbClr val="E8E3DC"/>
          </a:solidFill>
          <a:ln>
            <a:noFill/>
          </a:ln>
        </p:spPr>
      </p:sp>
      <p:sp>
        <p:nvSpPr>
          <p:cNvPr id="30" name="Rectangle 30"/>
          <p:cNvSpPr/>
          <p:nvPr/>
        </p:nvSpPr>
        <p:spPr>
          <a:xfrm>
            <a:off x="1095375" y="4476750"/>
            <a:ext cx="1905000" cy="57150"/>
          </a:xfrm>
          <a:prstGeom prst="roundRect">
            <a:avLst>
              <a:gd name="adj" fmla="val 50000"/>
            </a:avLst>
          </a:prstGeom>
          <a:solidFill>
            <a:srgbClr val="D4A574"/>
          </a:solidFill>
          <a:ln>
            <a:noFill/>
          </a:ln>
        </p:spPr>
      </p:sp>
      <p:sp>
        <p:nvSpPr>
          <p:cNvPr id="31" name="Rectangle 31"/>
          <p:cNvSpPr/>
          <p:nvPr/>
        </p:nvSpPr>
        <p:spPr>
          <a:xfrm>
            <a:off x="6381750" y="1333500"/>
            <a:ext cx="5238750" cy="3524250"/>
          </a:xfrm>
          <a:prstGeom prst="roundRect">
            <a:avLst>
              <a:gd name="adj" fmla="val 3784"/>
            </a:avLst>
          </a:prstGeom>
          <a:solidFill>
            <a:srgbClr val="FFFFFF"/>
          </a:solidFill>
          <a:ln>
            <a:noFill/>
          </a:ln>
          <a:effectLst>
            <a:outerShdw blurRad="76200" dist="19050" dir="5400000" algn="ctr" rotWithShape="0">
              <a:srgbClr val="2C2C2C">
                <a:alpha val="4500"/>
              </a:srgbClr>
            </a:outerShdw>
          </a:effectLst>
        </p:spPr>
      </p:sp>
      <p:sp>
        <p:nvSpPr>
          <p:cNvPr id="32" name="Rectangle 32"/>
          <p:cNvSpPr/>
          <p:nvPr/>
        </p:nvSpPr>
        <p:spPr>
          <a:xfrm>
            <a:off x="6381750" y="1333500"/>
            <a:ext cx="5238750" cy="3524250"/>
          </a:xfrm>
          <a:prstGeom prst="roundRect">
            <a:avLst>
              <a:gd name="adj" fmla="val 3784"/>
            </a:avLst>
          </a:prstGeom>
          <a:noFill/>
          <a:ln w="9525">
            <a:solidFill>
              <a:srgbClr val="E8E3DC"/>
            </a:solidFill>
          </a:ln>
        </p:spPr>
      </p:sp>
      <p:sp>
        <p:nvSpPr>
          <p:cNvPr id="33" name="TextBox 33"/>
          <p:cNvSpPr txBox="1"/>
          <p:nvPr/>
        </p:nvSpPr>
        <p:spPr>
          <a:xfrm>
            <a:off x="8351996" y="1552575"/>
            <a:ext cx="1298258" cy="304800"/>
          </a:xfrm>
          <a:prstGeom prst="rect">
            <a:avLst/>
          </a:prstGeom>
          <a:noFill/>
          <a:ln>
            <a:noFill/>
          </a:ln>
        </p:spPr>
        <p:txBody>
          <a:bodyPr wrap="none" lIns="0" tIns="0" rIns="0" bIns="0" anchor="t" anchorCtr="0">
            <a:spAutoFit/>
          </a:bodyPr>
          <a:lstStyle/>
          <a:p>
            <a:pPr algn="ctr"/>
            <a:r>
              <a:rPr lang="zh-CN" sz="1500" b="1" dirty="0">
                <a:solidFill>
                  <a:srgbClr val="2C2C2C"/>
                </a:solidFill>
                <a:latin typeface="Arial"/>
                <a:ea typeface="Microsoft YaHei"/>
                <a:cs typeface="Arial"/>
              </a:rPr>
              <a:t>实地考察流程</a:t>
            </a:r>
          </a:p>
        </p:txBody>
      </p:sp>
      <p:sp>
        <p:nvSpPr>
          <p:cNvPr id="34" name="Rectangle 34"/>
          <p:cNvSpPr/>
          <p:nvPr/>
        </p:nvSpPr>
        <p:spPr>
          <a:xfrm>
            <a:off x="6667500" y="2000250"/>
            <a:ext cx="4667250" cy="523875"/>
          </a:xfrm>
          <a:prstGeom prst="roundRect">
            <a:avLst>
              <a:gd name="adj" fmla="val 18182"/>
            </a:avLst>
          </a:prstGeom>
          <a:solidFill>
            <a:srgbClr val="F0EDE8"/>
          </a:solidFill>
          <a:ln>
            <a:noFill/>
          </a:ln>
        </p:spPr>
      </p:sp>
      <p:sp>
        <p:nvSpPr>
          <p:cNvPr id="35" name="Ellipse 35"/>
          <p:cNvSpPr/>
          <p:nvPr/>
        </p:nvSpPr>
        <p:spPr>
          <a:xfrm>
            <a:off x="6753225" y="2105025"/>
            <a:ext cx="304800" cy="304800"/>
          </a:xfrm>
          <a:prstGeom prst="ellipse">
            <a:avLst/>
          </a:prstGeom>
          <a:solidFill>
            <a:srgbClr val="1A5276"/>
          </a:solidFill>
          <a:ln>
            <a:noFill/>
          </a:ln>
        </p:spPr>
      </p:sp>
      <p:sp>
        <p:nvSpPr>
          <p:cNvPr id="36" name="TextBox 36"/>
          <p:cNvSpPr txBox="1"/>
          <p:nvPr/>
        </p:nvSpPr>
        <p:spPr>
          <a:xfrm>
            <a:off x="6851860" y="22012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1</a:t>
            </a:r>
          </a:p>
        </p:txBody>
      </p:sp>
      <p:sp>
        <p:nvSpPr>
          <p:cNvPr id="37" name="TextBox 37"/>
          <p:cNvSpPr txBox="1"/>
          <p:nvPr/>
        </p:nvSpPr>
        <p:spPr>
          <a:xfrm>
            <a:off x="7175182" y="2100739"/>
            <a:ext cx="1460564"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地图扫描（线上）</a:t>
            </a:r>
          </a:p>
        </p:txBody>
      </p:sp>
      <p:sp>
        <p:nvSpPr>
          <p:cNvPr id="38" name="TextBox 38"/>
          <p:cNvSpPr txBox="1"/>
          <p:nvPr/>
        </p:nvSpPr>
        <p:spPr>
          <a:xfrm>
            <a:off x="7178040" y="2325052"/>
            <a:ext cx="386315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用高德/百度地图标注目标社区3km半径内商户密度和业态分布</a:t>
            </a:r>
          </a:p>
        </p:txBody>
      </p:sp>
      <p:sp>
        <p:nvSpPr>
          <p:cNvPr id="39" name="TextBox 39"/>
          <p:cNvSpPr txBox="1"/>
          <p:nvPr/>
        </p:nvSpPr>
        <p:spPr>
          <a:xfrm>
            <a:off x="8934474" y="2521268"/>
            <a:ext cx="133302" cy="274320"/>
          </a:xfrm>
          <a:prstGeom prst="rect">
            <a:avLst/>
          </a:prstGeom>
          <a:noFill/>
          <a:ln>
            <a:noFill/>
          </a:ln>
        </p:spPr>
        <p:txBody>
          <a:bodyPr wrap="none" lIns="0" tIns="0" rIns="0" bIns="0" anchor="t" anchorCtr="0">
            <a:spAutoFit/>
          </a:bodyPr>
          <a:lstStyle/>
          <a:p>
            <a:pPr algn="ctr"/>
            <a:r>
              <a:rPr lang="zh-CN" sz="1350" dirty="0">
                <a:solidFill>
                  <a:srgbClr val="A0A0A0"/>
                </a:solidFill>
                <a:latin typeface="Segoe UI"/>
                <a:ea typeface="Microsoft YaHei"/>
                <a:cs typeface="Segoe UI"/>
              </a:rPr>
              <a:t>▼</a:t>
            </a:r>
          </a:p>
        </p:txBody>
      </p:sp>
      <p:sp>
        <p:nvSpPr>
          <p:cNvPr id="40" name="Rectangle 40"/>
          <p:cNvSpPr/>
          <p:nvPr/>
        </p:nvSpPr>
        <p:spPr>
          <a:xfrm>
            <a:off x="6667500" y="2790825"/>
            <a:ext cx="4667250" cy="523875"/>
          </a:xfrm>
          <a:prstGeom prst="roundRect">
            <a:avLst>
              <a:gd name="adj" fmla="val 18182"/>
            </a:avLst>
          </a:prstGeom>
          <a:solidFill>
            <a:srgbClr val="F0EDE8"/>
          </a:solidFill>
          <a:ln>
            <a:noFill/>
          </a:ln>
        </p:spPr>
      </p:sp>
      <p:sp>
        <p:nvSpPr>
          <p:cNvPr id="41" name="Ellipse 41"/>
          <p:cNvSpPr/>
          <p:nvPr/>
        </p:nvSpPr>
        <p:spPr>
          <a:xfrm>
            <a:off x="6753225" y="2895600"/>
            <a:ext cx="304800" cy="304800"/>
          </a:xfrm>
          <a:prstGeom prst="ellipse">
            <a:avLst/>
          </a:prstGeom>
          <a:solidFill>
            <a:srgbClr val="E67E22"/>
          </a:solidFill>
          <a:ln>
            <a:noFill/>
          </a:ln>
        </p:spPr>
      </p:sp>
      <p:sp>
        <p:nvSpPr>
          <p:cNvPr id="42" name="TextBox 42"/>
          <p:cNvSpPr txBox="1"/>
          <p:nvPr/>
        </p:nvSpPr>
        <p:spPr>
          <a:xfrm>
            <a:off x="6851860" y="29918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2</a:t>
            </a:r>
          </a:p>
        </p:txBody>
      </p:sp>
      <p:sp>
        <p:nvSpPr>
          <p:cNvPr id="43" name="TextBox 43"/>
          <p:cNvSpPr txBox="1"/>
          <p:nvPr/>
        </p:nvSpPr>
        <p:spPr>
          <a:xfrm>
            <a:off x="7175182" y="2891314"/>
            <a:ext cx="1737273"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实地走访3个候选社区</a:t>
            </a:r>
          </a:p>
        </p:txBody>
      </p:sp>
      <p:sp>
        <p:nvSpPr>
          <p:cNvPr id="44" name="TextBox 44"/>
          <p:cNvSpPr txBox="1"/>
          <p:nvPr/>
        </p:nvSpPr>
        <p:spPr>
          <a:xfrm>
            <a:off x="7178040" y="3115628"/>
            <a:ext cx="3464100"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工作日+周末各一次，观察人流、商户活跃度、社区氛围</a:t>
            </a:r>
          </a:p>
        </p:txBody>
      </p:sp>
      <p:sp>
        <p:nvSpPr>
          <p:cNvPr id="45" name="TextBox 45"/>
          <p:cNvSpPr txBox="1"/>
          <p:nvPr/>
        </p:nvSpPr>
        <p:spPr>
          <a:xfrm>
            <a:off x="8934474" y="3311842"/>
            <a:ext cx="133302" cy="274320"/>
          </a:xfrm>
          <a:prstGeom prst="rect">
            <a:avLst/>
          </a:prstGeom>
          <a:noFill/>
          <a:ln>
            <a:noFill/>
          </a:ln>
        </p:spPr>
        <p:txBody>
          <a:bodyPr wrap="none" lIns="0" tIns="0" rIns="0" bIns="0" anchor="t" anchorCtr="0">
            <a:spAutoFit/>
          </a:bodyPr>
          <a:lstStyle/>
          <a:p>
            <a:pPr algn="ctr"/>
            <a:r>
              <a:rPr lang="zh-CN" sz="1350" dirty="0">
                <a:solidFill>
                  <a:srgbClr val="A0A0A0"/>
                </a:solidFill>
                <a:latin typeface="Segoe UI"/>
                <a:ea typeface="Microsoft YaHei"/>
                <a:cs typeface="Segoe UI"/>
              </a:rPr>
              <a:t>▼</a:t>
            </a:r>
          </a:p>
        </p:txBody>
      </p:sp>
      <p:sp>
        <p:nvSpPr>
          <p:cNvPr id="46" name="Rectangle 46"/>
          <p:cNvSpPr/>
          <p:nvPr/>
        </p:nvSpPr>
        <p:spPr>
          <a:xfrm>
            <a:off x="6667500" y="3581400"/>
            <a:ext cx="4667250" cy="523875"/>
          </a:xfrm>
          <a:prstGeom prst="roundRect">
            <a:avLst>
              <a:gd name="adj" fmla="val 18182"/>
            </a:avLst>
          </a:prstGeom>
          <a:solidFill>
            <a:srgbClr val="F0EDE8"/>
          </a:solidFill>
          <a:ln>
            <a:noFill/>
          </a:ln>
        </p:spPr>
      </p:sp>
      <p:sp>
        <p:nvSpPr>
          <p:cNvPr id="47" name="Ellipse 47"/>
          <p:cNvSpPr/>
          <p:nvPr/>
        </p:nvSpPr>
        <p:spPr>
          <a:xfrm>
            <a:off x="6753225" y="3686175"/>
            <a:ext cx="304800" cy="304800"/>
          </a:xfrm>
          <a:prstGeom prst="ellipse">
            <a:avLst/>
          </a:prstGeom>
          <a:solidFill>
            <a:srgbClr val="D4A574"/>
          </a:solidFill>
          <a:ln>
            <a:noFill/>
          </a:ln>
        </p:spPr>
      </p:sp>
      <p:sp>
        <p:nvSpPr>
          <p:cNvPr id="48" name="TextBox 48"/>
          <p:cNvSpPr txBox="1"/>
          <p:nvPr/>
        </p:nvSpPr>
        <p:spPr>
          <a:xfrm>
            <a:off x="6851860" y="378237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a:t>
            </a:r>
          </a:p>
        </p:txBody>
      </p:sp>
      <p:sp>
        <p:nvSpPr>
          <p:cNvPr id="49" name="TextBox 49"/>
          <p:cNvSpPr txBox="1"/>
          <p:nvPr/>
        </p:nvSpPr>
        <p:spPr>
          <a:xfrm>
            <a:off x="7175182" y="3681889"/>
            <a:ext cx="1299893"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与10家商户交谈</a:t>
            </a:r>
          </a:p>
        </p:txBody>
      </p:sp>
      <p:sp>
        <p:nvSpPr>
          <p:cNvPr id="50" name="TextBox 50"/>
          <p:cNvSpPr txBox="1"/>
          <p:nvPr/>
        </p:nvSpPr>
        <p:spPr>
          <a:xfrm>
            <a:off x="7178040" y="3906202"/>
            <a:ext cx="3107055" cy="213360"/>
          </a:xfrm>
          <a:prstGeom prst="rect">
            <a:avLst/>
          </a:prstGeom>
          <a:noFill/>
          <a:ln>
            <a:noFill/>
          </a:ln>
        </p:spPr>
        <p:txBody>
          <a:bodyPr wrap="none" lIns="0" tIns="0" rIns="0" bIns="0" anchor="t" anchorCtr="0">
            <a:spAutoFit/>
          </a:bodyPr>
          <a:lstStyle/>
          <a:p>
            <a:pPr algn="l"/>
            <a:r>
              <a:rPr lang="zh-CN" sz="1050" dirty="0">
                <a:solidFill>
                  <a:srgbClr val="7F8C8D"/>
                </a:solidFill>
                <a:latin typeface="Arial"/>
                <a:ea typeface="Microsoft YaHei"/>
                <a:cs typeface="Arial"/>
              </a:rPr>
              <a:t>了解商户经营痛点、数字化意愿、当前使用的工具</a:t>
            </a:r>
          </a:p>
        </p:txBody>
      </p:sp>
      <p:sp>
        <p:nvSpPr>
          <p:cNvPr id="51" name="TextBox 51"/>
          <p:cNvSpPr txBox="1"/>
          <p:nvPr/>
        </p:nvSpPr>
        <p:spPr>
          <a:xfrm>
            <a:off x="8934474" y="4102418"/>
            <a:ext cx="133302" cy="274320"/>
          </a:xfrm>
          <a:prstGeom prst="rect">
            <a:avLst/>
          </a:prstGeom>
          <a:noFill/>
          <a:ln>
            <a:noFill/>
          </a:ln>
        </p:spPr>
        <p:txBody>
          <a:bodyPr wrap="none" lIns="0" tIns="0" rIns="0" bIns="0" anchor="t" anchorCtr="0">
            <a:spAutoFit/>
          </a:bodyPr>
          <a:lstStyle/>
          <a:p>
            <a:pPr algn="ctr"/>
            <a:r>
              <a:rPr lang="zh-CN" sz="1350" dirty="0">
                <a:solidFill>
                  <a:srgbClr val="A0A0A0"/>
                </a:solidFill>
                <a:latin typeface="Segoe UI"/>
                <a:ea typeface="Microsoft YaHei"/>
                <a:cs typeface="Segoe UI"/>
              </a:rPr>
              <a:t>▼</a:t>
            </a:r>
          </a:p>
        </p:txBody>
      </p:sp>
      <p:sp>
        <p:nvSpPr>
          <p:cNvPr id="52" name="Rectangle 52"/>
          <p:cNvSpPr/>
          <p:nvPr/>
        </p:nvSpPr>
        <p:spPr>
          <a:xfrm>
            <a:off x="6667500" y="4371975"/>
            <a:ext cx="4667250" cy="381000"/>
          </a:xfrm>
          <a:prstGeom prst="roundRect">
            <a:avLst>
              <a:gd name="adj" fmla="val 25000"/>
            </a:avLst>
          </a:prstGeom>
          <a:solidFill>
            <a:srgbClr val="1E8449">
              <a:alpha val="10000"/>
            </a:srgbClr>
          </a:solidFill>
          <a:ln>
            <a:noFill/>
          </a:ln>
        </p:spPr>
      </p:sp>
      <p:sp>
        <p:nvSpPr>
          <p:cNvPr id="53" name="Ellipse 53"/>
          <p:cNvSpPr/>
          <p:nvPr/>
        </p:nvSpPr>
        <p:spPr>
          <a:xfrm>
            <a:off x="6772275" y="4429125"/>
            <a:ext cx="266700" cy="266700"/>
          </a:xfrm>
          <a:prstGeom prst="ellipse">
            <a:avLst/>
          </a:prstGeom>
          <a:solidFill>
            <a:srgbClr val="1E8449"/>
          </a:solidFill>
          <a:ln>
            <a:noFill/>
          </a:ln>
        </p:spPr>
      </p:sp>
      <p:sp>
        <p:nvSpPr>
          <p:cNvPr id="54" name="TextBox 54"/>
          <p:cNvSpPr txBox="1"/>
          <p:nvPr/>
        </p:nvSpPr>
        <p:spPr>
          <a:xfrm>
            <a:off x="6859541" y="451294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a:t>
            </a:r>
          </a:p>
        </p:txBody>
      </p:sp>
      <p:sp>
        <p:nvSpPr>
          <p:cNvPr id="55" name="TextBox 55"/>
          <p:cNvSpPr txBox="1"/>
          <p:nvPr/>
        </p:nvSpPr>
        <p:spPr>
          <a:xfrm>
            <a:off x="7175182" y="4405789"/>
            <a:ext cx="924997" cy="259080"/>
          </a:xfrm>
          <a:prstGeom prst="rect">
            <a:avLst/>
          </a:prstGeom>
          <a:noFill/>
          <a:ln>
            <a:noFill/>
          </a:ln>
        </p:spPr>
        <p:txBody>
          <a:bodyPr wrap="none" lIns="0" tIns="0" rIns="0" bIns="0" anchor="t" anchorCtr="0">
            <a:spAutoFit/>
          </a:bodyPr>
          <a:lstStyle/>
          <a:p>
            <a:pPr algn="l"/>
            <a:r>
              <a:rPr lang="zh-CN" sz="1275" b="1" dirty="0">
                <a:solidFill>
                  <a:srgbClr val="1E8449"/>
                </a:solidFill>
                <a:latin typeface="Arial"/>
                <a:ea typeface="Microsoft YaHei"/>
                <a:cs typeface="Arial"/>
              </a:rPr>
              <a:t>选择并启动</a:t>
            </a:r>
          </a:p>
        </p:txBody>
      </p:sp>
      <p:sp>
        <p:nvSpPr>
          <p:cNvPr id="56" name="TextBox 56"/>
          <p:cNvSpPr txBox="1"/>
          <p:nvPr/>
        </p:nvSpPr>
        <p:spPr>
          <a:xfrm>
            <a:off x="7178040" y="4582478"/>
            <a:ext cx="1846898"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确定试点社区，输出选择报告</a:t>
            </a:r>
          </a:p>
        </p:txBody>
      </p:sp>
      <p:sp>
        <p:nvSpPr>
          <p:cNvPr id="57" name="Rectangle 57"/>
          <p:cNvSpPr/>
          <p:nvPr/>
        </p:nvSpPr>
        <p:spPr>
          <a:xfrm>
            <a:off x="571500" y="5143500"/>
            <a:ext cx="11049000" cy="952500"/>
          </a:xfrm>
          <a:prstGeom prst="roundRect">
            <a:avLst>
              <a:gd name="adj" fmla="val 14000"/>
            </a:avLst>
          </a:prstGeom>
          <a:solidFill>
            <a:srgbClr val="F0EDE8"/>
          </a:solidFill>
          <a:ln>
            <a:noFill/>
          </a:ln>
        </p:spPr>
      </p:sp>
      <p:sp>
        <p:nvSpPr>
          <p:cNvPr id="58" name="Rectangle 58"/>
          <p:cNvSpPr/>
          <p:nvPr/>
        </p:nvSpPr>
        <p:spPr>
          <a:xfrm>
            <a:off x="571500" y="5143500"/>
            <a:ext cx="11049000" cy="952500"/>
          </a:xfrm>
          <a:prstGeom prst="roundRect">
            <a:avLst>
              <a:gd name="adj" fmla="val 14000"/>
            </a:avLst>
          </a:prstGeom>
          <a:noFill/>
          <a:ln w="9525">
            <a:solidFill>
              <a:srgbClr val="E8E3DC"/>
            </a:solidFill>
          </a:ln>
        </p:spPr>
      </p:sp>
      <p:sp>
        <p:nvSpPr>
          <p:cNvPr id="59" name="Rectangle 59"/>
          <p:cNvSpPr/>
          <p:nvPr/>
        </p:nvSpPr>
        <p:spPr>
          <a:xfrm>
            <a:off x="809625" y="5314950"/>
            <a:ext cx="5143500" cy="619125"/>
          </a:xfrm>
          <a:prstGeom prst="roundRect">
            <a:avLst>
              <a:gd name="adj" fmla="val 15385"/>
            </a:avLst>
          </a:prstGeom>
          <a:solidFill>
            <a:srgbClr val="FFFFFF"/>
          </a:solidFill>
          <a:ln>
            <a:noFill/>
          </a:ln>
        </p:spPr>
      </p:sp>
      <p:sp>
        <p:nvSpPr>
          <p:cNvPr id="60" name="TextBox 60"/>
          <p:cNvSpPr txBox="1"/>
          <p:nvPr/>
        </p:nvSpPr>
        <p:spPr>
          <a:xfrm>
            <a:off x="984885" y="5423535"/>
            <a:ext cx="702564"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候选区域</a:t>
            </a:r>
          </a:p>
        </p:txBody>
      </p:sp>
      <p:sp>
        <p:nvSpPr>
          <p:cNvPr id="61" name="TextBox 61"/>
          <p:cNvSpPr txBox="1"/>
          <p:nvPr/>
        </p:nvSpPr>
        <p:spPr>
          <a:xfrm>
            <a:off x="984885" y="5661660"/>
            <a:ext cx="3390900" cy="243840"/>
          </a:xfrm>
          <a:prstGeom prst="rect">
            <a:avLst/>
          </a:prstGeom>
          <a:noFill/>
          <a:ln>
            <a:noFill/>
          </a:ln>
        </p:spPr>
        <p:txBody>
          <a:bodyPr wrap="none" lIns="0" tIns="0" rIns="0" bIns="0" anchor="t" anchorCtr="0">
            <a:spAutoFit/>
          </a:bodyPr>
          <a:lstStyle/>
          <a:p>
            <a:pPr algn="l"/>
            <a:r>
              <a:rPr lang="zh-CN" sz="1200" dirty="0">
                <a:solidFill>
                  <a:srgbClr val="2C2C2C"/>
                </a:solidFill>
                <a:latin typeface="Arial"/>
                <a:ea typeface="Microsoft YaHei"/>
                <a:cs typeface="Arial"/>
              </a:rPr>
              <a:t>广州周边可控区域（具体社区待实地考察确认）</a:t>
            </a:r>
          </a:p>
        </p:txBody>
      </p:sp>
      <p:sp>
        <p:nvSpPr>
          <p:cNvPr id="62" name="Rectangle 62"/>
          <p:cNvSpPr/>
          <p:nvPr/>
        </p:nvSpPr>
        <p:spPr>
          <a:xfrm>
            <a:off x="6143625" y="5314950"/>
            <a:ext cx="5286375" cy="619125"/>
          </a:xfrm>
          <a:prstGeom prst="roundRect">
            <a:avLst>
              <a:gd name="adj" fmla="val 15385"/>
            </a:avLst>
          </a:prstGeom>
          <a:solidFill>
            <a:srgbClr val="FFFFFF"/>
          </a:solidFill>
          <a:ln>
            <a:noFill/>
          </a:ln>
        </p:spPr>
      </p:sp>
      <p:sp>
        <p:nvSpPr>
          <p:cNvPr id="63" name="TextBox 63"/>
          <p:cNvSpPr txBox="1"/>
          <p:nvPr/>
        </p:nvSpPr>
        <p:spPr>
          <a:xfrm>
            <a:off x="6318885" y="5423535"/>
            <a:ext cx="1651883" cy="243840"/>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为何是 Type 1 决策？</a:t>
            </a:r>
          </a:p>
        </p:txBody>
      </p:sp>
      <p:sp>
        <p:nvSpPr>
          <p:cNvPr id="64" name="TextBox 64"/>
          <p:cNvSpPr txBox="1"/>
          <p:nvPr/>
        </p:nvSpPr>
        <p:spPr>
          <a:xfrm>
            <a:off x="6319838" y="5669756"/>
            <a:ext cx="440912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选错社区=试点数据无意义=浪费时间——不可逆，需充分信息后决定</a:t>
            </a:r>
          </a:p>
        </p:txBody>
      </p:sp>
      <p:sp>
        <p:nvSpPr>
          <p:cNvPr id="65" name="TextBox 65"/>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37</a:t>
            </a:r>
          </a:p>
        </p:txBody>
      </p:sp>
      <p:sp>
        <p:nvSpPr>
          <p:cNvPr id="66" name="TextBox 66"/>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E67E22"/>
          </a:solidFill>
          <a:ln>
            <a:noFill/>
          </a:ln>
        </p:spPr>
      </p:sp>
      <p:sp>
        <p:nvSpPr>
          <p:cNvPr id="4" name="TextBox 4"/>
          <p:cNvSpPr txBox="1"/>
          <p:nvPr/>
        </p:nvSpPr>
        <p:spPr>
          <a:xfrm>
            <a:off x="727710" y="375285"/>
            <a:ext cx="4983194" cy="548640"/>
          </a:xfrm>
          <a:prstGeom prst="rect">
            <a:avLst/>
          </a:prstGeom>
          <a:noFill/>
          <a:ln>
            <a:noFill/>
          </a:ln>
        </p:spPr>
        <p:txBody>
          <a:bodyPr wrap="none" lIns="0" tIns="0" rIns="0" bIns="0" anchor="t" anchorCtr="0">
            <a:spAutoFit/>
          </a:bodyPr>
          <a:lstStyle/>
          <a:p>
            <a:pPr algn="l"/>
            <a:r>
              <a:rPr lang="zh-CN" sz="2700" b="1" dirty="0">
                <a:solidFill>
                  <a:srgbClr val="2C2C2C"/>
                </a:solidFill>
                <a:latin typeface="Georgia"/>
                <a:ea typeface="KaiTi"/>
                <a:cs typeface="Georgia"/>
              </a:rPr>
              <a:t>卷三总结：执行优先级一页纸</a:t>
            </a:r>
          </a:p>
        </p:txBody>
      </p:sp>
      <p:sp>
        <p:nvSpPr>
          <p:cNvPr id="5" name="Rectangle 5"/>
          <p:cNvSpPr/>
          <p:nvPr/>
        </p:nvSpPr>
        <p:spPr>
          <a:xfrm>
            <a:off x="571500" y="1190625"/>
            <a:ext cx="11049000" cy="419100"/>
          </a:xfrm>
          <a:prstGeom prst="roundRect">
            <a:avLst>
              <a:gd name="adj" fmla="val 22727"/>
            </a:avLst>
          </a:prstGeom>
          <a:solidFill>
            <a:srgbClr val="1A5276">
              <a:alpha val="10000"/>
            </a:srgbClr>
          </a:solidFill>
          <a:ln>
            <a:noFill/>
          </a:ln>
        </p:spPr>
      </p:sp>
      <p:sp>
        <p:nvSpPr>
          <p:cNvPr id="6" name="TextBox 6"/>
          <p:cNvSpPr txBox="1"/>
          <p:nvPr/>
        </p:nvSpPr>
        <p:spPr>
          <a:xfrm>
            <a:off x="889635" y="1327785"/>
            <a:ext cx="534543"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优先级</a:t>
            </a:r>
          </a:p>
        </p:txBody>
      </p:sp>
      <p:sp>
        <p:nvSpPr>
          <p:cNvPr id="7" name="TextBox 7"/>
          <p:cNvSpPr txBox="1"/>
          <p:nvPr/>
        </p:nvSpPr>
        <p:spPr>
          <a:xfrm>
            <a:off x="1746885" y="1327785"/>
            <a:ext cx="366522"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行动</a:t>
            </a:r>
          </a:p>
        </p:txBody>
      </p:sp>
      <p:sp>
        <p:nvSpPr>
          <p:cNvPr id="8" name="TextBox 8"/>
          <p:cNvSpPr txBox="1"/>
          <p:nvPr/>
        </p:nvSpPr>
        <p:spPr>
          <a:xfrm>
            <a:off x="5795010" y="1327785"/>
            <a:ext cx="366522"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时间</a:t>
            </a:r>
          </a:p>
        </p:txBody>
      </p:sp>
      <p:sp>
        <p:nvSpPr>
          <p:cNvPr id="9" name="TextBox 9"/>
          <p:cNvSpPr txBox="1"/>
          <p:nvPr/>
        </p:nvSpPr>
        <p:spPr>
          <a:xfrm>
            <a:off x="7604760" y="1327785"/>
            <a:ext cx="702564"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退出标准</a:t>
            </a:r>
          </a:p>
        </p:txBody>
      </p:sp>
      <p:sp>
        <p:nvSpPr>
          <p:cNvPr id="10" name="TextBox 10"/>
          <p:cNvSpPr txBox="1"/>
          <p:nvPr/>
        </p:nvSpPr>
        <p:spPr>
          <a:xfrm>
            <a:off x="10462260" y="1327785"/>
            <a:ext cx="366522"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状态</a:t>
            </a:r>
          </a:p>
        </p:txBody>
      </p:sp>
      <p:sp>
        <p:nvSpPr>
          <p:cNvPr id="11" name="Rectangle 11"/>
          <p:cNvSpPr/>
          <p:nvPr/>
        </p:nvSpPr>
        <p:spPr>
          <a:xfrm>
            <a:off x="571500" y="1685925"/>
            <a:ext cx="11049000" cy="514350"/>
          </a:xfrm>
          <a:prstGeom prst="roundRect">
            <a:avLst>
              <a:gd name="adj" fmla="val 14815"/>
            </a:avLst>
          </a:prstGeom>
          <a:solidFill>
            <a:srgbClr val="FFFFFF"/>
          </a:solidFill>
          <a:ln>
            <a:noFill/>
          </a:ln>
          <a:effectLst>
            <a:outerShdw blurRad="76200" dist="19050" dir="5400000" algn="ctr" rotWithShape="0">
              <a:srgbClr val="2C2C2C">
                <a:alpha val="4500"/>
              </a:srgbClr>
            </a:outerShdw>
          </a:effectLst>
        </p:spPr>
      </p:sp>
      <p:sp>
        <p:nvSpPr>
          <p:cNvPr id="12" name="Rectangle 12"/>
          <p:cNvSpPr/>
          <p:nvPr/>
        </p:nvSpPr>
        <p:spPr>
          <a:xfrm>
            <a:off x="571500" y="1685925"/>
            <a:ext cx="11049000" cy="514350"/>
          </a:xfrm>
          <a:prstGeom prst="roundRect">
            <a:avLst>
              <a:gd name="adj" fmla="val 14815"/>
            </a:avLst>
          </a:prstGeom>
          <a:noFill/>
          <a:ln w="9525">
            <a:solidFill>
              <a:srgbClr val="E8E3DC"/>
            </a:solidFill>
          </a:ln>
        </p:spPr>
      </p:sp>
      <p:sp>
        <p:nvSpPr>
          <p:cNvPr id="13" name="Rectangle 13"/>
          <p:cNvSpPr/>
          <p:nvPr/>
        </p:nvSpPr>
        <p:spPr>
          <a:xfrm>
            <a:off x="714375" y="1809750"/>
            <a:ext cx="666750" cy="266700"/>
          </a:xfrm>
          <a:prstGeom prst="roundRect">
            <a:avLst>
              <a:gd name="adj" fmla="val 21429"/>
            </a:avLst>
          </a:prstGeom>
          <a:solidFill>
            <a:srgbClr val="C0392B"/>
          </a:solidFill>
          <a:ln>
            <a:noFill/>
          </a:ln>
        </p:spPr>
      </p:sp>
      <p:sp>
        <p:nvSpPr>
          <p:cNvPr id="14" name="TextBox 14"/>
          <p:cNvSpPr txBox="1"/>
          <p:nvPr/>
        </p:nvSpPr>
        <p:spPr>
          <a:xfrm>
            <a:off x="960283" y="1885474"/>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P0</a:t>
            </a:r>
          </a:p>
        </p:txBody>
      </p:sp>
      <p:sp>
        <p:nvSpPr>
          <p:cNvPr id="15" name="TextBox 15"/>
          <p:cNvSpPr txBox="1"/>
          <p:nvPr/>
        </p:nvSpPr>
        <p:spPr>
          <a:xfrm>
            <a:off x="1745932" y="1853089"/>
            <a:ext cx="1835460"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信息补全（12个问题）</a:t>
            </a:r>
          </a:p>
        </p:txBody>
      </p:sp>
      <p:sp>
        <p:nvSpPr>
          <p:cNvPr id="16" name="TextBox 16"/>
          <p:cNvSpPr txBox="1"/>
          <p:nvPr/>
        </p:nvSpPr>
        <p:spPr>
          <a:xfrm>
            <a:off x="5795962" y="1869281"/>
            <a:ext cx="86117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6/18 - 6/22</a:t>
            </a:r>
          </a:p>
        </p:txBody>
      </p:sp>
      <p:sp>
        <p:nvSpPr>
          <p:cNvPr id="17" name="TextBox 17"/>
          <p:cNvSpPr txBox="1"/>
          <p:nvPr/>
        </p:nvSpPr>
        <p:spPr>
          <a:xfrm>
            <a:off x="7605712" y="1869281"/>
            <a:ext cx="778669"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全部有答案</a:t>
            </a:r>
          </a:p>
        </p:txBody>
      </p:sp>
      <p:sp>
        <p:nvSpPr>
          <p:cNvPr id="18" name="Rectangle 18"/>
          <p:cNvSpPr/>
          <p:nvPr/>
        </p:nvSpPr>
        <p:spPr>
          <a:xfrm>
            <a:off x="10572750" y="1828800"/>
            <a:ext cx="809625" cy="228600"/>
          </a:xfrm>
          <a:prstGeom prst="roundRect">
            <a:avLst>
              <a:gd name="adj" fmla="val 25000"/>
            </a:avLst>
          </a:prstGeom>
          <a:solidFill>
            <a:srgbClr val="E67E22"/>
          </a:solidFill>
          <a:ln>
            <a:noFill/>
          </a:ln>
        </p:spPr>
      </p:sp>
      <p:sp>
        <p:nvSpPr>
          <p:cNvPr id="19" name="TextBox 19"/>
          <p:cNvSpPr txBox="1"/>
          <p:nvPr/>
        </p:nvSpPr>
        <p:spPr>
          <a:xfrm>
            <a:off x="10755642" y="188547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进行中</a:t>
            </a:r>
          </a:p>
        </p:txBody>
      </p:sp>
      <p:sp>
        <p:nvSpPr>
          <p:cNvPr id="20" name="Rectangle 20"/>
          <p:cNvSpPr/>
          <p:nvPr/>
        </p:nvSpPr>
        <p:spPr>
          <a:xfrm>
            <a:off x="571500" y="2276475"/>
            <a:ext cx="11049000" cy="514350"/>
          </a:xfrm>
          <a:prstGeom prst="roundRect">
            <a:avLst>
              <a:gd name="adj" fmla="val 14815"/>
            </a:avLst>
          </a:prstGeom>
          <a:solidFill>
            <a:srgbClr val="FFFFFF"/>
          </a:solidFill>
          <a:ln>
            <a:noFill/>
          </a:ln>
          <a:effectLst>
            <a:outerShdw blurRad="76200" dist="19050" dir="5400000" algn="ctr" rotWithShape="0">
              <a:srgbClr val="2C2C2C">
                <a:alpha val="4500"/>
              </a:srgbClr>
            </a:outerShdw>
          </a:effectLst>
        </p:spPr>
      </p:sp>
      <p:sp>
        <p:nvSpPr>
          <p:cNvPr id="21" name="Rectangle 21"/>
          <p:cNvSpPr/>
          <p:nvPr/>
        </p:nvSpPr>
        <p:spPr>
          <a:xfrm>
            <a:off x="571500" y="2276475"/>
            <a:ext cx="11049000" cy="514350"/>
          </a:xfrm>
          <a:prstGeom prst="roundRect">
            <a:avLst>
              <a:gd name="adj" fmla="val 14815"/>
            </a:avLst>
          </a:prstGeom>
          <a:noFill/>
          <a:ln w="9525">
            <a:solidFill>
              <a:srgbClr val="E8E3DC"/>
            </a:solidFill>
          </a:ln>
        </p:spPr>
      </p:sp>
      <p:sp>
        <p:nvSpPr>
          <p:cNvPr id="22" name="Rectangle 22"/>
          <p:cNvSpPr/>
          <p:nvPr/>
        </p:nvSpPr>
        <p:spPr>
          <a:xfrm>
            <a:off x="714375" y="2400300"/>
            <a:ext cx="666750" cy="266700"/>
          </a:xfrm>
          <a:prstGeom prst="roundRect">
            <a:avLst>
              <a:gd name="adj" fmla="val 21429"/>
            </a:avLst>
          </a:prstGeom>
          <a:solidFill>
            <a:srgbClr val="C0392B"/>
          </a:solidFill>
          <a:ln>
            <a:noFill/>
          </a:ln>
        </p:spPr>
      </p:sp>
      <p:sp>
        <p:nvSpPr>
          <p:cNvPr id="23" name="TextBox 23"/>
          <p:cNvSpPr txBox="1"/>
          <p:nvPr/>
        </p:nvSpPr>
        <p:spPr>
          <a:xfrm>
            <a:off x="960283" y="2476024"/>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P0</a:t>
            </a:r>
          </a:p>
        </p:txBody>
      </p:sp>
      <p:sp>
        <p:nvSpPr>
          <p:cNvPr id="24" name="TextBox 24"/>
          <p:cNvSpPr txBox="1"/>
          <p:nvPr/>
        </p:nvSpPr>
        <p:spPr>
          <a:xfrm>
            <a:off x="1745932" y="2443639"/>
            <a:ext cx="1460564"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跨店清算技术验证</a:t>
            </a:r>
          </a:p>
        </p:txBody>
      </p:sp>
      <p:sp>
        <p:nvSpPr>
          <p:cNvPr id="25" name="TextBox 25"/>
          <p:cNvSpPr txBox="1"/>
          <p:nvPr/>
        </p:nvSpPr>
        <p:spPr>
          <a:xfrm>
            <a:off x="5795962" y="2459831"/>
            <a:ext cx="66615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6下 - 7上</a:t>
            </a:r>
          </a:p>
        </p:txBody>
      </p:sp>
      <p:sp>
        <p:nvSpPr>
          <p:cNvPr id="26" name="TextBox 26"/>
          <p:cNvSpPr txBox="1"/>
          <p:nvPr/>
        </p:nvSpPr>
        <p:spPr>
          <a:xfrm>
            <a:off x="7605712" y="2459831"/>
            <a:ext cx="1453753"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&gt;= 10笔真实跨店交易</a:t>
            </a:r>
          </a:p>
        </p:txBody>
      </p:sp>
      <p:sp>
        <p:nvSpPr>
          <p:cNvPr id="27" name="Rectangle 27"/>
          <p:cNvSpPr/>
          <p:nvPr/>
        </p:nvSpPr>
        <p:spPr>
          <a:xfrm>
            <a:off x="10572750" y="2419350"/>
            <a:ext cx="809625" cy="228600"/>
          </a:xfrm>
          <a:prstGeom prst="roundRect">
            <a:avLst>
              <a:gd name="adj" fmla="val 25000"/>
            </a:avLst>
          </a:prstGeom>
          <a:solidFill>
            <a:srgbClr val="7F8C8D"/>
          </a:solidFill>
          <a:ln>
            <a:noFill/>
          </a:ln>
        </p:spPr>
      </p:sp>
      <p:sp>
        <p:nvSpPr>
          <p:cNvPr id="28" name="TextBox 28"/>
          <p:cNvSpPr txBox="1"/>
          <p:nvPr/>
        </p:nvSpPr>
        <p:spPr>
          <a:xfrm>
            <a:off x="10755642" y="247602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待启动</a:t>
            </a:r>
          </a:p>
        </p:txBody>
      </p:sp>
      <p:sp>
        <p:nvSpPr>
          <p:cNvPr id="29" name="Rectangle 29"/>
          <p:cNvSpPr/>
          <p:nvPr/>
        </p:nvSpPr>
        <p:spPr>
          <a:xfrm>
            <a:off x="571500" y="2867025"/>
            <a:ext cx="11049000" cy="514350"/>
          </a:xfrm>
          <a:prstGeom prst="roundRect">
            <a:avLst>
              <a:gd name="adj" fmla="val 14815"/>
            </a:avLst>
          </a:prstGeom>
          <a:solidFill>
            <a:srgbClr val="FFFFFF"/>
          </a:solidFill>
          <a:ln>
            <a:noFill/>
          </a:ln>
          <a:effectLst>
            <a:outerShdw blurRad="76200" dist="19050" dir="5400000" algn="ctr" rotWithShape="0">
              <a:srgbClr val="2C2C2C">
                <a:alpha val="4500"/>
              </a:srgbClr>
            </a:outerShdw>
          </a:effectLst>
        </p:spPr>
      </p:sp>
      <p:sp>
        <p:nvSpPr>
          <p:cNvPr id="30" name="Rectangle 30"/>
          <p:cNvSpPr/>
          <p:nvPr/>
        </p:nvSpPr>
        <p:spPr>
          <a:xfrm>
            <a:off x="571500" y="2867025"/>
            <a:ext cx="11049000" cy="514350"/>
          </a:xfrm>
          <a:prstGeom prst="roundRect">
            <a:avLst>
              <a:gd name="adj" fmla="val 14815"/>
            </a:avLst>
          </a:prstGeom>
          <a:noFill/>
          <a:ln w="9525">
            <a:solidFill>
              <a:srgbClr val="E8E3DC"/>
            </a:solidFill>
          </a:ln>
        </p:spPr>
      </p:sp>
      <p:sp>
        <p:nvSpPr>
          <p:cNvPr id="31" name="Rectangle 31"/>
          <p:cNvSpPr/>
          <p:nvPr/>
        </p:nvSpPr>
        <p:spPr>
          <a:xfrm>
            <a:off x="714375" y="2990850"/>
            <a:ext cx="666750" cy="266700"/>
          </a:xfrm>
          <a:prstGeom prst="roundRect">
            <a:avLst>
              <a:gd name="adj" fmla="val 21429"/>
            </a:avLst>
          </a:prstGeom>
          <a:solidFill>
            <a:srgbClr val="E67E22"/>
          </a:solidFill>
          <a:ln>
            <a:noFill/>
          </a:ln>
        </p:spPr>
      </p:sp>
      <p:sp>
        <p:nvSpPr>
          <p:cNvPr id="32" name="TextBox 32"/>
          <p:cNvSpPr txBox="1"/>
          <p:nvPr/>
        </p:nvSpPr>
        <p:spPr>
          <a:xfrm>
            <a:off x="960283" y="3047524"/>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P1</a:t>
            </a:r>
          </a:p>
        </p:txBody>
      </p:sp>
      <p:sp>
        <p:nvSpPr>
          <p:cNvPr id="33" name="TextBox 33"/>
          <p:cNvSpPr txBox="1"/>
          <p:nvPr/>
        </p:nvSpPr>
        <p:spPr>
          <a:xfrm>
            <a:off x="1745932" y="3015139"/>
            <a:ext cx="1103519"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试点社区启动</a:t>
            </a:r>
          </a:p>
        </p:txBody>
      </p:sp>
      <p:sp>
        <p:nvSpPr>
          <p:cNvPr id="34" name="TextBox 34"/>
          <p:cNvSpPr txBox="1"/>
          <p:nvPr/>
        </p:nvSpPr>
        <p:spPr>
          <a:xfrm>
            <a:off x="5795962" y="3031331"/>
            <a:ext cx="66615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6下 - 7中</a:t>
            </a:r>
          </a:p>
        </p:txBody>
      </p:sp>
      <p:sp>
        <p:nvSpPr>
          <p:cNvPr id="35" name="TextBox 35"/>
          <p:cNvSpPr txBox="1"/>
          <p:nvPr/>
        </p:nvSpPr>
        <p:spPr>
          <a:xfrm>
            <a:off x="7605712" y="3031331"/>
            <a:ext cx="1506260"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30%商户产生跨店交易</a:t>
            </a:r>
          </a:p>
        </p:txBody>
      </p:sp>
      <p:sp>
        <p:nvSpPr>
          <p:cNvPr id="36" name="Rectangle 36"/>
          <p:cNvSpPr/>
          <p:nvPr/>
        </p:nvSpPr>
        <p:spPr>
          <a:xfrm>
            <a:off x="10572750" y="3009900"/>
            <a:ext cx="809625" cy="228600"/>
          </a:xfrm>
          <a:prstGeom prst="roundRect">
            <a:avLst>
              <a:gd name="adj" fmla="val 25000"/>
            </a:avLst>
          </a:prstGeom>
          <a:solidFill>
            <a:srgbClr val="7F8C8D"/>
          </a:solidFill>
          <a:ln>
            <a:noFill/>
          </a:ln>
        </p:spPr>
      </p:sp>
      <p:sp>
        <p:nvSpPr>
          <p:cNvPr id="37" name="TextBox 37"/>
          <p:cNvSpPr txBox="1"/>
          <p:nvPr/>
        </p:nvSpPr>
        <p:spPr>
          <a:xfrm>
            <a:off x="10755642" y="304752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待启动</a:t>
            </a:r>
          </a:p>
        </p:txBody>
      </p:sp>
      <p:sp>
        <p:nvSpPr>
          <p:cNvPr id="38" name="Rectangle 38"/>
          <p:cNvSpPr/>
          <p:nvPr/>
        </p:nvSpPr>
        <p:spPr>
          <a:xfrm>
            <a:off x="571500" y="3457575"/>
            <a:ext cx="11049000" cy="514350"/>
          </a:xfrm>
          <a:prstGeom prst="roundRect">
            <a:avLst>
              <a:gd name="adj" fmla="val 14815"/>
            </a:avLst>
          </a:prstGeom>
          <a:solidFill>
            <a:srgbClr val="FFFFFF"/>
          </a:solidFill>
          <a:ln>
            <a:noFill/>
          </a:ln>
          <a:effectLst>
            <a:outerShdw blurRad="76200" dist="19050" dir="5400000" algn="ctr" rotWithShape="0">
              <a:srgbClr val="2C2C2C">
                <a:alpha val="4500"/>
              </a:srgbClr>
            </a:outerShdw>
          </a:effectLst>
        </p:spPr>
      </p:sp>
      <p:sp>
        <p:nvSpPr>
          <p:cNvPr id="39" name="Rectangle 39"/>
          <p:cNvSpPr/>
          <p:nvPr/>
        </p:nvSpPr>
        <p:spPr>
          <a:xfrm>
            <a:off x="571500" y="3457575"/>
            <a:ext cx="11049000" cy="514350"/>
          </a:xfrm>
          <a:prstGeom prst="roundRect">
            <a:avLst>
              <a:gd name="adj" fmla="val 14815"/>
            </a:avLst>
          </a:prstGeom>
          <a:noFill/>
          <a:ln w="9525">
            <a:solidFill>
              <a:srgbClr val="E8E3DC"/>
            </a:solidFill>
          </a:ln>
        </p:spPr>
      </p:sp>
      <p:sp>
        <p:nvSpPr>
          <p:cNvPr id="40" name="Rectangle 40"/>
          <p:cNvSpPr/>
          <p:nvPr/>
        </p:nvSpPr>
        <p:spPr>
          <a:xfrm>
            <a:off x="714375" y="3581400"/>
            <a:ext cx="666750" cy="266700"/>
          </a:xfrm>
          <a:prstGeom prst="roundRect">
            <a:avLst>
              <a:gd name="adj" fmla="val 21429"/>
            </a:avLst>
          </a:prstGeom>
          <a:solidFill>
            <a:srgbClr val="E67E22"/>
          </a:solidFill>
          <a:ln>
            <a:noFill/>
          </a:ln>
        </p:spPr>
      </p:sp>
      <p:sp>
        <p:nvSpPr>
          <p:cNvPr id="41" name="TextBox 41"/>
          <p:cNvSpPr txBox="1"/>
          <p:nvPr/>
        </p:nvSpPr>
        <p:spPr>
          <a:xfrm>
            <a:off x="960283" y="3638074"/>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P1</a:t>
            </a:r>
          </a:p>
        </p:txBody>
      </p:sp>
      <p:sp>
        <p:nvSpPr>
          <p:cNvPr id="42" name="TextBox 42"/>
          <p:cNvSpPr txBox="1"/>
          <p:nvPr/>
        </p:nvSpPr>
        <p:spPr>
          <a:xfrm>
            <a:off x="1745932" y="3605689"/>
            <a:ext cx="1639086"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推广者最小培训体系</a:t>
            </a:r>
          </a:p>
        </p:txBody>
      </p:sp>
      <p:sp>
        <p:nvSpPr>
          <p:cNvPr id="43" name="TextBox 43"/>
          <p:cNvSpPr txBox="1"/>
          <p:nvPr/>
        </p:nvSpPr>
        <p:spPr>
          <a:xfrm>
            <a:off x="5795962" y="3621881"/>
            <a:ext cx="66615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7中 - 7下</a:t>
            </a:r>
          </a:p>
        </p:txBody>
      </p:sp>
      <p:sp>
        <p:nvSpPr>
          <p:cNvPr id="44" name="TextBox 44"/>
          <p:cNvSpPr txBox="1"/>
          <p:nvPr/>
        </p:nvSpPr>
        <p:spPr>
          <a:xfrm>
            <a:off x="7605712" y="3621881"/>
            <a:ext cx="1116211"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独立签约 &gt;= 5家</a:t>
            </a:r>
          </a:p>
        </p:txBody>
      </p:sp>
      <p:sp>
        <p:nvSpPr>
          <p:cNvPr id="45" name="Rectangle 45"/>
          <p:cNvSpPr/>
          <p:nvPr/>
        </p:nvSpPr>
        <p:spPr>
          <a:xfrm>
            <a:off x="10572750" y="3600450"/>
            <a:ext cx="809625" cy="228600"/>
          </a:xfrm>
          <a:prstGeom prst="roundRect">
            <a:avLst>
              <a:gd name="adj" fmla="val 25000"/>
            </a:avLst>
          </a:prstGeom>
          <a:solidFill>
            <a:srgbClr val="7F8C8D"/>
          </a:solidFill>
          <a:ln>
            <a:noFill/>
          </a:ln>
        </p:spPr>
      </p:sp>
      <p:sp>
        <p:nvSpPr>
          <p:cNvPr id="46" name="TextBox 46"/>
          <p:cNvSpPr txBox="1"/>
          <p:nvPr/>
        </p:nvSpPr>
        <p:spPr>
          <a:xfrm>
            <a:off x="10755642" y="363807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待启动</a:t>
            </a:r>
          </a:p>
        </p:txBody>
      </p:sp>
      <p:sp>
        <p:nvSpPr>
          <p:cNvPr id="47" name="Rectangle 47"/>
          <p:cNvSpPr/>
          <p:nvPr/>
        </p:nvSpPr>
        <p:spPr>
          <a:xfrm>
            <a:off x="571500" y="4048125"/>
            <a:ext cx="11049000" cy="514350"/>
          </a:xfrm>
          <a:prstGeom prst="roundRect">
            <a:avLst>
              <a:gd name="adj" fmla="val 14815"/>
            </a:avLst>
          </a:prstGeom>
          <a:solidFill>
            <a:srgbClr val="FFFFFF"/>
          </a:solidFill>
          <a:ln>
            <a:noFill/>
          </a:ln>
          <a:effectLst>
            <a:outerShdw blurRad="76200" dist="19050" dir="5400000" algn="ctr" rotWithShape="0">
              <a:srgbClr val="2C2C2C">
                <a:alpha val="4500"/>
              </a:srgbClr>
            </a:outerShdw>
          </a:effectLst>
        </p:spPr>
      </p:sp>
      <p:sp>
        <p:nvSpPr>
          <p:cNvPr id="48" name="Rectangle 48"/>
          <p:cNvSpPr/>
          <p:nvPr/>
        </p:nvSpPr>
        <p:spPr>
          <a:xfrm>
            <a:off x="571500" y="4048125"/>
            <a:ext cx="11049000" cy="514350"/>
          </a:xfrm>
          <a:prstGeom prst="roundRect">
            <a:avLst>
              <a:gd name="adj" fmla="val 14815"/>
            </a:avLst>
          </a:prstGeom>
          <a:noFill/>
          <a:ln w="9525">
            <a:solidFill>
              <a:srgbClr val="E8E3DC"/>
            </a:solidFill>
          </a:ln>
        </p:spPr>
      </p:sp>
      <p:sp>
        <p:nvSpPr>
          <p:cNvPr id="49" name="Rectangle 49"/>
          <p:cNvSpPr/>
          <p:nvPr/>
        </p:nvSpPr>
        <p:spPr>
          <a:xfrm>
            <a:off x="714375" y="4171950"/>
            <a:ext cx="666750" cy="266700"/>
          </a:xfrm>
          <a:prstGeom prst="roundRect">
            <a:avLst>
              <a:gd name="adj" fmla="val 21429"/>
            </a:avLst>
          </a:prstGeom>
          <a:solidFill>
            <a:srgbClr val="E67E22"/>
          </a:solidFill>
          <a:ln>
            <a:noFill/>
          </a:ln>
        </p:spPr>
      </p:sp>
      <p:sp>
        <p:nvSpPr>
          <p:cNvPr id="50" name="TextBox 50"/>
          <p:cNvSpPr txBox="1"/>
          <p:nvPr/>
        </p:nvSpPr>
        <p:spPr>
          <a:xfrm>
            <a:off x="960283" y="4228624"/>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P1</a:t>
            </a:r>
          </a:p>
        </p:txBody>
      </p:sp>
      <p:sp>
        <p:nvSpPr>
          <p:cNvPr id="51" name="TextBox 51"/>
          <p:cNvSpPr txBox="1"/>
          <p:nvPr/>
        </p:nvSpPr>
        <p:spPr>
          <a:xfrm>
            <a:off x="1745932" y="4196239"/>
            <a:ext cx="1282041"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内容体系组织化</a:t>
            </a:r>
          </a:p>
        </p:txBody>
      </p:sp>
      <p:sp>
        <p:nvSpPr>
          <p:cNvPr id="52" name="TextBox 52"/>
          <p:cNvSpPr txBox="1"/>
          <p:nvPr/>
        </p:nvSpPr>
        <p:spPr>
          <a:xfrm>
            <a:off x="5795962" y="4212431"/>
            <a:ext cx="666155"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7中 - 8中</a:t>
            </a:r>
          </a:p>
        </p:txBody>
      </p:sp>
      <p:sp>
        <p:nvSpPr>
          <p:cNvPr id="53" name="TextBox 53"/>
          <p:cNvSpPr txBox="1"/>
          <p:nvPr/>
        </p:nvSpPr>
        <p:spPr>
          <a:xfrm>
            <a:off x="7605712" y="4212431"/>
            <a:ext cx="1093708"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10篇内容已发布</a:t>
            </a:r>
          </a:p>
        </p:txBody>
      </p:sp>
      <p:sp>
        <p:nvSpPr>
          <p:cNvPr id="54" name="Rectangle 54"/>
          <p:cNvSpPr/>
          <p:nvPr/>
        </p:nvSpPr>
        <p:spPr>
          <a:xfrm>
            <a:off x="10572750" y="4191000"/>
            <a:ext cx="809625" cy="228600"/>
          </a:xfrm>
          <a:prstGeom prst="roundRect">
            <a:avLst>
              <a:gd name="adj" fmla="val 25000"/>
            </a:avLst>
          </a:prstGeom>
          <a:solidFill>
            <a:srgbClr val="7F8C8D"/>
          </a:solidFill>
          <a:ln>
            <a:noFill/>
          </a:ln>
        </p:spPr>
      </p:sp>
      <p:sp>
        <p:nvSpPr>
          <p:cNvPr id="55" name="TextBox 55"/>
          <p:cNvSpPr txBox="1"/>
          <p:nvPr/>
        </p:nvSpPr>
        <p:spPr>
          <a:xfrm>
            <a:off x="10755642" y="422862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待启动</a:t>
            </a:r>
          </a:p>
        </p:txBody>
      </p:sp>
      <p:sp>
        <p:nvSpPr>
          <p:cNvPr id="56" name="Rectangle 56"/>
          <p:cNvSpPr/>
          <p:nvPr/>
        </p:nvSpPr>
        <p:spPr>
          <a:xfrm>
            <a:off x="571500" y="4638675"/>
            <a:ext cx="11049000" cy="514350"/>
          </a:xfrm>
          <a:prstGeom prst="roundRect">
            <a:avLst>
              <a:gd name="adj" fmla="val 14815"/>
            </a:avLst>
          </a:prstGeom>
          <a:solidFill>
            <a:srgbClr val="FFFFFF"/>
          </a:solidFill>
          <a:ln>
            <a:noFill/>
          </a:ln>
          <a:effectLst>
            <a:outerShdw blurRad="76200" dist="19050" dir="5400000" algn="ctr" rotWithShape="0">
              <a:srgbClr val="2C2C2C">
                <a:alpha val="4500"/>
              </a:srgbClr>
            </a:outerShdw>
          </a:effectLst>
        </p:spPr>
      </p:sp>
      <p:sp>
        <p:nvSpPr>
          <p:cNvPr id="57" name="Rectangle 57"/>
          <p:cNvSpPr/>
          <p:nvPr/>
        </p:nvSpPr>
        <p:spPr>
          <a:xfrm>
            <a:off x="571500" y="4638675"/>
            <a:ext cx="11049000" cy="514350"/>
          </a:xfrm>
          <a:prstGeom prst="roundRect">
            <a:avLst>
              <a:gd name="adj" fmla="val 14815"/>
            </a:avLst>
          </a:prstGeom>
          <a:noFill/>
          <a:ln w="9525">
            <a:solidFill>
              <a:srgbClr val="E8E3DC"/>
            </a:solidFill>
          </a:ln>
        </p:spPr>
      </p:sp>
      <p:sp>
        <p:nvSpPr>
          <p:cNvPr id="58" name="Rectangle 58"/>
          <p:cNvSpPr/>
          <p:nvPr/>
        </p:nvSpPr>
        <p:spPr>
          <a:xfrm>
            <a:off x="714375" y="4762500"/>
            <a:ext cx="666750" cy="266700"/>
          </a:xfrm>
          <a:prstGeom prst="roundRect">
            <a:avLst>
              <a:gd name="adj" fmla="val 21429"/>
            </a:avLst>
          </a:prstGeom>
          <a:solidFill>
            <a:srgbClr val="1A5276"/>
          </a:solidFill>
          <a:ln>
            <a:noFill/>
          </a:ln>
        </p:spPr>
      </p:sp>
      <p:sp>
        <p:nvSpPr>
          <p:cNvPr id="59" name="TextBox 59"/>
          <p:cNvSpPr txBox="1"/>
          <p:nvPr/>
        </p:nvSpPr>
        <p:spPr>
          <a:xfrm>
            <a:off x="960283" y="4819174"/>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P2</a:t>
            </a:r>
          </a:p>
        </p:txBody>
      </p:sp>
      <p:sp>
        <p:nvSpPr>
          <p:cNvPr id="60" name="TextBox 60"/>
          <p:cNvSpPr txBox="1"/>
          <p:nvPr/>
        </p:nvSpPr>
        <p:spPr>
          <a:xfrm>
            <a:off x="1745932" y="4786789"/>
            <a:ext cx="1282041" cy="259080"/>
          </a:xfrm>
          <a:prstGeom prst="rect">
            <a:avLst/>
          </a:prstGeom>
          <a:noFill/>
          <a:ln>
            <a:noFill/>
          </a:ln>
        </p:spPr>
        <p:txBody>
          <a:bodyPr wrap="none" lIns="0" tIns="0" rIns="0" bIns="0" anchor="t" anchorCtr="0">
            <a:spAutoFit/>
          </a:bodyPr>
          <a:lstStyle/>
          <a:p>
            <a:pPr algn="l"/>
            <a:r>
              <a:rPr lang="zh-CN" sz="1275" b="1" dirty="0">
                <a:solidFill>
                  <a:srgbClr val="2C2C2C"/>
                </a:solidFill>
                <a:latin typeface="Arial"/>
                <a:ea typeface="Microsoft YaHei"/>
                <a:cs typeface="Arial"/>
              </a:rPr>
              <a:t>品类传教士启动</a:t>
            </a:r>
          </a:p>
        </p:txBody>
      </p:sp>
      <p:sp>
        <p:nvSpPr>
          <p:cNvPr id="61" name="TextBox 61"/>
          <p:cNvSpPr txBox="1"/>
          <p:nvPr/>
        </p:nvSpPr>
        <p:spPr>
          <a:xfrm>
            <a:off x="5795962" y="4802981"/>
            <a:ext cx="77866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贯穿全周期</a:t>
            </a:r>
          </a:p>
        </p:txBody>
      </p:sp>
      <p:sp>
        <p:nvSpPr>
          <p:cNvPr id="62" name="TextBox 62"/>
          <p:cNvSpPr txBox="1"/>
          <p:nvPr/>
        </p:nvSpPr>
        <p:spPr>
          <a:xfrm>
            <a:off x="7605712" y="4802981"/>
            <a:ext cx="1071205" cy="228600"/>
          </a:xfrm>
          <a:prstGeom prst="rect">
            <a:avLst/>
          </a:prstGeom>
          <a:noFill/>
          <a:ln>
            <a:noFill/>
          </a:ln>
        </p:spPr>
        <p:txBody>
          <a:bodyPr wrap="none" lIns="0" tIns="0" rIns="0" bIns="0" anchor="t" anchorCtr="0">
            <a:spAutoFit/>
          </a:bodyPr>
          <a:lstStyle/>
          <a:p>
            <a:pPr algn="l"/>
            <a:r>
              <a:rPr lang="zh-CN" sz="1125" dirty="0">
                <a:solidFill>
                  <a:srgbClr val="1E8449"/>
                </a:solidFill>
                <a:latin typeface="Arial"/>
                <a:ea typeface="Microsoft YaHei"/>
                <a:cs typeface="Arial"/>
              </a:rPr>
              <a:t>&gt;= 2次对外发声</a:t>
            </a:r>
          </a:p>
        </p:txBody>
      </p:sp>
      <p:sp>
        <p:nvSpPr>
          <p:cNvPr id="63" name="Rectangle 63"/>
          <p:cNvSpPr/>
          <p:nvPr/>
        </p:nvSpPr>
        <p:spPr>
          <a:xfrm>
            <a:off x="10572750" y="4781550"/>
            <a:ext cx="809625" cy="228600"/>
          </a:xfrm>
          <a:prstGeom prst="roundRect">
            <a:avLst>
              <a:gd name="adj" fmla="val 25000"/>
            </a:avLst>
          </a:prstGeom>
          <a:solidFill>
            <a:srgbClr val="7F8C8D"/>
          </a:solidFill>
          <a:ln>
            <a:noFill/>
          </a:ln>
        </p:spPr>
      </p:sp>
      <p:sp>
        <p:nvSpPr>
          <p:cNvPr id="64" name="TextBox 64"/>
          <p:cNvSpPr txBox="1"/>
          <p:nvPr/>
        </p:nvSpPr>
        <p:spPr>
          <a:xfrm>
            <a:off x="10755642" y="4819174"/>
            <a:ext cx="4343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待启动</a:t>
            </a:r>
          </a:p>
        </p:txBody>
      </p:sp>
      <p:sp>
        <p:nvSpPr>
          <p:cNvPr id="65" name="Rectangle 65"/>
          <p:cNvSpPr/>
          <p:nvPr/>
        </p:nvSpPr>
        <p:spPr>
          <a:xfrm>
            <a:off x="571500" y="5229225"/>
            <a:ext cx="11049000" cy="514350"/>
          </a:xfrm>
          <a:prstGeom prst="roundRect">
            <a:avLst>
              <a:gd name="adj" fmla="val 14815"/>
            </a:avLst>
          </a:prstGeom>
          <a:solidFill>
            <a:srgbClr val="C0392B">
              <a:alpha val="4000"/>
            </a:srgbClr>
          </a:solidFill>
          <a:ln>
            <a:noFill/>
          </a:ln>
        </p:spPr>
      </p:sp>
      <p:sp>
        <p:nvSpPr>
          <p:cNvPr id="66" name="Rectangle 66"/>
          <p:cNvSpPr/>
          <p:nvPr/>
        </p:nvSpPr>
        <p:spPr>
          <a:xfrm>
            <a:off x="571500" y="5229225"/>
            <a:ext cx="11049000" cy="514350"/>
          </a:xfrm>
          <a:prstGeom prst="roundRect">
            <a:avLst>
              <a:gd name="adj" fmla="val 14815"/>
            </a:avLst>
          </a:prstGeom>
          <a:noFill/>
          <a:ln w="9525">
            <a:solidFill>
              <a:srgbClr val="C0392B"/>
            </a:solidFill>
            <a:prstDash val="dash"/>
          </a:ln>
        </p:spPr>
      </p:sp>
      <p:sp>
        <p:nvSpPr>
          <p:cNvPr id="67" name="Rectangle 67"/>
          <p:cNvSpPr/>
          <p:nvPr/>
        </p:nvSpPr>
        <p:spPr>
          <a:xfrm>
            <a:off x="714375" y="5353050"/>
            <a:ext cx="666750" cy="266700"/>
          </a:xfrm>
          <a:prstGeom prst="roundRect">
            <a:avLst>
              <a:gd name="adj" fmla="val 21429"/>
            </a:avLst>
          </a:prstGeom>
          <a:solidFill>
            <a:srgbClr val="C0392B"/>
          </a:solidFill>
          <a:ln>
            <a:noFill/>
          </a:ln>
        </p:spPr>
      </p:sp>
      <p:sp>
        <p:nvSpPr>
          <p:cNvPr id="68" name="TextBox 68"/>
          <p:cNvSpPr txBox="1"/>
          <p:nvPr/>
        </p:nvSpPr>
        <p:spPr>
          <a:xfrm>
            <a:off x="898850" y="5409724"/>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不做</a:t>
            </a:r>
          </a:p>
        </p:txBody>
      </p:sp>
      <p:sp>
        <p:nvSpPr>
          <p:cNvPr id="69" name="TextBox 69"/>
          <p:cNvSpPr txBox="1"/>
          <p:nvPr/>
        </p:nvSpPr>
        <p:spPr>
          <a:xfrm>
            <a:off x="1745932" y="5377339"/>
            <a:ext cx="1103519" cy="259080"/>
          </a:xfrm>
          <a:prstGeom prst="rect">
            <a:avLst/>
          </a:prstGeom>
          <a:noFill/>
          <a:ln>
            <a:noFill/>
          </a:ln>
        </p:spPr>
        <p:txBody>
          <a:bodyPr wrap="none" lIns="0" tIns="0" rIns="0" bIns="0" anchor="t" anchorCtr="0">
            <a:spAutoFit/>
          </a:bodyPr>
          <a:lstStyle/>
          <a:p>
            <a:pPr algn="l"/>
            <a:r>
              <a:rPr lang="zh-CN" sz="1275" b="1" dirty="0">
                <a:solidFill>
                  <a:srgbClr val="C0392B"/>
                </a:solidFill>
                <a:latin typeface="Arial"/>
                <a:ea typeface="Microsoft YaHei"/>
                <a:cs typeface="Arial"/>
              </a:rPr>
              <a:t>品牌广告投流</a:t>
            </a:r>
          </a:p>
        </p:txBody>
      </p:sp>
      <p:sp>
        <p:nvSpPr>
          <p:cNvPr id="70" name="TextBox 70"/>
          <p:cNvSpPr txBox="1"/>
          <p:nvPr/>
        </p:nvSpPr>
        <p:spPr>
          <a:xfrm>
            <a:off x="3700462" y="5393531"/>
            <a:ext cx="906185" cy="228600"/>
          </a:xfrm>
          <a:prstGeom prst="rect">
            <a:avLst/>
          </a:prstGeom>
          <a:noFill/>
          <a:ln>
            <a:noFill/>
          </a:ln>
        </p:spPr>
        <p:txBody>
          <a:bodyPr wrap="none" lIns="0" tIns="0" rIns="0" bIns="0" anchor="t" anchorCtr="0">
            <a:spAutoFit/>
          </a:bodyPr>
          <a:lstStyle/>
          <a:p>
            <a:pPr algn="l"/>
            <a:r>
              <a:rPr lang="zh-CN" sz="1125" dirty="0">
                <a:solidFill>
                  <a:srgbClr val="C0392B"/>
                </a:solidFill>
                <a:latin typeface="Arial"/>
                <a:ea typeface="Microsoft YaHei"/>
                <a:cs typeface="Arial"/>
              </a:rPr>
              <a:t>+ 大规模招商</a:t>
            </a:r>
          </a:p>
        </p:txBody>
      </p:sp>
      <p:sp>
        <p:nvSpPr>
          <p:cNvPr id="71" name="TextBox 71"/>
          <p:cNvSpPr txBox="1"/>
          <p:nvPr/>
        </p:nvSpPr>
        <p:spPr>
          <a:xfrm>
            <a:off x="5224462" y="5393531"/>
            <a:ext cx="883682" cy="228600"/>
          </a:xfrm>
          <a:prstGeom prst="rect">
            <a:avLst/>
          </a:prstGeom>
          <a:noFill/>
          <a:ln>
            <a:noFill/>
          </a:ln>
        </p:spPr>
        <p:txBody>
          <a:bodyPr wrap="none" lIns="0" tIns="0" rIns="0" bIns="0" anchor="t" anchorCtr="0">
            <a:spAutoFit/>
          </a:bodyPr>
          <a:lstStyle/>
          <a:p>
            <a:pPr algn="l"/>
            <a:r>
              <a:rPr lang="zh-CN" sz="1125" dirty="0">
                <a:solidFill>
                  <a:srgbClr val="C0392B"/>
                </a:solidFill>
                <a:latin typeface="Arial"/>
                <a:ea typeface="Microsoft YaHei"/>
                <a:cs typeface="Arial"/>
              </a:rPr>
              <a:t>+ 深度UI升级</a:t>
            </a:r>
          </a:p>
        </p:txBody>
      </p:sp>
      <p:sp>
        <p:nvSpPr>
          <p:cNvPr id="72" name="TextBox 72"/>
          <p:cNvSpPr txBox="1"/>
          <p:nvPr/>
        </p:nvSpPr>
        <p:spPr>
          <a:xfrm>
            <a:off x="7605712" y="5393531"/>
            <a:ext cx="3771543" cy="228600"/>
          </a:xfrm>
          <a:prstGeom prst="rect">
            <a:avLst/>
          </a:prstGeom>
          <a:noFill/>
          <a:ln>
            <a:noFill/>
          </a:ln>
        </p:spPr>
        <p:txBody>
          <a:bodyPr wrap="none" lIns="0" tIns="0" rIns="0" bIns="0" anchor="t" anchorCtr="0">
            <a:spAutoFit/>
          </a:bodyPr>
          <a:lstStyle/>
          <a:p>
            <a:pPr algn="l"/>
            <a:r>
              <a:rPr lang="zh-CN" sz="1125" dirty="0">
                <a:solidFill>
                  <a:srgbClr val="A0A0A0"/>
                </a:solidFill>
                <a:latin typeface="Arial"/>
                <a:ea typeface="Microsoft YaHei"/>
                <a:cs typeface="Arial"/>
              </a:rPr>
              <a:t>飞轮没转之前的任何品牌/招商/UI投入均为「看起来忙」</a:t>
            </a:r>
          </a:p>
        </p:txBody>
      </p:sp>
      <p:sp>
        <p:nvSpPr>
          <p:cNvPr id="73" name="Rectangle 73"/>
          <p:cNvSpPr/>
          <p:nvPr/>
        </p:nvSpPr>
        <p:spPr>
          <a:xfrm>
            <a:off x="571500" y="5924550"/>
            <a:ext cx="11049000" cy="419100"/>
          </a:xfrm>
          <a:prstGeom prst="roundRect">
            <a:avLst>
              <a:gd name="adj" fmla="val 22727"/>
            </a:avLst>
          </a:prstGeom>
          <a:solidFill>
            <a:srgbClr val="F0EDE8"/>
          </a:solidFill>
          <a:ln>
            <a:noFill/>
          </a:ln>
        </p:spPr>
      </p:sp>
      <p:sp>
        <p:nvSpPr>
          <p:cNvPr id="74" name="TextBox 74"/>
          <p:cNvSpPr txBox="1"/>
          <p:nvPr/>
        </p:nvSpPr>
        <p:spPr>
          <a:xfrm>
            <a:off x="937260" y="6061710"/>
            <a:ext cx="870585" cy="243840"/>
          </a:xfrm>
          <a:prstGeom prst="rect">
            <a:avLst/>
          </a:prstGeom>
          <a:noFill/>
          <a:ln>
            <a:noFill/>
          </a:ln>
        </p:spPr>
        <p:txBody>
          <a:bodyPr wrap="none" lIns="0" tIns="0" rIns="0" bIns="0" anchor="t" anchorCtr="0">
            <a:spAutoFit/>
          </a:bodyPr>
          <a:lstStyle/>
          <a:p>
            <a:pPr algn="l"/>
            <a:r>
              <a:rPr lang="zh-CN" sz="1200" b="1" dirty="0">
                <a:solidFill>
                  <a:srgbClr val="2C2C2C"/>
                </a:solidFill>
                <a:latin typeface="Arial"/>
                <a:ea typeface="Microsoft YaHei"/>
                <a:cs typeface="Arial"/>
              </a:rPr>
              <a:t>关键指标：</a:t>
            </a:r>
          </a:p>
        </p:txBody>
      </p:sp>
      <p:sp>
        <p:nvSpPr>
          <p:cNvPr id="75" name="Rectangle 75"/>
          <p:cNvSpPr/>
          <p:nvPr/>
        </p:nvSpPr>
        <p:spPr>
          <a:xfrm>
            <a:off x="2047875" y="6067425"/>
            <a:ext cx="1714500" cy="247650"/>
          </a:xfrm>
          <a:prstGeom prst="roundRect">
            <a:avLst>
              <a:gd name="adj" fmla="val 30769"/>
            </a:avLst>
          </a:prstGeom>
          <a:solidFill>
            <a:srgbClr val="C0392B">
              <a:alpha val="10000"/>
            </a:srgbClr>
          </a:solidFill>
          <a:ln>
            <a:noFill/>
          </a:ln>
        </p:spPr>
      </p:sp>
      <p:sp>
        <p:nvSpPr>
          <p:cNvPr id="76" name="TextBox 76"/>
          <p:cNvSpPr txBox="1"/>
          <p:nvPr/>
        </p:nvSpPr>
        <p:spPr>
          <a:xfrm>
            <a:off x="2240709" y="6125528"/>
            <a:ext cx="1328833" cy="213360"/>
          </a:xfrm>
          <a:prstGeom prst="rect">
            <a:avLst/>
          </a:prstGeom>
          <a:noFill/>
          <a:ln>
            <a:noFill/>
          </a:ln>
        </p:spPr>
        <p:txBody>
          <a:bodyPr wrap="none" lIns="0" tIns="0" rIns="0" bIns="0" anchor="t" anchorCtr="0">
            <a:spAutoFit/>
          </a:bodyPr>
          <a:lstStyle/>
          <a:p>
            <a:pPr algn="ctr"/>
            <a:r>
              <a:rPr lang="zh-CN" sz="1050" dirty="0">
                <a:solidFill>
                  <a:srgbClr val="C0392B"/>
                </a:solidFill>
                <a:latin typeface="Arial"/>
                <a:ea typeface="Microsoft YaHei"/>
                <a:cs typeface="Arial"/>
              </a:rPr>
              <a:t>P0项必须6/22前完成</a:t>
            </a:r>
          </a:p>
        </p:txBody>
      </p:sp>
      <p:sp>
        <p:nvSpPr>
          <p:cNvPr id="77" name="Rectangle 77"/>
          <p:cNvSpPr/>
          <p:nvPr/>
        </p:nvSpPr>
        <p:spPr>
          <a:xfrm>
            <a:off x="3905250" y="6067425"/>
            <a:ext cx="2095500" cy="247650"/>
          </a:xfrm>
          <a:prstGeom prst="roundRect">
            <a:avLst>
              <a:gd name="adj" fmla="val 30769"/>
            </a:avLst>
          </a:prstGeom>
          <a:solidFill>
            <a:srgbClr val="E67E22">
              <a:alpha val="10000"/>
            </a:srgbClr>
          </a:solidFill>
          <a:ln>
            <a:noFill/>
          </a:ln>
        </p:spPr>
      </p:sp>
      <p:sp>
        <p:nvSpPr>
          <p:cNvPr id="78" name="TextBox 78"/>
          <p:cNvSpPr txBox="1"/>
          <p:nvPr/>
        </p:nvSpPr>
        <p:spPr>
          <a:xfrm>
            <a:off x="4131064" y="6125528"/>
            <a:ext cx="1643872" cy="213360"/>
          </a:xfrm>
          <a:prstGeom prst="rect">
            <a:avLst/>
          </a:prstGeom>
          <a:noFill/>
          <a:ln>
            <a:noFill/>
          </a:ln>
        </p:spPr>
        <p:txBody>
          <a:bodyPr wrap="none" lIns="0" tIns="0" rIns="0" bIns="0" anchor="t" anchorCtr="0">
            <a:spAutoFit/>
          </a:bodyPr>
          <a:lstStyle/>
          <a:p>
            <a:pPr algn="ctr"/>
            <a:r>
              <a:rPr lang="zh-CN" sz="1050" dirty="0">
                <a:solidFill>
                  <a:srgbClr val="E67E22"/>
                </a:solidFill>
                <a:latin typeface="Arial"/>
                <a:ea typeface="Microsoft YaHei"/>
                <a:cs typeface="Arial"/>
              </a:rPr>
              <a:t>试点社区最晚7月中旬选定</a:t>
            </a:r>
          </a:p>
        </p:txBody>
      </p:sp>
      <p:sp>
        <p:nvSpPr>
          <p:cNvPr id="79" name="Rectangle 79"/>
          <p:cNvSpPr/>
          <p:nvPr/>
        </p:nvSpPr>
        <p:spPr>
          <a:xfrm>
            <a:off x="6143625" y="6067425"/>
            <a:ext cx="2095500" cy="247650"/>
          </a:xfrm>
          <a:prstGeom prst="roundRect">
            <a:avLst>
              <a:gd name="adj" fmla="val 30769"/>
            </a:avLst>
          </a:prstGeom>
          <a:solidFill>
            <a:srgbClr val="1A5276">
              <a:alpha val="10000"/>
            </a:srgbClr>
          </a:solidFill>
          <a:ln>
            <a:noFill/>
          </a:ln>
        </p:spPr>
      </p:sp>
      <p:sp>
        <p:nvSpPr>
          <p:cNvPr id="80" name="TextBox 80"/>
          <p:cNvSpPr txBox="1"/>
          <p:nvPr/>
        </p:nvSpPr>
        <p:spPr>
          <a:xfrm>
            <a:off x="6477952" y="6125528"/>
            <a:ext cx="1426845" cy="213360"/>
          </a:xfrm>
          <a:prstGeom prst="rect">
            <a:avLst/>
          </a:prstGeom>
          <a:noFill/>
          <a:ln>
            <a:noFill/>
          </a:ln>
        </p:spPr>
        <p:txBody>
          <a:bodyPr wrap="none" lIns="0" tIns="0" rIns="0" bIns="0" anchor="t" anchorCtr="0">
            <a:spAutoFit/>
          </a:bodyPr>
          <a:lstStyle/>
          <a:p>
            <a:pPr algn="ctr"/>
            <a:r>
              <a:rPr lang="zh-CN" sz="1050" dirty="0">
                <a:solidFill>
                  <a:srgbClr val="1A5276"/>
                </a:solidFill>
                <a:latin typeface="Arial"/>
                <a:ea typeface="Microsoft YaHei"/>
                <a:cs typeface="Arial"/>
              </a:rPr>
              <a:t>三段可并行但不可跳过</a:t>
            </a:r>
          </a:p>
        </p:txBody>
      </p:sp>
      <p:sp>
        <p:nvSpPr>
          <p:cNvPr id="81" name="Rectangle 81"/>
          <p:cNvSpPr/>
          <p:nvPr/>
        </p:nvSpPr>
        <p:spPr>
          <a:xfrm>
            <a:off x="8382000" y="6067425"/>
            <a:ext cx="2857500" cy="247650"/>
          </a:xfrm>
          <a:prstGeom prst="roundRect">
            <a:avLst>
              <a:gd name="adj" fmla="val 30769"/>
            </a:avLst>
          </a:prstGeom>
          <a:solidFill>
            <a:srgbClr val="1E8449">
              <a:alpha val="10000"/>
            </a:srgbClr>
          </a:solidFill>
          <a:ln>
            <a:noFill/>
          </a:ln>
        </p:spPr>
      </p:sp>
      <p:sp>
        <p:nvSpPr>
          <p:cNvPr id="82" name="TextBox 82"/>
          <p:cNvSpPr txBox="1"/>
          <p:nvPr/>
        </p:nvSpPr>
        <p:spPr>
          <a:xfrm>
            <a:off x="9167336" y="6125528"/>
            <a:ext cx="1286828" cy="213360"/>
          </a:xfrm>
          <a:prstGeom prst="rect">
            <a:avLst/>
          </a:prstGeom>
          <a:noFill/>
          <a:ln>
            <a:noFill/>
          </a:ln>
        </p:spPr>
        <p:txBody>
          <a:bodyPr wrap="none" lIns="0" tIns="0" rIns="0" bIns="0" anchor="t" anchorCtr="0">
            <a:spAutoFit/>
          </a:bodyPr>
          <a:lstStyle/>
          <a:p>
            <a:pPr algn="ctr"/>
            <a:r>
              <a:rPr lang="zh-CN" sz="1050" dirty="0">
                <a:solidFill>
                  <a:srgbClr val="1E8449"/>
                </a:solidFill>
                <a:latin typeface="Arial"/>
                <a:ea typeface="Microsoft YaHei"/>
                <a:cs typeface="Arial"/>
              </a:rPr>
              <a:t>每段有独立退出标准</a:t>
            </a:r>
          </a:p>
        </p:txBody>
      </p:sp>
      <p:sp>
        <p:nvSpPr>
          <p:cNvPr id="83" name="TextBox 83"/>
          <p:cNvSpPr txBox="1"/>
          <p:nvPr/>
        </p:nvSpPr>
        <p:spPr>
          <a:xfrm>
            <a:off x="11441192" y="6498431"/>
            <a:ext cx="193596" cy="228600"/>
          </a:xfrm>
          <a:prstGeom prst="rect">
            <a:avLst/>
          </a:prstGeom>
          <a:noFill/>
          <a:ln>
            <a:noFill/>
          </a:ln>
        </p:spPr>
        <p:txBody>
          <a:bodyPr wrap="none" lIns="0" tIns="0" rIns="0" bIns="0" anchor="t" anchorCtr="0">
            <a:spAutoFit/>
          </a:bodyPr>
          <a:lstStyle/>
          <a:p>
            <a:pPr algn="r"/>
            <a:r>
              <a:rPr lang="zh-CN" sz="1125" dirty="0">
                <a:solidFill>
                  <a:srgbClr val="A0A0A0"/>
                </a:solidFill>
                <a:latin typeface="Arial"/>
                <a:ea typeface="Microsoft YaHei"/>
                <a:cs typeface="Arial"/>
              </a:rPr>
              <a:t>38</a:t>
            </a:r>
          </a:p>
        </p:txBody>
      </p:sp>
      <p:sp>
        <p:nvSpPr>
          <p:cNvPr id="84" name="TextBox 84"/>
          <p:cNvSpPr txBox="1"/>
          <p:nvPr/>
        </p:nvSpPr>
        <p:spPr>
          <a:xfrm>
            <a:off x="558165" y="6506528"/>
            <a:ext cx="2623995" cy="213360"/>
          </a:xfrm>
          <a:prstGeom prst="rect">
            <a:avLst/>
          </a:prstGeom>
          <a:noFill/>
          <a:ln>
            <a:noFill/>
          </a:ln>
        </p:spPr>
        <p:txBody>
          <a:bodyPr wrap="none" lIns="0" tIns="0" rIns="0" bIns="0" anchor="t" anchorCtr="0">
            <a:spAutoFit/>
          </a:bodyPr>
          <a:lstStyle/>
          <a:p>
            <a:pPr algn="l"/>
            <a:r>
              <a:rPr lang="zh-CN" sz="105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4762500" cy="6858000"/>
          </a:xfrm>
          <a:prstGeom prst="rect">
            <a:avLst/>
          </a:prstGeom>
          <a:gradFill>
            <a:gsLst>
              <a:gs pos="0">
                <a:srgbClr val="C0392B">
                  <a:alpha val="12000"/>
                </a:srgbClr>
              </a:gs>
              <a:gs pos="100000">
                <a:srgbClr val="FAFAF5">
                  <a:alpha val="0"/>
                </a:srgbClr>
              </a:gs>
            </a:gsLst>
            <a:lin ang="0" scaled="1"/>
          </a:gradFill>
          <a:ln>
            <a:noFill/>
          </a:ln>
        </p:spPr>
      </p:sp>
      <p:sp>
        <p:nvSpPr>
          <p:cNvPr id="4" name="TextBox 4"/>
          <p:cNvSpPr txBox="1"/>
          <p:nvPr/>
        </p:nvSpPr>
        <p:spPr>
          <a:xfrm>
            <a:off x="861060" y="1889760"/>
            <a:ext cx="1039787" cy="1463040"/>
          </a:xfrm>
          <a:prstGeom prst="rect">
            <a:avLst/>
          </a:prstGeom>
          <a:noFill/>
          <a:ln>
            <a:noFill/>
          </a:ln>
        </p:spPr>
        <p:txBody>
          <a:bodyPr wrap="none" lIns="0" tIns="0" rIns="0" bIns="0" anchor="t" anchorCtr="0">
            <a:spAutoFit/>
          </a:bodyPr>
          <a:lstStyle/>
          <a:p>
            <a:pPr algn="l"/>
            <a:r>
              <a:rPr lang="zh-CN" sz="7200" b="1" dirty="0">
                <a:solidFill>
                  <a:srgbClr val="C0392B">
                    <a:alphaMod val="20000"/>
                  </a:srgbClr>
                </a:solidFill>
                <a:latin typeface="Georgia"/>
                <a:ea typeface="KaiTi"/>
                <a:cs typeface="Georgia"/>
              </a:rPr>
              <a:t>IV</a:t>
            </a:r>
          </a:p>
        </p:txBody>
      </p:sp>
      <p:sp>
        <p:nvSpPr>
          <p:cNvPr id="5" name="TextBox 5"/>
          <p:cNvSpPr txBox="1"/>
          <p:nvPr/>
        </p:nvSpPr>
        <p:spPr>
          <a:xfrm>
            <a:off x="906780" y="3230880"/>
            <a:ext cx="2611755" cy="731520"/>
          </a:xfrm>
          <a:prstGeom prst="rect">
            <a:avLst/>
          </a:prstGeom>
          <a:noFill/>
          <a:ln>
            <a:noFill/>
          </a:ln>
        </p:spPr>
        <p:txBody>
          <a:bodyPr wrap="none" lIns="0" tIns="0" rIns="0" bIns="0" anchor="t" anchorCtr="0">
            <a:spAutoFit/>
          </a:bodyPr>
          <a:lstStyle/>
          <a:p>
            <a:pPr algn="l"/>
            <a:r>
              <a:rPr lang="zh-CN" sz="3600" b="1" dirty="0">
                <a:solidFill>
                  <a:srgbClr val="2C2C2C"/>
                </a:solidFill>
                <a:latin typeface="Georgia"/>
                <a:ea typeface="KaiTi"/>
                <a:cs typeface="Georgia"/>
              </a:rPr>
              <a:t>风险与合规</a:t>
            </a:r>
          </a:p>
        </p:txBody>
      </p:sp>
      <p:sp>
        <p:nvSpPr>
          <p:cNvPr id="6" name="TextBox 6"/>
          <p:cNvSpPr txBox="1"/>
          <p:nvPr/>
        </p:nvSpPr>
        <p:spPr>
          <a:xfrm>
            <a:off x="931545" y="3917632"/>
            <a:ext cx="1142048" cy="335280"/>
          </a:xfrm>
          <a:prstGeom prst="rect">
            <a:avLst/>
          </a:prstGeom>
          <a:noFill/>
          <a:ln>
            <a:noFill/>
          </a:ln>
        </p:spPr>
        <p:txBody>
          <a:bodyPr wrap="none" lIns="0" tIns="0" rIns="0" bIns="0" anchor="t" anchorCtr="0">
            <a:spAutoFit/>
          </a:bodyPr>
          <a:lstStyle/>
          <a:p>
            <a:pPr algn="l"/>
            <a:r>
              <a:rPr lang="zh-CN" sz="1650" dirty="0">
                <a:solidFill>
                  <a:srgbClr val="7F8C8D"/>
                </a:solidFill>
                <a:latin typeface="Arial"/>
                <a:ea typeface="Microsoft YaHei"/>
                <a:cs typeface="Arial"/>
              </a:rPr>
              <a:t>什么不能做</a:t>
            </a:r>
          </a:p>
        </p:txBody>
      </p:sp>
      <p:sp>
        <p:nvSpPr>
          <p:cNvPr id="7" name="TextBox 7"/>
          <p:cNvSpPr txBox="1"/>
          <p:nvPr/>
        </p:nvSpPr>
        <p:spPr>
          <a:xfrm>
            <a:off x="6176962" y="1783556"/>
            <a:ext cx="6286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本卷内容</a:t>
            </a:r>
          </a:p>
        </p:txBody>
      </p:sp>
      <p:sp>
        <p:nvSpPr>
          <p:cNvPr id="8" name="TextBox 8"/>
          <p:cNvSpPr txBox="1"/>
          <p:nvPr/>
        </p:nvSpPr>
        <p:spPr>
          <a:xfrm>
            <a:off x="6172200" y="2219325"/>
            <a:ext cx="3498532"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三条红线 · 合规术语映射 · 消费金五不</a:t>
            </a:r>
          </a:p>
        </p:txBody>
      </p:sp>
      <p:sp>
        <p:nvSpPr>
          <p:cNvPr id="9" name="TextBox 9"/>
          <p:cNvSpPr txBox="1"/>
          <p:nvPr/>
        </p:nvSpPr>
        <p:spPr>
          <a:xfrm>
            <a:off x="6172200" y="2552700"/>
            <a:ext cx="3498532" cy="304800"/>
          </a:xfrm>
          <a:prstGeom prst="rect">
            <a:avLst/>
          </a:prstGeom>
          <a:noFill/>
          <a:ln>
            <a:noFill/>
          </a:ln>
        </p:spPr>
        <p:txBody>
          <a:bodyPr wrap="none" lIns="0" tIns="0" rIns="0" bIns="0" anchor="t" anchorCtr="0">
            <a:spAutoFit/>
          </a:bodyPr>
          <a:lstStyle/>
          <a:p>
            <a:pPr algn="l"/>
            <a:r>
              <a:rPr lang="zh-CN" sz="1500" dirty="0">
                <a:solidFill>
                  <a:srgbClr val="2C2C2C"/>
                </a:solidFill>
                <a:latin typeface="Arial"/>
                <a:ea typeface="Microsoft YaHei"/>
                <a:cs typeface="Arial"/>
              </a:rPr>
              <a:t>信息黑洞清单 · 待验证假设 · 风险矩阵</a:t>
            </a:r>
          </a:p>
        </p:txBody>
      </p:sp>
      <p:sp>
        <p:nvSpPr>
          <p:cNvPr id="10" name="Rectangle 10"/>
          <p:cNvSpPr/>
          <p:nvPr/>
        </p:nvSpPr>
        <p:spPr>
          <a:xfrm>
            <a:off x="5715000" y="4000500"/>
            <a:ext cx="5905500" cy="571500"/>
          </a:xfrm>
          <a:prstGeom prst="roundRect">
            <a:avLst>
              <a:gd name="adj" fmla="val 23333"/>
            </a:avLst>
          </a:prstGeom>
          <a:solidFill>
            <a:srgbClr val="FFFFFF"/>
          </a:solidFill>
          <a:ln w="9525">
            <a:solidFill>
              <a:srgbClr val="C0392B">
                <a:alpha val="30000"/>
              </a:srgbClr>
            </a:solidFill>
          </a:ln>
        </p:spPr>
      </p:sp>
      <p:sp>
        <p:nvSpPr>
          <p:cNvPr id="11" name="TextBox 11"/>
          <p:cNvSpPr txBox="1"/>
          <p:nvPr/>
        </p:nvSpPr>
        <p:spPr>
          <a:xfrm>
            <a:off x="6481334" y="4216718"/>
            <a:ext cx="4372832" cy="274320"/>
          </a:xfrm>
          <a:prstGeom prst="rect">
            <a:avLst/>
          </a:prstGeom>
          <a:noFill/>
          <a:ln>
            <a:noFill/>
          </a:ln>
        </p:spPr>
        <p:txBody>
          <a:bodyPr wrap="none" lIns="0" tIns="0" rIns="0" bIns="0" anchor="t" anchorCtr="0">
            <a:spAutoFit/>
          </a:bodyPr>
          <a:lstStyle/>
          <a:p>
            <a:pPr algn="ctr"/>
            <a:r>
              <a:rPr lang="zh-CN" sz="1350" dirty="0">
                <a:solidFill>
                  <a:srgbClr val="C0392B"/>
                </a:solidFill>
                <a:latin typeface="Arial"/>
                <a:ea typeface="Microsoft YaHei"/>
                <a:cs typeface="Arial"/>
              </a:rPr>
              <a:t>三条红线不可触碰——任何一条被突破，项目生存权归零</a:t>
            </a:r>
          </a:p>
        </p:txBody>
      </p:sp>
      <p:sp>
        <p:nvSpPr>
          <p:cNvPr id="12" name="TextBox 12"/>
          <p:cNvSpPr txBox="1"/>
          <p:nvPr/>
        </p:nvSpPr>
        <p:spPr>
          <a:xfrm>
            <a:off x="560070" y="6522720"/>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13" name="TextBox 13"/>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39</a:t>
            </a:r>
          </a:p>
        </p:txBody>
      </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C0392B"/>
          </a:solidFill>
          <a:ln>
            <a:noFill/>
          </a:ln>
        </p:spPr>
      </p:sp>
      <p:sp>
        <p:nvSpPr>
          <p:cNvPr id="4" name="TextBox 4"/>
          <p:cNvSpPr txBox="1"/>
          <p:nvPr/>
        </p:nvSpPr>
        <p:spPr>
          <a:xfrm>
            <a:off x="771525" y="438150"/>
            <a:ext cx="1756410" cy="609600"/>
          </a:xfrm>
          <a:prstGeom prst="rect">
            <a:avLst/>
          </a:prstGeom>
          <a:noFill/>
          <a:ln>
            <a:noFill/>
          </a:ln>
        </p:spPr>
        <p:txBody>
          <a:bodyPr wrap="none" lIns="0" tIns="0" rIns="0" bIns="0" anchor="t" anchorCtr="0">
            <a:spAutoFit/>
          </a:bodyPr>
          <a:lstStyle/>
          <a:p>
            <a:pPr algn="l"/>
            <a:r>
              <a:rPr lang="zh-CN" sz="3000" b="1" dirty="0">
                <a:solidFill>
                  <a:srgbClr val="2C2C2C"/>
                </a:solidFill>
                <a:latin typeface="Georgia"/>
                <a:ea typeface="KaiTi"/>
                <a:cs typeface="Georgia"/>
              </a:rPr>
              <a:t>三条红线</a:t>
            </a:r>
          </a:p>
        </p:txBody>
      </p:sp>
      <p:sp>
        <p:nvSpPr>
          <p:cNvPr id="5" name="TextBox 5"/>
          <p:cNvSpPr txBox="1"/>
          <p:nvPr/>
        </p:nvSpPr>
        <p:spPr>
          <a:xfrm>
            <a:off x="795338" y="926306"/>
            <a:ext cx="3043952" cy="228600"/>
          </a:xfrm>
          <a:prstGeom prst="rect">
            <a:avLst/>
          </a:prstGeom>
          <a:noFill/>
          <a:ln>
            <a:noFill/>
          </a:ln>
        </p:spPr>
        <p:txBody>
          <a:bodyPr wrap="none" lIns="0" tIns="0" rIns="0" bIns="0" anchor="t" anchorCtr="0">
            <a:spAutoFit/>
          </a:bodyPr>
          <a:lstStyle/>
          <a:p>
            <a:pPr algn="l"/>
            <a:r>
              <a:rPr lang="zh-CN" sz="1125" dirty="0">
                <a:solidFill>
                  <a:srgbClr val="C0392B"/>
                </a:solidFill>
                <a:latin typeface="Arial"/>
                <a:ea typeface="Microsoft YaHei"/>
                <a:cs typeface="Arial"/>
              </a:rPr>
              <a:t>不可触碰——任何一条被突破，项目生存权归零</a:t>
            </a:r>
          </a:p>
        </p:txBody>
      </p:sp>
      <p:grpSp>
        <p:nvGrpSpPr>
          <p:cNvPr id="36" name="Group 36"/>
          <p:cNvGrpSpPr/>
          <p:nvPr/>
        </p:nvGrpSpPr>
        <p:grpSpPr>
          <a:xfrm>
            <a:off x="762000" y="1524000"/>
            <a:ext cx="10668000" cy="4572000"/>
            <a:chOff x="762000" y="1524000"/>
            <a:chExt cx="10668000" cy="4572000"/>
          </a:xfrm>
        </p:grpSpPr>
        <p:grpSp>
          <p:nvGrpSpPr>
            <p:cNvPr id="15" name="Group 15"/>
            <p:cNvGrpSpPr/>
            <p:nvPr/>
          </p:nvGrpSpPr>
          <p:grpSpPr>
            <a:xfrm>
              <a:off x="762000" y="1524000"/>
              <a:ext cx="3429000" cy="4572000"/>
              <a:chOff x="762000" y="1524000"/>
              <a:chExt cx="3429000" cy="4572000"/>
            </a:xfrm>
            <a:effectLst>
              <a:outerShdw blurRad="76200" dist="19050" dir="5400000" algn="ctr" rotWithShape="0">
                <a:srgbClr val="2C2C2C">
                  <a:alpha val="4500"/>
                </a:srgbClr>
              </a:outerShdw>
            </a:effectLst>
          </p:grpSpPr>
          <p:sp>
            <p:nvSpPr>
              <p:cNvPr id="6" name="Rectangle 6"/>
              <p:cNvSpPr/>
              <p:nvPr/>
            </p:nvSpPr>
            <p:spPr>
              <a:xfrm>
                <a:off x="762000" y="1524000"/>
                <a:ext cx="3429000" cy="4572000"/>
              </a:xfrm>
              <a:prstGeom prst="roundRect">
                <a:avLst>
                  <a:gd name="adj" fmla="val 3889"/>
                </a:avLst>
              </a:prstGeom>
              <a:solidFill>
                <a:srgbClr val="FFFFFF"/>
              </a:solidFill>
              <a:ln w="9525">
                <a:solidFill>
                  <a:srgbClr val="F0EDE8"/>
                </a:solidFill>
              </a:ln>
              <a:effectLst>
                <a:outerShdw blurRad="76200" dist="19050" dir="5400000" algn="ctr" rotWithShape="0">
                  <a:srgbClr val="2C2C2C">
                    <a:alpha val="4500"/>
                  </a:srgbClr>
                </a:outerShdw>
              </a:effectLst>
            </p:spPr>
          </p:sp>
          <p:sp>
            <p:nvSpPr>
              <p:cNvPr id="7" name="Rectangle 7"/>
              <p:cNvSpPr/>
              <p:nvPr/>
            </p:nvSpPr>
            <p:spPr>
              <a:xfrm>
                <a:off x="762000" y="1524000"/>
                <a:ext cx="3429000" cy="57150"/>
              </a:xfrm>
              <a:prstGeom prst="roundRect">
                <a:avLst>
                  <a:gd name="adj" fmla="val 50000"/>
                </a:avLst>
              </a:prstGeom>
              <a:solidFill>
                <a:srgbClr val="C0392B"/>
              </a:solidFill>
              <a:ln>
                <a:noFill/>
              </a:ln>
              <a:effectLst>
                <a:outerShdw blurRad="76200" dist="19050" dir="5400000" algn="ctr" rotWithShape="0">
                  <a:srgbClr val="2C2C2C">
                    <a:alpha val="4500"/>
                  </a:srgbClr>
                </a:outerShdw>
              </a:effectLst>
            </p:spPr>
          </p:sp>
          <p:sp>
            <p:nvSpPr>
              <p:cNvPr id="8" name="TextBox 8"/>
              <p:cNvSpPr txBox="1"/>
              <p:nvPr/>
            </p:nvSpPr>
            <p:spPr>
              <a:xfrm>
                <a:off x="1567720" y="2440305"/>
                <a:ext cx="1817561"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2100" b="1" dirty="0">
                    <a:solidFill>
                      <a:srgbClr val="C0392B"/>
                    </a:solidFill>
                    <a:latin typeface="Georgia"/>
                    <a:ea typeface="KaiTi"/>
                    <a:cs typeface="Georgia"/>
                  </a:rPr>
                  <a:t>积分不可兑现</a:t>
                </a:r>
              </a:p>
            </p:txBody>
          </p:sp>
          <p:sp>
            <p:nvSpPr>
              <p:cNvPr id="9" name="Line 9"/>
              <p:cNvSpPr/>
              <p:nvPr/>
            </p:nvSpPr>
            <p:spPr>
              <a:xfrm>
                <a:off x="1047750" y="2952750"/>
                <a:ext cx="2857500" cy="9525"/>
              </a:xfrm>
              <a:custGeom>
                <a:avLst/>
                <a:gdLst/>
                <a:ahLst/>
                <a:cxnLst/>
                <a:rect l="l" t="t" r="r" b="b"/>
                <a:pathLst>
                  <a:path w="2857500" h="9525">
                    <a:moveTo>
                      <a:pt x="0" y="0"/>
                    </a:moveTo>
                    <a:lnTo>
                      <a:pt x="2857500" y="0"/>
                    </a:lnTo>
                  </a:path>
                </a:pathLst>
              </a:custGeom>
              <a:noFill/>
              <a:ln w="9525">
                <a:solidFill>
                  <a:srgbClr val="E8E3DC"/>
                </a:solidFill>
              </a:ln>
            </p:spPr>
          </p:sp>
          <p:sp>
            <p:nvSpPr>
              <p:cNvPr id="10" name="TextBox 10"/>
              <p:cNvSpPr txBox="1"/>
              <p:nvPr/>
            </p:nvSpPr>
            <p:spPr>
              <a:xfrm>
                <a:off x="1031558" y="3243739"/>
                <a:ext cx="1732598" cy="25908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275" dirty="0">
                    <a:solidFill>
                      <a:srgbClr val="2C2C2C"/>
                    </a:solidFill>
                    <a:latin typeface="Arial"/>
                    <a:ea typeface="Microsoft YaHei"/>
                    <a:cs typeface="Arial"/>
                  </a:rPr>
                  <a:t>积分不能转换为现金，</a:t>
                </a:r>
              </a:p>
            </p:txBody>
          </p:sp>
          <p:sp>
            <p:nvSpPr>
              <p:cNvPr id="11" name="TextBox 11"/>
              <p:cNvSpPr txBox="1"/>
              <p:nvPr/>
            </p:nvSpPr>
            <p:spPr>
              <a:xfrm>
                <a:off x="1031558" y="3529489"/>
                <a:ext cx="1902619" cy="25908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275" dirty="0">
                    <a:solidFill>
                      <a:srgbClr val="2C2C2C"/>
                    </a:solidFill>
                    <a:latin typeface="Arial"/>
                    <a:ea typeface="Microsoft YaHei"/>
                    <a:cs typeface="Arial"/>
                  </a:rPr>
                  <a:t>只能用于平台内消费抵扣</a:t>
                </a:r>
              </a:p>
            </p:txBody>
          </p:sp>
          <p:sp>
            <p:nvSpPr>
              <p:cNvPr id="12" name="Rectangle 12"/>
              <p:cNvSpPr/>
              <p:nvPr/>
            </p:nvSpPr>
            <p:spPr>
              <a:xfrm>
                <a:off x="1047750" y="4048125"/>
                <a:ext cx="2857500" cy="476250"/>
              </a:xfrm>
              <a:prstGeom prst="roundRect">
                <a:avLst>
                  <a:gd name="adj" fmla="val 20000"/>
                </a:avLst>
              </a:prstGeom>
              <a:solidFill>
                <a:srgbClr val="C0392B">
                  <a:alpha val="6000"/>
                </a:srgbClr>
              </a:solidFill>
              <a:ln>
                <a:noFill/>
              </a:ln>
              <a:effectLst>
                <a:outerShdw blurRad="76200" dist="19050" dir="5400000" algn="ctr" rotWithShape="0">
                  <a:srgbClr val="2C2C2C">
                    <a:alpha val="4500"/>
                  </a:srgbClr>
                </a:outerShdw>
              </a:effectLst>
            </p:spPr>
          </p:sp>
          <p:sp>
            <p:nvSpPr>
              <p:cNvPr id="13" name="TextBox 13"/>
              <p:cNvSpPr txBox="1"/>
              <p:nvPr/>
            </p:nvSpPr>
            <p:spPr>
              <a:xfrm>
                <a:off x="1752576" y="4220528"/>
                <a:ext cx="1447848"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1050" dirty="0">
                    <a:solidFill>
                      <a:srgbClr val="C0392B"/>
                    </a:solidFill>
                    <a:latin typeface="Arial"/>
                    <a:ea typeface="Microsoft YaHei"/>
                    <a:cs typeface="Arial"/>
                  </a:rPr>
                  <a:t>一旦可兑现 = 金融产品</a:t>
                </a:r>
              </a:p>
            </p:txBody>
          </p:sp>
          <p:sp>
            <p:nvSpPr>
              <p:cNvPr id="14" name="TextBox 14"/>
              <p:cNvSpPr txBox="1"/>
              <p:nvPr/>
            </p:nvSpPr>
            <p:spPr>
              <a:xfrm>
                <a:off x="2113121" y="4411028"/>
                <a:ext cx="726758"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1050" dirty="0">
                    <a:solidFill>
                      <a:srgbClr val="C0392B"/>
                    </a:solidFill>
                    <a:latin typeface="Arial"/>
                    <a:ea typeface="Microsoft YaHei"/>
                    <a:cs typeface="Arial"/>
                  </a:rPr>
                  <a:t>需支付牌照</a:t>
                </a:r>
              </a:p>
            </p:txBody>
          </p:sp>
        </p:grpSp>
        <p:grpSp>
          <p:nvGrpSpPr>
            <p:cNvPr id="25" name="Group 25"/>
            <p:cNvGrpSpPr/>
            <p:nvPr/>
          </p:nvGrpSpPr>
          <p:grpSpPr>
            <a:xfrm>
              <a:off x="4381500" y="1524000"/>
              <a:ext cx="3429000" cy="4572000"/>
              <a:chOff x="4381500" y="1524000"/>
              <a:chExt cx="3429000" cy="4572000"/>
            </a:xfrm>
            <a:effectLst>
              <a:outerShdw blurRad="76200" dist="19050" dir="5400000" algn="ctr" rotWithShape="0">
                <a:srgbClr val="2C2C2C">
                  <a:alpha val="4500"/>
                </a:srgbClr>
              </a:outerShdw>
            </a:effectLst>
          </p:grpSpPr>
          <p:sp>
            <p:nvSpPr>
              <p:cNvPr id="16" name="Rectangle 16"/>
              <p:cNvSpPr/>
              <p:nvPr/>
            </p:nvSpPr>
            <p:spPr>
              <a:xfrm>
                <a:off x="4381500" y="1524000"/>
                <a:ext cx="3429000" cy="4572000"/>
              </a:xfrm>
              <a:prstGeom prst="roundRect">
                <a:avLst>
                  <a:gd name="adj" fmla="val 3889"/>
                </a:avLst>
              </a:prstGeom>
              <a:solidFill>
                <a:srgbClr val="FFFFFF"/>
              </a:solidFill>
              <a:ln w="9525">
                <a:solidFill>
                  <a:srgbClr val="F0EDE8"/>
                </a:solidFill>
              </a:ln>
              <a:effectLst>
                <a:outerShdw blurRad="76200" dist="19050" dir="5400000" algn="ctr" rotWithShape="0">
                  <a:srgbClr val="2C2C2C">
                    <a:alpha val="4500"/>
                  </a:srgbClr>
                </a:outerShdw>
              </a:effectLst>
            </p:spPr>
          </p:sp>
          <p:sp>
            <p:nvSpPr>
              <p:cNvPr id="17" name="Rectangle 17"/>
              <p:cNvSpPr/>
              <p:nvPr/>
            </p:nvSpPr>
            <p:spPr>
              <a:xfrm>
                <a:off x="4381500" y="1524000"/>
                <a:ext cx="3429000" cy="57150"/>
              </a:xfrm>
              <a:prstGeom prst="roundRect">
                <a:avLst>
                  <a:gd name="adj" fmla="val 50000"/>
                </a:avLst>
              </a:prstGeom>
              <a:solidFill>
                <a:srgbClr val="C0392B"/>
              </a:solidFill>
              <a:ln>
                <a:noFill/>
              </a:ln>
              <a:effectLst>
                <a:outerShdw blurRad="76200" dist="19050" dir="5400000" algn="ctr" rotWithShape="0">
                  <a:srgbClr val="2C2C2C">
                    <a:alpha val="4500"/>
                  </a:srgbClr>
                </a:outerShdw>
              </a:effectLst>
            </p:spPr>
          </p:sp>
          <p:sp>
            <p:nvSpPr>
              <p:cNvPr id="18" name="TextBox 18"/>
              <p:cNvSpPr txBox="1"/>
              <p:nvPr/>
            </p:nvSpPr>
            <p:spPr>
              <a:xfrm>
                <a:off x="5040201" y="2440305"/>
                <a:ext cx="2111597"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2100" b="1" dirty="0">
                    <a:solidFill>
                      <a:srgbClr val="C0392B"/>
                    </a:solidFill>
                    <a:latin typeface="Georgia"/>
                    <a:ea typeface="KaiTi"/>
                    <a:cs typeface="Georgia"/>
                  </a:rPr>
                  <a:t>不可形成资金池</a:t>
                </a:r>
              </a:p>
            </p:txBody>
          </p:sp>
          <p:sp>
            <p:nvSpPr>
              <p:cNvPr id="19" name="Line 19"/>
              <p:cNvSpPr/>
              <p:nvPr/>
            </p:nvSpPr>
            <p:spPr>
              <a:xfrm>
                <a:off x="4667250" y="2952750"/>
                <a:ext cx="2857500" cy="9525"/>
              </a:xfrm>
              <a:custGeom>
                <a:avLst/>
                <a:gdLst/>
                <a:ahLst/>
                <a:cxnLst/>
                <a:rect l="l" t="t" r="r" b="b"/>
                <a:pathLst>
                  <a:path w="2857500" h="9525">
                    <a:moveTo>
                      <a:pt x="0" y="0"/>
                    </a:moveTo>
                    <a:lnTo>
                      <a:pt x="2857500" y="0"/>
                    </a:lnTo>
                  </a:path>
                </a:pathLst>
              </a:custGeom>
              <a:noFill/>
              <a:ln w="9525">
                <a:solidFill>
                  <a:srgbClr val="E8E3DC"/>
                </a:solidFill>
              </a:ln>
            </p:spPr>
          </p:sp>
          <p:sp>
            <p:nvSpPr>
              <p:cNvPr id="20" name="TextBox 20"/>
              <p:cNvSpPr txBox="1"/>
              <p:nvPr/>
            </p:nvSpPr>
            <p:spPr>
              <a:xfrm>
                <a:off x="4651058" y="3243739"/>
                <a:ext cx="1732598" cy="25908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275" dirty="0">
                    <a:solidFill>
                      <a:srgbClr val="2C2C2C"/>
                    </a:solidFill>
                    <a:latin typeface="Arial"/>
                    <a:ea typeface="Microsoft YaHei"/>
                    <a:cs typeface="Arial"/>
                  </a:rPr>
                  <a:t>所有资金经汇付直清，</a:t>
                </a:r>
              </a:p>
            </p:txBody>
          </p:sp>
          <p:sp>
            <p:nvSpPr>
              <p:cNvPr id="21" name="TextBox 21"/>
              <p:cNvSpPr txBox="1"/>
              <p:nvPr/>
            </p:nvSpPr>
            <p:spPr>
              <a:xfrm>
                <a:off x="4651058" y="3529489"/>
                <a:ext cx="1562576" cy="25908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275" dirty="0">
                    <a:solidFill>
                      <a:srgbClr val="2C2C2C"/>
                    </a:solidFill>
                    <a:latin typeface="Arial"/>
                    <a:ea typeface="Microsoft YaHei"/>
                    <a:cs typeface="Arial"/>
                  </a:rPr>
                  <a:t>不经过平台自有账户</a:t>
                </a:r>
              </a:p>
            </p:txBody>
          </p:sp>
          <p:sp>
            <p:nvSpPr>
              <p:cNvPr id="22" name="Rectangle 22"/>
              <p:cNvSpPr/>
              <p:nvPr/>
            </p:nvSpPr>
            <p:spPr>
              <a:xfrm>
                <a:off x="4667250" y="4048125"/>
                <a:ext cx="2857500" cy="476250"/>
              </a:xfrm>
              <a:prstGeom prst="roundRect">
                <a:avLst>
                  <a:gd name="adj" fmla="val 20000"/>
                </a:avLst>
              </a:prstGeom>
              <a:solidFill>
                <a:srgbClr val="C0392B">
                  <a:alpha val="6000"/>
                </a:srgbClr>
              </a:solidFill>
              <a:ln>
                <a:noFill/>
              </a:ln>
              <a:effectLst>
                <a:outerShdw blurRad="76200" dist="19050" dir="5400000" algn="ctr" rotWithShape="0">
                  <a:srgbClr val="2C2C2C">
                    <a:alpha val="4500"/>
                  </a:srgbClr>
                </a:outerShdw>
              </a:effectLst>
            </p:spPr>
          </p:sp>
          <p:sp>
            <p:nvSpPr>
              <p:cNvPr id="23" name="TextBox 23"/>
              <p:cNvSpPr txBox="1"/>
              <p:nvPr/>
            </p:nvSpPr>
            <p:spPr>
              <a:xfrm>
                <a:off x="5382578" y="4220528"/>
                <a:ext cx="1426845"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1050" dirty="0">
                    <a:solidFill>
                      <a:srgbClr val="C0392B"/>
                    </a:solidFill>
                    <a:latin typeface="Arial"/>
                    <a:ea typeface="Microsoft YaHei"/>
                    <a:cs typeface="Arial"/>
                  </a:rPr>
                  <a:t>无支付牌照形成资金池</a:t>
                </a:r>
              </a:p>
            </p:txBody>
          </p:sp>
          <p:sp>
            <p:nvSpPr>
              <p:cNvPr id="24" name="TextBox 24"/>
              <p:cNvSpPr txBox="1"/>
              <p:nvPr/>
            </p:nvSpPr>
            <p:spPr>
              <a:xfrm>
                <a:off x="5603105" y="4411028"/>
                <a:ext cx="985790"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1050" dirty="0">
                    <a:solidFill>
                      <a:srgbClr val="C0392B"/>
                    </a:solidFill>
                    <a:latin typeface="Arial"/>
                    <a:ea typeface="Microsoft YaHei"/>
                    <a:cs typeface="Arial"/>
                  </a:rPr>
                  <a:t>= 非法集资风险</a:t>
                </a:r>
              </a:p>
            </p:txBody>
          </p:sp>
        </p:grpSp>
        <p:grpSp>
          <p:nvGrpSpPr>
            <p:cNvPr id="35" name="Group 35"/>
            <p:cNvGrpSpPr/>
            <p:nvPr/>
          </p:nvGrpSpPr>
          <p:grpSpPr>
            <a:xfrm>
              <a:off x="8001000" y="1524000"/>
              <a:ext cx="3429000" cy="4572000"/>
              <a:chOff x="8001000" y="1524000"/>
              <a:chExt cx="3429000" cy="4572000"/>
            </a:xfrm>
            <a:effectLst>
              <a:outerShdw blurRad="76200" dist="19050" dir="5400000" algn="ctr" rotWithShape="0">
                <a:srgbClr val="2C2C2C">
                  <a:alpha val="4500"/>
                </a:srgbClr>
              </a:outerShdw>
            </a:effectLst>
          </p:grpSpPr>
          <p:sp>
            <p:nvSpPr>
              <p:cNvPr id="26" name="Rectangle 26"/>
              <p:cNvSpPr/>
              <p:nvPr/>
            </p:nvSpPr>
            <p:spPr>
              <a:xfrm>
                <a:off x="8001000" y="1524000"/>
                <a:ext cx="3429000" cy="4572000"/>
              </a:xfrm>
              <a:prstGeom prst="roundRect">
                <a:avLst>
                  <a:gd name="adj" fmla="val 3889"/>
                </a:avLst>
              </a:prstGeom>
              <a:solidFill>
                <a:srgbClr val="FFFFFF"/>
              </a:solidFill>
              <a:ln w="9525">
                <a:solidFill>
                  <a:srgbClr val="F0EDE8"/>
                </a:solidFill>
              </a:ln>
              <a:effectLst>
                <a:outerShdw blurRad="76200" dist="19050" dir="5400000" algn="ctr" rotWithShape="0">
                  <a:srgbClr val="2C2C2C">
                    <a:alpha val="4500"/>
                  </a:srgbClr>
                </a:outerShdw>
              </a:effectLst>
            </p:spPr>
          </p:sp>
          <p:sp>
            <p:nvSpPr>
              <p:cNvPr id="27" name="Rectangle 27"/>
              <p:cNvSpPr/>
              <p:nvPr/>
            </p:nvSpPr>
            <p:spPr>
              <a:xfrm>
                <a:off x="8001000" y="1524000"/>
                <a:ext cx="3429000" cy="57150"/>
              </a:xfrm>
              <a:prstGeom prst="roundRect">
                <a:avLst>
                  <a:gd name="adj" fmla="val 50000"/>
                </a:avLst>
              </a:prstGeom>
              <a:solidFill>
                <a:srgbClr val="C0392B"/>
              </a:solidFill>
              <a:ln>
                <a:noFill/>
              </a:ln>
              <a:effectLst>
                <a:outerShdw blurRad="76200" dist="19050" dir="5400000" algn="ctr" rotWithShape="0">
                  <a:srgbClr val="2C2C2C">
                    <a:alpha val="4500"/>
                  </a:srgbClr>
                </a:outerShdw>
              </a:effectLst>
            </p:spPr>
          </p:sp>
          <p:sp>
            <p:nvSpPr>
              <p:cNvPr id="28" name="TextBox 28"/>
              <p:cNvSpPr txBox="1"/>
              <p:nvPr/>
            </p:nvSpPr>
            <p:spPr>
              <a:xfrm>
                <a:off x="8806720" y="2440305"/>
                <a:ext cx="1817561" cy="42672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2100" b="1" dirty="0">
                    <a:solidFill>
                      <a:srgbClr val="C0392B"/>
                    </a:solidFill>
                    <a:latin typeface="Georgia"/>
                    <a:ea typeface="KaiTi"/>
                    <a:cs typeface="Georgia"/>
                  </a:rPr>
                  <a:t>不可承诺收益</a:t>
                </a:r>
              </a:p>
            </p:txBody>
          </p:sp>
          <p:sp>
            <p:nvSpPr>
              <p:cNvPr id="29" name="Line 29"/>
              <p:cNvSpPr/>
              <p:nvPr/>
            </p:nvSpPr>
            <p:spPr>
              <a:xfrm>
                <a:off x="8286750" y="2952750"/>
                <a:ext cx="2857500" cy="9525"/>
              </a:xfrm>
              <a:custGeom>
                <a:avLst/>
                <a:gdLst/>
                <a:ahLst/>
                <a:cxnLst/>
                <a:rect l="l" t="t" r="r" b="b"/>
                <a:pathLst>
                  <a:path w="2857500" h="9525">
                    <a:moveTo>
                      <a:pt x="0" y="0"/>
                    </a:moveTo>
                    <a:lnTo>
                      <a:pt x="2857500" y="0"/>
                    </a:lnTo>
                  </a:path>
                </a:pathLst>
              </a:custGeom>
              <a:noFill/>
              <a:ln w="9525">
                <a:solidFill>
                  <a:srgbClr val="E8E3DC"/>
                </a:solidFill>
              </a:ln>
            </p:spPr>
          </p:sp>
          <p:sp>
            <p:nvSpPr>
              <p:cNvPr id="30" name="TextBox 30"/>
              <p:cNvSpPr txBox="1"/>
              <p:nvPr/>
            </p:nvSpPr>
            <p:spPr>
              <a:xfrm>
                <a:off x="8270558" y="3243739"/>
                <a:ext cx="1732598" cy="25908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275" dirty="0">
                    <a:solidFill>
                      <a:srgbClr val="2C2C2C"/>
                    </a:solidFill>
                    <a:latin typeface="Arial"/>
                    <a:ea typeface="Microsoft YaHei"/>
                    <a:cs typeface="Arial"/>
                  </a:rPr>
                  <a:t>任何对外材料不得出现</a:t>
                </a:r>
              </a:p>
            </p:txBody>
          </p:sp>
          <p:sp>
            <p:nvSpPr>
              <p:cNvPr id="31" name="TextBox 31"/>
              <p:cNvSpPr txBox="1"/>
              <p:nvPr/>
            </p:nvSpPr>
            <p:spPr>
              <a:xfrm>
                <a:off x="8270558" y="3529489"/>
                <a:ext cx="2072640" cy="25908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l"/>
                <a:r>
                  <a:rPr lang="zh-CN" sz="1275" dirty="0">
                    <a:solidFill>
                      <a:srgbClr val="2C2C2C"/>
                    </a:solidFill>
                    <a:latin typeface="Arial"/>
                    <a:ea typeface="Microsoft YaHei"/>
                    <a:cs typeface="Arial"/>
                  </a:rPr>
                  <a:t>「稳赚」「躺赚」「保底」</a:t>
                </a:r>
              </a:p>
            </p:txBody>
          </p:sp>
          <p:sp>
            <p:nvSpPr>
              <p:cNvPr id="32" name="Rectangle 32"/>
              <p:cNvSpPr/>
              <p:nvPr/>
            </p:nvSpPr>
            <p:spPr>
              <a:xfrm>
                <a:off x="8286750" y="4048125"/>
                <a:ext cx="2857500" cy="476250"/>
              </a:xfrm>
              <a:prstGeom prst="roundRect">
                <a:avLst>
                  <a:gd name="adj" fmla="val 20000"/>
                </a:avLst>
              </a:prstGeom>
              <a:solidFill>
                <a:srgbClr val="C0392B">
                  <a:alpha val="6000"/>
                </a:srgbClr>
              </a:solidFill>
              <a:ln>
                <a:noFill/>
              </a:ln>
              <a:effectLst>
                <a:outerShdw blurRad="76200" dist="19050" dir="5400000" algn="ctr" rotWithShape="0">
                  <a:srgbClr val="2C2C2C">
                    <a:alpha val="4500"/>
                  </a:srgbClr>
                </a:outerShdw>
              </a:effectLst>
            </p:spPr>
          </p:sp>
          <p:sp>
            <p:nvSpPr>
              <p:cNvPr id="33" name="TextBox 33"/>
              <p:cNvSpPr txBox="1"/>
              <p:nvPr/>
            </p:nvSpPr>
            <p:spPr>
              <a:xfrm>
                <a:off x="9422130" y="4220528"/>
                <a:ext cx="586740"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1050" dirty="0">
                    <a:solidFill>
                      <a:srgbClr val="C0392B"/>
                    </a:solidFill>
                    <a:latin typeface="Arial"/>
                    <a:ea typeface="Microsoft YaHei"/>
                    <a:cs typeface="Arial"/>
                  </a:rPr>
                  <a:t>承诺收益</a:t>
                </a:r>
              </a:p>
            </p:txBody>
          </p:sp>
          <p:sp>
            <p:nvSpPr>
              <p:cNvPr id="34" name="TextBox 34"/>
              <p:cNvSpPr txBox="1"/>
              <p:nvPr/>
            </p:nvSpPr>
            <p:spPr>
              <a:xfrm>
                <a:off x="9222605" y="4411028"/>
                <a:ext cx="985790" cy="213360"/>
              </a:xfrm>
              <a:prstGeom prst="rect">
                <a:avLst/>
              </a:prstGeom>
              <a:noFill/>
              <a:ln>
                <a:noFill/>
              </a:ln>
              <a:effectLst>
                <a:outerShdw blurRad="76200" dist="19050" dir="5400000" algn="ctr" rotWithShape="0">
                  <a:srgbClr val="2C2C2C">
                    <a:alpha val="4500"/>
                  </a:srgbClr>
                </a:outerShdw>
              </a:effectLst>
            </p:spPr>
            <p:txBody>
              <a:bodyPr wrap="none" lIns="0" tIns="0" rIns="0" bIns="0" anchor="t" anchorCtr="0">
                <a:spAutoFit/>
              </a:bodyPr>
              <a:lstStyle/>
              <a:p>
                <a:pPr algn="ctr"/>
                <a:r>
                  <a:rPr lang="zh-CN" sz="1050" dirty="0">
                    <a:solidFill>
                      <a:srgbClr val="C0392B"/>
                    </a:solidFill>
                    <a:latin typeface="Arial"/>
                    <a:ea typeface="Microsoft YaHei"/>
                    <a:cs typeface="Arial"/>
                  </a:rPr>
                  <a:t>= 金融监管红线</a:t>
                </a:r>
              </a:p>
            </p:txBody>
          </p:sp>
        </p:grpSp>
      </p:grpSp>
      <p:sp>
        <p:nvSpPr>
          <p:cNvPr id="37" name="Rectangle 37"/>
          <p:cNvSpPr/>
          <p:nvPr/>
        </p:nvSpPr>
        <p:spPr>
          <a:xfrm>
            <a:off x="2857500" y="6286500"/>
            <a:ext cx="6477000" cy="342900"/>
          </a:xfrm>
          <a:prstGeom prst="roundRect">
            <a:avLst>
              <a:gd name="adj" fmla="val 50000"/>
            </a:avLst>
          </a:prstGeom>
          <a:solidFill>
            <a:srgbClr val="C0392B">
              <a:alpha val="6000"/>
            </a:srgbClr>
          </a:solidFill>
          <a:ln>
            <a:noFill/>
          </a:ln>
        </p:spPr>
      </p:sp>
      <p:sp>
        <p:nvSpPr>
          <p:cNvPr id="38" name="TextBox 38"/>
          <p:cNvSpPr txBox="1"/>
          <p:nvPr/>
        </p:nvSpPr>
        <p:spPr>
          <a:xfrm>
            <a:off x="4048958" y="6384131"/>
            <a:ext cx="4094083" cy="228600"/>
          </a:xfrm>
          <a:prstGeom prst="rect">
            <a:avLst/>
          </a:prstGeom>
          <a:noFill/>
          <a:ln>
            <a:noFill/>
          </a:ln>
        </p:spPr>
        <p:txBody>
          <a:bodyPr wrap="none" lIns="0" tIns="0" rIns="0" bIns="0" anchor="t" anchorCtr="0">
            <a:spAutoFit/>
          </a:bodyPr>
          <a:lstStyle/>
          <a:p>
            <a:pPr algn="ctr"/>
            <a:r>
              <a:rPr lang="zh-CN" sz="1125" dirty="0">
                <a:solidFill>
                  <a:srgbClr val="C0392B"/>
                </a:solidFill>
                <a:latin typeface="Arial"/>
                <a:ea typeface="Microsoft YaHei"/>
                <a:cs typeface="Arial"/>
              </a:rPr>
              <a:t>每条红线背后是具体的法律法规——不是「建议」，是生存条件</a:t>
            </a:r>
          </a:p>
        </p:txBody>
      </p:sp>
      <p:sp>
        <p:nvSpPr>
          <p:cNvPr id="39" name="TextBox 39"/>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
        <p:nvSpPr>
          <p:cNvPr id="40" name="TextBox 40"/>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C0392B"/>
          </a:solidFill>
          <a:ln>
            <a:noFill/>
          </a:ln>
        </p:spPr>
      </p:sp>
      <p:sp>
        <p:nvSpPr>
          <p:cNvPr id="4" name="TextBox 4"/>
          <p:cNvSpPr txBox="1"/>
          <p:nvPr/>
        </p:nvSpPr>
        <p:spPr>
          <a:xfrm>
            <a:off x="775335" y="470535"/>
            <a:ext cx="8385620"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16组强制术语替换：从「数字资产」到「消费权益」</a:t>
            </a:r>
          </a:p>
        </p:txBody>
      </p:sp>
      <p:sp>
        <p:nvSpPr>
          <p:cNvPr id="5" name="TextBox 5"/>
          <p:cNvSpPr txBox="1"/>
          <p:nvPr/>
        </p:nvSpPr>
        <p:spPr>
          <a:xfrm>
            <a:off x="795338" y="926306"/>
            <a:ext cx="2893933"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语言即合规——用错一个词可能触发监管误判</a:t>
            </a:r>
          </a:p>
        </p:txBody>
      </p:sp>
      <p:sp>
        <p:nvSpPr>
          <p:cNvPr id="6" name="Rectangle 6"/>
          <p:cNvSpPr/>
          <p:nvPr/>
        </p:nvSpPr>
        <p:spPr>
          <a:xfrm>
            <a:off x="571500" y="1314450"/>
            <a:ext cx="381000" cy="323850"/>
          </a:xfrm>
          <a:prstGeom prst="roundRect">
            <a:avLst>
              <a:gd name="adj" fmla="val 14706"/>
            </a:avLst>
          </a:prstGeom>
          <a:solidFill>
            <a:srgbClr val="C0392B">
              <a:alpha val="12000"/>
            </a:srgbClr>
          </a:solidFill>
          <a:ln>
            <a:noFill/>
          </a:ln>
        </p:spPr>
      </p:sp>
      <p:sp>
        <p:nvSpPr>
          <p:cNvPr id="7" name="TextBox 7"/>
          <p:cNvSpPr txBox="1"/>
          <p:nvPr/>
        </p:nvSpPr>
        <p:spPr>
          <a:xfrm>
            <a:off x="708235" y="1410652"/>
            <a:ext cx="107530" cy="213360"/>
          </a:xfrm>
          <a:prstGeom prst="rect">
            <a:avLst/>
          </a:prstGeom>
          <a:noFill/>
          <a:ln>
            <a:noFill/>
          </a:ln>
        </p:spPr>
        <p:txBody>
          <a:bodyPr wrap="none" lIns="0" tIns="0" rIns="0" bIns="0" anchor="t" anchorCtr="0">
            <a:spAutoFit/>
          </a:bodyPr>
          <a:lstStyle/>
          <a:p>
            <a:pPr algn="ctr"/>
            <a:r>
              <a:rPr lang="zh-CN" sz="1050" b="1" dirty="0">
                <a:solidFill>
                  <a:srgbClr val="C0392B"/>
                </a:solidFill>
                <a:latin typeface="Arial"/>
                <a:ea typeface="Microsoft YaHei"/>
                <a:cs typeface="Arial"/>
              </a:rPr>
              <a:t>#</a:t>
            </a:r>
          </a:p>
        </p:txBody>
      </p:sp>
      <p:sp>
        <p:nvSpPr>
          <p:cNvPr id="8" name="Rectangle 8"/>
          <p:cNvSpPr/>
          <p:nvPr/>
        </p:nvSpPr>
        <p:spPr>
          <a:xfrm>
            <a:off x="1028700" y="1314450"/>
            <a:ext cx="3429000" cy="323850"/>
          </a:xfrm>
          <a:prstGeom prst="roundRect">
            <a:avLst>
              <a:gd name="adj" fmla="val 14706"/>
            </a:avLst>
          </a:prstGeom>
          <a:solidFill>
            <a:srgbClr val="C0392B">
              <a:alpha val="12000"/>
            </a:srgbClr>
          </a:solidFill>
          <a:ln>
            <a:noFill/>
          </a:ln>
        </p:spPr>
      </p:sp>
      <p:sp>
        <p:nvSpPr>
          <p:cNvPr id="9" name="TextBox 9"/>
          <p:cNvSpPr txBox="1"/>
          <p:nvPr/>
        </p:nvSpPr>
        <p:spPr>
          <a:xfrm>
            <a:off x="2509337" y="1410652"/>
            <a:ext cx="467725" cy="213360"/>
          </a:xfrm>
          <a:prstGeom prst="rect">
            <a:avLst/>
          </a:prstGeom>
          <a:noFill/>
          <a:ln>
            <a:noFill/>
          </a:ln>
        </p:spPr>
        <p:txBody>
          <a:bodyPr wrap="none" lIns="0" tIns="0" rIns="0" bIns="0" anchor="t" anchorCtr="0">
            <a:spAutoFit/>
          </a:bodyPr>
          <a:lstStyle/>
          <a:p>
            <a:pPr algn="ctr"/>
            <a:r>
              <a:rPr lang="zh-CN" sz="1050" b="1" dirty="0">
                <a:solidFill>
                  <a:srgbClr val="C0392B"/>
                </a:solidFill>
                <a:latin typeface="Arial"/>
                <a:ea typeface="Microsoft YaHei"/>
                <a:cs typeface="Arial"/>
              </a:rPr>
              <a:t>禁用词</a:t>
            </a:r>
          </a:p>
        </p:txBody>
      </p:sp>
      <p:sp>
        <p:nvSpPr>
          <p:cNvPr id="10" name="Rectangle 10"/>
          <p:cNvSpPr/>
          <p:nvPr/>
        </p:nvSpPr>
        <p:spPr>
          <a:xfrm>
            <a:off x="4533900" y="1314450"/>
            <a:ext cx="3429000" cy="323850"/>
          </a:xfrm>
          <a:prstGeom prst="roundRect">
            <a:avLst>
              <a:gd name="adj" fmla="val 14706"/>
            </a:avLst>
          </a:prstGeom>
          <a:solidFill>
            <a:srgbClr val="1E8449">
              <a:alpha val="12000"/>
            </a:srgbClr>
          </a:solidFill>
          <a:ln>
            <a:noFill/>
          </a:ln>
        </p:spPr>
      </p:sp>
      <p:sp>
        <p:nvSpPr>
          <p:cNvPr id="11" name="TextBox 11"/>
          <p:cNvSpPr txBox="1"/>
          <p:nvPr/>
        </p:nvSpPr>
        <p:spPr>
          <a:xfrm>
            <a:off x="5867519" y="1410652"/>
            <a:ext cx="761762"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强制替换词</a:t>
            </a:r>
          </a:p>
        </p:txBody>
      </p:sp>
      <p:sp>
        <p:nvSpPr>
          <p:cNvPr id="12" name="Rectangle 12"/>
          <p:cNvSpPr/>
          <p:nvPr/>
        </p:nvSpPr>
        <p:spPr>
          <a:xfrm>
            <a:off x="8039100" y="1314450"/>
            <a:ext cx="571500" cy="323850"/>
          </a:xfrm>
          <a:prstGeom prst="roundRect">
            <a:avLst>
              <a:gd name="adj" fmla="val 14706"/>
            </a:avLst>
          </a:prstGeom>
          <a:solidFill>
            <a:srgbClr val="E67E22">
              <a:alpha val="10000"/>
            </a:srgbClr>
          </a:solidFill>
          <a:ln>
            <a:noFill/>
          </a:ln>
        </p:spPr>
      </p:sp>
      <p:sp>
        <p:nvSpPr>
          <p:cNvPr id="13" name="TextBox 13"/>
          <p:cNvSpPr txBox="1"/>
          <p:nvPr/>
        </p:nvSpPr>
        <p:spPr>
          <a:xfrm>
            <a:off x="8164497" y="1410652"/>
            <a:ext cx="320707" cy="213360"/>
          </a:xfrm>
          <a:prstGeom prst="rect">
            <a:avLst/>
          </a:prstGeom>
          <a:noFill/>
          <a:ln>
            <a:noFill/>
          </a:ln>
        </p:spPr>
        <p:txBody>
          <a:bodyPr wrap="none" lIns="0" tIns="0" rIns="0" bIns="0" anchor="t" anchorCtr="0">
            <a:spAutoFit/>
          </a:bodyPr>
          <a:lstStyle/>
          <a:p>
            <a:pPr algn="ctr"/>
            <a:r>
              <a:rPr lang="zh-CN" sz="1050" b="1" dirty="0">
                <a:solidFill>
                  <a:srgbClr val="E67E22"/>
                </a:solidFill>
                <a:latin typeface="Arial"/>
                <a:ea typeface="Microsoft YaHei"/>
                <a:cs typeface="Arial"/>
              </a:rPr>
              <a:t>状态</a:t>
            </a:r>
          </a:p>
        </p:txBody>
      </p:sp>
      <p:sp>
        <p:nvSpPr>
          <p:cNvPr id="14" name="Rectangle 14"/>
          <p:cNvSpPr/>
          <p:nvPr/>
        </p:nvSpPr>
        <p:spPr>
          <a:xfrm>
            <a:off x="571500" y="1714500"/>
            <a:ext cx="381000" cy="266700"/>
          </a:xfrm>
          <a:prstGeom prst="roundRect">
            <a:avLst>
              <a:gd name="adj" fmla="val 14286"/>
            </a:avLst>
          </a:prstGeom>
          <a:solidFill>
            <a:srgbClr val="F0EDE8"/>
          </a:solidFill>
          <a:ln>
            <a:noFill/>
          </a:ln>
        </p:spPr>
      </p:sp>
      <p:sp>
        <p:nvSpPr>
          <p:cNvPr id="15" name="TextBox 15"/>
          <p:cNvSpPr txBox="1"/>
          <p:nvPr/>
        </p:nvSpPr>
        <p:spPr>
          <a:xfrm>
            <a:off x="717566" y="17983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1</a:t>
            </a:r>
          </a:p>
        </p:txBody>
      </p:sp>
      <p:sp>
        <p:nvSpPr>
          <p:cNvPr id="16" name="Rectangle 16"/>
          <p:cNvSpPr/>
          <p:nvPr/>
        </p:nvSpPr>
        <p:spPr>
          <a:xfrm>
            <a:off x="1028700" y="1714500"/>
            <a:ext cx="3429000" cy="266700"/>
          </a:xfrm>
          <a:prstGeom prst="roundRect">
            <a:avLst>
              <a:gd name="adj" fmla="val 14286"/>
            </a:avLst>
          </a:prstGeom>
          <a:solidFill>
            <a:srgbClr val="C0392B">
              <a:alpha val="5000"/>
            </a:srgbClr>
          </a:solidFill>
          <a:ln>
            <a:noFill/>
          </a:ln>
        </p:spPr>
      </p:sp>
      <p:sp>
        <p:nvSpPr>
          <p:cNvPr id="17" name="TextBox 17"/>
          <p:cNvSpPr txBox="1"/>
          <p:nvPr/>
        </p:nvSpPr>
        <p:spPr>
          <a:xfrm>
            <a:off x="1111568" y="1790224"/>
            <a:ext cx="544830"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数字资产</a:t>
            </a:r>
          </a:p>
        </p:txBody>
      </p:sp>
      <p:sp>
        <p:nvSpPr>
          <p:cNvPr id="18" name="Rectangle 18"/>
          <p:cNvSpPr/>
          <p:nvPr/>
        </p:nvSpPr>
        <p:spPr>
          <a:xfrm>
            <a:off x="4533900" y="1714500"/>
            <a:ext cx="3429000" cy="266700"/>
          </a:xfrm>
          <a:prstGeom prst="roundRect">
            <a:avLst>
              <a:gd name="adj" fmla="val 14286"/>
            </a:avLst>
          </a:prstGeom>
          <a:solidFill>
            <a:srgbClr val="1E8449">
              <a:alpha val="5000"/>
            </a:srgbClr>
          </a:solidFill>
          <a:ln>
            <a:noFill/>
          </a:ln>
        </p:spPr>
      </p:sp>
      <p:sp>
        <p:nvSpPr>
          <p:cNvPr id="19" name="TextBox 19"/>
          <p:cNvSpPr txBox="1"/>
          <p:nvPr/>
        </p:nvSpPr>
        <p:spPr>
          <a:xfrm>
            <a:off x="4616768" y="1790224"/>
            <a:ext cx="544830"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消费权益</a:t>
            </a:r>
          </a:p>
        </p:txBody>
      </p:sp>
      <p:sp>
        <p:nvSpPr>
          <p:cNvPr id="20" name="Rectangle 20"/>
          <p:cNvSpPr/>
          <p:nvPr/>
        </p:nvSpPr>
        <p:spPr>
          <a:xfrm>
            <a:off x="8039100" y="1743075"/>
            <a:ext cx="438150" cy="209550"/>
          </a:xfrm>
          <a:prstGeom prst="roundRect">
            <a:avLst>
              <a:gd name="adj" fmla="val 50000"/>
            </a:avLst>
          </a:prstGeom>
          <a:solidFill>
            <a:srgbClr val="1E8449">
              <a:alpha val="15000"/>
            </a:srgbClr>
          </a:solidFill>
          <a:ln>
            <a:noFill/>
          </a:ln>
        </p:spPr>
      </p:sp>
      <p:sp>
        <p:nvSpPr>
          <p:cNvPr id="21" name="TextBox 21"/>
          <p:cNvSpPr txBox="1"/>
          <p:nvPr/>
        </p:nvSpPr>
        <p:spPr>
          <a:xfrm>
            <a:off x="8098631" y="18049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22" name="Rectangle 22"/>
          <p:cNvSpPr/>
          <p:nvPr/>
        </p:nvSpPr>
        <p:spPr>
          <a:xfrm>
            <a:off x="571500" y="2019300"/>
            <a:ext cx="381000" cy="266700"/>
          </a:xfrm>
          <a:prstGeom prst="roundRect">
            <a:avLst>
              <a:gd name="adj" fmla="val 14286"/>
            </a:avLst>
          </a:prstGeom>
          <a:solidFill>
            <a:srgbClr val="F0EDE8"/>
          </a:solidFill>
          <a:ln>
            <a:noFill/>
          </a:ln>
        </p:spPr>
      </p:sp>
      <p:sp>
        <p:nvSpPr>
          <p:cNvPr id="23" name="TextBox 23"/>
          <p:cNvSpPr txBox="1"/>
          <p:nvPr/>
        </p:nvSpPr>
        <p:spPr>
          <a:xfrm>
            <a:off x="717566" y="21031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2</a:t>
            </a:r>
          </a:p>
        </p:txBody>
      </p:sp>
      <p:sp>
        <p:nvSpPr>
          <p:cNvPr id="24" name="Rectangle 24"/>
          <p:cNvSpPr/>
          <p:nvPr/>
        </p:nvSpPr>
        <p:spPr>
          <a:xfrm>
            <a:off x="1028700" y="2019300"/>
            <a:ext cx="3429000" cy="266700"/>
          </a:xfrm>
          <a:prstGeom prst="roundRect">
            <a:avLst>
              <a:gd name="adj" fmla="val 14286"/>
            </a:avLst>
          </a:prstGeom>
          <a:solidFill>
            <a:srgbClr val="C0392B">
              <a:alpha val="5000"/>
            </a:srgbClr>
          </a:solidFill>
          <a:ln>
            <a:noFill/>
          </a:ln>
        </p:spPr>
      </p:sp>
      <p:sp>
        <p:nvSpPr>
          <p:cNvPr id="25" name="TextBox 25"/>
          <p:cNvSpPr txBox="1"/>
          <p:nvPr/>
        </p:nvSpPr>
        <p:spPr>
          <a:xfrm>
            <a:off x="1111568" y="2095024"/>
            <a:ext cx="804862"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数字信用债券</a:t>
            </a:r>
          </a:p>
        </p:txBody>
      </p:sp>
      <p:sp>
        <p:nvSpPr>
          <p:cNvPr id="26" name="Rectangle 26"/>
          <p:cNvSpPr/>
          <p:nvPr/>
        </p:nvSpPr>
        <p:spPr>
          <a:xfrm>
            <a:off x="4533900" y="2019300"/>
            <a:ext cx="3429000" cy="266700"/>
          </a:xfrm>
          <a:prstGeom prst="roundRect">
            <a:avLst>
              <a:gd name="adj" fmla="val 14286"/>
            </a:avLst>
          </a:prstGeom>
          <a:solidFill>
            <a:srgbClr val="1E8449">
              <a:alpha val="5000"/>
            </a:srgbClr>
          </a:solidFill>
          <a:ln>
            <a:noFill/>
          </a:ln>
        </p:spPr>
      </p:sp>
      <p:sp>
        <p:nvSpPr>
          <p:cNvPr id="27" name="TextBox 27"/>
          <p:cNvSpPr txBox="1"/>
          <p:nvPr/>
        </p:nvSpPr>
        <p:spPr>
          <a:xfrm>
            <a:off x="4616768" y="2095024"/>
            <a:ext cx="804862"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商家营销额度</a:t>
            </a:r>
          </a:p>
        </p:txBody>
      </p:sp>
      <p:sp>
        <p:nvSpPr>
          <p:cNvPr id="28" name="Rectangle 28"/>
          <p:cNvSpPr/>
          <p:nvPr/>
        </p:nvSpPr>
        <p:spPr>
          <a:xfrm>
            <a:off x="8039100" y="2047875"/>
            <a:ext cx="438150" cy="209550"/>
          </a:xfrm>
          <a:prstGeom prst="roundRect">
            <a:avLst>
              <a:gd name="adj" fmla="val 50000"/>
            </a:avLst>
          </a:prstGeom>
          <a:solidFill>
            <a:srgbClr val="1E8449">
              <a:alpha val="15000"/>
            </a:srgbClr>
          </a:solidFill>
          <a:ln>
            <a:noFill/>
          </a:ln>
        </p:spPr>
      </p:sp>
      <p:sp>
        <p:nvSpPr>
          <p:cNvPr id="29" name="TextBox 29"/>
          <p:cNvSpPr txBox="1"/>
          <p:nvPr/>
        </p:nvSpPr>
        <p:spPr>
          <a:xfrm>
            <a:off x="8098631" y="21097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30" name="Rectangle 30"/>
          <p:cNvSpPr/>
          <p:nvPr/>
        </p:nvSpPr>
        <p:spPr>
          <a:xfrm>
            <a:off x="571500" y="2324100"/>
            <a:ext cx="381000" cy="266700"/>
          </a:xfrm>
          <a:prstGeom prst="roundRect">
            <a:avLst>
              <a:gd name="adj" fmla="val 14286"/>
            </a:avLst>
          </a:prstGeom>
          <a:solidFill>
            <a:srgbClr val="F0EDE8"/>
          </a:solidFill>
          <a:ln>
            <a:noFill/>
          </a:ln>
        </p:spPr>
      </p:sp>
      <p:sp>
        <p:nvSpPr>
          <p:cNvPr id="31" name="TextBox 31"/>
          <p:cNvSpPr txBox="1"/>
          <p:nvPr/>
        </p:nvSpPr>
        <p:spPr>
          <a:xfrm>
            <a:off x="717566" y="24079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3</a:t>
            </a:r>
          </a:p>
        </p:txBody>
      </p:sp>
      <p:sp>
        <p:nvSpPr>
          <p:cNvPr id="32" name="Rectangle 32"/>
          <p:cNvSpPr/>
          <p:nvPr/>
        </p:nvSpPr>
        <p:spPr>
          <a:xfrm>
            <a:off x="1028700" y="2324100"/>
            <a:ext cx="3429000" cy="266700"/>
          </a:xfrm>
          <a:prstGeom prst="roundRect">
            <a:avLst>
              <a:gd name="adj" fmla="val 14286"/>
            </a:avLst>
          </a:prstGeom>
          <a:solidFill>
            <a:srgbClr val="C0392B">
              <a:alpha val="5000"/>
            </a:srgbClr>
          </a:solidFill>
          <a:ln>
            <a:noFill/>
          </a:ln>
        </p:spPr>
      </p:sp>
      <p:sp>
        <p:nvSpPr>
          <p:cNvPr id="33" name="TextBox 33"/>
          <p:cNvSpPr txBox="1"/>
          <p:nvPr/>
        </p:nvSpPr>
        <p:spPr>
          <a:xfrm>
            <a:off x="1111568" y="2399824"/>
            <a:ext cx="544830"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资产增值</a:t>
            </a:r>
          </a:p>
        </p:txBody>
      </p:sp>
      <p:sp>
        <p:nvSpPr>
          <p:cNvPr id="34" name="Rectangle 34"/>
          <p:cNvSpPr/>
          <p:nvPr/>
        </p:nvSpPr>
        <p:spPr>
          <a:xfrm>
            <a:off x="4533900" y="2324100"/>
            <a:ext cx="3429000" cy="266700"/>
          </a:xfrm>
          <a:prstGeom prst="roundRect">
            <a:avLst>
              <a:gd name="adj" fmla="val 14286"/>
            </a:avLst>
          </a:prstGeom>
          <a:solidFill>
            <a:srgbClr val="1E8449">
              <a:alpha val="5000"/>
            </a:srgbClr>
          </a:solidFill>
          <a:ln>
            <a:noFill/>
          </a:ln>
        </p:spPr>
      </p:sp>
      <p:sp>
        <p:nvSpPr>
          <p:cNvPr id="35" name="TextBox 35"/>
          <p:cNvSpPr txBox="1"/>
          <p:nvPr/>
        </p:nvSpPr>
        <p:spPr>
          <a:xfrm>
            <a:off x="4616768" y="2399824"/>
            <a:ext cx="544830"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权益升级</a:t>
            </a:r>
          </a:p>
        </p:txBody>
      </p:sp>
      <p:sp>
        <p:nvSpPr>
          <p:cNvPr id="36" name="Rectangle 36"/>
          <p:cNvSpPr/>
          <p:nvPr/>
        </p:nvSpPr>
        <p:spPr>
          <a:xfrm>
            <a:off x="8039100" y="2352675"/>
            <a:ext cx="438150" cy="209550"/>
          </a:xfrm>
          <a:prstGeom prst="roundRect">
            <a:avLst>
              <a:gd name="adj" fmla="val 50000"/>
            </a:avLst>
          </a:prstGeom>
          <a:solidFill>
            <a:srgbClr val="1E8449">
              <a:alpha val="15000"/>
            </a:srgbClr>
          </a:solidFill>
          <a:ln>
            <a:noFill/>
          </a:ln>
        </p:spPr>
      </p:sp>
      <p:sp>
        <p:nvSpPr>
          <p:cNvPr id="37" name="TextBox 37"/>
          <p:cNvSpPr txBox="1"/>
          <p:nvPr/>
        </p:nvSpPr>
        <p:spPr>
          <a:xfrm>
            <a:off x="8098631" y="24145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38" name="Rectangle 38"/>
          <p:cNvSpPr/>
          <p:nvPr/>
        </p:nvSpPr>
        <p:spPr>
          <a:xfrm>
            <a:off x="571500" y="2628900"/>
            <a:ext cx="381000" cy="266700"/>
          </a:xfrm>
          <a:prstGeom prst="roundRect">
            <a:avLst>
              <a:gd name="adj" fmla="val 14286"/>
            </a:avLst>
          </a:prstGeom>
          <a:solidFill>
            <a:srgbClr val="F0EDE8"/>
          </a:solidFill>
          <a:ln>
            <a:noFill/>
          </a:ln>
        </p:spPr>
      </p:sp>
      <p:sp>
        <p:nvSpPr>
          <p:cNvPr id="39" name="TextBox 39"/>
          <p:cNvSpPr txBox="1"/>
          <p:nvPr/>
        </p:nvSpPr>
        <p:spPr>
          <a:xfrm>
            <a:off x="717566" y="27127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4</a:t>
            </a:r>
          </a:p>
        </p:txBody>
      </p:sp>
      <p:sp>
        <p:nvSpPr>
          <p:cNvPr id="40" name="Rectangle 40"/>
          <p:cNvSpPr/>
          <p:nvPr/>
        </p:nvSpPr>
        <p:spPr>
          <a:xfrm>
            <a:off x="1028700" y="2628900"/>
            <a:ext cx="3429000" cy="266700"/>
          </a:xfrm>
          <a:prstGeom prst="roundRect">
            <a:avLst>
              <a:gd name="adj" fmla="val 14286"/>
            </a:avLst>
          </a:prstGeom>
          <a:solidFill>
            <a:srgbClr val="C0392B">
              <a:alpha val="5000"/>
            </a:srgbClr>
          </a:solidFill>
          <a:ln>
            <a:noFill/>
          </a:ln>
        </p:spPr>
      </p:sp>
      <p:sp>
        <p:nvSpPr>
          <p:cNvPr id="41" name="TextBox 41"/>
          <p:cNvSpPr txBox="1"/>
          <p:nvPr/>
        </p:nvSpPr>
        <p:spPr>
          <a:xfrm>
            <a:off x="1111568" y="2704624"/>
            <a:ext cx="674846"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消费信用分</a:t>
            </a:r>
          </a:p>
        </p:txBody>
      </p:sp>
      <p:sp>
        <p:nvSpPr>
          <p:cNvPr id="42" name="Rectangle 42"/>
          <p:cNvSpPr/>
          <p:nvPr/>
        </p:nvSpPr>
        <p:spPr>
          <a:xfrm>
            <a:off x="4533900" y="2628900"/>
            <a:ext cx="3429000" cy="266700"/>
          </a:xfrm>
          <a:prstGeom prst="roundRect">
            <a:avLst>
              <a:gd name="adj" fmla="val 14286"/>
            </a:avLst>
          </a:prstGeom>
          <a:solidFill>
            <a:srgbClr val="1E8449">
              <a:alpha val="5000"/>
            </a:srgbClr>
          </a:solidFill>
          <a:ln>
            <a:noFill/>
          </a:ln>
        </p:spPr>
      </p:sp>
      <p:sp>
        <p:nvSpPr>
          <p:cNvPr id="43" name="TextBox 43"/>
          <p:cNvSpPr txBox="1"/>
          <p:nvPr/>
        </p:nvSpPr>
        <p:spPr>
          <a:xfrm>
            <a:off x="4616768" y="2704624"/>
            <a:ext cx="934879"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消费活跃度指数</a:t>
            </a:r>
          </a:p>
        </p:txBody>
      </p:sp>
      <p:sp>
        <p:nvSpPr>
          <p:cNvPr id="44" name="Rectangle 44"/>
          <p:cNvSpPr/>
          <p:nvPr/>
        </p:nvSpPr>
        <p:spPr>
          <a:xfrm>
            <a:off x="8039100" y="2657475"/>
            <a:ext cx="438150" cy="209550"/>
          </a:xfrm>
          <a:prstGeom prst="roundRect">
            <a:avLst>
              <a:gd name="adj" fmla="val 50000"/>
            </a:avLst>
          </a:prstGeom>
          <a:solidFill>
            <a:srgbClr val="1E8449">
              <a:alpha val="15000"/>
            </a:srgbClr>
          </a:solidFill>
          <a:ln>
            <a:noFill/>
          </a:ln>
        </p:spPr>
      </p:sp>
      <p:sp>
        <p:nvSpPr>
          <p:cNvPr id="45" name="TextBox 45"/>
          <p:cNvSpPr txBox="1"/>
          <p:nvPr/>
        </p:nvSpPr>
        <p:spPr>
          <a:xfrm>
            <a:off x="8098631" y="27193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46" name="Rectangle 46"/>
          <p:cNvSpPr/>
          <p:nvPr/>
        </p:nvSpPr>
        <p:spPr>
          <a:xfrm>
            <a:off x="571500" y="2933700"/>
            <a:ext cx="381000" cy="266700"/>
          </a:xfrm>
          <a:prstGeom prst="roundRect">
            <a:avLst>
              <a:gd name="adj" fmla="val 14286"/>
            </a:avLst>
          </a:prstGeom>
          <a:solidFill>
            <a:srgbClr val="F0EDE8"/>
          </a:solidFill>
          <a:ln>
            <a:noFill/>
          </a:ln>
        </p:spPr>
      </p:sp>
      <p:sp>
        <p:nvSpPr>
          <p:cNvPr id="47" name="TextBox 47"/>
          <p:cNvSpPr txBox="1"/>
          <p:nvPr/>
        </p:nvSpPr>
        <p:spPr>
          <a:xfrm>
            <a:off x="717566" y="30175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5</a:t>
            </a:r>
          </a:p>
        </p:txBody>
      </p:sp>
      <p:sp>
        <p:nvSpPr>
          <p:cNvPr id="48" name="Rectangle 48"/>
          <p:cNvSpPr/>
          <p:nvPr/>
        </p:nvSpPr>
        <p:spPr>
          <a:xfrm>
            <a:off x="1028700" y="2933700"/>
            <a:ext cx="3429000" cy="266700"/>
          </a:xfrm>
          <a:prstGeom prst="roundRect">
            <a:avLst>
              <a:gd name="adj" fmla="val 14286"/>
            </a:avLst>
          </a:prstGeom>
          <a:solidFill>
            <a:srgbClr val="C0392B">
              <a:alpha val="5000"/>
            </a:srgbClr>
          </a:solidFill>
          <a:ln>
            <a:noFill/>
          </a:ln>
        </p:spPr>
      </p:sp>
      <p:sp>
        <p:nvSpPr>
          <p:cNvPr id="49" name="TextBox 49"/>
          <p:cNvSpPr txBox="1"/>
          <p:nvPr/>
        </p:nvSpPr>
        <p:spPr>
          <a:xfrm>
            <a:off x="1111568" y="3009424"/>
            <a:ext cx="1064895"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分润算法优化引擎</a:t>
            </a:r>
          </a:p>
        </p:txBody>
      </p:sp>
      <p:sp>
        <p:nvSpPr>
          <p:cNvPr id="50" name="Rectangle 50"/>
          <p:cNvSpPr/>
          <p:nvPr/>
        </p:nvSpPr>
        <p:spPr>
          <a:xfrm>
            <a:off x="4533900" y="2933700"/>
            <a:ext cx="3429000" cy="266700"/>
          </a:xfrm>
          <a:prstGeom prst="roundRect">
            <a:avLst>
              <a:gd name="adj" fmla="val 14286"/>
            </a:avLst>
          </a:prstGeom>
          <a:solidFill>
            <a:srgbClr val="1E8449">
              <a:alpha val="5000"/>
            </a:srgbClr>
          </a:solidFill>
          <a:ln>
            <a:noFill/>
          </a:ln>
        </p:spPr>
      </p:sp>
      <p:sp>
        <p:nvSpPr>
          <p:cNvPr id="51" name="TextBox 51"/>
          <p:cNvSpPr txBox="1"/>
          <p:nvPr/>
        </p:nvSpPr>
        <p:spPr>
          <a:xfrm>
            <a:off x="4616768" y="3009424"/>
            <a:ext cx="1194911"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商家服务费计算规则</a:t>
            </a:r>
          </a:p>
        </p:txBody>
      </p:sp>
      <p:sp>
        <p:nvSpPr>
          <p:cNvPr id="52" name="Rectangle 52"/>
          <p:cNvSpPr/>
          <p:nvPr/>
        </p:nvSpPr>
        <p:spPr>
          <a:xfrm>
            <a:off x="8039100" y="2962275"/>
            <a:ext cx="438150" cy="209550"/>
          </a:xfrm>
          <a:prstGeom prst="roundRect">
            <a:avLst>
              <a:gd name="adj" fmla="val 50000"/>
            </a:avLst>
          </a:prstGeom>
          <a:solidFill>
            <a:srgbClr val="1E8449">
              <a:alpha val="15000"/>
            </a:srgbClr>
          </a:solidFill>
          <a:ln>
            <a:noFill/>
          </a:ln>
        </p:spPr>
      </p:sp>
      <p:sp>
        <p:nvSpPr>
          <p:cNvPr id="53" name="TextBox 53"/>
          <p:cNvSpPr txBox="1"/>
          <p:nvPr/>
        </p:nvSpPr>
        <p:spPr>
          <a:xfrm>
            <a:off x="8098631" y="30241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54" name="Rectangle 54"/>
          <p:cNvSpPr/>
          <p:nvPr/>
        </p:nvSpPr>
        <p:spPr>
          <a:xfrm>
            <a:off x="571500" y="3238500"/>
            <a:ext cx="381000" cy="266700"/>
          </a:xfrm>
          <a:prstGeom prst="roundRect">
            <a:avLst>
              <a:gd name="adj" fmla="val 14286"/>
            </a:avLst>
          </a:prstGeom>
          <a:solidFill>
            <a:srgbClr val="F0EDE8"/>
          </a:solidFill>
          <a:ln>
            <a:noFill/>
          </a:ln>
        </p:spPr>
      </p:sp>
      <p:sp>
        <p:nvSpPr>
          <p:cNvPr id="55" name="TextBox 55"/>
          <p:cNvSpPr txBox="1"/>
          <p:nvPr/>
        </p:nvSpPr>
        <p:spPr>
          <a:xfrm>
            <a:off x="717566" y="33223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6</a:t>
            </a:r>
          </a:p>
        </p:txBody>
      </p:sp>
      <p:sp>
        <p:nvSpPr>
          <p:cNvPr id="56" name="Rectangle 56"/>
          <p:cNvSpPr/>
          <p:nvPr/>
        </p:nvSpPr>
        <p:spPr>
          <a:xfrm>
            <a:off x="1028700" y="3238500"/>
            <a:ext cx="3429000" cy="266700"/>
          </a:xfrm>
          <a:prstGeom prst="roundRect">
            <a:avLst>
              <a:gd name="adj" fmla="val 14286"/>
            </a:avLst>
          </a:prstGeom>
          <a:solidFill>
            <a:srgbClr val="C0392B">
              <a:alpha val="5000"/>
            </a:srgbClr>
          </a:solidFill>
          <a:ln>
            <a:noFill/>
          </a:ln>
        </p:spPr>
      </p:sp>
      <p:sp>
        <p:nvSpPr>
          <p:cNvPr id="57" name="TextBox 57"/>
          <p:cNvSpPr txBox="1"/>
          <p:nvPr/>
        </p:nvSpPr>
        <p:spPr>
          <a:xfrm>
            <a:off x="1111568" y="3314224"/>
            <a:ext cx="694349"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收益 / 盈利</a:t>
            </a:r>
          </a:p>
        </p:txBody>
      </p:sp>
      <p:sp>
        <p:nvSpPr>
          <p:cNvPr id="58" name="Rectangle 58"/>
          <p:cNvSpPr/>
          <p:nvPr/>
        </p:nvSpPr>
        <p:spPr>
          <a:xfrm>
            <a:off x="4533900" y="3238500"/>
            <a:ext cx="3429000" cy="266700"/>
          </a:xfrm>
          <a:prstGeom prst="roundRect">
            <a:avLst>
              <a:gd name="adj" fmla="val 14286"/>
            </a:avLst>
          </a:prstGeom>
          <a:solidFill>
            <a:srgbClr val="1E8449">
              <a:alpha val="5000"/>
            </a:srgbClr>
          </a:solidFill>
          <a:ln>
            <a:noFill/>
          </a:ln>
        </p:spPr>
      </p:sp>
      <p:sp>
        <p:nvSpPr>
          <p:cNvPr id="59" name="TextBox 59"/>
          <p:cNvSpPr txBox="1"/>
          <p:nvPr/>
        </p:nvSpPr>
        <p:spPr>
          <a:xfrm>
            <a:off x="4616768" y="3314224"/>
            <a:ext cx="824365"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服务费 / 增收</a:t>
            </a:r>
          </a:p>
        </p:txBody>
      </p:sp>
      <p:sp>
        <p:nvSpPr>
          <p:cNvPr id="60" name="Rectangle 60"/>
          <p:cNvSpPr/>
          <p:nvPr/>
        </p:nvSpPr>
        <p:spPr>
          <a:xfrm>
            <a:off x="8039100" y="3267075"/>
            <a:ext cx="438150" cy="209550"/>
          </a:xfrm>
          <a:prstGeom prst="roundRect">
            <a:avLst>
              <a:gd name="adj" fmla="val 50000"/>
            </a:avLst>
          </a:prstGeom>
          <a:solidFill>
            <a:srgbClr val="1E8449">
              <a:alpha val="15000"/>
            </a:srgbClr>
          </a:solidFill>
          <a:ln>
            <a:noFill/>
          </a:ln>
        </p:spPr>
      </p:sp>
      <p:sp>
        <p:nvSpPr>
          <p:cNvPr id="61" name="TextBox 61"/>
          <p:cNvSpPr txBox="1"/>
          <p:nvPr/>
        </p:nvSpPr>
        <p:spPr>
          <a:xfrm>
            <a:off x="8098631" y="33289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62" name="Rectangle 62"/>
          <p:cNvSpPr/>
          <p:nvPr/>
        </p:nvSpPr>
        <p:spPr>
          <a:xfrm>
            <a:off x="571500" y="3543300"/>
            <a:ext cx="381000" cy="266700"/>
          </a:xfrm>
          <a:prstGeom prst="roundRect">
            <a:avLst>
              <a:gd name="adj" fmla="val 14286"/>
            </a:avLst>
          </a:prstGeom>
          <a:solidFill>
            <a:srgbClr val="F0EDE8"/>
          </a:solidFill>
          <a:ln>
            <a:noFill/>
          </a:ln>
        </p:spPr>
      </p:sp>
      <p:sp>
        <p:nvSpPr>
          <p:cNvPr id="63" name="TextBox 63"/>
          <p:cNvSpPr txBox="1"/>
          <p:nvPr/>
        </p:nvSpPr>
        <p:spPr>
          <a:xfrm>
            <a:off x="717566" y="36271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7</a:t>
            </a:r>
          </a:p>
        </p:txBody>
      </p:sp>
      <p:sp>
        <p:nvSpPr>
          <p:cNvPr id="64" name="Rectangle 64"/>
          <p:cNvSpPr/>
          <p:nvPr/>
        </p:nvSpPr>
        <p:spPr>
          <a:xfrm>
            <a:off x="1028700" y="3543300"/>
            <a:ext cx="3429000" cy="266700"/>
          </a:xfrm>
          <a:prstGeom prst="roundRect">
            <a:avLst>
              <a:gd name="adj" fmla="val 14286"/>
            </a:avLst>
          </a:prstGeom>
          <a:solidFill>
            <a:srgbClr val="C0392B">
              <a:alpha val="5000"/>
            </a:srgbClr>
          </a:solidFill>
          <a:ln>
            <a:noFill/>
          </a:ln>
        </p:spPr>
      </p:sp>
      <p:sp>
        <p:nvSpPr>
          <p:cNvPr id="65" name="TextBox 65"/>
          <p:cNvSpPr txBox="1"/>
          <p:nvPr/>
        </p:nvSpPr>
        <p:spPr>
          <a:xfrm>
            <a:off x="1111568" y="3619024"/>
            <a:ext cx="954381"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红利 / 增值回报</a:t>
            </a:r>
          </a:p>
        </p:txBody>
      </p:sp>
      <p:sp>
        <p:nvSpPr>
          <p:cNvPr id="66" name="Rectangle 66"/>
          <p:cNvSpPr/>
          <p:nvPr/>
        </p:nvSpPr>
        <p:spPr>
          <a:xfrm>
            <a:off x="4533900" y="3543300"/>
            <a:ext cx="3429000" cy="266700"/>
          </a:xfrm>
          <a:prstGeom prst="roundRect">
            <a:avLst>
              <a:gd name="adj" fmla="val 14286"/>
            </a:avLst>
          </a:prstGeom>
          <a:solidFill>
            <a:srgbClr val="1E8449">
              <a:alpha val="5000"/>
            </a:srgbClr>
          </a:solidFill>
          <a:ln>
            <a:noFill/>
          </a:ln>
        </p:spPr>
      </p:sp>
      <p:sp>
        <p:nvSpPr>
          <p:cNvPr id="67" name="TextBox 67"/>
          <p:cNvSpPr txBox="1"/>
          <p:nvPr/>
        </p:nvSpPr>
        <p:spPr>
          <a:xfrm>
            <a:off x="4616768" y="3619024"/>
            <a:ext cx="1214414"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权益升级 / 消费权益</a:t>
            </a:r>
          </a:p>
        </p:txBody>
      </p:sp>
      <p:sp>
        <p:nvSpPr>
          <p:cNvPr id="68" name="Rectangle 68"/>
          <p:cNvSpPr/>
          <p:nvPr/>
        </p:nvSpPr>
        <p:spPr>
          <a:xfrm>
            <a:off x="8039100" y="3571875"/>
            <a:ext cx="438150" cy="209550"/>
          </a:xfrm>
          <a:prstGeom prst="roundRect">
            <a:avLst>
              <a:gd name="adj" fmla="val 50000"/>
            </a:avLst>
          </a:prstGeom>
          <a:solidFill>
            <a:srgbClr val="1E8449">
              <a:alpha val="15000"/>
            </a:srgbClr>
          </a:solidFill>
          <a:ln>
            <a:noFill/>
          </a:ln>
        </p:spPr>
      </p:sp>
      <p:sp>
        <p:nvSpPr>
          <p:cNvPr id="69" name="TextBox 69"/>
          <p:cNvSpPr txBox="1"/>
          <p:nvPr/>
        </p:nvSpPr>
        <p:spPr>
          <a:xfrm>
            <a:off x="8098631" y="36337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70" name="Rectangle 70"/>
          <p:cNvSpPr/>
          <p:nvPr/>
        </p:nvSpPr>
        <p:spPr>
          <a:xfrm>
            <a:off x="571500" y="3848100"/>
            <a:ext cx="381000" cy="266700"/>
          </a:xfrm>
          <a:prstGeom prst="roundRect">
            <a:avLst>
              <a:gd name="adj" fmla="val 14286"/>
            </a:avLst>
          </a:prstGeom>
          <a:solidFill>
            <a:srgbClr val="F0EDE8"/>
          </a:solidFill>
          <a:ln>
            <a:noFill/>
          </a:ln>
        </p:spPr>
      </p:sp>
      <p:sp>
        <p:nvSpPr>
          <p:cNvPr id="71" name="TextBox 71"/>
          <p:cNvSpPr txBox="1"/>
          <p:nvPr/>
        </p:nvSpPr>
        <p:spPr>
          <a:xfrm>
            <a:off x="717566" y="39319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8</a:t>
            </a:r>
          </a:p>
        </p:txBody>
      </p:sp>
      <p:sp>
        <p:nvSpPr>
          <p:cNvPr id="72" name="Rectangle 72"/>
          <p:cNvSpPr/>
          <p:nvPr/>
        </p:nvSpPr>
        <p:spPr>
          <a:xfrm>
            <a:off x="1028700" y="3848100"/>
            <a:ext cx="3429000" cy="266700"/>
          </a:xfrm>
          <a:prstGeom prst="roundRect">
            <a:avLst>
              <a:gd name="adj" fmla="val 14286"/>
            </a:avLst>
          </a:prstGeom>
          <a:solidFill>
            <a:srgbClr val="C0392B">
              <a:alpha val="5000"/>
            </a:srgbClr>
          </a:solidFill>
          <a:ln>
            <a:noFill/>
          </a:ln>
        </p:spPr>
      </p:sp>
      <p:sp>
        <p:nvSpPr>
          <p:cNvPr id="73" name="TextBox 73"/>
          <p:cNvSpPr txBox="1"/>
          <p:nvPr/>
        </p:nvSpPr>
        <p:spPr>
          <a:xfrm>
            <a:off x="1111568" y="3923824"/>
            <a:ext cx="674846"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资本（化）</a:t>
            </a:r>
          </a:p>
        </p:txBody>
      </p:sp>
      <p:sp>
        <p:nvSpPr>
          <p:cNvPr id="74" name="Rectangle 74"/>
          <p:cNvSpPr/>
          <p:nvPr/>
        </p:nvSpPr>
        <p:spPr>
          <a:xfrm>
            <a:off x="4533900" y="3848100"/>
            <a:ext cx="3429000" cy="266700"/>
          </a:xfrm>
          <a:prstGeom prst="roundRect">
            <a:avLst>
              <a:gd name="adj" fmla="val 14286"/>
            </a:avLst>
          </a:prstGeom>
          <a:solidFill>
            <a:srgbClr val="1E8449">
              <a:alpha val="5000"/>
            </a:srgbClr>
          </a:solidFill>
          <a:ln>
            <a:noFill/>
          </a:ln>
        </p:spPr>
      </p:sp>
      <p:sp>
        <p:nvSpPr>
          <p:cNvPr id="75" name="TextBox 75"/>
          <p:cNvSpPr txBox="1"/>
          <p:nvPr/>
        </p:nvSpPr>
        <p:spPr>
          <a:xfrm>
            <a:off x="4616768" y="3923824"/>
            <a:ext cx="694349"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资源 / 产业</a:t>
            </a:r>
          </a:p>
        </p:txBody>
      </p:sp>
      <p:sp>
        <p:nvSpPr>
          <p:cNvPr id="76" name="Rectangle 76"/>
          <p:cNvSpPr/>
          <p:nvPr/>
        </p:nvSpPr>
        <p:spPr>
          <a:xfrm>
            <a:off x="8039100" y="3876675"/>
            <a:ext cx="438150" cy="209550"/>
          </a:xfrm>
          <a:prstGeom prst="roundRect">
            <a:avLst>
              <a:gd name="adj" fmla="val 50000"/>
            </a:avLst>
          </a:prstGeom>
          <a:solidFill>
            <a:srgbClr val="1E8449">
              <a:alpha val="15000"/>
            </a:srgbClr>
          </a:solidFill>
          <a:ln>
            <a:noFill/>
          </a:ln>
        </p:spPr>
      </p:sp>
      <p:sp>
        <p:nvSpPr>
          <p:cNvPr id="77" name="TextBox 77"/>
          <p:cNvSpPr txBox="1"/>
          <p:nvPr/>
        </p:nvSpPr>
        <p:spPr>
          <a:xfrm>
            <a:off x="8098631" y="39385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78" name="Rectangle 78"/>
          <p:cNvSpPr/>
          <p:nvPr/>
        </p:nvSpPr>
        <p:spPr>
          <a:xfrm>
            <a:off x="571500" y="4152900"/>
            <a:ext cx="381000" cy="266700"/>
          </a:xfrm>
          <a:prstGeom prst="roundRect">
            <a:avLst>
              <a:gd name="adj" fmla="val 14286"/>
            </a:avLst>
          </a:prstGeom>
          <a:solidFill>
            <a:srgbClr val="F0EDE8"/>
          </a:solidFill>
          <a:ln>
            <a:noFill/>
          </a:ln>
        </p:spPr>
      </p:sp>
      <p:sp>
        <p:nvSpPr>
          <p:cNvPr id="79" name="TextBox 79"/>
          <p:cNvSpPr txBox="1"/>
          <p:nvPr/>
        </p:nvSpPr>
        <p:spPr>
          <a:xfrm>
            <a:off x="717566" y="4236720"/>
            <a:ext cx="88868"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9</a:t>
            </a:r>
          </a:p>
        </p:txBody>
      </p:sp>
      <p:sp>
        <p:nvSpPr>
          <p:cNvPr id="80" name="Rectangle 80"/>
          <p:cNvSpPr/>
          <p:nvPr/>
        </p:nvSpPr>
        <p:spPr>
          <a:xfrm>
            <a:off x="1028700" y="4152900"/>
            <a:ext cx="3429000" cy="266700"/>
          </a:xfrm>
          <a:prstGeom prst="roundRect">
            <a:avLst>
              <a:gd name="adj" fmla="val 14286"/>
            </a:avLst>
          </a:prstGeom>
          <a:solidFill>
            <a:srgbClr val="C0392B">
              <a:alpha val="5000"/>
            </a:srgbClr>
          </a:solidFill>
          <a:ln>
            <a:noFill/>
          </a:ln>
        </p:spPr>
      </p:sp>
      <p:sp>
        <p:nvSpPr>
          <p:cNvPr id="81" name="TextBox 81"/>
          <p:cNvSpPr txBox="1"/>
          <p:nvPr/>
        </p:nvSpPr>
        <p:spPr>
          <a:xfrm>
            <a:off x="1111568" y="4228624"/>
            <a:ext cx="284798"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变现</a:t>
            </a:r>
          </a:p>
        </p:txBody>
      </p:sp>
      <p:sp>
        <p:nvSpPr>
          <p:cNvPr id="82" name="Rectangle 82"/>
          <p:cNvSpPr/>
          <p:nvPr/>
        </p:nvSpPr>
        <p:spPr>
          <a:xfrm>
            <a:off x="4533900" y="4152900"/>
            <a:ext cx="3429000" cy="266700"/>
          </a:xfrm>
          <a:prstGeom prst="roundRect">
            <a:avLst>
              <a:gd name="adj" fmla="val 14286"/>
            </a:avLst>
          </a:prstGeom>
          <a:solidFill>
            <a:srgbClr val="1E8449">
              <a:alpha val="5000"/>
            </a:srgbClr>
          </a:solidFill>
          <a:ln>
            <a:noFill/>
          </a:ln>
        </p:spPr>
      </p:sp>
      <p:sp>
        <p:nvSpPr>
          <p:cNvPr id="83" name="TextBox 83"/>
          <p:cNvSpPr txBox="1"/>
          <p:nvPr/>
        </p:nvSpPr>
        <p:spPr>
          <a:xfrm>
            <a:off x="4616768" y="4228624"/>
            <a:ext cx="284798"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转化</a:t>
            </a:r>
          </a:p>
        </p:txBody>
      </p:sp>
      <p:sp>
        <p:nvSpPr>
          <p:cNvPr id="84" name="Rectangle 84"/>
          <p:cNvSpPr/>
          <p:nvPr/>
        </p:nvSpPr>
        <p:spPr>
          <a:xfrm>
            <a:off x="8039100" y="4181475"/>
            <a:ext cx="438150" cy="209550"/>
          </a:xfrm>
          <a:prstGeom prst="roundRect">
            <a:avLst>
              <a:gd name="adj" fmla="val 50000"/>
            </a:avLst>
          </a:prstGeom>
          <a:solidFill>
            <a:srgbClr val="1E8449">
              <a:alpha val="15000"/>
            </a:srgbClr>
          </a:solidFill>
          <a:ln>
            <a:noFill/>
          </a:ln>
        </p:spPr>
      </p:sp>
      <p:sp>
        <p:nvSpPr>
          <p:cNvPr id="85" name="TextBox 85"/>
          <p:cNvSpPr txBox="1"/>
          <p:nvPr/>
        </p:nvSpPr>
        <p:spPr>
          <a:xfrm>
            <a:off x="8098631" y="42433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86" name="Rectangle 86"/>
          <p:cNvSpPr/>
          <p:nvPr/>
        </p:nvSpPr>
        <p:spPr>
          <a:xfrm>
            <a:off x="571500" y="4457700"/>
            <a:ext cx="381000" cy="266700"/>
          </a:xfrm>
          <a:prstGeom prst="roundRect">
            <a:avLst>
              <a:gd name="adj" fmla="val 14286"/>
            </a:avLst>
          </a:prstGeom>
          <a:solidFill>
            <a:srgbClr val="F0EDE8"/>
          </a:solidFill>
          <a:ln>
            <a:noFill/>
          </a:ln>
        </p:spPr>
      </p:sp>
      <p:sp>
        <p:nvSpPr>
          <p:cNvPr id="87" name="TextBox 87"/>
          <p:cNvSpPr txBox="1"/>
          <p:nvPr/>
        </p:nvSpPr>
        <p:spPr>
          <a:xfrm>
            <a:off x="684562" y="4541520"/>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10</a:t>
            </a:r>
          </a:p>
        </p:txBody>
      </p:sp>
      <p:sp>
        <p:nvSpPr>
          <p:cNvPr id="88" name="Rectangle 88"/>
          <p:cNvSpPr/>
          <p:nvPr/>
        </p:nvSpPr>
        <p:spPr>
          <a:xfrm>
            <a:off x="1028700" y="4457700"/>
            <a:ext cx="3429000" cy="266700"/>
          </a:xfrm>
          <a:prstGeom prst="roundRect">
            <a:avLst>
              <a:gd name="adj" fmla="val 14286"/>
            </a:avLst>
          </a:prstGeom>
          <a:solidFill>
            <a:srgbClr val="C0392B">
              <a:alpha val="5000"/>
            </a:srgbClr>
          </a:solidFill>
          <a:ln>
            <a:noFill/>
          </a:ln>
        </p:spPr>
      </p:sp>
      <p:sp>
        <p:nvSpPr>
          <p:cNvPr id="89" name="TextBox 89"/>
          <p:cNvSpPr txBox="1"/>
          <p:nvPr/>
        </p:nvSpPr>
        <p:spPr>
          <a:xfrm>
            <a:off x="1111568" y="4533424"/>
            <a:ext cx="284798"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创业</a:t>
            </a:r>
          </a:p>
        </p:txBody>
      </p:sp>
      <p:sp>
        <p:nvSpPr>
          <p:cNvPr id="90" name="Rectangle 90"/>
          <p:cNvSpPr/>
          <p:nvPr/>
        </p:nvSpPr>
        <p:spPr>
          <a:xfrm>
            <a:off x="4533900" y="4457700"/>
            <a:ext cx="3429000" cy="266700"/>
          </a:xfrm>
          <a:prstGeom prst="roundRect">
            <a:avLst>
              <a:gd name="adj" fmla="val 14286"/>
            </a:avLst>
          </a:prstGeom>
          <a:solidFill>
            <a:srgbClr val="1E8449">
              <a:alpha val="5000"/>
            </a:srgbClr>
          </a:solidFill>
          <a:ln>
            <a:noFill/>
          </a:ln>
        </p:spPr>
      </p:sp>
      <p:sp>
        <p:nvSpPr>
          <p:cNvPr id="91" name="TextBox 91"/>
          <p:cNvSpPr txBox="1"/>
          <p:nvPr/>
        </p:nvSpPr>
        <p:spPr>
          <a:xfrm>
            <a:off x="4616768" y="4533424"/>
            <a:ext cx="954381"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参与 / 开展推广</a:t>
            </a:r>
          </a:p>
        </p:txBody>
      </p:sp>
      <p:sp>
        <p:nvSpPr>
          <p:cNvPr id="92" name="Rectangle 92"/>
          <p:cNvSpPr/>
          <p:nvPr/>
        </p:nvSpPr>
        <p:spPr>
          <a:xfrm>
            <a:off x="8039100" y="4486275"/>
            <a:ext cx="438150" cy="209550"/>
          </a:xfrm>
          <a:prstGeom prst="roundRect">
            <a:avLst>
              <a:gd name="adj" fmla="val 50000"/>
            </a:avLst>
          </a:prstGeom>
          <a:solidFill>
            <a:srgbClr val="1E8449">
              <a:alpha val="15000"/>
            </a:srgbClr>
          </a:solidFill>
          <a:ln>
            <a:noFill/>
          </a:ln>
        </p:spPr>
      </p:sp>
      <p:sp>
        <p:nvSpPr>
          <p:cNvPr id="93" name="TextBox 93"/>
          <p:cNvSpPr txBox="1"/>
          <p:nvPr/>
        </p:nvSpPr>
        <p:spPr>
          <a:xfrm>
            <a:off x="8098631" y="45481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94" name="Rectangle 94"/>
          <p:cNvSpPr/>
          <p:nvPr/>
        </p:nvSpPr>
        <p:spPr>
          <a:xfrm>
            <a:off x="571500" y="4762500"/>
            <a:ext cx="381000" cy="266700"/>
          </a:xfrm>
          <a:prstGeom prst="roundRect">
            <a:avLst>
              <a:gd name="adj" fmla="val 14286"/>
            </a:avLst>
          </a:prstGeom>
          <a:solidFill>
            <a:srgbClr val="F0EDE8"/>
          </a:solidFill>
          <a:ln>
            <a:noFill/>
          </a:ln>
        </p:spPr>
      </p:sp>
      <p:sp>
        <p:nvSpPr>
          <p:cNvPr id="95" name="TextBox 95"/>
          <p:cNvSpPr txBox="1"/>
          <p:nvPr/>
        </p:nvSpPr>
        <p:spPr>
          <a:xfrm>
            <a:off x="684562" y="4846320"/>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11</a:t>
            </a:r>
          </a:p>
        </p:txBody>
      </p:sp>
      <p:sp>
        <p:nvSpPr>
          <p:cNvPr id="96" name="Rectangle 96"/>
          <p:cNvSpPr/>
          <p:nvPr/>
        </p:nvSpPr>
        <p:spPr>
          <a:xfrm>
            <a:off x="1028700" y="4762500"/>
            <a:ext cx="3429000" cy="266700"/>
          </a:xfrm>
          <a:prstGeom prst="roundRect">
            <a:avLst>
              <a:gd name="adj" fmla="val 14286"/>
            </a:avLst>
          </a:prstGeom>
          <a:solidFill>
            <a:srgbClr val="C0392B">
              <a:alpha val="5000"/>
            </a:srgbClr>
          </a:solidFill>
          <a:ln>
            <a:noFill/>
          </a:ln>
        </p:spPr>
      </p:sp>
      <p:sp>
        <p:nvSpPr>
          <p:cNvPr id="97" name="TextBox 97"/>
          <p:cNvSpPr txBox="1"/>
          <p:nvPr/>
        </p:nvSpPr>
        <p:spPr>
          <a:xfrm>
            <a:off x="1111568" y="4838224"/>
            <a:ext cx="414814"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全球化</a:t>
            </a:r>
          </a:p>
        </p:txBody>
      </p:sp>
      <p:sp>
        <p:nvSpPr>
          <p:cNvPr id="98" name="Rectangle 98"/>
          <p:cNvSpPr/>
          <p:nvPr/>
        </p:nvSpPr>
        <p:spPr>
          <a:xfrm>
            <a:off x="4533900" y="4762500"/>
            <a:ext cx="3429000" cy="266700"/>
          </a:xfrm>
          <a:prstGeom prst="roundRect">
            <a:avLst>
              <a:gd name="adj" fmla="val 14286"/>
            </a:avLst>
          </a:prstGeom>
          <a:solidFill>
            <a:srgbClr val="1E8449">
              <a:alpha val="5000"/>
            </a:srgbClr>
          </a:solidFill>
          <a:ln>
            <a:noFill/>
          </a:ln>
        </p:spPr>
      </p:sp>
      <p:sp>
        <p:nvSpPr>
          <p:cNvPr id="99" name="TextBox 99"/>
          <p:cNvSpPr txBox="1"/>
          <p:nvPr/>
        </p:nvSpPr>
        <p:spPr>
          <a:xfrm>
            <a:off x="4616768" y="4838224"/>
            <a:ext cx="954381"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全国化 / 本地化</a:t>
            </a:r>
          </a:p>
        </p:txBody>
      </p:sp>
      <p:sp>
        <p:nvSpPr>
          <p:cNvPr id="100" name="Rectangle 100"/>
          <p:cNvSpPr/>
          <p:nvPr/>
        </p:nvSpPr>
        <p:spPr>
          <a:xfrm>
            <a:off x="8039100" y="4791075"/>
            <a:ext cx="438150" cy="209550"/>
          </a:xfrm>
          <a:prstGeom prst="roundRect">
            <a:avLst>
              <a:gd name="adj" fmla="val 50000"/>
            </a:avLst>
          </a:prstGeom>
          <a:solidFill>
            <a:srgbClr val="1E8449">
              <a:alpha val="15000"/>
            </a:srgbClr>
          </a:solidFill>
          <a:ln>
            <a:noFill/>
          </a:ln>
        </p:spPr>
      </p:sp>
      <p:sp>
        <p:nvSpPr>
          <p:cNvPr id="101" name="TextBox 101"/>
          <p:cNvSpPr txBox="1"/>
          <p:nvPr/>
        </p:nvSpPr>
        <p:spPr>
          <a:xfrm>
            <a:off x="8098631" y="48529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102" name="Rectangle 102"/>
          <p:cNvSpPr/>
          <p:nvPr/>
        </p:nvSpPr>
        <p:spPr>
          <a:xfrm>
            <a:off x="571500" y="5067300"/>
            <a:ext cx="381000" cy="266700"/>
          </a:xfrm>
          <a:prstGeom prst="roundRect">
            <a:avLst>
              <a:gd name="adj" fmla="val 14286"/>
            </a:avLst>
          </a:prstGeom>
          <a:solidFill>
            <a:srgbClr val="F0EDE8"/>
          </a:solidFill>
          <a:ln>
            <a:noFill/>
          </a:ln>
        </p:spPr>
      </p:sp>
      <p:sp>
        <p:nvSpPr>
          <p:cNvPr id="103" name="TextBox 103"/>
          <p:cNvSpPr txBox="1"/>
          <p:nvPr/>
        </p:nvSpPr>
        <p:spPr>
          <a:xfrm>
            <a:off x="684562" y="5151120"/>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12</a:t>
            </a:r>
          </a:p>
        </p:txBody>
      </p:sp>
      <p:sp>
        <p:nvSpPr>
          <p:cNvPr id="104" name="Rectangle 104"/>
          <p:cNvSpPr/>
          <p:nvPr/>
        </p:nvSpPr>
        <p:spPr>
          <a:xfrm>
            <a:off x="1028700" y="5067300"/>
            <a:ext cx="3429000" cy="266700"/>
          </a:xfrm>
          <a:prstGeom prst="roundRect">
            <a:avLst>
              <a:gd name="adj" fmla="val 14286"/>
            </a:avLst>
          </a:prstGeom>
          <a:solidFill>
            <a:srgbClr val="C0392B">
              <a:alpha val="5000"/>
            </a:srgbClr>
          </a:solidFill>
          <a:ln>
            <a:noFill/>
          </a:ln>
        </p:spPr>
      </p:sp>
      <p:sp>
        <p:nvSpPr>
          <p:cNvPr id="105" name="TextBox 105"/>
          <p:cNvSpPr txBox="1"/>
          <p:nvPr/>
        </p:nvSpPr>
        <p:spPr>
          <a:xfrm>
            <a:off x="1111568" y="5143024"/>
            <a:ext cx="544830"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数据确权</a:t>
            </a:r>
          </a:p>
        </p:txBody>
      </p:sp>
      <p:sp>
        <p:nvSpPr>
          <p:cNvPr id="106" name="Rectangle 106"/>
          <p:cNvSpPr/>
          <p:nvPr/>
        </p:nvSpPr>
        <p:spPr>
          <a:xfrm>
            <a:off x="4533900" y="5067300"/>
            <a:ext cx="3429000" cy="266700"/>
          </a:xfrm>
          <a:prstGeom prst="roundRect">
            <a:avLst>
              <a:gd name="adj" fmla="val 14286"/>
            </a:avLst>
          </a:prstGeom>
          <a:solidFill>
            <a:srgbClr val="1E8449">
              <a:alpha val="5000"/>
            </a:srgbClr>
          </a:solidFill>
          <a:ln>
            <a:noFill/>
          </a:ln>
        </p:spPr>
      </p:sp>
      <p:sp>
        <p:nvSpPr>
          <p:cNvPr id="107" name="TextBox 107"/>
          <p:cNvSpPr txBox="1"/>
          <p:nvPr/>
        </p:nvSpPr>
        <p:spPr>
          <a:xfrm>
            <a:off x="4616768" y="5143024"/>
            <a:ext cx="804862"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数据权益管理</a:t>
            </a:r>
          </a:p>
        </p:txBody>
      </p:sp>
      <p:sp>
        <p:nvSpPr>
          <p:cNvPr id="108" name="Rectangle 108"/>
          <p:cNvSpPr/>
          <p:nvPr/>
        </p:nvSpPr>
        <p:spPr>
          <a:xfrm>
            <a:off x="8039100" y="5095875"/>
            <a:ext cx="438150" cy="209550"/>
          </a:xfrm>
          <a:prstGeom prst="roundRect">
            <a:avLst>
              <a:gd name="adj" fmla="val 50000"/>
            </a:avLst>
          </a:prstGeom>
          <a:solidFill>
            <a:srgbClr val="1E8449">
              <a:alpha val="15000"/>
            </a:srgbClr>
          </a:solidFill>
          <a:ln>
            <a:noFill/>
          </a:ln>
        </p:spPr>
      </p:sp>
      <p:sp>
        <p:nvSpPr>
          <p:cNvPr id="109" name="TextBox 109"/>
          <p:cNvSpPr txBox="1"/>
          <p:nvPr/>
        </p:nvSpPr>
        <p:spPr>
          <a:xfrm>
            <a:off x="8098631" y="51577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110" name="Rectangle 110"/>
          <p:cNvSpPr/>
          <p:nvPr/>
        </p:nvSpPr>
        <p:spPr>
          <a:xfrm>
            <a:off x="571500" y="5372100"/>
            <a:ext cx="381000" cy="266700"/>
          </a:xfrm>
          <a:prstGeom prst="roundRect">
            <a:avLst>
              <a:gd name="adj" fmla="val 14286"/>
            </a:avLst>
          </a:prstGeom>
          <a:solidFill>
            <a:srgbClr val="F0EDE8"/>
          </a:solidFill>
          <a:ln>
            <a:noFill/>
          </a:ln>
        </p:spPr>
      </p:sp>
      <p:sp>
        <p:nvSpPr>
          <p:cNvPr id="111" name="TextBox 111"/>
          <p:cNvSpPr txBox="1"/>
          <p:nvPr/>
        </p:nvSpPr>
        <p:spPr>
          <a:xfrm>
            <a:off x="684562" y="5455920"/>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a:ea typeface="Microsoft YaHei"/>
                <a:cs typeface="Arial"/>
              </a:rPr>
              <a:t>13</a:t>
            </a:r>
          </a:p>
        </p:txBody>
      </p:sp>
      <p:sp>
        <p:nvSpPr>
          <p:cNvPr id="112" name="Rectangle 112"/>
          <p:cNvSpPr/>
          <p:nvPr/>
        </p:nvSpPr>
        <p:spPr>
          <a:xfrm>
            <a:off x="1028700" y="5372100"/>
            <a:ext cx="3429000" cy="266700"/>
          </a:xfrm>
          <a:prstGeom prst="roundRect">
            <a:avLst>
              <a:gd name="adj" fmla="val 14286"/>
            </a:avLst>
          </a:prstGeom>
          <a:solidFill>
            <a:srgbClr val="C0392B">
              <a:alpha val="5000"/>
            </a:srgbClr>
          </a:solidFill>
          <a:ln>
            <a:noFill/>
          </a:ln>
        </p:spPr>
      </p:sp>
      <p:sp>
        <p:nvSpPr>
          <p:cNvPr id="113" name="TextBox 113"/>
          <p:cNvSpPr txBox="1"/>
          <p:nvPr/>
        </p:nvSpPr>
        <p:spPr>
          <a:xfrm>
            <a:off x="1111568" y="5447824"/>
            <a:ext cx="674846"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数据即资产</a:t>
            </a:r>
          </a:p>
        </p:txBody>
      </p:sp>
      <p:sp>
        <p:nvSpPr>
          <p:cNvPr id="114" name="Rectangle 114"/>
          <p:cNvSpPr/>
          <p:nvPr/>
        </p:nvSpPr>
        <p:spPr>
          <a:xfrm>
            <a:off x="4533900" y="5372100"/>
            <a:ext cx="3429000" cy="266700"/>
          </a:xfrm>
          <a:prstGeom prst="roundRect">
            <a:avLst>
              <a:gd name="adj" fmla="val 14286"/>
            </a:avLst>
          </a:prstGeom>
          <a:solidFill>
            <a:srgbClr val="1E8449">
              <a:alpha val="5000"/>
            </a:srgbClr>
          </a:solidFill>
          <a:ln>
            <a:noFill/>
          </a:ln>
        </p:spPr>
      </p:sp>
      <p:sp>
        <p:nvSpPr>
          <p:cNvPr id="115" name="TextBox 115"/>
          <p:cNvSpPr txBox="1"/>
          <p:nvPr/>
        </p:nvSpPr>
        <p:spPr>
          <a:xfrm>
            <a:off x="4616768" y="5447824"/>
            <a:ext cx="804862" cy="198120"/>
          </a:xfrm>
          <a:prstGeom prst="rect">
            <a:avLst/>
          </a:prstGeom>
          <a:noFill/>
          <a:ln>
            <a:noFill/>
          </a:ln>
        </p:spPr>
        <p:txBody>
          <a:bodyPr wrap="none" lIns="0" tIns="0" rIns="0" bIns="0" anchor="t" anchorCtr="0">
            <a:spAutoFit/>
          </a:bodyPr>
          <a:lstStyle/>
          <a:p>
            <a:pPr algn="l"/>
            <a:r>
              <a:rPr lang="zh-CN" sz="975" dirty="0">
                <a:solidFill>
                  <a:srgbClr val="1E8449"/>
                </a:solidFill>
                <a:latin typeface="Arial"/>
                <a:ea typeface="Microsoft YaHei"/>
                <a:cs typeface="Arial"/>
              </a:rPr>
              <a:t>数据驱动经营</a:t>
            </a:r>
          </a:p>
        </p:txBody>
      </p:sp>
      <p:sp>
        <p:nvSpPr>
          <p:cNvPr id="116" name="Rectangle 116"/>
          <p:cNvSpPr/>
          <p:nvPr/>
        </p:nvSpPr>
        <p:spPr>
          <a:xfrm>
            <a:off x="8039100" y="5400675"/>
            <a:ext cx="438150" cy="209550"/>
          </a:xfrm>
          <a:prstGeom prst="roundRect">
            <a:avLst>
              <a:gd name="adj" fmla="val 50000"/>
            </a:avLst>
          </a:prstGeom>
          <a:solidFill>
            <a:srgbClr val="1E8449">
              <a:alpha val="15000"/>
            </a:srgbClr>
          </a:solidFill>
          <a:ln>
            <a:noFill/>
          </a:ln>
        </p:spPr>
      </p:sp>
      <p:sp>
        <p:nvSpPr>
          <p:cNvPr id="117" name="TextBox 117"/>
          <p:cNvSpPr txBox="1"/>
          <p:nvPr/>
        </p:nvSpPr>
        <p:spPr>
          <a:xfrm>
            <a:off x="8098631" y="5462588"/>
            <a:ext cx="319088" cy="152400"/>
          </a:xfrm>
          <a:prstGeom prst="rect">
            <a:avLst/>
          </a:prstGeom>
          <a:noFill/>
          <a:ln>
            <a:noFill/>
          </a:ln>
        </p:spPr>
        <p:txBody>
          <a:bodyPr wrap="none" lIns="0" tIns="0" rIns="0" bIns="0" anchor="t" anchorCtr="0">
            <a:spAutoFit/>
          </a:bodyPr>
          <a:lstStyle/>
          <a:p>
            <a:pPr algn="ctr"/>
            <a:r>
              <a:rPr lang="zh-CN" sz="750" dirty="0">
                <a:solidFill>
                  <a:srgbClr val="1E8449"/>
                </a:solidFill>
                <a:latin typeface="Arial"/>
                <a:ea typeface="Microsoft YaHei"/>
                <a:cs typeface="Arial"/>
              </a:rPr>
              <a:t>已替换</a:t>
            </a:r>
          </a:p>
        </p:txBody>
      </p:sp>
      <p:sp>
        <p:nvSpPr>
          <p:cNvPr id="118" name="Rectangle 118"/>
          <p:cNvSpPr/>
          <p:nvPr/>
        </p:nvSpPr>
        <p:spPr>
          <a:xfrm>
            <a:off x="571500" y="5676900"/>
            <a:ext cx="381000" cy="266700"/>
          </a:xfrm>
          <a:prstGeom prst="roundRect">
            <a:avLst>
              <a:gd name="adj" fmla="val 14286"/>
            </a:avLst>
          </a:prstGeom>
          <a:solidFill>
            <a:srgbClr val="C0392B">
              <a:alpha val="8000"/>
            </a:srgbClr>
          </a:solidFill>
          <a:ln>
            <a:noFill/>
          </a:ln>
        </p:spPr>
      </p:sp>
      <p:sp>
        <p:nvSpPr>
          <p:cNvPr id="119" name="TextBox 119"/>
          <p:cNvSpPr txBox="1"/>
          <p:nvPr/>
        </p:nvSpPr>
        <p:spPr>
          <a:xfrm>
            <a:off x="681261" y="5760720"/>
            <a:ext cx="161477"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14</a:t>
            </a:r>
          </a:p>
        </p:txBody>
      </p:sp>
      <p:sp>
        <p:nvSpPr>
          <p:cNvPr id="120" name="Rectangle 120"/>
          <p:cNvSpPr/>
          <p:nvPr/>
        </p:nvSpPr>
        <p:spPr>
          <a:xfrm>
            <a:off x="1028700" y="5676900"/>
            <a:ext cx="3429000" cy="266700"/>
          </a:xfrm>
          <a:prstGeom prst="roundRect">
            <a:avLst>
              <a:gd name="adj" fmla="val 14286"/>
            </a:avLst>
          </a:prstGeom>
          <a:solidFill>
            <a:srgbClr val="C0392B">
              <a:alpha val="8000"/>
            </a:srgbClr>
          </a:solidFill>
          <a:ln>
            <a:noFill/>
          </a:ln>
        </p:spPr>
      </p:sp>
      <p:sp>
        <p:nvSpPr>
          <p:cNvPr id="121" name="TextBox 121"/>
          <p:cNvSpPr txBox="1"/>
          <p:nvPr/>
        </p:nvSpPr>
        <p:spPr>
          <a:xfrm>
            <a:off x="1111568" y="5752624"/>
            <a:ext cx="161282"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币</a:t>
            </a:r>
          </a:p>
        </p:txBody>
      </p:sp>
      <p:sp>
        <p:nvSpPr>
          <p:cNvPr id="122" name="Rectangle 122"/>
          <p:cNvSpPr/>
          <p:nvPr/>
        </p:nvSpPr>
        <p:spPr>
          <a:xfrm>
            <a:off x="4533900" y="5676900"/>
            <a:ext cx="3429000" cy="266700"/>
          </a:xfrm>
          <a:prstGeom prst="roundRect">
            <a:avLst>
              <a:gd name="adj" fmla="val 14286"/>
            </a:avLst>
          </a:prstGeom>
          <a:solidFill>
            <a:srgbClr val="C0392B">
              <a:alpha val="8000"/>
            </a:srgbClr>
          </a:solidFill>
          <a:ln>
            <a:noFill/>
          </a:ln>
        </p:spPr>
      </p:sp>
      <p:sp>
        <p:nvSpPr>
          <p:cNvPr id="123" name="TextBox 123"/>
          <p:cNvSpPr txBox="1"/>
          <p:nvPr/>
        </p:nvSpPr>
        <p:spPr>
          <a:xfrm>
            <a:off x="4616768" y="5752624"/>
            <a:ext cx="802912"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 直接删除 ]</a:t>
            </a:r>
          </a:p>
        </p:txBody>
      </p:sp>
      <p:sp>
        <p:nvSpPr>
          <p:cNvPr id="124" name="Rectangle 124"/>
          <p:cNvSpPr/>
          <p:nvPr/>
        </p:nvSpPr>
        <p:spPr>
          <a:xfrm>
            <a:off x="8039100" y="5705475"/>
            <a:ext cx="438150" cy="209550"/>
          </a:xfrm>
          <a:prstGeom prst="roundRect">
            <a:avLst>
              <a:gd name="adj" fmla="val 50000"/>
            </a:avLst>
          </a:prstGeom>
          <a:solidFill>
            <a:srgbClr val="C0392B">
              <a:alpha val="15000"/>
            </a:srgbClr>
          </a:solidFill>
          <a:ln>
            <a:noFill/>
          </a:ln>
        </p:spPr>
      </p:sp>
      <p:sp>
        <p:nvSpPr>
          <p:cNvPr id="125" name="TextBox 125"/>
          <p:cNvSpPr txBox="1"/>
          <p:nvPr/>
        </p:nvSpPr>
        <p:spPr>
          <a:xfrm>
            <a:off x="8148638" y="5767388"/>
            <a:ext cx="219075" cy="152400"/>
          </a:xfrm>
          <a:prstGeom prst="rect">
            <a:avLst/>
          </a:prstGeom>
          <a:noFill/>
          <a:ln>
            <a:noFill/>
          </a:ln>
        </p:spPr>
        <p:txBody>
          <a:bodyPr wrap="none" lIns="0" tIns="0" rIns="0" bIns="0" anchor="t" anchorCtr="0">
            <a:spAutoFit/>
          </a:bodyPr>
          <a:lstStyle/>
          <a:p>
            <a:pPr algn="ctr"/>
            <a:r>
              <a:rPr lang="zh-CN" sz="750" dirty="0">
                <a:solidFill>
                  <a:srgbClr val="C0392B"/>
                </a:solidFill>
                <a:latin typeface="Arial"/>
                <a:ea typeface="Microsoft YaHei"/>
                <a:cs typeface="Arial"/>
              </a:rPr>
              <a:t>严禁</a:t>
            </a:r>
          </a:p>
        </p:txBody>
      </p:sp>
      <p:sp>
        <p:nvSpPr>
          <p:cNvPr id="126" name="Rectangle 126"/>
          <p:cNvSpPr/>
          <p:nvPr/>
        </p:nvSpPr>
        <p:spPr>
          <a:xfrm>
            <a:off x="571500" y="5981700"/>
            <a:ext cx="381000" cy="266700"/>
          </a:xfrm>
          <a:prstGeom prst="roundRect">
            <a:avLst>
              <a:gd name="adj" fmla="val 14286"/>
            </a:avLst>
          </a:prstGeom>
          <a:solidFill>
            <a:srgbClr val="C0392B">
              <a:alpha val="8000"/>
            </a:srgbClr>
          </a:solidFill>
          <a:ln>
            <a:noFill/>
          </a:ln>
        </p:spPr>
      </p:sp>
      <p:sp>
        <p:nvSpPr>
          <p:cNvPr id="127" name="TextBox 127"/>
          <p:cNvSpPr txBox="1"/>
          <p:nvPr/>
        </p:nvSpPr>
        <p:spPr>
          <a:xfrm>
            <a:off x="681261" y="6065520"/>
            <a:ext cx="161477"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15</a:t>
            </a:r>
          </a:p>
        </p:txBody>
      </p:sp>
      <p:sp>
        <p:nvSpPr>
          <p:cNvPr id="128" name="Rectangle 128"/>
          <p:cNvSpPr/>
          <p:nvPr/>
        </p:nvSpPr>
        <p:spPr>
          <a:xfrm>
            <a:off x="1028700" y="5981700"/>
            <a:ext cx="3429000" cy="266700"/>
          </a:xfrm>
          <a:prstGeom prst="roundRect">
            <a:avLst>
              <a:gd name="adj" fmla="val 14286"/>
            </a:avLst>
          </a:prstGeom>
          <a:solidFill>
            <a:srgbClr val="C0392B">
              <a:alpha val="8000"/>
            </a:srgbClr>
          </a:solidFill>
          <a:ln>
            <a:noFill/>
          </a:ln>
        </p:spPr>
      </p:sp>
      <p:sp>
        <p:nvSpPr>
          <p:cNvPr id="129" name="TextBox 129"/>
          <p:cNvSpPr txBox="1"/>
          <p:nvPr/>
        </p:nvSpPr>
        <p:spPr>
          <a:xfrm>
            <a:off x="1111568" y="6057424"/>
            <a:ext cx="830216"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Token / 通证</a:t>
            </a:r>
          </a:p>
        </p:txBody>
      </p:sp>
      <p:sp>
        <p:nvSpPr>
          <p:cNvPr id="130" name="Rectangle 130"/>
          <p:cNvSpPr/>
          <p:nvPr/>
        </p:nvSpPr>
        <p:spPr>
          <a:xfrm>
            <a:off x="4533900" y="5981700"/>
            <a:ext cx="3429000" cy="266700"/>
          </a:xfrm>
          <a:prstGeom prst="roundRect">
            <a:avLst>
              <a:gd name="adj" fmla="val 14286"/>
            </a:avLst>
          </a:prstGeom>
          <a:solidFill>
            <a:srgbClr val="C0392B">
              <a:alpha val="8000"/>
            </a:srgbClr>
          </a:solidFill>
          <a:ln>
            <a:noFill/>
          </a:ln>
        </p:spPr>
      </p:sp>
      <p:sp>
        <p:nvSpPr>
          <p:cNvPr id="131" name="TextBox 131"/>
          <p:cNvSpPr txBox="1"/>
          <p:nvPr/>
        </p:nvSpPr>
        <p:spPr>
          <a:xfrm>
            <a:off x="4616768" y="6057424"/>
            <a:ext cx="802912"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 直接删除 ]</a:t>
            </a:r>
          </a:p>
        </p:txBody>
      </p:sp>
      <p:sp>
        <p:nvSpPr>
          <p:cNvPr id="132" name="Rectangle 132"/>
          <p:cNvSpPr/>
          <p:nvPr/>
        </p:nvSpPr>
        <p:spPr>
          <a:xfrm>
            <a:off x="8039100" y="6010275"/>
            <a:ext cx="438150" cy="209550"/>
          </a:xfrm>
          <a:prstGeom prst="roundRect">
            <a:avLst>
              <a:gd name="adj" fmla="val 50000"/>
            </a:avLst>
          </a:prstGeom>
          <a:solidFill>
            <a:srgbClr val="C0392B">
              <a:alpha val="15000"/>
            </a:srgbClr>
          </a:solidFill>
          <a:ln>
            <a:noFill/>
          </a:ln>
        </p:spPr>
      </p:sp>
      <p:sp>
        <p:nvSpPr>
          <p:cNvPr id="133" name="TextBox 133"/>
          <p:cNvSpPr txBox="1"/>
          <p:nvPr/>
        </p:nvSpPr>
        <p:spPr>
          <a:xfrm>
            <a:off x="8148638" y="6072188"/>
            <a:ext cx="219075" cy="152400"/>
          </a:xfrm>
          <a:prstGeom prst="rect">
            <a:avLst/>
          </a:prstGeom>
          <a:noFill/>
          <a:ln>
            <a:noFill/>
          </a:ln>
        </p:spPr>
        <p:txBody>
          <a:bodyPr wrap="none" lIns="0" tIns="0" rIns="0" bIns="0" anchor="t" anchorCtr="0">
            <a:spAutoFit/>
          </a:bodyPr>
          <a:lstStyle/>
          <a:p>
            <a:pPr algn="ctr"/>
            <a:r>
              <a:rPr lang="zh-CN" sz="750" dirty="0">
                <a:solidFill>
                  <a:srgbClr val="C0392B"/>
                </a:solidFill>
                <a:latin typeface="Arial"/>
                <a:ea typeface="Microsoft YaHei"/>
                <a:cs typeface="Arial"/>
              </a:rPr>
              <a:t>严禁</a:t>
            </a:r>
          </a:p>
        </p:txBody>
      </p:sp>
      <p:sp>
        <p:nvSpPr>
          <p:cNvPr id="134" name="Rectangle 134"/>
          <p:cNvSpPr/>
          <p:nvPr/>
        </p:nvSpPr>
        <p:spPr>
          <a:xfrm>
            <a:off x="571500" y="6286500"/>
            <a:ext cx="381000" cy="266700"/>
          </a:xfrm>
          <a:prstGeom prst="roundRect">
            <a:avLst>
              <a:gd name="adj" fmla="val 14286"/>
            </a:avLst>
          </a:prstGeom>
          <a:solidFill>
            <a:srgbClr val="C0392B">
              <a:alpha val="12000"/>
            </a:srgbClr>
          </a:solidFill>
          <a:ln>
            <a:noFill/>
          </a:ln>
        </p:spPr>
      </p:sp>
      <p:sp>
        <p:nvSpPr>
          <p:cNvPr id="135" name="TextBox 135"/>
          <p:cNvSpPr txBox="1"/>
          <p:nvPr/>
        </p:nvSpPr>
        <p:spPr>
          <a:xfrm>
            <a:off x="681261" y="6370320"/>
            <a:ext cx="161477"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16</a:t>
            </a:r>
          </a:p>
        </p:txBody>
      </p:sp>
      <p:sp>
        <p:nvSpPr>
          <p:cNvPr id="136" name="Rectangle 136"/>
          <p:cNvSpPr/>
          <p:nvPr/>
        </p:nvSpPr>
        <p:spPr>
          <a:xfrm>
            <a:off x="1028700" y="6286500"/>
            <a:ext cx="3429000" cy="266700"/>
          </a:xfrm>
          <a:prstGeom prst="roundRect">
            <a:avLst>
              <a:gd name="adj" fmla="val 14286"/>
            </a:avLst>
          </a:prstGeom>
          <a:solidFill>
            <a:srgbClr val="C0392B">
              <a:alpha val="12000"/>
            </a:srgbClr>
          </a:solidFill>
          <a:ln>
            <a:noFill/>
          </a:ln>
        </p:spPr>
      </p:sp>
      <p:sp>
        <p:nvSpPr>
          <p:cNvPr id="137" name="TextBox 137"/>
          <p:cNvSpPr txBox="1"/>
          <p:nvPr/>
        </p:nvSpPr>
        <p:spPr>
          <a:xfrm>
            <a:off x="1111568" y="6362224"/>
            <a:ext cx="1430891"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投资回报 / 稳赚 / 躺赚</a:t>
            </a:r>
          </a:p>
        </p:txBody>
      </p:sp>
      <p:sp>
        <p:nvSpPr>
          <p:cNvPr id="138" name="Rectangle 138"/>
          <p:cNvSpPr/>
          <p:nvPr/>
        </p:nvSpPr>
        <p:spPr>
          <a:xfrm>
            <a:off x="4533900" y="6286500"/>
            <a:ext cx="3429000" cy="266700"/>
          </a:xfrm>
          <a:prstGeom prst="roundRect">
            <a:avLst>
              <a:gd name="adj" fmla="val 14286"/>
            </a:avLst>
          </a:prstGeom>
          <a:solidFill>
            <a:srgbClr val="C0392B">
              <a:alpha val="12000"/>
            </a:srgbClr>
          </a:solidFill>
          <a:ln>
            <a:noFill/>
          </a:ln>
        </p:spPr>
      </p:sp>
      <p:sp>
        <p:nvSpPr>
          <p:cNvPr id="139" name="TextBox 139"/>
          <p:cNvSpPr txBox="1"/>
          <p:nvPr/>
        </p:nvSpPr>
        <p:spPr>
          <a:xfrm>
            <a:off x="4616768" y="6362224"/>
            <a:ext cx="1232941"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 直接删除 . 红线 ]</a:t>
            </a:r>
          </a:p>
        </p:txBody>
      </p:sp>
      <p:sp>
        <p:nvSpPr>
          <p:cNvPr id="140" name="Rectangle 140"/>
          <p:cNvSpPr/>
          <p:nvPr/>
        </p:nvSpPr>
        <p:spPr>
          <a:xfrm>
            <a:off x="8039100" y="6315075"/>
            <a:ext cx="438150" cy="209550"/>
          </a:xfrm>
          <a:prstGeom prst="roundRect">
            <a:avLst>
              <a:gd name="adj" fmla="val 50000"/>
            </a:avLst>
          </a:prstGeom>
          <a:solidFill>
            <a:srgbClr val="C0392B">
              <a:alpha val="18000"/>
            </a:srgbClr>
          </a:solidFill>
          <a:ln>
            <a:noFill/>
          </a:ln>
        </p:spPr>
      </p:sp>
      <p:sp>
        <p:nvSpPr>
          <p:cNvPr id="141" name="TextBox 141"/>
          <p:cNvSpPr txBox="1"/>
          <p:nvPr/>
        </p:nvSpPr>
        <p:spPr>
          <a:xfrm>
            <a:off x="8143637" y="6376988"/>
            <a:ext cx="229076" cy="152400"/>
          </a:xfrm>
          <a:prstGeom prst="rect">
            <a:avLst/>
          </a:prstGeom>
          <a:noFill/>
          <a:ln>
            <a:noFill/>
          </a:ln>
        </p:spPr>
        <p:txBody>
          <a:bodyPr wrap="none" lIns="0" tIns="0" rIns="0" bIns="0" anchor="t" anchorCtr="0">
            <a:spAutoFit/>
          </a:bodyPr>
          <a:lstStyle/>
          <a:p>
            <a:pPr algn="ctr"/>
            <a:r>
              <a:rPr lang="zh-CN" sz="750" b="1" dirty="0">
                <a:solidFill>
                  <a:srgbClr val="C0392B"/>
                </a:solidFill>
                <a:latin typeface="Arial"/>
                <a:ea typeface="Microsoft YaHei"/>
                <a:cs typeface="Arial"/>
              </a:rPr>
              <a:t>红线</a:t>
            </a:r>
          </a:p>
        </p:txBody>
      </p:sp>
      <p:sp>
        <p:nvSpPr>
          <p:cNvPr id="142" name="TextBox 142"/>
          <p:cNvSpPr txBox="1"/>
          <p:nvPr/>
        </p:nvSpPr>
        <p:spPr>
          <a:xfrm>
            <a:off x="11477054" y="664654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41</a:t>
            </a:r>
          </a:p>
        </p:txBody>
      </p:sp>
      <p:sp>
        <p:nvSpPr>
          <p:cNvPr id="143" name="TextBox 143"/>
          <p:cNvSpPr txBox="1"/>
          <p:nvPr/>
        </p:nvSpPr>
        <p:spPr>
          <a:xfrm>
            <a:off x="560070" y="664654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C0392B"/>
          </a:solidFill>
          <a:ln>
            <a:noFill/>
          </a:ln>
        </p:spPr>
      </p:sp>
      <p:sp>
        <p:nvSpPr>
          <p:cNvPr id="4" name="TextBox 4"/>
          <p:cNvSpPr txBox="1"/>
          <p:nvPr/>
        </p:nvSpPr>
        <p:spPr>
          <a:xfrm>
            <a:off x="775335" y="470535"/>
            <a:ext cx="11085957"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消费金五不：不可充值 . 不可提现 . 不可转让 . 不可买卖 . 不可兑现</a:t>
            </a:r>
          </a:p>
        </p:txBody>
      </p:sp>
      <p:sp>
        <p:nvSpPr>
          <p:cNvPr id="5" name="TextBox 5"/>
          <p:cNvSpPr txBox="1"/>
          <p:nvPr/>
        </p:nvSpPr>
        <p:spPr>
          <a:xfrm>
            <a:off x="795338" y="945356"/>
            <a:ext cx="6044327"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「五不」中任何一项被突破→消费金可能被认定为「预付卡」或「电子货币」→触发支付监管</a:t>
            </a:r>
          </a:p>
        </p:txBody>
      </p:sp>
      <p:sp>
        <p:nvSpPr>
          <p:cNvPr id="6" name="Rectangle 6"/>
          <p:cNvSpPr/>
          <p:nvPr/>
        </p:nvSpPr>
        <p:spPr>
          <a:xfrm>
            <a:off x="457200" y="1447800"/>
            <a:ext cx="2095500" cy="3524250"/>
          </a:xfrm>
          <a:prstGeom prst="roundRect">
            <a:avLst>
              <a:gd name="adj" fmla="val 6364"/>
            </a:avLst>
          </a:prstGeom>
          <a:solidFill>
            <a:srgbClr val="F5F0EA"/>
          </a:solidFill>
          <a:ln>
            <a:noFill/>
          </a:ln>
          <a:effectLst>
            <a:outerShdw blurRad="76200" dist="19050" dir="5400000" algn="ctr" rotWithShape="0">
              <a:srgbClr val="2C2C2C">
                <a:alpha val="4500"/>
              </a:srgbClr>
            </a:outerShdw>
          </a:effectLst>
        </p:spPr>
      </p:sp>
      <p:sp>
        <p:nvSpPr>
          <p:cNvPr id="7" name="Rectangle 7"/>
          <p:cNvSpPr/>
          <p:nvPr/>
        </p:nvSpPr>
        <p:spPr>
          <a:xfrm>
            <a:off x="457200" y="1447800"/>
            <a:ext cx="2095500" cy="57150"/>
          </a:xfrm>
          <a:prstGeom prst="roundRect">
            <a:avLst>
              <a:gd name="adj" fmla="val 50000"/>
            </a:avLst>
          </a:prstGeom>
          <a:solidFill>
            <a:srgbClr val="C0392B"/>
          </a:solidFill>
          <a:ln>
            <a:noFill/>
          </a:ln>
        </p:spPr>
      </p:sp>
      <p:sp>
        <p:nvSpPr>
          <p:cNvPr id="8" name="Ellipse 8"/>
          <p:cNvSpPr/>
          <p:nvPr/>
        </p:nvSpPr>
        <p:spPr>
          <a:xfrm>
            <a:off x="1162050" y="1714500"/>
            <a:ext cx="685800" cy="685800"/>
          </a:xfrm>
          <a:prstGeom prst="ellipse">
            <a:avLst/>
          </a:prstGeom>
          <a:solidFill>
            <a:srgbClr val="C0392B">
              <a:alpha val="10000"/>
            </a:srgbClr>
          </a:solidFill>
          <a:ln>
            <a:noFill/>
          </a:ln>
        </p:spPr>
      </p:sp>
      <p:sp>
        <p:nvSpPr>
          <p:cNvPr id="9" name="Line 9"/>
          <p:cNvSpPr/>
          <p:nvPr/>
        </p:nvSpPr>
        <p:spPr>
          <a:xfrm>
            <a:off x="1314450" y="1866900"/>
            <a:ext cx="381000" cy="381000"/>
          </a:xfrm>
          <a:custGeom>
            <a:avLst/>
            <a:gdLst/>
            <a:ahLst/>
            <a:cxnLst/>
            <a:rect l="l" t="t" r="r" b="b"/>
            <a:pathLst>
              <a:path w="381000" h="381000">
                <a:moveTo>
                  <a:pt x="0" y="0"/>
                </a:moveTo>
                <a:lnTo>
                  <a:pt x="381000" y="381000"/>
                </a:lnTo>
              </a:path>
            </a:pathLst>
          </a:custGeom>
          <a:noFill/>
          <a:ln w="38100" cap="rnd">
            <a:solidFill>
              <a:srgbClr val="C0392B"/>
            </a:solidFill>
          </a:ln>
        </p:spPr>
      </p:sp>
      <p:sp>
        <p:nvSpPr>
          <p:cNvPr id="10" name="Line 10"/>
          <p:cNvSpPr/>
          <p:nvPr/>
        </p:nvSpPr>
        <p:spPr>
          <a:xfrm>
            <a:off x="1314450" y="1866900"/>
            <a:ext cx="381000" cy="381000"/>
          </a:xfrm>
          <a:custGeom>
            <a:avLst/>
            <a:gdLst/>
            <a:ahLst/>
            <a:cxnLst/>
            <a:rect l="l" t="t" r="r" b="b"/>
            <a:pathLst>
              <a:path w="381000" h="381000">
                <a:moveTo>
                  <a:pt x="381000" y="0"/>
                </a:moveTo>
                <a:lnTo>
                  <a:pt x="0" y="381000"/>
                </a:lnTo>
              </a:path>
            </a:pathLst>
          </a:custGeom>
          <a:noFill/>
          <a:ln w="38100" cap="rnd">
            <a:solidFill>
              <a:srgbClr val="C0392B"/>
            </a:solidFill>
          </a:ln>
        </p:spPr>
      </p:sp>
      <p:sp>
        <p:nvSpPr>
          <p:cNvPr id="11" name="TextBox 11"/>
          <p:cNvSpPr txBox="1"/>
          <p:nvPr/>
        </p:nvSpPr>
        <p:spPr>
          <a:xfrm>
            <a:off x="1021937" y="2507932"/>
            <a:ext cx="966026" cy="335280"/>
          </a:xfrm>
          <a:prstGeom prst="rect">
            <a:avLst/>
          </a:prstGeom>
          <a:noFill/>
          <a:ln>
            <a:noFill/>
          </a:ln>
        </p:spPr>
        <p:txBody>
          <a:bodyPr wrap="none" lIns="0" tIns="0" rIns="0" bIns="0" anchor="t" anchorCtr="0">
            <a:spAutoFit/>
          </a:bodyPr>
          <a:lstStyle/>
          <a:p>
            <a:pPr algn="ctr"/>
            <a:r>
              <a:rPr lang="zh-CN" sz="1650" b="1" dirty="0">
                <a:solidFill>
                  <a:srgbClr val="C0392B"/>
                </a:solidFill>
                <a:latin typeface="Georgia"/>
                <a:ea typeface="KaiTi"/>
                <a:cs typeface="Georgia"/>
              </a:rPr>
              <a:t>不可充值</a:t>
            </a:r>
          </a:p>
        </p:txBody>
      </p:sp>
      <p:sp>
        <p:nvSpPr>
          <p:cNvPr id="12" name="TextBox 12"/>
          <p:cNvSpPr txBox="1"/>
          <p:nvPr/>
        </p:nvSpPr>
        <p:spPr>
          <a:xfrm>
            <a:off x="1167527" y="2866549"/>
            <a:ext cx="674846" cy="198120"/>
          </a:xfrm>
          <a:prstGeom prst="rect">
            <a:avLst/>
          </a:prstGeom>
          <a:noFill/>
          <a:ln>
            <a:noFill/>
          </a:ln>
        </p:spPr>
        <p:txBody>
          <a:bodyPr wrap="none" lIns="0" tIns="0" rIns="0" bIns="0" anchor="t" anchorCtr="0">
            <a:spAutoFit/>
          </a:bodyPr>
          <a:lstStyle/>
          <a:p>
            <a:pPr algn="ctr"/>
            <a:r>
              <a:rPr lang="zh-CN" sz="975" dirty="0">
                <a:solidFill>
                  <a:srgbClr val="2C2C2C"/>
                </a:solidFill>
                <a:latin typeface="Arial"/>
                <a:ea typeface="Microsoft YaHei"/>
                <a:cs typeface="Arial"/>
              </a:rPr>
              <a:t>无资金入口</a:t>
            </a:r>
          </a:p>
        </p:txBody>
      </p:sp>
      <p:sp>
        <p:nvSpPr>
          <p:cNvPr id="13" name="TextBox 13"/>
          <p:cNvSpPr txBox="1"/>
          <p:nvPr/>
        </p:nvSpPr>
        <p:spPr>
          <a:xfrm>
            <a:off x="655320" y="31984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消费金</a:t>
            </a:r>
          </a:p>
        </p:txBody>
      </p:sp>
      <p:sp>
        <p:nvSpPr>
          <p:cNvPr id="14" name="TextBox 14"/>
          <p:cNvSpPr txBox="1"/>
          <p:nvPr/>
        </p:nvSpPr>
        <p:spPr>
          <a:xfrm>
            <a:off x="655320" y="33889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仅来自</a:t>
            </a:r>
          </a:p>
        </p:txBody>
      </p:sp>
      <p:sp>
        <p:nvSpPr>
          <p:cNvPr id="15" name="TextBox 15"/>
          <p:cNvSpPr txBox="1"/>
          <p:nvPr/>
        </p:nvSpPr>
        <p:spPr>
          <a:xfrm>
            <a:off x="655320" y="3579495"/>
            <a:ext cx="50292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消费行为</a:t>
            </a:r>
          </a:p>
        </p:txBody>
      </p:sp>
      <p:sp>
        <p:nvSpPr>
          <p:cNvPr id="16" name="TextBox 16"/>
          <p:cNvSpPr txBox="1"/>
          <p:nvPr/>
        </p:nvSpPr>
        <p:spPr>
          <a:xfrm>
            <a:off x="655320" y="3769995"/>
            <a:ext cx="26289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奖励</a:t>
            </a:r>
          </a:p>
        </p:txBody>
      </p:sp>
      <p:sp>
        <p:nvSpPr>
          <p:cNvPr id="17" name="Rectangle 17"/>
          <p:cNvSpPr/>
          <p:nvPr/>
        </p:nvSpPr>
        <p:spPr>
          <a:xfrm>
            <a:off x="2705100" y="1447800"/>
            <a:ext cx="2095500" cy="3524250"/>
          </a:xfrm>
          <a:prstGeom prst="roundRect">
            <a:avLst>
              <a:gd name="adj" fmla="val 6364"/>
            </a:avLst>
          </a:prstGeom>
          <a:solidFill>
            <a:srgbClr val="F5F0EA"/>
          </a:solidFill>
          <a:ln>
            <a:noFill/>
          </a:ln>
          <a:effectLst>
            <a:outerShdw blurRad="76200" dist="19050" dir="5400000" algn="ctr" rotWithShape="0">
              <a:srgbClr val="2C2C2C">
                <a:alpha val="4500"/>
              </a:srgbClr>
            </a:outerShdw>
          </a:effectLst>
        </p:spPr>
      </p:sp>
      <p:sp>
        <p:nvSpPr>
          <p:cNvPr id="18" name="Rectangle 18"/>
          <p:cNvSpPr/>
          <p:nvPr/>
        </p:nvSpPr>
        <p:spPr>
          <a:xfrm>
            <a:off x="2705100" y="1447800"/>
            <a:ext cx="2095500" cy="57150"/>
          </a:xfrm>
          <a:prstGeom prst="roundRect">
            <a:avLst>
              <a:gd name="adj" fmla="val 50000"/>
            </a:avLst>
          </a:prstGeom>
          <a:solidFill>
            <a:srgbClr val="C0392B"/>
          </a:solidFill>
          <a:ln>
            <a:noFill/>
          </a:ln>
        </p:spPr>
      </p:sp>
      <p:sp>
        <p:nvSpPr>
          <p:cNvPr id="19" name="Ellipse 19"/>
          <p:cNvSpPr/>
          <p:nvPr/>
        </p:nvSpPr>
        <p:spPr>
          <a:xfrm>
            <a:off x="3409950" y="1714500"/>
            <a:ext cx="685800" cy="685800"/>
          </a:xfrm>
          <a:prstGeom prst="ellipse">
            <a:avLst/>
          </a:prstGeom>
          <a:solidFill>
            <a:srgbClr val="C0392B">
              <a:alpha val="10000"/>
            </a:srgbClr>
          </a:solidFill>
          <a:ln>
            <a:noFill/>
          </a:ln>
        </p:spPr>
      </p:sp>
      <p:sp>
        <p:nvSpPr>
          <p:cNvPr id="20" name="Line 20"/>
          <p:cNvSpPr/>
          <p:nvPr/>
        </p:nvSpPr>
        <p:spPr>
          <a:xfrm>
            <a:off x="3562350" y="1866900"/>
            <a:ext cx="381000" cy="381000"/>
          </a:xfrm>
          <a:custGeom>
            <a:avLst/>
            <a:gdLst/>
            <a:ahLst/>
            <a:cxnLst/>
            <a:rect l="l" t="t" r="r" b="b"/>
            <a:pathLst>
              <a:path w="381000" h="381000">
                <a:moveTo>
                  <a:pt x="0" y="0"/>
                </a:moveTo>
                <a:lnTo>
                  <a:pt x="381000" y="381000"/>
                </a:lnTo>
              </a:path>
            </a:pathLst>
          </a:custGeom>
          <a:noFill/>
          <a:ln w="38100" cap="rnd">
            <a:solidFill>
              <a:srgbClr val="C0392B"/>
            </a:solidFill>
          </a:ln>
        </p:spPr>
      </p:sp>
      <p:sp>
        <p:nvSpPr>
          <p:cNvPr id="21" name="Line 21"/>
          <p:cNvSpPr/>
          <p:nvPr/>
        </p:nvSpPr>
        <p:spPr>
          <a:xfrm>
            <a:off x="3562350" y="1866900"/>
            <a:ext cx="381000" cy="381000"/>
          </a:xfrm>
          <a:custGeom>
            <a:avLst/>
            <a:gdLst/>
            <a:ahLst/>
            <a:cxnLst/>
            <a:rect l="l" t="t" r="r" b="b"/>
            <a:pathLst>
              <a:path w="381000" h="381000">
                <a:moveTo>
                  <a:pt x="381000" y="0"/>
                </a:moveTo>
                <a:lnTo>
                  <a:pt x="0" y="381000"/>
                </a:lnTo>
              </a:path>
            </a:pathLst>
          </a:custGeom>
          <a:noFill/>
          <a:ln w="38100" cap="rnd">
            <a:solidFill>
              <a:srgbClr val="C0392B"/>
            </a:solidFill>
          </a:ln>
        </p:spPr>
      </p:sp>
      <p:sp>
        <p:nvSpPr>
          <p:cNvPr id="22" name="TextBox 22"/>
          <p:cNvSpPr txBox="1"/>
          <p:nvPr/>
        </p:nvSpPr>
        <p:spPr>
          <a:xfrm>
            <a:off x="3269837" y="2507932"/>
            <a:ext cx="966026" cy="335280"/>
          </a:xfrm>
          <a:prstGeom prst="rect">
            <a:avLst/>
          </a:prstGeom>
          <a:noFill/>
          <a:ln>
            <a:noFill/>
          </a:ln>
        </p:spPr>
        <p:txBody>
          <a:bodyPr wrap="none" lIns="0" tIns="0" rIns="0" bIns="0" anchor="t" anchorCtr="0">
            <a:spAutoFit/>
          </a:bodyPr>
          <a:lstStyle/>
          <a:p>
            <a:pPr algn="ctr"/>
            <a:r>
              <a:rPr lang="zh-CN" sz="1650" b="1" dirty="0">
                <a:solidFill>
                  <a:srgbClr val="C0392B"/>
                </a:solidFill>
                <a:latin typeface="Georgia"/>
                <a:ea typeface="KaiTi"/>
                <a:cs typeface="Georgia"/>
              </a:rPr>
              <a:t>不可提现</a:t>
            </a:r>
          </a:p>
        </p:txBody>
      </p:sp>
      <p:sp>
        <p:nvSpPr>
          <p:cNvPr id="23" name="TextBox 23"/>
          <p:cNvSpPr txBox="1"/>
          <p:nvPr/>
        </p:nvSpPr>
        <p:spPr>
          <a:xfrm>
            <a:off x="3415427" y="2866549"/>
            <a:ext cx="674846" cy="198120"/>
          </a:xfrm>
          <a:prstGeom prst="rect">
            <a:avLst/>
          </a:prstGeom>
          <a:noFill/>
          <a:ln>
            <a:noFill/>
          </a:ln>
        </p:spPr>
        <p:txBody>
          <a:bodyPr wrap="none" lIns="0" tIns="0" rIns="0" bIns="0" anchor="t" anchorCtr="0">
            <a:spAutoFit/>
          </a:bodyPr>
          <a:lstStyle/>
          <a:p>
            <a:pPr algn="ctr"/>
            <a:r>
              <a:rPr lang="zh-CN" sz="975" dirty="0">
                <a:solidFill>
                  <a:srgbClr val="2C2C2C"/>
                </a:solidFill>
                <a:latin typeface="Arial"/>
                <a:ea typeface="Microsoft YaHei"/>
                <a:cs typeface="Arial"/>
              </a:rPr>
              <a:t>无资金出口</a:t>
            </a:r>
          </a:p>
        </p:txBody>
      </p:sp>
      <p:sp>
        <p:nvSpPr>
          <p:cNvPr id="24" name="TextBox 24"/>
          <p:cNvSpPr txBox="1"/>
          <p:nvPr/>
        </p:nvSpPr>
        <p:spPr>
          <a:xfrm>
            <a:off x="2903220" y="31984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消费金</a:t>
            </a:r>
          </a:p>
        </p:txBody>
      </p:sp>
      <p:sp>
        <p:nvSpPr>
          <p:cNvPr id="25" name="TextBox 25"/>
          <p:cNvSpPr txBox="1"/>
          <p:nvPr/>
        </p:nvSpPr>
        <p:spPr>
          <a:xfrm>
            <a:off x="2903220" y="3388995"/>
            <a:ext cx="50292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不能转换</a:t>
            </a:r>
          </a:p>
        </p:txBody>
      </p:sp>
      <p:sp>
        <p:nvSpPr>
          <p:cNvPr id="26" name="TextBox 26"/>
          <p:cNvSpPr txBox="1"/>
          <p:nvPr/>
        </p:nvSpPr>
        <p:spPr>
          <a:xfrm>
            <a:off x="2903220" y="35794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为现金</a:t>
            </a:r>
          </a:p>
        </p:txBody>
      </p:sp>
      <p:sp>
        <p:nvSpPr>
          <p:cNvPr id="27" name="Rectangle 27"/>
          <p:cNvSpPr/>
          <p:nvPr/>
        </p:nvSpPr>
        <p:spPr>
          <a:xfrm>
            <a:off x="4953000" y="1447800"/>
            <a:ext cx="2095500" cy="3524250"/>
          </a:xfrm>
          <a:prstGeom prst="roundRect">
            <a:avLst>
              <a:gd name="adj" fmla="val 6364"/>
            </a:avLst>
          </a:prstGeom>
          <a:solidFill>
            <a:srgbClr val="F5F0EA"/>
          </a:solidFill>
          <a:ln>
            <a:noFill/>
          </a:ln>
          <a:effectLst>
            <a:outerShdw blurRad="76200" dist="19050" dir="5400000" algn="ctr" rotWithShape="0">
              <a:srgbClr val="2C2C2C">
                <a:alpha val="4500"/>
              </a:srgbClr>
            </a:outerShdw>
          </a:effectLst>
        </p:spPr>
      </p:sp>
      <p:sp>
        <p:nvSpPr>
          <p:cNvPr id="28" name="Rectangle 28"/>
          <p:cNvSpPr/>
          <p:nvPr/>
        </p:nvSpPr>
        <p:spPr>
          <a:xfrm>
            <a:off x="4953000" y="1447800"/>
            <a:ext cx="2095500" cy="57150"/>
          </a:xfrm>
          <a:prstGeom prst="roundRect">
            <a:avLst>
              <a:gd name="adj" fmla="val 50000"/>
            </a:avLst>
          </a:prstGeom>
          <a:solidFill>
            <a:srgbClr val="C0392B"/>
          </a:solidFill>
          <a:ln>
            <a:noFill/>
          </a:ln>
        </p:spPr>
      </p:sp>
      <p:sp>
        <p:nvSpPr>
          <p:cNvPr id="29" name="Ellipse 29"/>
          <p:cNvSpPr/>
          <p:nvPr/>
        </p:nvSpPr>
        <p:spPr>
          <a:xfrm>
            <a:off x="5657850" y="1714500"/>
            <a:ext cx="685800" cy="685800"/>
          </a:xfrm>
          <a:prstGeom prst="ellipse">
            <a:avLst/>
          </a:prstGeom>
          <a:solidFill>
            <a:srgbClr val="C0392B">
              <a:alpha val="10000"/>
            </a:srgbClr>
          </a:solidFill>
          <a:ln>
            <a:noFill/>
          </a:ln>
        </p:spPr>
      </p:sp>
      <p:sp>
        <p:nvSpPr>
          <p:cNvPr id="30" name="Line 30"/>
          <p:cNvSpPr/>
          <p:nvPr/>
        </p:nvSpPr>
        <p:spPr>
          <a:xfrm>
            <a:off x="5810250" y="1866900"/>
            <a:ext cx="381000" cy="381000"/>
          </a:xfrm>
          <a:custGeom>
            <a:avLst/>
            <a:gdLst/>
            <a:ahLst/>
            <a:cxnLst/>
            <a:rect l="l" t="t" r="r" b="b"/>
            <a:pathLst>
              <a:path w="381000" h="381000">
                <a:moveTo>
                  <a:pt x="0" y="0"/>
                </a:moveTo>
                <a:lnTo>
                  <a:pt x="381000" y="381000"/>
                </a:lnTo>
              </a:path>
            </a:pathLst>
          </a:custGeom>
          <a:noFill/>
          <a:ln w="38100" cap="rnd">
            <a:solidFill>
              <a:srgbClr val="C0392B"/>
            </a:solidFill>
          </a:ln>
        </p:spPr>
      </p:sp>
      <p:sp>
        <p:nvSpPr>
          <p:cNvPr id="31" name="Line 31"/>
          <p:cNvSpPr/>
          <p:nvPr/>
        </p:nvSpPr>
        <p:spPr>
          <a:xfrm>
            <a:off x="5810250" y="1866900"/>
            <a:ext cx="381000" cy="381000"/>
          </a:xfrm>
          <a:custGeom>
            <a:avLst/>
            <a:gdLst/>
            <a:ahLst/>
            <a:cxnLst/>
            <a:rect l="l" t="t" r="r" b="b"/>
            <a:pathLst>
              <a:path w="381000" h="381000">
                <a:moveTo>
                  <a:pt x="381000" y="0"/>
                </a:moveTo>
                <a:lnTo>
                  <a:pt x="0" y="381000"/>
                </a:lnTo>
              </a:path>
            </a:pathLst>
          </a:custGeom>
          <a:noFill/>
          <a:ln w="38100" cap="rnd">
            <a:solidFill>
              <a:srgbClr val="C0392B"/>
            </a:solidFill>
          </a:ln>
        </p:spPr>
      </p:sp>
      <p:sp>
        <p:nvSpPr>
          <p:cNvPr id="32" name="TextBox 32"/>
          <p:cNvSpPr txBox="1"/>
          <p:nvPr/>
        </p:nvSpPr>
        <p:spPr>
          <a:xfrm>
            <a:off x="5517737" y="2507932"/>
            <a:ext cx="966026" cy="335280"/>
          </a:xfrm>
          <a:prstGeom prst="rect">
            <a:avLst/>
          </a:prstGeom>
          <a:noFill/>
          <a:ln>
            <a:noFill/>
          </a:ln>
        </p:spPr>
        <p:txBody>
          <a:bodyPr wrap="none" lIns="0" tIns="0" rIns="0" bIns="0" anchor="t" anchorCtr="0">
            <a:spAutoFit/>
          </a:bodyPr>
          <a:lstStyle/>
          <a:p>
            <a:pPr algn="ctr"/>
            <a:r>
              <a:rPr lang="zh-CN" sz="1650" b="1" dirty="0">
                <a:solidFill>
                  <a:srgbClr val="C0392B"/>
                </a:solidFill>
                <a:latin typeface="Georgia"/>
                <a:ea typeface="KaiTi"/>
                <a:cs typeface="Georgia"/>
              </a:rPr>
              <a:t>不可转让</a:t>
            </a:r>
          </a:p>
        </p:txBody>
      </p:sp>
      <p:sp>
        <p:nvSpPr>
          <p:cNvPr id="33" name="TextBox 33"/>
          <p:cNvSpPr txBox="1"/>
          <p:nvPr/>
        </p:nvSpPr>
        <p:spPr>
          <a:xfrm>
            <a:off x="5598319" y="2866549"/>
            <a:ext cx="804862" cy="198120"/>
          </a:xfrm>
          <a:prstGeom prst="rect">
            <a:avLst/>
          </a:prstGeom>
          <a:noFill/>
          <a:ln>
            <a:noFill/>
          </a:ln>
        </p:spPr>
        <p:txBody>
          <a:bodyPr wrap="none" lIns="0" tIns="0" rIns="0" bIns="0" anchor="t" anchorCtr="0">
            <a:spAutoFit/>
          </a:bodyPr>
          <a:lstStyle/>
          <a:p>
            <a:pPr algn="ctr"/>
            <a:r>
              <a:rPr lang="zh-CN" sz="975" dirty="0">
                <a:solidFill>
                  <a:srgbClr val="2C2C2C"/>
                </a:solidFill>
                <a:latin typeface="Arial"/>
                <a:ea typeface="Microsoft YaHei"/>
                <a:cs typeface="Arial"/>
              </a:rPr>
              <a:t>仅限本人使用</a:t>
            </a:r>
          </a:p>
        </p:txBody>
      </p:sp>
      <p:sp>
        <p:nvSpPr>
          <p:cNvPr id="34" name="TextBox 34"/>
          <p:cNvSpPr txBox="1"/>
          <p:nvPr/>
        </p:nvSpPr>
        <p:spPr>
          <a:xfrm>
            <a:off x="5151120" y="31984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消费金</a:t>
            </a:r>
          </a:p>
        </p:txBody>
      </p:sp>
      <p:sp>
        <p:nvSpPr>
          <p:cNvPr id="35" name="TextBox 35"/>
          <p:cNvSpPr txBox="1"/>
          <p:nvPr/>
        </p:nvSpPr>
        <p:spPr>
          <a:xfrm>
            <a:off x="5151120" y="3388995"/>
            <a:ext cx="62293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绑定消费者</a:t>
            </a:r>
          </a:p>
        </p:txBody>
      </p:sp>
      <p:sp>
        <p:nvSpPr>
          <p:cNvPr id="36" name="TextBox 36"/>
          <p:cNvSpPr txBox="1"/>
          <p:nvPr/>
        </p:nvSpPr>
        <p:spPr>
          <a:xfrm>
            <a:off x="5151120" y="3579495"/>
            <a:ext cx="26289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账户</a:t>
            </a:r>
          </a:p>
        </p:txBody>
      </p:sp>
      <p:sp>
        <p:nvSpPr>
          <p:cNvPr id="37" name="Rectangle 37"/>
          <p:cNvSpPr/>
          <p:nvPr/>
        </p:nvSpPr>
        <p:spPr>
          <a:xfrm>
            <a:off x="7200900" y="1447800"/>
            <a:ext cx="2095500" cy="3524250"/>
          </a:xfrm>
          <a:prstGeom prst="roundRect">
            <a:avLst>
              <a:gd name="adj" fmla="val 6364"/>
            </a:avLst>
          </a:prstGeom>
          <a:solidFill>
            <a:srgbClr val="F5F0EA"/>
          </a:solidFill>
          <a:ln>
            <a:noFill/>
          </a:ln>
          <a:effectLst>
            <a:outerShdw blurRad="76200" dist="19050" dir="5400000" algn="ctr" rotWithShape="0">
              <a:srgbClr val="2C2C2C">
                <a:alpha val="4500"/>
              </a:srgbClr>
            </a:outerShdw>
          </a:effectLst>
        </p:spPr>
      </p:sp>
      <p:sp>
        <p:nvSpPr>
          <p:cNvPr id="38" name="Rectangle 38"/>
          <p:cNvSpPr/>
          <p:nvPr/>
        </p:nvSpPr>
        <p:spPr>
          <a:xfrm>
            <a:off x="7200900" y="1447800"/>
            <a:ext cx="2095500" cy="57150"/>
          </a:xfrm>
          <a:prstGeom prst="roundRect">
            <a:avLst>
              <a:gd name="adj" fmla="val 50000"/>
            </a:avLst>
          </a:prstGeom>
          <a:solidFill>
            <a:srgbClr val="C0392B"/>
          </a:solidFill>
          <a:ln>
            <a:noFill/>
          </a:ln>
        </p:spPr>
      </p:sp>
      <p:sp>
        <p:nvSpPr>
          <p:cNvPr id="39" name="Ellipse 39"/>
          <p:cNvSpPr/>
          <p:nvPr/>
        </p:nvSpPr>
        <p:spPr>
          <a:xfrm>
            <a:off x="7905750" y="1714500"/>
            <a:ext cx="685800" cy="685800"/>
          </a:xfrm>
          <a:prstGeom prst="ellipse">
            <a:avLst/>
          </a:prstGeom>
          <a:solidFill>
            <a:srgbClr val="C0392B">
              <a:alpha val="10000"/>
            </a:srgbClr>
          </a:solidFill>
          <a:ln>
            <a:noFill/>
          </a:ln>
        </p:spPr>
      </p:sp>
      <p:sp>
        <p:nvSpPr>
          <p:cNvPr id="40" name="Line 40"/>
          <p:cNvSpPr/>
          <p:nvPr/>
        </p:nvSpPr>
        <p:spPr>
          <a:xfrm>
            <a:off x="8058150" y="1866900"/>
            <a:ext cx="381000" cy="381000"/>
          </a:xfrm>
          <a:custGeom>
            <a:avLst/>
            <a:gdLst/>
            <a:ahLst/>
            <a:cxnLst/>
            <a:rect l="l" t="t" r="r" b="b"/>
            <a:pathLst>
              <a:path w="381000" h="381000">
                <a:moveTo>
                  <a:pt x="0" y="0"/>
                </a:moveTo>
                <a:lnTo>
                  <a:pt x="381000" y="381000"/>
                </a:lnTo>
              </a:path>
            </a:pathLst>
          </a:custGeom>
          <a:noFill/>
          <a:ln w="38100" cap="rnd">
            <a:solidFill>
              <a:srgbClr val="C0392B"/>
            </a:solidFill>
          </a:ln>
        </p:spPr>
      </p:sp>
      <p:sp>
        <p:nvSpPr>
          <p:cNvPr id="41" name="Line 41"/>
          <p:cNvSpPr/>
          <p:nvPr/>
        </p:nvSpPr>
        <p:spPr>
          <a:xfrm>
            <a:off x="8058150" y="1866900"/>
            <a:ext cx="381000" cy="381000"/>
          </a:xfrm>
          <a:custGeom>
            <a:avLst/>
            <a:gdLst/>
            <a:ahLst/>
            <a:cxnLst/>
            <a:rect l="l" t="t" r="r" b="b"/>
            <a:pathLst>
              <a:path w="381000" h="381000">
                <a:moveTo>
                  <a:pt x="381000" y="0"/>
                </a:moveTo>
                <a:lnTo>
                  <a:pt x="0" y="381000"/>
                </a:lnTo>
              </a:path>
            </a:pathLst>
          </a:custGeom>
          <a:noFill/>
          <a:ln w="38100" cap="rnd">
            <a:solidFill>
              <a:srgbClr val="C0392B"/>
            </a:solidFill>
          </a:ln>
        </p:spPr>
      </p:sp>
      <p:sp>
        <p:nvSpPr>
          <p:cNvPr id="42" name="TextBox 42"/>
          <p:cNvSpPr txBox="1"/>
          <p:nvPr/>
        </p:nvSpPr>
        <p:spPr>
          <a:xfrm>
            <a:off x="7765637" y="2507932"/>
            <a:ext cx="966026" cy="335280"/>
          </a:xfrm>
          <a:prstGeom prst="rect">
            <a:avLst/>
          </a:prstGeom>
          <a:noFill/>
          <a:ln>
            <a:noFill/>
          </a:ln>
        </p:spPr>
        <p:txBody>
          <a:bodyPr wrap="none" lIns="0" tIns="0" rIns="0" bIns="0" anchor="t" anchorCtr="0">
            <a:spAutoFit/>
          </a:bodyPr>
          <a:lstStyle/>
          <a:p>
            <a:pPr algn="ctr"/>
            <a:r>
              <a:rPr lang="zh-CN" sz="1650" b="1" dirty="0">
                <a:solidFill>
                  <a:srgbClr val="C0392B"/>
                </a:solidFill>
                <a:latin typeface="Georgia"/>
                <a:ea typeface="KaiTi"/>
                <a:cs typeface="Georgia"/>
              </a:rPr>
              <a:t>不可买卖</a:t>
            </a:r>
          </a:p>
        </p:txBody>
      </p:sp>
      <p:sp>
        <p:nvSpPr>
          <p:cNvPr id="43" name="TextBox 43"/>
          <p:cNvSpPr txBox="1"/>
          <p:nvPr/>
        </p:nvSpPr>
        <p:spPr>
          <a:xfrm>
            <a:off x="7911227" y="2866549"/>
            <a:ext cx="674846" cy="198120"/>
          </a:xfrm>
          <a:prstGeom prst="rect">
            <a:avLst/>
          </a:prstGeom>
          <a:noFill/>
          <a:ln>
            <a:noFill/>
          </a:ln>
        </p:spPr>
        <p:txBody>
          <a:bodyPr wrap="none" lIns="0" tIns="0" rIns="0" bIns="0" anchor="t" anchorCtr="0">
            <a:spAutoFit/>
          </a:bodyPr>
          <a:lstStyle/>
          <a:p>
            <a:pPr algn="ctr"/>
            <a:r>
              <a:rPr lang="zh-CN" sz="975" dirty="0">
                <a:solidFill>
                  <a:srgbClr val="2C2C2C"/>
                </a:solidFill>
                <a:latin typeface="Arial"/>
                <a:ea typeface="Microsoft YaHei"/>
                <a:cs typeface="Arial"/>
              </a:rPr>
              <a:t>无二级市场</a:t>
            </a:r>
          </a:p>
        </p:txBody>
      </p:sp>
      <p:sp>
        <p:nvSpPr>
          <p:cNvPr id="44" name="TextBox 44"/>
          <p:cNvSpPr txBox="1"/>
          <p:nvPr/>
        </p:nvSpPr>
        <p:spPr>
          <a:xfrm>
            <a:off x="7399020" y="31984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消费金</a:t>
            </a:r>
          </a:p>
        </p:txBody>
      </p:sp>
      <p:sp>
        <p:nvSpPr>
          <p:cNvPr id="45" name="TextBox 45"/>
          <p:cNvSpPr txBox="1"/>
          <p:nvPr/>
        </p:nvSpPr>
        <p:spPr>
          <a:xfrm>
            <a:off x="7399020" y="3388995"/>
            <a:ext cx="50292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不是商品</a:t>
            </a:r>
          </a:p>
        </p:txBody>
      </p:sp>
      <p:sp>
        <p:nvSpPr>
          <p:cNvPr id="46" name="Rectangle 46"/>
          <p:cNvSpPr/>
          <p:nvPr/>
        </p:nvSpPr>
        <p:spPr>
          <a:xfrm>
            <a:off x="9448800" y="1447800"/>
            <a:ext cx="2095500" cy="3524250"/>
          </a:xfrm>
          <a:prstGeom prst="roundRect">
            <a:avLst>
              <a:gd name="adj" fmla="val 6364"/>
            </a:avLst>
          </a:prstGeom>
          <a:solidFill>
            <a:srgbClr val="F5F0EA"/>
          </a:solidFill>
          <a:ln>
            <a:noFill/>
          </a:ln>
          <a:effectLst>
            <a:outerShdw blurRad="76200" dist="19050" dir="5400000" algn="ctr" rotWithShape="0">
              <a:srgbClr val="2C2C2C">
                <a:alpha val="4500"/>
              </a:srgbClr>
            </a:outerShdw>
          </a:effectLst>
        </p:spPr>
      </p:sp>
      <p:sp>
        <p:nvSpPr>
          <p:cNvPr id="47" name="Rectangle 47"/>
          <p:cNvSpPr/>
          <p:nvPr/>
        </p:nvSpPr>
        <p:spPr>
          <a:xfrm>
            <a:off x="9448800" y="1447800"/>
            <a:ext cx="2095500" cy="57150"/>
          </a:xfrm>
          <a:prstGeom prst="roundRect">
            <a:avLst>
              <a:gd name="adj" fmla="val 50000"/>
            </a:avLst>
          </a:prstGeom>
          <a:solidFill>
            <a:srgbClr val="C0392B"/>
          </a:solidFill>
          <a:ln>
            <a:noFill/>
          </a:ln>
        </p:spPr>
      </p:sp>
      <p:sp>
        <p:nvSpPr>
          <p:cNvPr id="48" name="Ellipse 48"/>
          <p:cNvSpPr/>
          <p:nvPr/>
        </p:nvSpPr>
        <p:spPr>
          <a:xfrm>
            <a:off x="10153650" y="1714500"/>
            <a:ext cx="685800" cy="685800"/>
          </a:xfrm>
          <a:prstGeom prst="ellipse">
            <a:avLst/>
          </a:prstGeom>
          <a:solidFill>
            <a:srgbClr val="C0392B">
              <a:alpha val="10000"/>
            </a:srgbClr>
          </a:solidFill>
          <a:ln>
            <a:noFill/>
          </a:ln>
        </p:spPr>
      </p:sp>
      <p:sp>
        <p:nvSpPr>
          <p:cNvPr id="49" name="Line 49"/>
          <p:cNvSpPr/>
          <p:nvPr/>
        </p:nvSpPr>
        <p:spPr>
          <a:xfrm>
            <a:off x="10306050" y="1866900"/>
            <a:ext cx="381000" cy="381000"/>
          </a:xfrm>
          <a:custGeom>
            <a:avLst/>
            <a:gdLst/>
            <a:ahLst/>
            <a:cxnLst/>
            <a:rect l="l" t="t" r="r" b="b"/>
            <a:pathLst>
              <a:path w="381000" h="381000">
                <a:moveTo>
                  <a:pt x="0" y="0"/>
                </a:moveTo>
                <a:lnTo>
                  <a:pt x="381000" y="381000"/>
                </a:lnTo>
              </a:path>
            </a:pathLst>
          </a:custGeom>
          <a:noFill/>
          <a:ln w="38100" cap="rnd">
            <a:solidFill>
              <a:srgbClr val="C0392B"/>
            </a:solidFill>
          </a:ln>
        </p:spPr>
      </p:sp>
      <p:sp>
        <p:nvSpPr>
          <p:cNvPr id="50" name="Line 50"/>
          <p:cNvSpPr/>
          <p:nvPr/>
        </p:nvSpPr>
        <p:spPr>
          <a:xfrm>
            <a:off x="10306050" y="1866900"/>
            <a:ext cx="381000" cy="381000"/>
          </a:xfrm>
          <a:custGeom>
            <a:avLst/>
            <a:gdLst/>
            <a:ahLst/>
            <a:cxnLst/>
            <a:rect l="l" t="t" r="r" b="b"/>
            <a:pathLst>
              <a:path w="381000" h="381000">
                <a:moveTo>
                  <a:pt x="381000" y="0"/>
                </a:moveTo>
                <a:lnTo>
                  <a:pt x="0" y="381000"/>
                </a:lnTo>
              </a:path>
            </a:pathLst>
          </a:custGeom>
          <a:noFill/>
          <a:ln w="38100" cap="rnd">
            <a:solidFill>
              <a:srgbClr val="C0392B"/>
            </a:solidFill>
          </a:ln>
        </p:spPr>
      </p:sp>
      <p:sp>
        <p:nvSpPr>
          <p:cNvPr id="51" name="TextBox 51"/>
          <p:cNvSpPr txBox="1"/>
          <p:nvPr/>
        </p:nvSpPr>
        <p:spPr>
          <a:xfrm>
            <a:off x="10013537" y="2507932"/>
            <a:ext cx="966026" cy="335280"/>
          </a:xfrm>
          <a:prstGeom prst="rect">
            <a:avLst/>
          </a:prstGeom>
          <a:noFill/>
          <a:ln>
            <a:noFill/>
          </a:ln>
        </p:spPr>
        <p:txBody>
          <a:bodyPr wrap="none" lIns="0" tIns="0" rIns="0" bIns="0" anchor="t" anchorCtr="0">
            <a:spAutoFit/>
          </a:bodyPr>
          <a:lstStyle/>
          <a:p>
            <a:pPr algn="ctr"/>
            <a:r>
              <a:rPr lang="zh-CN" sz="1650" b="1" dirty="0">
                <a:solidFill>
                  <a:srgbClr val="C0392B"/>
                </a:solidFill>
                <a:latin typeface="Georgia"/>
                <a:ea typeface="KaiTi"/>
                <a:cs typeface="Georgia"/>
              </a:rPr>
              <a:t>不可兑现</a:t>
            </a:r>
          </a:p>
        </p:txBody>
      </p:sp>
      <p:sp>
        <p:nvSpPr>
          <p:cNvPr id="52" name="TextBox 52"/>
          <p:cNvSpPr txBox="1"/>
          <p:nvPr/>
        </p:nvSpPr>
        <p:spPr>
          <a:xfrm>
            <a:off x="10159127" y="2866549"/>
            <a:ext cx="674846" cy="198120"/>
          </a:xfrm>
          <a:prstGeom prst="rect">
            <a:avLst/>
          </a:prstGeom>
          <a:noFill/>
          <a:ln>
            <a:noFill/>
          </a:ln>
        </p:spPr>
        <p:txBody>
          <a:bodyPr wrap="none" lIns="0" tIns="0" rIns="0" bIns="0" anchor="t" anchorCtr="0">
            <a:spAutoFit/>
          </a:bodyPr>
          <a:lstStyle/>
          <a:p>
            <a:pPr algn="ctr"/>
            <a:r>
              <a:rPr lang="zh-CN" sz="975" dirty="0">
                <a:solidFill>
                  <a:srgbClr val="2C2C2C"/>
                </a:solidFill>
                <a:latin typeface="Arial"/>
                <a:ea typeface="Microsoft YaHei"/>
                <a:cs typeface="Arial"/>
              </a:rPr>
              <a:t>无兑换通道</a:t>
            </a:r>
          </a:p>
        </p:txBody>
      </p:sp>
      <p:sp>
        <p:nvSpPr>
          <p:cNvPr id="53" name="TextBox 53"/>
          <p:cNvSpPr txBox="1"/>
          <p:nvPr/>
        </p:nvSpPr>
        <p:spPr>
          <a:xfrm>
            <a:off x="9646920" y="3198495"/>
            <a:ext cx="38290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消费金</a:t>
            </a:r>
          </a:p>
        </p:txBody>
      </p:sp>
      <p:sp>
        <p:nvSpPr>
          <p:cNvPr id="54" name="TextBox 54"/>
          <p:cNvSpPr txBox="1"/>
          <p:nvPr/>
        </p:nvSpPr>
        <p:spPr>
          <a:xfrm>
            <a:off x="9646920" y="3388995"/>
            <a:ext cx="50292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只能用于</a:t>
            </a:r>
          </a:p>
        </p:txBody>
      </p:sp>
      <p:sp>
        <p:nvSpPr>
          <p:cNvPr id="55" name="TextBox 55"/>
          <p:cNvSpPr txBox="1"/>
          <p:nvPr/>
        </p:nvSpPr>
        <p:spPr>
          <a:xfrm>
            <a:off x="9646920" y="3579495"/>
            <a:ext cx="50292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消费抵扣</a:t>
            </a:r>
          </a:p>
        </p:txBody>
      </p:sp>
      <p:sp>
        <p:nvSpPr>
          <p:cNvPr id="56" name="Rectangle 56"/>
          <p:cNvSpPr/>
          <p:nvPr/>
        </p:nvSpPr>
        <p:spPr>
          <a:xfrm>
            <a:off x="457200" y="5181600"/>
            <a:ext cx="11087100" cy="609600"/>
          </a:xfrm>
          <a:prstGeom prst="roundRect">
            <a:avLst>
              <a:gd name="adj" fmla="val 21875"/>
            </a:avLst>
          </a:prstGeom>
          <a:solidFill>
            <a:srgbClr val="1E8449">
              <a:alpha val="8000"/>
            </a:srgbClr>
          </a:solidFill>
          <a:ln>
            <a:noFill/>
          </a:ln>
        </p:spPr>
      </p:sp>
      <p:sp>
        <p:nvSpPr>
          <p:cNvPr id="57" name="Rectangle 57"/>
          <p:cNvSpPr/>
          <p:nvPr/>
        </p:nvSpPr>
        <p:spPr>
          <a:xfrm>
            <a:off x="476250" y="5200650"/>
            <a:ext cx="11049000" cy="571500"/>
          </a:xfrm>
          <a:prstGeom prst="roundRect">
            <a:avLst>
              <a:gd name="adj" fmla="val 20000"/>
            </a:avLst>
          </a:prstGeom>
          <a:solidFill>
            <a:srgbClr val="F5F0EA"/>
          </a:solidFill>
          <a:ln>
            <a:noFill/>
          </a:ln>
        </p:spPr>
      </p:sp>
      <p:sp>
        <p:nvSpPr>
          <p:cNvPr id="58" name="Ellipse 58"/>
          <p:cNvSpPr/>
          <p:nvPr/>
        </p:nvSpPr>
        <p:spPr>
          <a:xfrm>
            <a:off x="1495425" y="5314950"/>
            <a:ext cx="342900" cy="342900"/>
          </a:xfrm>
          <a:prstGeom prst="ellipse">
            <a:avLst/>
          </a:prstGeom>
          <a:solidFill>
            <a:srgbClr val="1E8449">
              <a:alpha val="15000"/>
            </a:srgbClr>
          </a:solidFill>
          <a:ln>
            <a:noFill/>
          </a:ln>
        </p:spPr>
      </p:sp>
      <p:sp>
        <p:nvSpPr>
          <p:cNvPr id="59" name="TextBox 59"/>
          <p:cNvSpPr txBox="1"/>
          <p:nvPr/>
        </p:nvSpPr>
        <p:spPr>
          <a:xfrm>
            <a:off x="1613110" y="5430202"/>
            <a:ext cx="107530"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1</a:t>
            </a:r>
          </a:p>
        </p:txBody>
      </p:sp>
      <p:sp>
        <p:nvSpPr>
          <p:cNvPr id="60" name="Line 60"/>
          <p:cNvSpPr/>
          <p:nvPr/>
        </p:nvSpPr>
        <p:spPr>
          <a:xfrm>
            <a:off x="1905000" y="5486400"/>
            <a:ext cx="342900" cy="9525"/>
          </a:xfrm>
          <a:custGeom>
            <a:avLst/>
            <a:gdLst/>
            <a:ahLst/>
            <a:cxnLst/>
            <a:rect l="l" t="t" r="r" b="b"/>
            <a:pathLst>
              <a:path w="342900" h="9525">
                <a:moveTo>
                  <a:pt x="0" y="0"/>
                </a:moveTo>
                <a:lnTo>
                  <a:pt x="342900" y="0"/>
                </a:lnTo>
              </a:path>
            </a:pathLst>
          </a:custGeom>
          <a:noFill/>
          <a:ln w="14288">
            <a:solidFill>
              <a:srgbClr val="1E8449"/>
            </a:solidFill>
            <a:custDash>
              <a:ds d="266666" sp="200000"/>
            </a:custDash>
          </a:ln>
        </p:spPr>
      </p:sp>
      <p:sp>
        <p:nvSpPr>
          <p:cNvPr id="61" name="Ellipse 61"/>
          <p:cNvSpPr/>
          <p:nvPr/>
        </p:nvSpPr>
        <p:spPr>
          <a:xfrm>
            <a:off x="2400300" y="5314950"/>
            <a:ext cx="342900" cy="342900"/>
          </a:xfrm>
          <a:prstGeom prst="ellipse">
            <a:avLst/>
          </a:prstGeom>
          <a:solidFill>
            <a:srgbClr val="1E8449">
              <a:alpha val="15000"/>
            </a:srgbClr>
          </a:solidFill>
          <a:ln>
            <a:noFill/>
          </a:ln>
        </p:spPr>
      </p:sp>
      <p:sp>
        <p:nvSpPr>
          <p:cNvPr id="62" name="TextBox 62"/>
          <p:cNvSpPr txBox="1"/>
          <p:nvPr/>
        </p:nvSpPr>
        <p:spPr>
          <a:xfrm>
            <a:off x="2517985" y="5430202"/>
            <a:ext cx="107530"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2</a:t>
            </a:r>
          </a:p>
        </p:txBody>
      </p:sp>
      <p:sp>
        <p:nvSpPr>
          <p:cNvPr id="63" name="Line 63"/>
          <p:cNvSpPr/>
          <p:nvPr/>
        </p:nvSpPr>
        <p:spPr>
          <a:xfrm>
            <a:off x="2809875" y="5486400"/>
            <a:ext cx="342900" cy="9525"/>
          </a:xfrm>
          <a:custGeom>
            <a:avLst/>
            <a:gdLst/>
            <a:ahLst/>
            <a:cxnLst/>
            <a:rect l="l" t="t" r="r" b="b"/>
            <a:pathLst>
              <a:path w="342900" h="9525">
                <a:moveTo>
                  <a:pt x="0" y="0"/>
                </a:moveTo>
                <a:lnTo>
                  <a:pt x="342900" y="0"/>
                </a:lnTo>
              </a:path>
            </a:pathLst>
          </a:custGeom>
          <a:noFill/>
          <a:ln w="14288">
            <a:solidFill>
              <a:srgbClr val="1E8449"/>
            </a:solidFill>
            <a:custDash>
              <a:ds d="266666" sp="200000"/>
            </a:custDash>
          </a:ln>
        </p:spPr>
      </p:sp>
      <p:sp>
        <p:nvSpPr>
          <p:cNvPr id="64" name="Ellipse 64"/>
          <p:cNvSpPr/>
          <p:nvPr/>
        </p:nvSpPr>
        <p:spPr>
          <a:xfrm>
            <a:off x="3305175" y="5314950"/>
            <a:ext cx="342900" cy="342900"/>
          </a:xfrm>
          <a:prstGeom prst="ellipse">
            <a:avLst/>
          </a:prstGeom>
          <a:solidFill>
            <a:srgbClr val="1E8449">
              <a:alpha val="15000"/>
            </a:srgbClr>
          </a:solidFill>
          <a:ln>
            <a:noFill/>
          </a:ln>
        </p:spPr>
      </p:sp>
      <p:sp>
        <p:nvSpPr>
          <p:cNvPr id="65" name="TextBox 65"/>
          <p:cNvSpPr txBox="1"/>
          <p:nvPr/>
        </p:nvSpPr>
        <p:spPr>
          <a:xfrm>
            <a:off x="3422860" y="5430202"/>
            <a:ext cx="107530"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3</a:t>
            </a:r>
          </a:p>
        </p:txBody>
      </p:sp>
      <p:sp>
        <p:nvSpPr>
          <p:cNvPr id="66" name="Line 66"/>
          <p:cNvSpPr/>
          <p:nvPr/>
        </p:nvSpPr>
        <p:spPr>
          <a:xfrm>
            <a:off x="3714750" y="5486400"/>
            <a:ext cx="342900" cy="9525"/>
          </a:xfrm>
          <a:custGeom>
            <a:avLst/>
            <a:gdLst/>
            <a:ahLst/>
            <a:cxnLst/>
            <a:rect l="l" t="t" r="r" b="b"/>
            <a:pathLst>
              <a:path w="342900" h="9525">
                <a:moveTo>
                  <a:pt x="0" y="0"/>
                </a:moveTo>
                <a:lnTo>
                  <a:pt x="342900" y="0"/>
                </a:lnTo>
              </a:path>
            </a:pathLst>
          </a:custGeom>
          <a:noFill/>
          <a:ln w="14288">
            <a:solidFill>
              <a:srgbClr val="1E8449"/>
            </a:solidFill>
            <a:custDash>
              <a:ds d="266666" sp="200000"/>
            </a:custDash>
          </a:ln>
        </p:spPr>
      </p:sp>
      <p:sp>
        <p:nvSpPr>
          <p:cNvPr id="67" name="Ellipse 67"/>
          <p:cNvSpPr/>
          <p:nvPr/>
        </p:nvSpPr>
        <p:spPr>
          <a:xfrm>
            <a:off x="4210050" y="5314950"/>
            <a:ext cx="342900" cy="342900"/>
          </a:xfrm>
          <a:prstGeom prst="ellipse">
            <a:avLst/>
          </a:prstGeom>
          <a:solidFill>
            <a:srgbClr val="1E8449">
              <a:alpha val="15000"/>
            </a:srgbClr>
          </a:solidFill>
          <a:ln>
            <a:noFill/>
          </a:ln>
        </p:spPr>
      </p:sp>
      <p:sp>
        <p:nvSpPr>
          <p:cNvPr id="68" name="TextBox 68"/>
          <p:cNvSpPr txBox="1"/>
          <p:nvPr/>
        </p:nvSpPr>
        <p:spPr>
          <a:xfrm>
            <a:off x="4327735" y="5430202"/>
            <a:ext cx="107530"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4</a:t>
            </a:r>
          </a:p>
        </p:txBody>
      </p:sp>
      <p:sp>
        <p:nvSpPr>
          <p:cNvPr id="69" name="Line 69"/>
          <p:cNvSpPr/>
          <p:nvPr/>
        </p:nvSpPr>
        <p:spPr>
          <a:xfrm>
            <a:off x="4619625" y="5486400"/>
            <a:ext cx="342900" cy="9525"/>
          </a:xfrm>
          <a:custGeom>
            <a:avLst/>
            <a:gdLst/>
            <a:ahLst/>
            <a:cxnLst/>
            <a:rect l="l" t="t" r="r" b="b"/>
            <a:pathLst>
              <a:path w="342900" h="9525">
                <a:moveTo>
                  <a:pt x="0" y="0"/>
                </a:moveTo>
                <a:lnTo>
                  <a:pt x="342900" y="0"/>
                </a:lnTo>
              </a:path>
            </a:pathLst>
          </a:custGeom>
          <a:noFill/>
          <a:ln w="14288">
            <a:solidFill>
              <a:srgbClr val="1E8449"/>
            </a:solidFill>
            <a:custDash>
              <a:ds d="266666" sp="200000"/>
            </a:custDash>
          </a:ln>
        </p:spPr>
      </p:sp>
      <p:sp>
        <p:nvSpPr>
          <p:cNvPr id="70" name="Ellipse 70"/>
          <p:cNvSpPr/>
          <p:nvPr/>
        </p:nvSpPr>
        <p:spPr>
          <a:xfrm>
            <a:off x="5114925" y="5314950"/>
            <a:ext cx="342900" cy="342900"/>
          </a:xfrm>
          <a:prstGeom prst="ellipse">
            <a:avLst/>
          </a:prstGeom>
          <a:solidFill>
            <a:srgbClr val="1E8449">
              <a:alpha val="15000"/>
            </a:srgbClr>
          </a:solidFill>
          <a:ln>
            <a:noFill/>
          </a:ln>
        </p:spPr>
      </p:sp>
      <p:sp>
        <p:nvSpPr>
          <p:cNvPr id="71" name="TextBox 71"/>
          <p:cNvSpPr txBox="1"/>
          <p:nvPr/>
        </p:nvSpPr>
        <p:spPr>
          <a:xfrm>
            <a:off x="5232610" y="5430202"/>
            <a:ext cx="107530" cy="213360"/>
          </a:xfrm>
          <a:prstGeom prst="rect">
            <a:avLst/>
          </a:prstGeom>
          <a:noFill/>
          <a:ln>
            <a:noFill/>
          </a:ln>
        </p:spPr>
        <p:txBody>
          <a:bodyPr wrap="none" lIns="0" tIns="0" rIns="0" bIns="0" anchor="t" anchorCtr="0">
            <a:spAutoFit/>
          </a:bodyPr>
          <a:lstStyle/>
          <a:p>
            <a:pPr algn="ctr"/>
            <a:r>
              <a:rPr lang="zh-CN" sz="1050" b="1" dirty="0">
                <a:solidFill>
                  <a:srgbClr val="1E8449"/>
                </a:solidFill>
                <a:latin typeface="Arial"/>
                <a:ea typeface="Microsoft YaHei"/>
                <a:cs typeface="Arial"/>
              </a:rPr>
              <a:t>5</a:t>
            </a:r>
          </a:p>
        </p:txBody>
      </p:sp>
      <p:sp>
        <p:nvSpPr>
          <p:cNvPr id="72" name="TextBox 72"/>
          <p:cNvSpPr txBox="1"/>
          <p:nvPr/>
        </p:nvSpPr>
        <p:spPr>
          <a:xfrm>
            <a:off x="5657850" y="5381625"/>
            <a:ext cx="2838450" cy="304800"/>
          </a:xfrm>
          <a:prstGeom prst="rect">
            <a:avLst/>
          </a:prstGeom>
          <a:noFill/>
          <a:ln>
            <a:noFill/>
          </a:ln>
        </p:spPr>
        <p:txBody>
          <a:bodyPr wrap="none" lIns="0" tIns="0" rIns="0" bIns="0" anchor="t" anchorCtr="0">
            <a:spAutoFit/>
          </a:bodyPr>
          <a:lstStyle/>
          <a:p>
            <a:pPr algn="l"/>
            <a:r>
              <a:rPr lang="zh-CN" sz="1500" dirty="0">
                <a:solidFill>
                  <a:srgbClr val="1E8449"/>
                </a:solidFill>
                <a:latin typeface="Georgia"/>
                <a:ea typeface="KaiTi"/>
                <a:cs typeface="Georgia"/>
              </a:rPr>
              <a:t>. 五不复核逻辑 — 五项全部通过</a:t>
            </a:r>
          </a:p>
        </p:txBody>
      </p:sp>
      <p:sp>
        <p:nvSpPr>
          <p:cNvPr id="73" name="TextBox 73"/>
          <p:cNvSpPr txBox="1"/>
          <p:nvPr/>
        </p:nvSpPr>
        <p:spPr>
          <a:xfrm>
            <a:off x="10018681" y="5271135"/>
            <a:ext cx="536638" cy="548640"/>
          </a:xfrm>
          <a:prstGeom prst="rect">
            <a:avLst/>
          </a:prstGeom>
          <a:noFill/>
          <a:ln>
            <a:noFill/>
          </a:ln>
        </p:spPr>
        <p:txBody>
          <a:bodyPr wrap="none" lIns="0" tIns="0" rIns="0" bIns="0" anchor="t" anchorCtr="0">
            <a:spAutoFit/>
          </a:bodyPr>
          <a:lstStyle/>
          <a:p>
            <a:pPr algn="ctr"/>
            <a:r>
              <a:rPr lang="zh-CN" sz="2700" dirty="0">
                <a:solidFill>
                  <a:srgbClr val="000000"/>
                </a:solidFill>
                <a:latin typeface="Arial"/>
                <a:ea typeface="Microsoft YaHei"/>
                <a:cs typeface="Arial"/>
              </a:rPr>
              <a:t>OK</a:t>
            </a:r>
          </a:p>
        </p:txBody>
      </p:sp>
      <p:sp>
        <p:nvSpPr>
          <p:cNvPr id="74" name="TextBox 74"/>
          <p:cNvSpPr txBox="1"/>
          <p:nvPr/>
        </p:nvSpPr>
        <p:spPr>
          <a:xfrm>
            <a:off x="11477054" y="664654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42</a:t>
            </a:r>
          </a:p>
        </p:txBody>
      </p:sp>
      <p:sp>
        <p:nvSpPr>
          <p:cNvPr id="75" name="TextBox 75"/>
          <p:cNvSpPr txBox="1"/>
          <p:nvPr/>
        </p:nvSpPr>
        <p:spPr>
          <a:xfrm>
            <a:off x="560070" y="664654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C0392B"/>
          </a:solidFill>
          <a:ln>
            <a:noFill/>
          </a:ln>
        </p:spPr>
      </p:sp>
      <p:sp>
        <p:nvSpPr>
          <p:cNvPr id="4" name="TextBox 4"/>
          <p:cNvSpPr txBox="1"/>
          <p:nvPr/>
        </p:nvSpPr>
        <p:spPr>
          <a:xfrm>
            <a:off x="775335" y="470535"/>
            <a:ext cx="5559266"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13个信息黑洞：不知道 = 盲目行动</a:t>
            </a:r>
          </a:p>
        </p:txBody>
      </p:sp>
      <p:sp>
        <p:nvSpPr>
          <p:cNvPr id="5" name="TextBox 5"/>
          <p:cNvSpPr txBox="1"/>
          <p:nvPr/>
        </p:nvSpPr>
        <p:spPr>
          <a:xfrm>
            <a:off x="795338" y="926306"/>
            <a:ext cx="2473881"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8项P0 . 5项P1——第O段必须全部填补</a:t>
            </a:r>
          </a:p>
        </p:txBody>
      </p:sp>
      <p:sp>
        <p:nvSpPr>
          <p:cNvPr id="6" name="Rectangle 6"/>
          <p:cNvSpPr/>
          <p:nvPr/>
        </p:nvSpPr>
        <p:spPr>
          <a:xfrm>
            <a:off x="476250" y="1257300"/>
            <a:ext cx="342900" cy="285750"/>
          </a:xfrm>
          <a:prstGeom prst="roundRect">
            <a:avLst>
              <a:gd name="adj" fmla="val 16667"/>
            </a:avLst>
          </a:prstGeom>
          <a:solidFill>
            <a:srgbClr val="C0392B">
              <a:alpha val="12000"/>
            </a:srgbClr>
          </a:solidFill>
          <a:ln>
            <a:noFill/>
          </a:ln>
        </p:spPr>
      </p:sp>
      <p:sp>
        <p:nvSpPr>
          <p:cNvPr id="7" name="TextBox 7"/>
          <p:cNvSpPr txBox="1"/>
          <p:nvPr/>
        </p:nvSpPr>
        <p:spPr>
          <a:xfrm>
            <a:off x="601616" y="1350645"/>
            <a:ext cx="92169"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a:t>
            </a:r>
          </a:p>
        </p:txBody>
      </p:sp>
      <p:sp>
        <p:nvSpPr>
          <p:cNvPr id="8" name="Rectangle 8"/>
          <p:cNvSpPr/>
          <p:nvPr/>
        </p:nvSpPr>
        <p:spPr>
          <a:xfrm>
            <a:off x="857250" y="1257300"/>
            <a:ext cx="2667000" cy="285750"/>
          </a:xfrm>
          <a:prstGeom prst="roundRect">
            <a:avLst>
              <a:gd name="adj" fmla="val 16667"/>
            </a:avLst>
          </a:prstGeom>
          <a:solidFill>
            <a:srgbClr val="C0392B">
              <a:alpha val="12000"/>
            </a:srgbClr>
          </a:solidFill>
          <a:ln>
            <a:noFill/>
          </a:ln>
        </p:spPr>
      </p:sp>
      <p:sp>
        <p:nvSpPr>
          <p:cNvPr id="9" name="TextBox 9"/>
          <p:cNvSpPr txBox="1"/>
          <p:nvPr/>
        </p:nvSpPr>
        <p:spPr>
          <a:xfrm>
            <a:off x="1927288" y="1350645"/>
            <a:ext cx="526923"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信息黑洞</a:t>
            </a:r>
          </a:p>
        </p:txBody>
      </p:sp>
      <p:sp>
        <p:nvSpPr>
          <p:cNvPr id="10" name="Rectangle 10"/>
          <p:cNvSpPr/>
          <p:nvPr/>
        </p:nvSpPr>
        <p:spPr>
          <a:xfrm>
            <a:off x="3562350" y="1257300"/>
            <a:ext cx="1905000" cy="285750"/>
          </a:xfrm>
          <a:prstGeom prst="roundRect">
            <a:avLst>
              <a:gd name="adj" fmla="val 16667"/>
            </a:avLst>
          </a:prstGeom>
          <a:solidFill>
            <a:srgbClr val="C0392B">
              <a:alpha val="12000"/>
            </a:srgbClr>
          </a:solidFill>
          <a:ln>
            <a:noFill/>
          </a:ln>
        </p:spPr>
      </p:sp>
      <p:sp>
        <p:nvSpPr>
          <p:cNvPr id="11" name="TextBox 11"/>
          <p:cNvSpPr txBox="1"/>
          <p:nvPr/>
        </p:nvSpPr>
        <p:spPr>
          <a:xfrm>
            <a:off x="4251388" y="1350645"/>
            <a:ext cx="526923"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严重程度</a:t>
            </a:r>
          </a:p>
        </p:txBody>
      </p:sp>
      <p:sp>
        <p:nvSpPr>
          <p:cNvPr id="12" name="Rectangle 12"/>
          <p:cNvSpPr/>
          <p:nvPr/>
        </p:nvSpPr>
        <p:spPr>
          <a:xfrm>
            <a:off x="5505450" y="1257300"/>
            <a:ext cx="2476500" cy="285750"/>
          </a:xfrm>
          <a:prstGeom prst="roundRect">
            <a:avLst>
              <a:gd name="adj" fmla="val 16667"/>
            </a:avLst>
          </a:prstGeom>
          <a:solidFill>
            <a:srgbClr val="C0392B">
              <a:alpha val="12000"/>
            </a:srgbClr>
          </a:solidFill>
          <a:ln>
            <a:noFill/>
          </a:ln>
        </p:spPr>
      </p:sp>
      <p:sp>
        <p:nvSpPr>
          <p:cNvPr id="13" name="TextBox 13"/>
          <p:cNvSpPr txBox="1"/>
          <p:nvPr/>
        </p:nvSpPr>
        <p:spPr>
          <a:xfrm>
            <a:off x="6543246" y="1350645"/>
            <a:ext cx="400907"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负责方</a:t>
            </a:r>
          </a:p>
        </p:txBody>
      </p:sp>
      <p:sp>
        <p:nvSpPr>
          <p:cNvPr id="14" name="Rectangle 14"/>
          <p:cNvSpPr/>
          <p:nvPr/>
        </p:nvSpPr>
        <p:spPr>
          <a:xfrm>
            <a:off x="8020050" y="1257300"/>
            <a:ext cx="3600450" cy="285750"/>
          </a:xfrm>
          <a:prstGeom prst="roundRect">
            <a:avLst>
              <a:gd name="adj" fmla="val 16667"/>
            </a:avLst>
          </a:prstGeom>
          <a:solidFill>
            <a:srgbClr val="C0392B">
              <a:alpha val="12000"/>
            </a:srgbClr>
          </a:solidFill>
          <a:ln>
            <a:noFill/>
          </a:ln>
        </p:spPr>
      </p:sp>
      <p:sp>
        <p:nvSpPr>
          <p:cNvPr id="15" name="TextBox 15"/>
          <p:cNvSpPr txBox="1"/>
          <p:nvPr/>
        </p:nvSpPr>
        <p:spPr>
          <a:xfrm>
            <a:off x="9430798" y="1350645"/>
            <a:ext cx="778955" cy="182880"/>
          </a:xfrm>
          <a:prstGeom prst="rect">
            <a:avLst/>
          </a:prstGeom>
          <a:noFill/>
          <a:ln>
            <a:noFill/>
          </a:ln>
        </p:spPr>
        <p:txBody>
          <a:bodyPr wrap="none" lIns="0" tIns="0" rIns="0" bIns="0" anchor="t" anchorCtr="0">
            <a:spAutoFit/>
          </a:bodyPr>
          <a:lstStyle/>
          <a:p>
            <a:pPr algn="ctr"/>
            <a:r>
              <a:rPr lang="zh-CN" sz="900" b="1" dirty="0">
                <a:solidFill>
                  <a:srgbClr val="C0392B"/>
                </a:solidFill>
                <a:latin typeface="Arial"/>
                <a:ea typeface="Microsoft YaHei"/>
                <a:cs typeface="Arial"/>
              </a:rPr>
              <a:t>对战略的影响</a:t>
            </a:r>
          </a:p>
        </p:txBody>
      </p:sp>
      <p:sp>
        <p:nvSpPr>
          <p:cNvPr id="16" name="Rectangle 16"/>
          <p:cNvSpPr/>
          <p:nvPr/>
        </p:nvSpPr>
        <p:spPr>
          <a:xfrm>
            <a:off x="476250" y="1600200"/>
            <a:ext cx="342900" cy="304800"/>
          </a:xfrm>
          <a:prstGeom prst="roundRect">
            <a:avLst>
              <a:gd name="adj" fmla="val 12500"/>
            </a:avLst>
          </a:prstGeom>
          <a:solidFill>
            <a:srgbClr val="F0EDE8"/>
          </a:solidFill>
          <a:ln>
            <a:noFill/>
          </a:ln>
        </p:spPr>
      </p:sp>
      <p:sp>
        <p:nvSpPr>
          <p:cNvPr id="17" name="TextBox 17"/>
          <p:cNvSpPr txBox="1"/>
          <p:nvPr/>
        </p:nvSpPr>
        <p:spPr>
          <a:xfrm>
            <a:off x="606969" y="17111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1</a:t>
            </a:r>
          </a:p>
        </p:txBody>
      </p:sp>
      <p:sp>
        <p:nvSpPr>
          <p:cNvPr id="18" name="Rectangle 18"/>
          <p:cNvSpPr/>
          <p:nvPr/>
        </p:nvSpPr>
        <p:spPr>
          <a:xfrm>
            <a:off x="857250" y="1600200"/>
            <a:ext cx="2667000" cy="304800"/>
          </a:xfrm>
          <a:prstGeom prst="roundRect">
            <a:avLst>
              <a:gd name="adj" fmla="val 12500"/>
            </a:avLst>
          </a:prstGeom>
          <a:solidFill>
            <a:srgbClr val="C0392B">
              <a:alpha val="4000"/>
            </a:srgbClr>
          </a:solidFill>
          <a:ln>
            <a:noFill/>
          </a:ln>
        </p:spPr>
      </p:sp>
      <p:sp>
        <p:nvSpPr>
          <p:cNvPr id="19" name="TextBox 19"/>
          <p:cNvSpPr txBox="1"/>
          <p:nvPr/>
        </p:nvSpPr>
        <p:spPr>
          <a:xfrm>
            <a:off x="941070" y="1703070"/>
            <a:ext cx="1913096"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SaaS功能完成度（商户端+用户端）</a:t>
            </a:r>
          </a:p>
        </p:txBody>
      </p:sp>
      <p:sp>
        <p:nvSpPr>
          <p:cNvPr id="20" name="Rectangle 20"/>
          <p:cNvSpPr/>
          <p:nvPr/>
        </p:nvSpPr>
        <p:spPr>
          <a:xfrm>
            <a:off x="3562350" y="1619250"/>
            <a:ext cx="838200" cy="266700"/>
          </a:xfrm>
          <a:prstGeom prst="roundRect">
            <a:avLst>
              <a:gd name="adj" fmla="val 42857"/>
            </a:avLst>
          </a:prstGeom>
          <a:solidFill>
            <a:srgbClr val="C0392B">
              <a:alpha val="14000"/>
            </a:srgbClr>
          </a:solidFill>
          <a:ln>
            <a:noFill/>
          </a:ln>
        </p:spPr>
      </p:sp>
      <p:sp>
        <p:nvSpPr>
          <p:cNvPr id="21" name="TextBox 21"/>
          <p:cNvSpPr txBox="1"/>
          <p:nvPr/>
        </p:nvSpPr>
        <p:spPr>
          <a:xfrm>
            <a:off x="3907440" y="17111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22" name="TextBox 22"/>
          <p:cNvSpPr txBox="1"/>
          <p:nvPr/>
        </p:nvSpPr>
        <p:spPr>
          <a:xfrm>
            <a:off x="5589270" y="1703070"/>
            <a:ext cx="112099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技术团队 / 产品经理</a:t>
            </a:r>
          </a:p>
        </p:txBody>
      </p:sp>
      <p:sp>
        <p:nvSpPr>
          <p:cNvPr id="23" name="TextBox 23"/>
          <p:cNvSpPr txBox="1"/>
          <p:nvPr/>
        </p:nvSpPr>
        <p:spPr>
          <a:xfrm>
            <a:off x="8103870" y="1703070"/>
            <a:ext cx="98298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决定公测能否启动</a:t>
            </a:r>
          </a:p>
        </p:txBody>
      </p:sp>
      <p:sp>
        <p:nvSpPr>
          <p:cNvPr id="24" name="Rectangle 24"/>
          <p:cNvSpPr/>
          <p:nvPr/>
        </p:nvSpPr>
        <p:spPr>
          <a:xfrm>
            <a:off x="476250" y="1943100"/>
            <a:ext cx="342900" cy="304800"/>
          </a:xfrm>
          <a:prstGeom prst="roundRect">
            <a:avLst>
              <a:gd name="adj" fmla="val 12500"/>
            </a:avLst>
          </a:prstGeom>
          <a:solidFill>
            <a:srgbClr val="F0EDE8"/>
          </a:solidFill>
          <a:ln>
            <a:noFill/>
          </a:ln>
        </p:spPr>
      </p:sp>
      <p:sp>
        <p:nvSpPr>
          <p:cNvPr id="25" name="TextBox 25"/>
          <p:cNvSpPr txBox="1"/>
          <p:nvPr/>
        </p:nvSpPr>
        <p:spPr>
          <a:xfrm>
            <a:off x="606969" y="20540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2</a:t>
            </a:r>
          </a:p>
        </p:txBody>
      </p:sp>
      <p:sp>
        <p:nvSpPr>
          <p:cNvPr id="26" name="Rectangle 26"/>
          <p:cNvSpPr/>
          <p:nvPr/>
        </p:nvSpPr>
        <p:spPr>
          <a:xfrm>
            <a:off x="857250" y="1943100"/>
            <a:ext cx="2667000" cy="304800"/>
          </a:xfrm>
          <a:prstGeom prst="roundRect">
            <a:avLst>
              <a:gd name="adj" fmla="val 12500"/>
            </a:avLst>
          </a:prstGeom>
          <a:solidFill>
            <a:srgbClr val="C0392B">
              <a:alpha val="4000"/>
            </a:srgbClr>
          </a:solidFill>
          <a:ln>
            <a:noFill/>
          </a:ln>
        </p:spPr>
      </p:sp>
      <p:sp>
        <p:nvSpPr>
          <p:cNvPr id="27" name="TextBox 27"/>
          <p:cNvSpPr txBox="1"/>
          <p:nvPr/>
        </p:nvSpPr>
        <p:spPr>
          <a:xfrm>
            <a:off x="941070" y="2045970"/>
            <a:ext cx="110299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汇付支付对接时间线</a:t>
            </a:r>
          </a:p>
        </p:txBody>
      </p:sp>
      <p:sp>
        <p:nvSpPr>
          <p:cNvPr id="28" name="Rectangle 28"/>
          <p:cNvSpPr/>
          <p:nvPr/>
        </p:nvSpPr>
        <p:spPr>
          <a:xfrm>
            <a:off x="3562350" y="1962150"/>
            <a:ext cx="838200" cy="266700"/>
          </a:xfrm>
          <a:prstGeom prst="roundRect">
            <a:avLst>
              <a:gd name="adj" fmla="val 42857"/>
            </a:avLst>
          </a:prstGeom>
          <a:solidFill>
            <a:srgbClr val="C0392B">
              <a:alpha val="14000"/>
            </a:srgbClr>
          </a:solidFill>
          <a:ln>
            <a:noFill/>
          </a:ln>
        </p:spPr>
      </p:sp>
      <p:sp>
        <p:nvSpPr>
          <p:cNvPr id="29" name="TextBox 29"/>
          <p:cNvSpPr txBox="1"/>
          <p:nvPr/>
        </p:nvSpPr>
        <p:spPr>
          <a:xfrm>
            <a:off x="3907440" y="20540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30" name="TextBox 30"/>
          <p:cNvSpPr txBox="1"/>
          <p:nvPr/>
        </p:nvSpPr>
        <p:spPr>
          <a:xfrm>
            <a:off x="5589270" y="2045970"/>
            <a:ext cx="112099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技术团队 / 汇付商务</a:t>
            </a:r>
          </a:p>
        </p:txBody>
      </p:sp>
      <p:sp>
        <p:nvSpPr>
          <p:cNvPr id="31" name="TextBox 31"/>
          <p:cNvSpPr txBox="1"/>
          <p:nvPr/>
        </p:nvSpPr>
        <p:spPr>
          <a:xfrm>
            <a:off x="8103870" y="2045970"/>
            <a:ext cx="122301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决定跨店清分能力上线</a:t>
            </a:r>
          </a:p>
        </p:txBody>
      </p:sp>
      <p:sp>
        <p:nvSpPr>
          <p:cNvPr id="32" name="Rectangle 32"/>
          <p:cNvSpPr/>
          <p:nvPr/>
        </p:nvSpPr>
        <p:spPr>
          <a:xfrm>
            <a:off x="476250" y="2286000"/>
            <a:ext cx="342900" cy="304800"/>
          </a:xfrm>
          <a:prstGeom prst="roundRect">
            <a:avLst>
              <a:gd name="adj" fmla="val 12500"/>
            </a:avLst>
          </a:prstGeom>
          <a:solidFill>
            <a:srgbClr val="F0EDE8"/>
          </a:solidFill>
          <a:ln>
            <a:noFill/>
          </a:ln>
        </p:spPr>
      </p:sp>
      <p:sp>
        <p:nvSpPr>
          <p:cNvPr id="33" name="TextBox 33"/>
          <p:cNvSpPr txBox="1"/>
          <p:nvPr/>
        </p:nvSpPr>
        <p:spPr>
          <a:xfrm>
            <a:off x="606969" y="23969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3</a:t>
            </a:r>
          </a:p>
        </p:txBody>
      </p:sp>
      <p:sp>
        <p:nvSpPr>
          <p:cNvPr id="34" name="Rectangle 34"/>
          <p:cNvSpPr/>
          <p:nvPr/>
        </p:nvSpPr>
        <p:spPr>
          <a:xfrm>
            <a:off x="857250" y="2286000"/>
            <a:ext cx="2667000" cy="304800"/>
          </a:xfrm>
          <a:prstGeom prst="roundRect">
            <a:avLst>
              <a:gd name="adj" fmla="val 12500"/>
            </a:avLst>
          </a:prstGeom>
          <a:solidFill>
            <a:srgbClr val="C0392B">
              <a:alpha val="4000"/>
            </a:srgbClr>
          </a:solidFill>
          <a:ln>
            <a:noFill/>
          </a:ln>
        </p:spPr>
      </p:sp>
      <p:sp>
        <p:nvSpPr>
          <p:cNvPr id="35" name="TextBox 35"/>
          <p:cNvSpPr txBox="1"/>
          <p:nvPr/>
        </p:nvSpPr>
        <p:spPr>
          <a:xfrm>
            <a:off x="941070" y="2388870"/>
            <a:ext cx="170307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已签约商家数量与意向商家清单</a:t>
            </a:r>
          </a:p>
        </p:txBody>
      </p:sp>
      <p:sp>
        <p:nvSpPr>
          <p:cNvPr id="36" name="Rectangle 36"/>
          <p:cNvSpPr/>
          <p:nvPr/>
        </p:nvSpPr>
        <p:spPr>
          <a:xfrm>
            <a:off x="3562350" y="2305050"/>
            <a:ext cx="838200" cy="266700"/>
          </a:xfrm>
          <a:prstGeom prst="roundRect">
            <a:avLst>
              <a:gd name="adj" fmla="val 42857"/>
            </a:avLst>
          </a:prstGeom>
          <a:solidFill>
            <a:srgbClr val="C0392B">
              <a:alpha val="14000"/>
            </a:srgbClr>
          </a:solidFill>
          <a:ln>
            <a:noFill/>
          </a:ln>
        </p:spPr>
      </p:sp>
      <p:sp>
        <p:nvSpPr>
          <p:cNvPr id="37" name="TextBox 37"/>
          <p:cNvSpPr txBox="1"/>
          <p:nvPr/>
        </p:nvSpPr>
        <p:spPr>
          <a:xfrm>
            <a:off x="3907440" y="23969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38" name="TextBox 38"/>
          <p:cNvSpPr txBox="1"/>
          <p:nvPr/>
        </p:nvSpPr>
        <p:spPr>
          <a:xfrm>
            <a:off x="5589270" y="2388870"/>
            <a:ext cx="892969"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BD团队 / 创始人</a:t>
            </a:r>
          </a:p>
        </p:txBody>
      </p:sp>
      <p:sp>
        <p:nvSpPr>
          <p:cNvPr id="39" name="TextBox 39"/>
          <p:cNvSpPr txBox="1"/>
          <p:nvPr/>
        </p:nvSpPr>
        <p:spPr>
          <a:xfrm>
            <a:off x="8103870" y="23888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决定试点密度与品类结构</a:t>
            </a:r>
          </a:p>
        </p:txBody>
      </p:sp>
      <p:sp>
        <p:nvSpPr>
          <p:cNvPr id="40" name="Rectangle 40"/>
          <p:cNvSpPr/>
          <p:nvPr/>
        </p:nvSpPr>
        <p:spPr>
          <a:xfrm>
            <a:off x="476250" y="2628900"/>
            <a:ext cx="342900" cy="304800"/>
          </a:xfrm>
          <a:prstGeom prst="roundRect">
            <a:avLst>
              <a:gd name="adj" fmla="val 12500"/>
            </a:avLst>
          </a:prstGeom>
          <a:solidFill>
            <a:srgbClr val="F0EDE8"/>
          </a:solidFill>
          <a:ln>
            <a:noFill/>
          </a:ln>
        </p:spPr>
      </p:sp>
      <p:sp>
        <p:nvSpPr>
          <p:cNvPr id="41" name="TextBox 41"/>
          <p:cNvSpPr txBox="1"/>
          <p:nvPr/>
        </p:nvSpPr>
        <p:spPr>
          <a:xfrm>
            <a:off x="606969" y="27398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4</a:t>
            </a:r>
          </a:p>
        </p:txBody>
      </p:sp>
      <p:sp>
        <p:nvSpPr>
          <p:cNvPr id="42" name="Rectangle 42"/>
          <p:cNvSpPr/>
          <p:nvPr/>
        </p:nvSpPr>
        <p:spPr>
          <a:xfrm>
            <a:off x="857250" y="2628900"/>
            <a:ext cx="2667000" cy="304800"/>
          </a:xfrm>
          <a:prstGeom prst="roundRect">
            <a:avLst>
              <a:gd name="adj" fmla="val 12500"/>
            </a:avLst>
          </a:prstGeom>
          <a:solidFill>
            <a:srgbClr val="C0392B">
              <a:alpha val="4000"/>
            </a:srgbClr>
          </a:solidFill>
          <a:ln>
            <a:noFill/>
          </a:ln>
        </p:spPr>
      </p:sp>
      <p:sp>
        <p:nvSpPr>
          <p:cNvPr id="43" name="TextBox 43"/>
          <p:cNvSpPr txBox="1"/>
          <p:nvPr/>
        </p:nvSpPr>
        <p:spPr>
          <a:xfrm>
            <a:off x="941070" y="2731770"/>
            <a:ext cx="158305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公测目标城市与社区选择标准</a:t>
            </a:r>
          </a:p>
        </p:txBody>
      </p:sp>
      <p:sp>
        <p:nvSpPr>
          <p:cNvPr id="44" name="Rectangle 44"/>
          <p:cNvSpPr/>
          <p:nvPr/>
        </p:nvSpPr>
        <p:spPr>
          <a:xfrm>
            <a:off x="3562350" y="2647950"/>
            <a:ext cx="838200" cy="266700"/>
          </a:xfrm>
          <a:prstGeom prst="roundRect">
            <a:avLst>
              <a:gd name="adj" fmla="val 42857"/>
            </a:avLst>
          </a:prstGeom>
          <a:solidFill>
            <a:srgbClr val="C0392B">
              <a:alpha val="14000"/>
            </a:srgbClr>
          </a:solidFill>
          <a:ln>
            <a:noFill/>
          </a:ln>
        </p:spPr>
      </p:sp>
      <p:sp>
        <p:nvSpPr>
          <p:cNvPr id="45" name="TextBox 45"/>
          <p:cNvSpPr txBox="1"/>
          <p:nvPr/>
        </p:nvSpPr>
        <p:spPr>
          <a:xfrm>
            <a:off x="3907440" y="27398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46" name="TextBox 46"/>
          <p:cNvSpPr txBox="1"/>
          <p:nvPr/>
        </p:nvSpPr>
        <p:spPr>
          <a:xfrm>
            <a:off x="5589270" y="2731770"/>
            <a:ext cx="100098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运营团队 / 创始人</a:t>
            </a:r>
          </a:p>
        </p:txBody>
      </p:sp>
      <p:sp>
        <p:nvSpPr>
          <p:cNvPr id="47" name="TextBox 47"/>
          <p:cNvSpPr txBox="1"/>
          <p:nvPr/>
        </p:nvSpPr>
        <p:spPr>
          <a:xfrm>
            <a:off x="8103870" y="27317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决定试点社区策略有效性</a:t>
            </a:r>
          </a:p>
        </p:txBody>
      </p:sp>
      <p:sp>
        <p:nvSpPr>
          <p:cNvPr id="48" name="Rectangle 48"/>
          <p:cNvSpPr/>
          <p:nvPr/>
        </p:nvSpPr>
        <p:spPr>
          <a:xfrm>
            <a:off x="476250" y="2971800"/>
            <a:ext cx="342900" cy="304800"/>
          </a:xfrm>
          <a:prstGeom prst="roundRect">
            <a:avLst>
              <a:gd name="adj" fmla="val 12500"/>
            </a:avLst>
          </a:prstGeom>
          <a:solidFill>
            <a:srgbClr val="F0EDE8"/>
          </a:solidFill>
          <a:ln>
            <a:noFill/>
          </a:ln>
        </p:spPr>
      </p:sp>
      <p:sp>
        <p:nvSpPr>
          <p:cNvPr id="49" name="TextBox 49"/>
          <p:cNvSpPr txBox="1"/>
          <p:nvPr/>
        </p:nvSpPr>
        <p:spPr>
          <a:xfrm>
            <a:off x="606969" y="30827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5</a:t>
            </a:r>
          </a:p>
        </p:txBody>
      </p:sp>
      <p:sp>
        <p:nvSpPr>
          <p:cNvPr id="50" name="Rectangle 50"/>
          <p:cNvSpPr/>
          <p:nvPr/>
        </p:nvSpPr>
        <p:spPr>
          <a:xfrm>
            <a:off x="857250" y="2971800"/>
            <a:ext cx="2667000" cy="304800"/>
          </a:xfrm>
          <a:prstGeom prst="roundRect">
            <a:avLst>
              <a:gd name="adj" fmla="val 12500"/>
            </a:avLst>
          </a:prstGeom>
          <a:solidFill>
            <a:srgbClr val="C0392B">
              <a:alpha val="4000"/>
            </a:srgbClr>
          </a:solidFill>
          <a:ln>
            <a:noFill/>
          </a:ln>
        </p:spPr>
      </p:sp>
      <p:sp>
        <p:nvSpPr>
          <p:cNvPr id="51" name="TextBox 51"/>
          <p:cNvSpPr txBox="1"/>
          <p:nvPr/>
        </p:nvSpPr>
        <p:spPr>
          <a:xfrm>
            <a:off x="941070" y="3074670"/>
            <a:ext cx="146304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推广者招募进度与培训准备</a:t>
            </a:r>
          </a:p>
        </p:txBody>
      </p:sp>
      <p:sp>
        <p:nvSpPr>
          <p:cNvPr id="52" name="Rectangle 52"/>
          <p:cNvSpPr/>
          <p:nvPr/>
        </p:nvSpPr>
        <p:spPr>
          <a:xfrm>
            <a:off x="3562350" y="2990850"/>
            <a:ext cx="838200" cy="266700"/>
          </a:xfrm>
          <a:prstGeom prst="roundRect">
            <a:avLst>
              <a:gd name="adj" fmla="val 42857"/>
            </a:avLst>
          </a:prstGeom>
          <a:solidFill>
            <a:srgbClr val="C0392B">
              <a:alpha val="14000"/>
            </a:srgbClr>
          </a:solidFill>
          <a:ln>
            <a:noFill/>
          </a:ln>
        </p:spPr>
      </p:sp>
      <p:sp>
        <p:nvSpPr>
          <p:cNvPr id="53" name="TextBox 53"/>
          <p:cNvSpPr txBox="1"/>
          <p:nvPr/>
        </p:nvSpPr>
        <p:spPr>
          <a:xfrm>
            <a:off x="3907440" y="30827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54" name="TextBox 54"/>
          <p:cNvSpPr txBox="1"/>
          <p:nvPr/>
        </p:nvSpPr>
        <p:spPr>
          <a:xfrm>
            <a:off x="5589270" y="3074670"/>
            <a:ext cx="1132999"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BD团队 / 培训负责人</a:t>
            </a:r>
          </a:p>
        </p:txBody>
      </p:sp>
      <p:sp>
        <p:nvSpPr>
          <p:cNvPr id="55" name="TextBox 55"/>
          <p:cNvSpPr txBox="1"/>
          <p:nvPr/>
        </p:nvSpPr>
        <p:spPr>
          <a:xfrm>
            <a:off x="8103870" y="3074670"/>
            <a:ext cx="98298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决定商家拓展速度</a:t>
            </a:r>
          </a:p>
        </p:txBody>
      </p:sp>
      <p:sp>
        <p:nvSpPr>
          <p:cNvPr id="56" name="Rectangle 56"/>
          <p:cNvSpPr/>
          <p:nvPr/>
        </p:nvSpPr>
        <p:spPr>
          <a:xfrm>
            <a:off x="476250" y="3314700"/>
            <a:ext cx="342900" cy="304800"/>
          </a:xfrm>
          <a:prstGeom prst="roundRect">
            <a:avLst>
              <a:gd name="adj" fmla="val 12500"/>
            </a:avLst>
          </a:prstGeom>
          <a:solidFill>
            <a:srgbClr val="F0EDE8"/>
          </a:solidFill>
          <a:ln>
            <a:noFill/>
          </a:ln>
        </p:spPr>
      </p:sp>
      <p:sp>
        <p:nvSpPr>
          <p:cNvPr id="57" name="TextBox 57"/>
          <p:cNvSpPr txBox="1"/>
          <p:nvPr/>
        </p:nvSpPr>
        <p:spPr>
          <a:xfrm>
            <a:off x="606969" y="34256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6</a:t>
            </a:r>
          </a:p>
        </p:txBody>
      </p:sp>
      <p:sp>
        <p:nvSpPr>
          <p:cNvPr id="58" name="Rectangle 58"/>
          <p:cNvSpPr/>
          <p:nvPr/>
        </p:nvSpPr>
        <p:spPr>
          <a:xfrm>
            <a:off x="857250" y="3314700"/>
            <a:ext cx="2667000" cy="304800"/>
          </a:xfrm>
          <a:prstGeom prst="roundRect">
            <a:avLst>
              <a:gd name="adj" fmla="val 12500"/>
            </a:avLst>
          </a:prstGeom>
          <a:solidFill>
            <a:srgbClr val="C0392B">
              <a:alpha val="4000"/>
            </a:srgbClr>
          </a:solidFill>
          <a:ln>
            <a:noFill/>
          </a:ln>
        </p:spPr>
      </p:sp>
      <p:sp>
        <p:nvSpPr>
          <p:cNvPr id="59" name="TextBox 59"/>
          <p:cNvSpPr txBox="1"/>
          <p:nvPr/>
        </p:nvSpPr>
        <p:spPr>
          <a:xfrm>
            <a:off x="941070" y="3417570"/>
            <a:ext cx="182308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品牌故事起源（创始人初心时刻）</a:t>
            </a:r>
          </a:p>
        </p:txBody>
      </p:sp>
      <p:sp>
        <p:nvSpPr>
          <p:cNvPr id="60" name="Rectangle 60"/>
          <p:cNvSpPr/>
          <p:nvPr/>
        </p:nvSpPr>
        <p:spPr>
          <a:xfrm>
            <a:off x="3562350" y="3333750"/>
            <a:ext cx="838200" cy="266700"/>
          </a:xfrm>
          <a:prstGeom prst="roundRect">
            <a:avLst>
              <a:gd name="adj" fmla="val 42857"/>
            </a:avLst>
          </a:prstGeom>
          <a:solidFill>
            <a:srgbClr val="C0392B">
              <a:alpha val="14000"/>
            </a:srgbClr>
          </a:solidFill>
          <a:ln>
            <a:noFill/>
          </a:ln>
        </p:spPr>
      </p:sp>
      <p:sp>
        <p:nvSpPr>
          <p:cNvPr id="61" name="TextBox 61"/>
          <p:cNvSpPr txBox="1"/>
          <p:nvPr/>
        </p:nvSpPr>
        <p:spPr>
          <a:xfrm>
            <a:off x="3907440" y="34256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62" name="TextBox 62"/>
          <p:cNvSpPr txBox="1"/>
          <p:nvPr/>
        </p:nvSpPr>
        <p:spPr>
          <a:xfrm>
            <a:off x="5589270" y="3417570"/>
            <a:ext cx="38290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创始人</a:t>
            </a:r>
          </a:p>
        </p:txBody>
      </p:sp>
      <p:sp>
        <p:nvSpPr>
          <p:cNvPr id="63" name="TextBox 63"/>
          <p:cNvSpPr txBox="1"/>
          <p:nvPr/>
        </p:nvSpPr>
        <p:spPr>
          <a:xfrm>
            <a:off x="8103870" y="3417570"/>
            <a:ext cx="146304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决定品牌核心叙事能否成立</a:t>
            </a:r>
          </a:p>
        </p:txBody>
      </p:sp>
      <p:sp>
        <p:nvSpPr>
          <p:cNvPr id="64" name="Rectangle 64"/>
          <p:cNvSpPr/>
          <p:nvPr/>
        </p:nvSpPr>
        <p:spPr>
          <a:xfrm>
            <a:off x="476250" y="3657600"/>
            <a:ext cx="342900" cy="304800"/>
          </a:xfrm>
          <a:prstGeom prst="roundRect">
            <a:avLst>
              <a:gd name="adj" fmla="val 12500"/>
            </a:avLst>
          </a:prstGeom>
          <a:solidFill>
            <a:srgbClr val="F0EDE8"/>
          </a:solidFill>
          <a:ln>
            <a:noFill/>
          </a:ln>
        </p:spPr>
      </p:sp>
      <p:sp>
        <p:nvSpPr>
          <p:cNvPr id="65" name="TextBox 65"/>
          <p:cNvSpPr txBox="1"/>
          <p:nvPr/>
        </p:nvSpPr>
        <p:spPr>
          <a:xfrm>
            <a:off x="606969" y="37685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7</a:t>
            </a:r>
          </a:p>
        </p:txBody>
      </p:sp>
      <p:sp>
        <p:nvSpPr>
          <p:cNvPr id="66" name="Rectangle 66"/>
          <p:cNvSpPr/>
          <p:nvPr/>
        </p:nvSpPr>
        <p:spPr>
          <a:xfrm>
            <a:off x="857250" y="3657600"/>
            <a:ext cx="2667000" cy="304800"/>
          </a:xfrm>
          <a:prstGeom prst="roundRect">
            <a:avLst>
              <a:gd name="adj" fmla="val 12500"/>
            </a:avLst>
          </a:prstGeom>
          <a:solidFill>
            <a:srgbClr val="C0392B">
              <a:alpha val="4000"/>
            </a:srgbClr>
          </a:solidFill>
          <a:ln>
            <a:noFill/>
          </a:ln>
        </p:spPr>
      </p:sp>
      <p:sp>
        <p:nvSpPr>
          <p:cNvPr id="67" name="TextBox 67"/>
          <p:cNvSpPr txBox="1"/>
          <p:nvPr/>
        </p:nvSpPr>
        <p:spPr>
          <a:xfrm>
            <a:off x="941070" y="3760470"/>
            <a:ext cx="219513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创始人三年愿景（用户量/商家数/区域）</a:t>
            </a:r>
          </a:p>
        </p:txBody>
      </p:sp>
      <p:sp>
        <p:nvSpPr>
          <p:cNvPr id="68" name="Rectangle 68"/>
          <p:cNvSpPr/>
          <p:nvPr/>
        </p:nvSpPr>
        <p:spPr>
          <a:xfrm>
            <a:off x="3562350" y="3676650"/>
            <a:ext cx="838200" cy="266700"/>
          </a:xfrm>
          <a:prstGeom prst="roundRect">
            <a:avLst>
              <a:gd name="adj" fmla="val 42857"/>
            </a:avLst>
          </a:prstGeom>
          <a:solidFill>
            <a:srgbClr val="C0392B">
              <a:alpha val="14000"/>
            </a:srgbClr>
          </a:solidFill>
          <a:ln>
            <a:noFill/>
          </a:ln>
        </p:spPr>
      </p:sp>
      <p:sp>
        <p:nvSpPr>
          <p:cNvPr id="69" name="TextBox 69"/>
          <p:cNvSpPr txBox="1"/>
          <p:nvPr/>
        </p:nvSpPr>
        <p:spPr>
          <a:xfrm>
            <a:off x="3907440" y="37685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70" name="TextBox 70"/>
          <p:cNvSpPr txBox="1"/>
          <p:nvPr/>
        </p:nvSpPr>
        <p:spPr>
          <a:xfrm>
            <a:off x="5589270" y="3760470"/>
            <a:ext cx="38290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创始人</a:t>
            </a:r>
          </a:p>
        </p:txBody>
      </p:sp>
      <p:sp>
        <p:nvSpPr>
          <p:cNvPr id="71" name="TextBox 71"/>
          <p:cNvSpPr txBox="1"/>
          <p:nvPr/>
        </p:nvSpPr>
        <p:spPr>
          <a:xfrm>
            <a:off x="8103870" y="37604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决定品牌叙事的时间框架</a:t>
            </a:r>
          </a:p>
        </p:txBody>
      </p:sp>
      <p:sp>
        <p:nvSpPr>
          <p:cNvPr id="72" name="Rectangle 72"/>
          <p:cNvSpPr/>
          <p:nvPr/>
        </p:nvSpPr>
        <p:spPr>
          <a:xfrm>
            <a:off x="476250" y="4000500"/>
            <a:ext cx="342900" cy="304800"/>
          </a:xfrm>
          <a:prstGeom prst="roundRect">
            <a:avLst>
              <a:gd name="adj" fmla="val 12500"/>
            </a:avLst>
          </a:prstGeom>
          <a:solidFill>
            <a:srgbClr val="F0EDE8"/>
          </a:solidFill>
          <a:ln>
            <a:noFill/>
          </a:ln>
        </p:spPr>
      </p:sp>
      <p:sp>
        <p:nvSpPr>
          <p:cNvPr id="73" name="TextBox 73"/>
          <p:cNvSpPr txBox="1"/>
          <p:nvPr/>
        </p:nvSpPr>
        <p:spPr>
          <a:xfrm>
            <a:off x="606969" y="41114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8</a:t>
            </a:r>
          </a:p>
        </p:txBody>
      </p:sp>
      <p:sp>
        <p:nvSpPr>
          <p:cNvPr id="74" name="Rectangle 74"/>
          <p:cNvSpPr/>
          <p:nvPr/>
        </p:nvSpPr>
        <p:spPr>
          <a:xfrm>
            <a:off x="857250" y="4000500"/>
            <a:ext cx="2667000" cy="304800"/>
          </a:xfrm>
          <a:prstGeom prst="roundRect">
            <a:avLst>
              <a:gd name="adj" fmla="val 12500"/>
            </a:avLst>
          </a:prstGeom>
          <a:solidFill>
            <a:srgbClr val="C0392B">
              <a:alpha val="4000"/>
            </a:srgbClr>
          </a:solidFill>
          <a:ln>
            <a:noFill/>
          </a:ln>
        </p:spPr>
      </p:sp>
      <p:sp>
        <p:nvSpPr>
          <p:cNvPr id="75" name="TextBox 75"/>
          <p:cNvSpPr txBox="1"/>
          <p:nvPr/>
        </p:nvSpPr>
        <p:spPr>
          <a:xfrm>
            <a:off x="941070" y="4103370"/>
            <a:ext cx="1685068"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商标注册进度（第35/42/9类）</a:t>
            </a:r>
          </a:p>
        </p:txBody>
      </p:sp>
      <p:sp>
        <p:nvSpPr>
          <p:cNvPr id="76" name="Rectangle 76"/>
          <p:cNvSpPr/>
          <p:nvPr/>
        </p:nvSpPr>
        <p:spPr>
          <a:xfrm>
            <a:off x="3562350" y="4019550"/>
            <a:ext cx="838200" cy="266700"/>
          </a:xfrm>
          <a:prstGeom prst="roundRect">
            <a:avLst>
              <a:gd name="adj" fmla="val 42857"/>
            </a:avLst>
          </a:prstGeom>
          <a:solidFill>
            <a:srgbClr val="C0392B">
              <a:alpha val="14000"/>
            </a:srgbClr>
          </a:solidFill>
          <a:ln>
            <a:noFill/>
          </a:ln>
        </p:spPr>
      </p:sp>
      <p:sp>
        <p:nvSpPr>
          <p:cNvPr id="77" name="TextBox 77"/>
          <p:cNvSpPr txBox="1"/>
          <p:nvPr/>
        </p:nvSpPr>
        <p:spPr>
          <a:xfrm>
            <a:off x="3907440" y="411146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78" name="TextBox 78"/>
          <p:cNvSpPr txBox="1"/>
          <p:nvPr/>
        </p:nvSpPr>
        <p:spPr>
          <a:xfrm>
            <a:off x="5589270" y="4103370"/>
            <a:ext cx="112099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法务 / 北京捷佳联合</a:t>
            </a:r>
          </a:p>
        </p:txBody>
      </p:sp>
      <p:sp>
        <p:nvSpPr>
          <p:cNvPr id="79" name="TextBox 79"/>
          <p:cNvSpPr txBox="1"/>
          <p:nvPr/>
        </p:nvSpPr>
        <p:spPr>
          <a:xfrm>
            <a:off x="8103870" y="4103370"/>
            <a:ext cx="146304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决定品牌名称能否正式对外</a:t>
            </a:r>
          </a:p>
        </p:txBody>
      </p:sp>
      <p:sp>
        <p:nvSpPr>
          <p:cNvPr id="80" name="Rectangle 80"/>
          <p:cNvSpPr/>
          <p:nvPr/>
        </p:nvSpPr>
        <p:spPr>
          <a:xfrm>
            <a:off x="476250" y="4343400"/>
            <a:ext cx="342900" cy="304800"/>
          </a:xfrm>
          <a:prstGeom prst="roundRect">
            <a:avLst>
              <a:gd name="adj" fmla="val 12500"/>
            </a:avLst>
          </a:prstGeom>
          <a:solidFill>
            <a:srgbClr val="F0EDE8"/>
          </a:solidFill>
          <a:ln>
            <a:noFill/>
          </a:ln>
        </p:spPr>
      </p:sp>
      <p:sp>
        <p:nvSpPr>
          <p:cNvPr id="81" name="TextBox 81"/>
          <p:cNvSpPr txBox="1"/>
          <p:nvPr/>
        </p:nvSpPr>
        <p:spPr>
          <a:xfrm>
            <a:off x="606969" y="44543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9</a:t>
            </a:r>
          </a:p>
        </p:txBody>
      </p:sp>
      <p:sp>
        <p:nvSpPr>
          <p:cNvPr id="82" name="Rectangle 82"/>
          <p:cNvSpPr/>
          <p:nvPr/>
        </p:nvSpPr>
        <p:spPr>
          <a:xfrm>
            <a:off x="857250" y="4343400"/>
            <a:ext cx="2667000" cy="304800"/>
          </a:xfrm>
          <a:prstGeom prst="roundRect">
            <a:avLst>
              <a:gd name="adj" fmla="val 12500"/>
            </a:avLst>
          </a:prstGeom>
          <a:solidFill>
            <a:srgbClr val="E67E22">
              <a:alpha val="4000"/>
            </a:srgbClr>
          </a:solidFill>
          <a:ln>
            <a:noFill/>
          </a:ln>
        </p:spPr>
      </p:sp>
      <p:sp>
        <p:nvSpPr>
          <p:cNvPr id="83" name="TextBox 83"/>
          <p:cNvSpPr txBox="1"/>
          <p:nvPr/>
        </p:nvSpPr>
        <p:spPr>
          <a:xfrm>
            <a:off x="941070" y="4446270"/>
            <a:ext cx="2165128"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创始人IP意愿（是否有意愿做内容输出）</a:t>
            </a:r>
          </a:p>
        </p:txBody>
      </p:sp>
      <p:sp>
        <p:nvSpPr>
          <p:cNvPr id="84" name="Rectangle 84"/>
          <p:cNvSpPr/>
          <p:nvPr/>
        </p:nvSpPr>
        <p:spPr>
          <a:xfrm>
            <a:off x="3562350" y="4362450"/>
            <a:ext cx="838200" cy="266700"/>
          </a:xfrm>
          <a:prstGeom prst="roundRect">
            <a:avLst>
              <a:gd name="adj" fmla="val 42857"/>
            </a:avLst>
          </a:prstGeom>
          <a:solidFill>
            <a:srgbClr val="E67E22">
              <a:alpha val="14000"/>
            </a:srgbClr>
          </a:solidFill>
          <a:ln>
            <a:noFill/>
          </a:ln>
        </p:spPr>
      </p:sp>
      <p:sp>
        <p:nvSpPr>
          <p:cNvPr id="85" name="TextBox 85"/>
          <p:cNvSpPr txBox="1"/>
          <p:nvPr/>
        </p:nvSpPr>
        <p:spPr>
          <a:xfrm>
            <a:off x="3907440" y="4454366"/>
            <a:ext cx="148021"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P1</a:t>
            </a:r>
          </a:p>
        </p:txBody>
      </p:sp>
      <p:sp>
        <p:nvSpPr>
          <p:cNvPr id="86" name="TextBox 86"/>
          <p:cNvSpPr txBox="1"/>
          <p:nvPr/>
        </p:nvSpPr>
        <p:spPr>
          <a:xfrm>
            <a:off x="5589270" y="4446270"/>
            <a:ext cx="88096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创始人 / 梁君衡</a:t>
            </a:r>
          </a:p>
        </p:txBody>
      </p:sp>
      <p:sp>
        <p:nvSpPr>
          <p:cNvPr id="87" name="TextBox 87"/>
          <p:cNvSpPr txBox="1"/>
          <p:nvPr/>
        </p:nvSpPr>
        <p:spPr>
          <a:xfrm>
            <a:off x="8103870" y="4446270"/>
            <a:ext cx="122301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决定内容营销策略主线</a:t>
            </a:r>
          </a:p>
        </p:txBody>
      </p:sp>
      <p:sp>
        <p:nvSpPr>
          <p:cNvPr id="88" name="Rectangle 88"/>
          <p:cNvSpPr/>
          <p:nvPr/>
        </p:nvSpPr>
        <p:spPr>
          <a:xfrm>
            <a:off x="476250" y="4686300"/>
            <a:ext cx="342900" cy="304800"/>
          </a:xfrm>
          <a:prstGeom prst="roundRect">
            <a:avLst>
              <a:gd name="adj" fmla="val 12500"/>
            </a:avLst>
          </a:prstGeom>
          <a:solidFill>
            <a:srgbClr val="F0EDE8"/>
          </a:solidFill>
          <a:ln>
            <a:noFill/>
          </a:ln>
        </p:spPr>
      </p:sp>
      <p:sp>
        <p:nvSpPr>
          <p:cNvPr id="89" name="TextBox 89"/>
          <p:cNvSpPr txBox="1"/>
          <p:nvPr/>
        </p:nvSpPr>
        <p:spPr>
          <a:xfrm>
            <a:off x="576715" y="4797266"/>
            <a:ext cx="141970"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10</a:t>
            </a:r>
          </a:p>
        </p:txBody>
      </p:sp>
      <p:sp>
        <p:nvSpPr>
          <p:cNvPr id="90" name="Rectangle 90"/>
          <p:cNvSpPr/>
          <p:nvPr/>
        </p:nvSpPr>
        <p:spPr>
          <a:xfrm>
            <a:off x="857250" y="4686300"/>
            <a:ext cx="2667000" cy="304800"/>
          </a:xfrm>
          <a:prstGeom prst="roundRect">
            <a:avLst>
              <a:gd name="adj" fmla="val 12500"/>
            </a:avLst>
          </a:prstGeom>
          <a:solidFill>
            <a:srgbClr val="E67E22">
              <a:alpha val="4000"/>
            </a:srgbClr>
          </a:solidFill>
          <a:ln>
            <a:noFill/>
          </a:ln>
        </p:spPr>
      </p:sp>
      <p:sp>
        <p:nvSpPr>
          <p:cNvPr id="91" name="TextBox 91"/>
          <p:cNvSpPr txBox="1"/>
          <p:nvPr/>
        </p:nvSpPr>
        <p:spPr>
          <a:xfrm>
            <a:off x="941070" y="4789170"/>
            <a:ext cx="194310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单店分账生产状态（汇付测试环境）</a:t>
            </a:r>
          </a:p>
        </p:txBody>
      </p:sp>
      <p:sp>
        <p:nvSpPr>
          <p:cNvPr id="92" name="Rectangle 92"/>
          <p:cNvSpPr/>
          <p:nvPr/>
        </p:nvSpPr>
        <p:spPr>
          <a:xfrm>
            <a:off x="3562350" y="4705350"/>
            <a:ext cx="838200" cy="266700"/>
          </a:xfrm>
          <a:prstGeom prst="roundRect">
            <a:avLst>
              <a:gd name="adj" fmla="val 42857"/>
            </a:avLst>
          </a:prstGeom>
          <a:solidFill>
            <a:srgbClr val="E67E22">
              <a:alpha val="14000"/>
            </a:srgbClr>
          </a:solidFill>
          <a:ln>
            <a:noFill/>
          </a:ln>
        </p:spPr>
      </p:sp>
      <p:sp>
        <p:nvSpPr>
          <p:cNvPr id="93" name="TextBox 93"/>
          <p:cNvSpPr txBox="1"/>
          <p:nvPr/>
        </p:nvSpPr>
        <p:spPr>
          <a:xfrm>
            <a:off x="3907440" y="4797266"/>
            <a:ext cx="148021"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P1</a:t>
            </a:r>
          </a:p>
        </p:txBody>
      </p:sp>
      <p:sp>
        <p:nvSpPr>
          <p:cNvPr id="94" name="TextBox 94"/>
          <p:cNvSpPr txBox="1"/>
          <p:nvPr/>
        </p:nvSpPr>
        <p:spPr>
          <a:xfrm>
            <a:off x="5589270" y="4789170"/>
            <a:ext cx="50292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技术团队</a:t>
            </a:r>
          </a:p>
        </p:txBody>
      </p:sp>
      <p:sp>
        <p:nvSpPr>
          <p:cNvPr id="95" name="TextBox 95"/>
          <p:cNvSpPr txBox="1"/>
          <p:nvPr/>
        </p:nvSpPr>
        <p:spPr>
          <a:xfrm>
            <a:off x="8103870" y="47891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决定公测时支付是否跑通</a:t>
            </a:r>
          </a:p>
        </p:txBody>
      </p:sp>
      <p:sp>
        <p:nvSpPr>
          <p:cNvPr id="96" name="Rectangle 96"/>
          <p:cNvSpPr/>
          <p:nvPr/>
        </p:nvSpPr>
        <p:spPr>
          <a:xfrm>
            <a:off x="476250" y="5029200"/>
            <a:ext cx="342900" cy="304800"/>
          </a:xfrm>
          <a:prstGeom prst="roundRect">
            <a:avLst>
              <a:gd name="adj" fmla="val 12500"/>
            </a:avLst>
          </a:prstGeom>
          <a:solidFill>
            <a:srgbClr val="F0EDE8"/>
          </a:solidFill>
          <a:ln>
            <a:noFill/>
          </a:ln>
        </p:spPr>
      </p:sp>
      <p:sp>
        <p:nvSpPr>
          <p:cNvPr id="97" name="TextBox 97"/>
          <p:cNvSpPr txBox="1"/>
          <p:nvPr/>
        </p:nvSpPr>
        <p:spPr>
          <a:xfrm>
            <a:off x="576715" y="5140166"/>
            <a:ext cx="141970"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11</a:t>
            </a:r>
          </a:p>
        </p:txBody>
      </p:sp>
      <p:sp>
        <p:nvSpPr>
          <p:cNvPr id="98" name="Rectangle 98"/>
          <p:cNvSpPr/>
          <p:nvPr/>
        </p:nvSpPr>
        <p:spPr>
          <a:xfrm>
            <a:off x="857250" y="5029200"/>
            <a:ext cx="2667000" cy="304800"/>
          </a:xfrm>
          <a:prstGeom prst="roundRect">
            <a:avLst>
              <a:gd name="adj" fmla="val 12500"/>
            </a:avLst>
          </a:prstGeom>
          <a:solidFill>
            <a:srgbClr val="E67E22">
              <a:alpha val="4000"/>
            </a:srgbClr>
          </a:solidFill>
          <a:ln>
            <a:noFill/>
          </a:ln>
        </p:spPr>
      </p:sp>
      <p:sp>
        <p:nvSpPr>
          <p:cNvPr id="99" name="TextBox 99"/>
          <p:cNvSpPr txBox="1"/>
          <p:nvPr/>
        </p:nvSpPr>
        <p:spPr>
          <a:xfrm>
            <a:off x="941070" y="5132070"/>
            <a:ext cx="1727073"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品牌手册修改进度（V2.2画册）</a:t>
            </a:r>
          </a:p>
        </p:txBody>
      </p:sp>
      <p:sp>
        <p:nvSpPr>
          <p:cNvPr id="100" name="Rectangle 100"/>
          <p:cNvSpPr/>
          <p:nvPr/>
        </p:nvSpPr>
        <p:spPr>
          <a:xfrm>
            <a:off x="3562350" y="5048250"/>
            <a:ext cx="838200" cy="266700"/>
          </a:xfrm>
          <a:prstGeom prst="roundRect">
            <a:avLst>
              <a:gd name="adj" fmla="val 42857"/>
            </a:avLst>
          </a:prstGeom>
          <a:solidFill>
            <a:srgbClr val="E67E22">
              <a:alpha val="14000"/>
            </a:srgbClr>
          </a:solidFill>
          <a:ln>
            <a:noFill/>
          </a:ln>
        </p:spPr>
      </p:sp>
      <p:sp>
        <p:nvSpPr>
          <p:cNvPr id="101" name="TextBox 101"/>
          <p:cNvSpPr txBox="1"/>
          <p:nvPr/>
        </p:nvSpPr>
        <p:spPr>
          <a:xfrm>
            <a:off x="3907440" y="5140166"/>
            <a:ext cx="148021"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P1</a:t>
            </a:r>
          </a:p>
        </p:txBody>
      </p:sp>
      <p:sp>
        <p:nvSpPr>
          <p:cNvPr id="102" name="TextBox 102"/>
          <p:cNvSpPr txBox="1"/>
          <p:nvPr/>
        </p:nvSpPr>
        <p:spPr>
          <a:xfrm>
            <a:off x="5589270" y="5132070"/>
            <a:ext cx="100098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梁君衡 / 设计团队</a:t>
            </a:r>
          </a:p>
        </p:txBody>
      </p:sp>
      <p:sp>
        <p:nvSpPr>
          <p:cNvPr id="103" name="TextBox 103"/>
          <p:cNvSpPr txBox="1"/>
          <p:nvPr/>
        </p:nvSpPr>
        <p:spPr>
          <a:xfrm>
            <a:off x="8103870" y="5132070"/>
            <a:ext cx="146304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决定品牌素材能否按时就绪</a:t>
            </a:r>
          </a:p>
        </p:txBody>
      </p:sp>
      <p:sp>
        <p:nvSpPr>
          <p:cNvPr id="104" name="Rectangle 104"/>
          <p:cNvSpPr/>
          <p:nvPr/>
        </p:nvSpPr>
        <p:spPr>
          <a:xfrm>
            <a:off x="476250" y="5372100"/>
            <a:ext cx="342900" cy="304800"/>
          </a:xfrm>
          <a:prstGeom prst="roundRect">
            <a:avLst>
              <a:gd name="adj" fmla="val 12500"/>
            </a:avLst>
          </a:prstGeom>
          <a:solidFill>
            <a:srgbClr val="F0EDE8"/>
          </a:solidFill>
          <a:ln>
            <a:noFill/>
          </a:ln>
        </p:spPr>
      </p:sp>
      <p:sp>
        <p:nvSpPr>
          <p:cNvPr id="105" name="TextBox 105"/>
          <p:cNvSpPr txBox="1"/>
          <p:nvPr/>
        </p:nvSpPr>
        <p:spPr>
          <a:xfrm>
            <a:off x="576715" y="5483066"/>
            <a:ext cx="141970"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12</a:t>
            </a:r>
          </a:p>
        </p:txBody>
      </p:sp>
      <p:sp>
        <p:nvSpPr>
          <p:cNvPr id="106" name="Rectangle 106"/>
          <p:cNvSpPr/>
          <p:nvPr/>
        </p:nvSpPr>
        <p:spPr>
          <a:xfrm>
            <a:off x="857250" y="5372100"/>
            <a:ext cx="2667000" cy="304800"/>
          </a:xfrm>
          <a:prstGeom prst="roundRect">
            <a:avLst>
              <a:gd name="adj" fmla="val 12500"/>
            </a:avLst>
          </a:prstGeom>
          <a:solidFill>
            <a:srgbClr val="E67E22">
              <a:alpha val="4000"/>
            </a:srgbClr>
          </a:solidFill>
          <a:ln>
            <a:noFill/>
          </a:ln>
        </p:spPr>
      </p:sp>
      <p:sp>
        <p:nvSpPr>
          <p:cNvPr id="107" name="TextBox 107"/>
          <p:cNvSpPr txBox="1"/>
          <p:nvPr/>
        </p:nvSpPr>
        <p:spPr>
          <a:xfrm>
            <a:off x="941070" y="5474970"/>
            <a:ext cx="195510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内容资产完成度（文案/图片/视频）</a:t>
            </a:r>
          </a:p>
        </p:txBody>
      </p:sp>
      <p:sp>
        <p:nvSpPr>
          <p:cNvPr id="108" name="Rectangle 108"/>
          <p:cNvSpPr/>
          <p:nvPr/>
        </p:nvSpPr>
        <p:spPr>
          <a:xfrm>
            <a:off x="3562350" y="5391150"/>
            <a:ext cx="838200" cy="266700"/>
          </a:xfrm>
          <a:prstGeom prst="roundRect">
            <a:avLst>
              <a:gd name="adj" fmla="val 42857"/>
            </a:avLst>
          </a:prstGeom>
          <a:solidFill>
            <a:srgbClr val="E67E22">
              <a:alpha val="14000"/>
            </a:srgbClr>
          </a:solidFill>
          <a:ln>
            <a:noFill/>
          </a:ln>
        </p:spPr>
      </p:sp>
      <p:sp>
        <p:nvSpPr>
          <p:cNvPr id="109" name="TextBox 109"/>
          <p:cNvSpPr txBox="1"/>
          <p:nvPr/>
        </p:nvSpPr>
        <p:spPr>
          <a:xfrm>
            <a:off x="3907440" y="5483066"/>
            <a:ext cx="148021"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P1</a:t>
            </a:r>
          </a:p>
        </p:txBody>
      </p:sp>
      <p:sp>
        <p:nvSpPr>
          <p:cNvPr id="110" name="TextBox 110"/>
          <p:cNvSpPr txBox="1"/>
          <p:nvPr/>
        </p:nvSpPr>
        <p:spPr>
          <a:xfrm>
            <a:off x="5589270" y="5474970"/>
            <a:ext cx="100098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梁君衡 / 内容团队</a:t>
            </a:r>
          </a:p>
        </p:txBody>
      </p:sp>
      <p:sp>
        <p:nvSpPr>
          <p:cNvPr id="111" name="TextBox 111"/>
          <p:cNvSpPr txBox="1"/>
          <p:nvPr/>
        </p:nvSpPr>
        <p:spPr>
          <a:xfrm>
            <a:off x="8103870" y="54749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决定公测期内容运营质量</a:t>
            </a:r>
          </a:p>
        </p:txBody>
      </p:sp>
      <p:sp>
        <p:nvSpPr>
          <p:cNvPr id="112" name="Rectangle 112"/>
          <p:cNvSpPr/>
          <p:nvPr/>
        </p:nvSpPr>
        <p:spPr>
          <a:xfrm>
            <a:off x="476250" y="5715000"/>
            <a:ext cx="342900" cy="304800"/>
          </a:xfrm>
          <a:prstGeom prst="roundRect">
            <a:avLst>
              <a:gd name="adj" fmla="val 12500"/>
            </a:avLst>
          </a:prstGeom>
          <a:solidFill>
            <a:srgbClr val="F0EDE8"/>
          </a:solidFill>
          <a:ln>
            <a:noFill/>
          </a:ln>
        </p:spPr>
      </p:sp>
      <p:sp>
        <p:nvSpPr>
          <p:cNvPr id="113" name="TextBox 113"/>
          <p:cNvSpPr txBox="1"/>
          <p:nvPr/>
        </p:nvSpPr>
        <p:spPr>
          <a:xfrm>
            <a:off x="576715" y="5825966"/>
            <a:ext cx="141970"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13</a:t>
            </a:r>
          </a:p>
        </p:txBody>
      </p:sp>
      <p:sp>
        <p:nvSpPr>
          <p:cNvPr id="114" name="Rectangle 114"/>
          <p:cNvSpPr/>
          <p:nvPr/>
        </p:nvSpPr>
        <p:spPr>
          <a:xfrm>
            <a:off x="857250" y="5715000"/>
            <a:ext cx="2667000" cy="304800"/>
          </a:xfrm>
          <a:prstGeom prst="roundRect">
            <a:avLst>
              <a:gd name="adj" fmla="val 12500"/>
            </a:avLst>
          </a:prstGeom>
          <a:solidFill>
            <a:srgbClr val="E67E22">
              <a:alpha val="4000"/>
            </a:srgbClr>
          </a:solidFill>
          <a:ln>
            <a:noFill/>
          </a:ln>
        </p:spPr>
      </p:sp>
      <p:sp>
        <p:nvSpPr>
          <p:cNvPr id="115" name="TextBox 115"/>
          <p:cNvSpPr txBox="1"/>
          <p:nvPr/>
        </p:nvSpPr>
        <p:spPr>
          <a:xfrm>
            <a:off x="941070" y="5817870"/>
            <a:ext cx="207511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商家入驻流程现状（资料/审核/开通）</a:t>
            </a:r>
          </a:p>
        </p:txBody>
      </p:sp>
      <p:sp>
        <p:nvSpPr>
          <p:cNvPr id="116" name="Rectangle 116"/>
          <p:cNvSpPr/>
          <p:nvPr/>
        </p:nvSpPr>
        <p:spPr>
          <a:xfrm>
            <a:off x="3562350" y="5734050"/>
            <a:ext cx="838200" cy="266700"/>
          </a:xfrm>
          <a:prstGeom prst="roundRect">
            <a:avLst>
              <a:gd name="adj" fmla="val 42857"/>
            </a:avLst>
          </a:prstGeom>
          <a:solidFill>
            <a:srgbClr val="E67E22">
              <a:alpha val="14000"/>
            </a:srgbClr>
          </a:solidFill>
          <a:ln>
            <a:noFill/>
          </a:ln>
        </p:spPr>
      </p:sp>
      <p:sp>
        <p:nvSpPr>
          <p:cNvPr id="117" name="TextBox 117"/>
          <p:cNvSpPr txBox="1"/>
          <p:nvPr/>
        </p:nvSpPr>
        <p:spPr>
          <a:xfrm>
            <a:off x="3907440" y="5825966"/>
            <a:ext cx="148021"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P1</a:t>
            </a:r>
          </a:p>
        </p:txBody>
      </p:sp>
      <p:sp>
        <p:nvSpPr>
          <p:cNvPr id="118" name="TextBox 118"/>
          <p:cNvSpPr txBox="1"/>
          <p:nvPr/>
        </p:nvSpPr>
        <p:spPr>
          <a:xfrm>
            <a:off x="5589270" y="5817870"/>
            <a:ext cx="112099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运营团队 / 产品经理</a:t>
            </a:r>
          </a:p>
        </p:txBody>
      </p:sp>
      <p:sp>
        <p:nvSpPr>
          <p:cNvPr id="119" name="TextBox 119"/>
          <p:cNvSpPr txBox="1"/>
          <p:nvPr/>
        </p:nvSpPr>
        <p:spPr>
          <a:xfrm>
            <a:off x="8103870" y="5817870"/>
            <a:ext cx="98298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a:ea typeface="Microsoft YaHei"/>
                <a:cs typeface="Arial"/>
              </a:rPr>
              <a:t>决定商家拓展效率</a:t>
            </a:r>
          </a:p>
        </p:txBody>
      </p:sp>
      <p:sp>
        <p:nvSpPr>
          <p:cNvPr id="120" name="Rectangle 120"/>
          <p:cNvSpPr/>
          <p:nvPr/>
        </p:nvSpPr>
        <p:spPr>
          <a:xfrm>
            <a:off x="476250" y="6134100"/>
            <a:ext cx="11144250" cy="419100"/>
          </a:xfrm>
          <a:prstGeom prst="roundRect">
            <a:avLst>
              <a:gd name="adj" fmla="val 22727"/>
            </a:avLst>
          </a:prstGeom>
          <a:solidFill>
            <a:srgbClr val="C0392B">
              <a:alpha val="6000"/>
            </a:srgbClr>
          </a:solidFill>
          <a:ln>
            <a:noFill/>
          </a:ln>
        </p:spPr>
      </p:sp>
      <p:sp>
        <p:nvSpPr>
          <p:cNvPr id="121" name="Rectangle 121"/>
          <p:cNvSpPr/>
          <p:nvPr/>
        </p:nvSpPr>
        <p:spPr>
          <a:xfrm>
            <a:off x="514350" y="6172200"/>
            <a:ext cx="11068050" cy="342900"/>
          </a:xfrm>
          <a:prstGeom prst="roundRect">
            <a:avLst>
              <a:gd name="adj" fmla="val 22222"/>
            </a:avLst>
          </a:prstGeom>
          <a:solidFill>
            <a:srgbClr val="F5F0EA"/>
          </a:solidFill>
          <a:ln>
            <a:noFill/>
          </a:ln>
        </p:spPr>
      </p:sp>
      <p:sp>
        <p:nvSpPr>
          <p:cNvPr id="122" name="TextBox 122"/>
          <p:cNvSpPr txBox="1"/>
          <p:nvPr/>
        </p:nvSpPr>
        <p:spPr>
          <a:xfrm>
            <a:off x="749618" y="6295549"/>
            <a:ext cx="1082772"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第O段退出标准：</a:t>
            </a:r>
          </a:p>
        </p:txBody>
      </p:sp>
      <p:sp>
        <p:nvSpPr>
          <p:cNvPr id="123" name="TextBox 123"/>
          <p:cNvSpPr txBox="1"/>
          <p:nvPr/>
        </p:nvSpPr>
        <p:spPr>
          <a:xfrm>
            <a:off x="2273618" y="6295549"/>
            <a:ext cx="4575334"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全部问题有明确答案（答案可以是「零」或「未启动」，但不能是「不知道」）</a:t>
            </a:r>
          </a:p>
        </p:txBody>
      </p:sp>
      <p:sp>
        <p:nvSpPr>
          <p:cNvPr id="124" name="TextBox 124"/>
          <p:cNvSpPr txBox="1"/>
          <p:nvPr/>
        </p:nvSpPr>
        <p:spPr>
          <a:xfrm>
            <a:off x="11477054" y="664654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43</a:t>
            </a:r>
          </a:p>
        </p:txBody>
      </p:sp>
      <p:sp>
        <p:nvSpPr>
          <p:cNvPr id="125" name="TextBox 125"/>
          <p:cNvSpPr txBox="1"/>
          <p:nvPr/>
        </p:nvSpPr>
        <p:spPr>
          <a:xfrm>
            <a:off x="560070" y="664654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A5276"/>
          </a:solidFill>
          <a:ln>
            <a:noFill/>
          </a:ln>
        </p:spPr>
      </p:sp>
      <p:sp>
        <p:nvSpPr>
          <p:cNvPr id="4" name="TextBox 4"/>
          <p:cNvSpPr txBox="1"/>
          <p:nvPr/>
        </p:nvSpPr>
        <p:spPr>
          <a:xfrm>
            <a:off x="775335" y="470535"/>
            <a:ext cx="6063329"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7个待验证假设：每个假设都有 Plan B</a:t>
            </a:r>
          </a:p>
        </p:txBody>
      </p:sp>
      <p:sp>
        <p:nvSpPr>
          <p:cNvPr id="5" name="TextBox 5"/>
          <p:cNvSpPr txBox="1"/>
          <p:nvPr/>
        </p:nvSpPr>
        <p:spPr>
          <a:xfrm>
            <a:off x="795338" y="926306"/>
            <a:ext cx="3343989"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假设不成立不可怕——可怕的是假设不成立但不知道</a:t>
            </a:r>
          </a:p>
        </p:txBody>
      </p:sp>
      <p:sp>
        <p:nvSpPr>
          <p:cNvPr id="6" name="Rectangle 6"/>
          <p:cNvSpPr/>
          <p:nvPr/>
        </p:nvSpPr>
        <p:spPr>
          <a:xfrm>
            <a:off x="381000" y="1257300"/>
            <a:ext cx="304800" cy="285750"/>
          </a:xfrm>
          <a:prstGeom prst="roundRect">
            <a:avLst>
              <a:gd name="adj" fmla="val 16667"/>
            </a:avLst>
          </a:prstGeom>
          <a:solidFill>
            <a:srgbClr val="1A5276">
              <a:alpha val="12000"/>
            </a:srgbClr>
          </a:solidFill>
          <a:ln>
            <a:noFill/>
          </a:ln>
        </p:spPr>
      </p:sp>
      <p:sp>
        <p:nvSpPr>
          <p:cNvPr id="7" name="TextBox 7"/>
          <p:cNvSpPr txBox="1"/>
          <p:nvPr/>
        </p:nvSpPr>
        <p:spPr>
          <a:xfrm>
            <a:off x="487316" y="1350645"/>
            <a:ext cx="92169" cy="182880"/>
          </a:xfrm>
          <a:prstGeom prst="rect">
            <a:avLst/>
          </a:prstGeom>
          <a:noFill/>
          <a:ln>
            <a:noFill/>
          </a:ln>
        </p:spPr>
        <p:txBody>
          <a:bodyPr wrap="none" lIns="0" tIns="0" rIns="0" bIns="0" anchor="t" anchorCtr="0">
            <a:spAutoFit/>
          </a:bodyPr>
          <a:lstStyle/>
          <a:p>
            <a:pPr algn="ctr"/>
            <a:r>
              <a:rPr lang="zh-CN" sz="900" b="1" dirty="0">
                <a:solidFill>
                  <a:srgbClr val="1A5276"/>
                </a:solidFill>
                <a:latin typeface="Arial"/>
                <a:ea typeface="Microsoft YaHei"/>
                <a:cs typeface="Arial"/>
              </a:rPr>
              <a:t>#</a:t>
            </a:r>
          </a:p>
        </p:txBody>
      </p:sp>
      <p:sp>
        <p:nvSpPr>
          <p:cNvPr id="8" name="Rectangle 8"/>
          <p:cNvSpPr/>
          <p:nvPr/>
        </p:nvSpPr>
        <p:spPr>
          <a:xfrm>
            <a:off x="723900" y="1257300"/>
            <a:ext cx="1905000" cy="285750"/>
          </a:xfrm>
          <a:prstGeom prst="roundRect">
            <a:avLst>
              <a:gd name="adj" fmla="val 16667"/>
            </a:avLst>
          </a:prstGeom>
          <a:solidFill>
            <a:srgbClr val="1A5276">
              <a:alpha val="12000"/>
            </a:srgbClr>
          </a:solidFill>
          <a:ln>
            <a:noFill/>
          </a:ln>
        </p:spPr>
      </p:sp>
      <p:sp>
        <p:nvSpPr>
          <p:cNvPr id="9" name="TextBox 9"/>
          <p:cNvSpPr txBox="1"/>
          <p:nvPr/>
        </p:nvSpPr>
        <p:spPr>
          <a:xfrm>
            <a:off x="1538954" y="1350645"/>
            <a:ext cx="274892" cy="182880"/>
          </a:xfrm>
          <a:prstGeom prst="rect">
            <a:avLst/>
          </a:prstGeom>
          <a:noFill/>
          <a:ln>
            <a:noFill/>
          </a:ln>
        </p:spPr>
        <p:txBody>
          <a:bodyPr wrap="none" lIns="0" tIns="0" rIns="0" bIns="0" anchor="t" anchorCtr="0">
            <a:spAutoFit/>
          </a:bodyPr>
          <a:lstStyle/>
          <a:p>
            <a:pPr algn="ctr"/>
            <a:r>
              <a:rPr lang="zh-CN" sz="900" b="1" dirty="0">
                <a:solidFill>
                  <a:srgbClr val="1A5276"/>
                </a:solidFill>
                <a:latin typeface="Arial"/>
                <a:ea typeface="Microsoft YaHei"/>
                <a:cs typeface="Arial"/>
              </a:rPr>
              <a:t>假设</a:t>
            </a:r>
          </a:p>
        </p:txBody>
      </p:sp>
      <p:sp>
        <p:nvSpPr>
          <p:cNvPr id="10" name="Rectangle 10"/>
          <p:cNvSpPr/>
          <p:nvPr/>
        </p:nvSpPr>
        <p:spPr>
          <a:xfrm>
            <a:off x="2667000" y="1257300"/>
            <a:ext cx="2476500" cy="285750"/>
          </a:xfrm>
          <a:prstGeom prst="roundRect">
            <a:avLst>
              <a:gd name="adj" fmla="val 16667"/>
            </a:avLst>
          </a:prstGeom>
          <a:solidFill>
            <a:srgbClr val="1A5276">
              <a:alpha val="12000"/>
            </a:srgbClr>
          </a:solidFill>
          <a:ln>
            <a:noFill/>
          </a:ln>
        </p:spPr>
      </p:sp>
      <p:sp>
        <p:nvSpPr>
          <p:cNvPr id="11" name="TextBox 11"/>
          <p:cNvSpPr txBox="1"/>
          <p:nvPr/>
        </p:nvSpPr>
        <p:spPr>
          <a:xfrm>
            <a:off x="3641789" y="1350645"/>
            <a:ext cx="526923" cy="182880"/>
          </a:xfrm>
          <a:prstGeom prst="rect">
            <a:avLst/>
          </a:prstGeom>
          <a:noFill/>
          <a:ln>
            <a:noFill/>
          </a:ln>
        </p:spPr>
        <p:txBody>
          <a:bodyPr wrap="none" lIns="0" tIns="0" rIns="0" bIns="0" anchor="t" anchorCtr="0">
            <a:spAutoFit/>
          </a:bodyPr>
          <a:lstStyle/>
          <a:p>
            <a:pPr algn="ctr"/>
            <a:r>
              <a:rPr lang="zh-CN" sz="900" b="1" dirty="0">
                <a:solidFill>
                  <a:srgbClr val="1A5276"/>
                </a:solidFill>
                <a:latin typeface="Arial"/>
                <a:ea typeface="Microsoft YaHei"/>
                <a:cs typeface="Arial"/>
              </a:rPr>
              <a:t>验证方法</a:t>
            </a:r>
          </a:p>
        </p:txBody>
      </p:sp>
      <p:sp>
        <p:nvSpPr>
          <p:cNvPr id="12" name="Rectangle 12"/>
          <p:cNvSpPr/>
          <p:nvPr/>
        </p:nvSpPr>
        <p:spPr>
          <a:xfrm>
            <a:off x="5181600" y="1257300"/>
            <a:ext cx="1428750" cy="285750"/>
          </a:xfrm>
          <a:prstGeom prst="roundRect">
            <a:avLst>
              <a:gd name="adj" fmla="val 16667"/>
            </a:avLst>
          </a:prstGeom>
          <a:solidFill>
            <a:srgbClr val="1A5276">
              <a:alpha val="12000"/>
            </a:srgbClr>
          </a:solidFill>
          <a:ln>
            <a:noFill/>
          </a:ln>
        </p:spPr>
      </p:sp>
      <p:sp>
        <p:nvSpPr>
          <p:cNvPr id="13" name="TextBox 13"/>
          <p:cNvSpPr txBox="1"/>
          <p:nvPr/>
        </p:nvSpPr>
        <p:spPr>
          <a:xfrm>
            <a:off x="5632513" y="1350645"/>
            <a:ext cx="526923" cy="182880"/>
          </a:xfrm>
          <a:prstGeom prst="rect">
            <a:avLst/>
          </a:prstGeom>
          <a:noFill/>
          <a:ln>
            <a:noFill/>
          </a:ln>
        </p:spPr>
        <p:txBody>
          <a:bodyPr wrap="none" lIns="0" tIns="0" rIns="0" bIns="0" anchor="t" anchorCtr="0">
            <a:spAutoFit/>
          </a:bodyPr>
          <a:lstStyle/>
          <a:p>
            <a:pPr algn="ctr"/>
            <a:r>
              <a:rPr lang="zh-CN" sz="900" b="1" dirty="0">
                <a:solidFill>
                  <a:srgbClr val="1A5276"/>
                </a:solidFill>
                <a:latin typeface="Arial"/>
                <a:ea typeface="Microsoft YaHei"/>
                <a:cs typeface="Arial"/>
              </a:rPr>
              <a:t>验证时机</a:t>
            </a:r>
          </a:p>
        </p:txBody>
      </p:sp>
      <p:sp>
        <p:nvSpPr>
          <p:cNvPr id="14" name="Rectangle 14"/>
          <p:cNvSpPr/>
          <p:nvPr/>
        </p:nvSpPr>
        <p:spPr>
          <a:xfrm>
            <a:off x="6648450" y="1257300"/>
            <a:ext cx="5067300" cy="285750"/>
          </a:xfrm>
          <a:prstGeom prst="roundRect">
            <a:avLst>
              <a:gd name="adj" fmla="val 16667"/>
            </a:avLst>
          </a:prstGeom>
          <a:solidFill>
            <a:srgbClr val="1A5276">
              <a:alpha val="12000"/>
            </a:srgbClr>
          </a:solidFill>
          <a:ln>
            <a:noFill/>
          </a:ln>
        </p:spPr>
      </p:sp>
      <p:sp>
        <p:nvSpPr>
          <p:cNvPr id="15" name="TextBox 15"/>
          <p:cNvSpPr txBox="1"/>
          <p:nvPr/>
        </p:nvSpPr>
        <p:spPr>
          <a:xfrm>
            <a:off x="8427177" y="1350645"/>
            <a:ext cx="1509846" cy="182880"/>
          </a:xfrm>
          <a:prstGeom prst="rect">
            <a:avLst/>
          </a:prstGeom>
          <a:noFill/>
          <a:ln>
            <a:noFill/>
          </a:ln>
        </p:spPr>
        <p:txBody>
          <a:bodyPr wrap="none" lIns="0" tIns="0" rIns="0" bIns="0" anchor="t" anchorCtr="0">
            <a:spAutoFit/>
          </a:bodyPr>
          <a:lstStyle/>
          <a:p>
            <a:pPr algn="ctr"/>
            <a:r>
              <a:rPr lang="zh-CN" sz="900" b="1" dirty="0">
                <a:solidFill>
                  <a:srgbClr val="1A5276"/>
                </a:solidFill>
                <a:latin typeface="Arial"/>
                <a:ea typeface="Microsoft YaHei"/>
                <a:cs typeface="Arial"/>
              </a:rPr>
              <a:t>如果假设不成立（Plan B）</a:t>
            </a:r>
          </a:p>
        </p:txBody>
      </p:sp>
      <p:sp>
        <p:nvSpPr>
          <p:cNvPr id="16" name="Rectangle 16"/>
          <p:cNvSpPr/>
          <p:nvPr/>
        </p:nvSpPr>
        <p:spPr>
          <a:xfrm>
            <a:off x="381000" y="1619250"/>
            <a:ext cx="304800" cy="552450"/>
          </a:xfrm>
          <a:prstGeom prst="roundRect">
            <a:avLst>
              <a:gd name="adj" fmla="val 18750"/>
            </a:avLst>
          </a:prstGeom>
          <a:solidFill>
            <a:srgbClr val="F0EDE8"/>
          </a:solidFill>
          <a:ln>
            <a:noFill/>
          </a:ln>
        </p:spPr>
      </p:sp>
      <p:sp>
        <p:nvSpPr>
          <p:cNvPr id="17" name="TextBox 17"/>
          <p:cNvSpPr txBox="1"/>
          <p:nvPr/>
        </p:nvSpPr>
        <p:spPr>
          <a:xfrm>
            <a:off x="492669" y="18635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1</a:t>
            </a:r>
          </a:p>
        </p:txBody>
      </p:sp>
      <p:sp>
        <p:nvSpPr>
          <p:cNvPr id="18" name="Rectangle 18"/>
          <p:cNvSpPr/>
          <p:nvPr/>
        </p:nvSpPr>
        <p:spPr>
          <a:xfrm>
            <a:off x="723900" y="161925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19" name="TextBox 19"/>
          <p:cNvSpPr txBox="1"/>
          <p:nvPr/>
        </p:nvSpPr>
        <p:spPr>
          <a:xfrm>
            <a:off x="807720" y="1750695"/>
            <a:ext cx="1283018"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跨店核销清分技术可行</a:t>
            </a:r>
          </a:p>
        </p:txBody>
      </p:sp>
      <p:sp>
        <p:nvSpPr>
          <p:cNvPr id="20" name="TextBox 20"/>
          <p:cNvSpPr txBox="1"/>
          <p:nvPr/>
        </p:nvSpPr>
        <p:spPr>
          <a:xfrm>
            <a:off x="808672" y="1949291"/>
            <a:ext cx="901065"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汇付跨店直清能力</a:t>
            </a:r>
          </a:p>
        </p:txBody>
      </p:sp>
      <p:sp>
        <p:nvSpPr>
          <p:cNvPr id="21" name="Rectangle 21"/>
          <p:cNvSpPr/>
          <p:nvPr/>
        </p:nvSpPr>
        <p:spPr>
          <a:xfrm>
            <a:off x="2667000" y="161925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22" name="TextBox 22"/>
          <p:cNvSpPr txBox="1"/>
          <p:nvPr/>
        </p:nvSpPr>
        <p:spPr>
          <a:xfrm>
            <a:off x="2750820" y="1750695"/>
            <a:ext cx="98298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汇付测试环境验证</a:t>
            </a:r>
          </a:p>
        </p:txBody>
      </p:sp>
      <p:sp>
        <p:nvSpPr>
          <p:cNvPr id="23" name="TextBox 23"/>
          <p:cNvSpPr txBox="1"/>
          <p:nvPr/>
        </p:nvSpPr>
        <p:spPr>
          <a:xfrm>
            <a:off x="2751772" y="1949291"/>
            <a:ext cx="1181600"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含跨店核销+清分全流程</a:t>
            </a:r>
          </a:p>
        </p:txBody>
      </p:sp>
      <p:sp>
        <p:nvSpPr>
          <p:cNvPr id="24" name="Rectangle 24"/>
          <p:cNvSpPr/>
          <p:nvPr/>
        </p:nvSpPr>
        <p:spPr>
          <a:xfrm>
            <a:off x="5181600" y="161925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25" name="TextBox 25"/>
          <p:cNvSpPr txBox="1"/>
          <p:nvPr/>
        </p:nvSpPr>
        <p:spPr>
          <a:xfrm>
            <a:off x="5265420" y="1845945"/>
            <a:ext cx="952976"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第O段确认时间线</a:t>
            </a:r>
          </a:p>
        </p:txBody>
      </p:sp>
      <p:sp>
        <p:nvSpPr>
          <p:cNvPr id="26" name="Rectangle 26"/>
          <p:cNvSpPr/>
          <p:nvPr/>
        </p:nvSpPr>
        <p:spPr>
          <a:xfrm>
            <a:off x="6648450" y="1619250"/>
            <a:ext cx="5067300" cy="552450"/>
          </a:xfrm>
          <a:prstGeom prst="roundRect">
            <a:avLst>
              <a:gd name="adj" fmla="val 10345"/>
            </a:avLst>
          </a:prstGeom>
          <a:solidFill>
            <a:srgbClr val="E67E22">
              <a:alpha val="4000"/>
            </a:srgbClr>
          </a:solidFill>
          <a:ln>
            <a:noFill/>
          </a:ln>
        </p:spPr>
      </p:sp>
      <p:sp>
        <p:nvSpPr>
          <p:cNvPr id="27" name="TextBox 27"/>
          <p:cNvSpPr txBox="1"/>
          <p:nvPr/>
        </p:nvSpPr>
        <p:spPr>
          <a:xfrm>
            <a:off x="6732270" y="175069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28" name="TextBox 28"/>
          <p:cNvSpPr txBox="1"/>
          <p:nvPr/>
        </p:nvSpPr>
        <p:spPr>
          <a:xfrm>
            <a:off x="7303770" y="1750695"/>
            <a:ext cx="218313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先做单店闭环，推迟跨店通兑到第二阶段</a:t>
            </a:r>
          </a:p>
        </p:txBody>
      </p:sp>
      <p:sp>
        <p:nvSpPr>
          <p:cNvPr id="29" name="Rectangle 29"/>
          <p:cNvSpPr/>
          <p:nvPr/>
        </p:nvSpPr>
        <p:spPr>
          <a:xfrm>
            <a:off x="381000" y="2324100"/>
            <a:ext cx="304800" cy="552450"/>
          </a:xfrm>
          <a:prstGeom prst="roundRect">
            <a:avLst>
              <a:gd name="adj" fmla="val 18750"/>
            </a:avLst>
          </a:prstGeom>
          <a:solidFill>
            <a:srgbClr val="F0EDE8"/>
          </a:solidFill>
          <a:ln>
            <a:noFill/>
          </a:ln>
        </p:spPr>
      </p:sp>
      <p:sp>
        <p:nvSpPr>
          <p:cNvPr id="30" name="TextBox 30"/>
          <p:cNvSpPr txBox="1"/>
          <p:nvPr/>
        </p:nvSpPr>
        <p:spPr>
          <a:xfrm>
            <a:off x="492669" y="256841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2</a:t>
            </a:r>
          </a:p>
        </p:txBody>
      </p:sp>
      <p:sp>
        <p:nvSpPr>
          <p:cNvPr id="31" name="Rectangle 31"/>
          <p:cNvSpPr/>
          <p:nvPr/>
        </p:nvSpPr>
        <p:spPr>
          <a:xfrm>
            <a:off x="723900" y="232410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32" name="TextBox 32"/>
          <p:cNvSpPr txBox="1"/>
          <p:nvPr/>
        </p:nvSpPr>
        <p:spPr>
          <a:xfrm>
            <a:off x="807720" y="2455545"/>
            <a:ext cx="1409033"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消费者愿意跨店使用权益</a:t>
            </a:r>
          </a:p>
        </p:txBody>
      </p:sp>
      <p:sp>
        <p:nvSpPr>
          <p:cNvPr id="33" name="TextBox 33"/>
          <p:cNvSpPr txBox="1"/>
          <p:nvPr/>
        </p:nvSpPr>
        <p:spPr>
          <a:xfrm>
            <a:off x="808672" y="2654141"/>
            <a:ext cx="901065"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跨店消费行为动机</a:t>
            </a:r>
          </a:p>
        </p:txBody>
      </p:sp>
      <p:sp>
        <p:nvSpPr>
          <p:cNvPr id="34" name="Rectangle 34"/>
          <p:cNvSpPr/>
          <p:nvPr/>
        </p:nvSpPr>
        <p:spPr>
          <a:xfrm>
            <a:off x="2667000" y="232410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35" name="TextBox 35"/>
          <p:cNvSpPr txBox="1"/>
          <p:nvPr/>
        </p:nvSpPr>
        <p:spPr>
          <a:xfrm>
            <a:off x="2750820" y="2455545"/>
            <a:ext cx="74295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试点社区数据</a:t>
            </a:r>
          </a:p>
        </p:txBody>
      </p:sp>
      <p:sp>
        <p:nvSpPr>
          <p:cNvPr id="36" name="TextBox 36"/>
          <p:cNvSpPr txBox="1"/>
          <p:nvPr/>
        </p:nvSpPr>
        <p:spPr>
          <a:xfrm>
            <a:off x="2751772" y="2654141"/>
            <a:ext cx="1027581"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跨店核销率 / 复购率</a:t>
            </a:r>
          </a:p>
        </p:txBody>
      </p:sp>
      <p:sp>
        <p:nvSpPr>
          <p:cNvPr id="37" name="Rectangle 37"/>
          <p:cNvSpPr/>
          <p:nvPr/>
        </p:nvSpPr>
        <p:spPr>
          <a:xfrm>
            <a:off x="5181600" y="232410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38" name="TextBox 38"/>
          <p:cNvSpPr txBox="1"/>
          <p:nvPr/>
        </p:nvSpPr>
        <p:spPr>
          <a:xfrm>
            <a:off x="5265420" y="2550795"/>
            <a:ext cx="38290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第一段</a:t>
            </a:r>
          </a:p>
        </p:txBody>
      </p:sp>
      <p:sp>
        <p:nvSpPr>
          <p:cNvPr id="39" name="Rectangle 39"/>
          <p:cNvSpPr/>
          <p:nvPr/>
        </p:nvSpPr>
        <p:spPr>
          <a:xfrm>
            <a:off x="6648450" y="2324100"/>
            <a:ext cx="5067300" cy="552450"/>
          </a:xfrm>
          <a:prstGeom prst="roundRect">
            <a:avLst>
              <a:gd name="adj" fmla="val 10345"/>
            </a:avLst>
          </a:prstGeom>
          <a:solidFill>
            <a:srgbClr val="E67E22">
              <a:alpha val="4000"/>
            </a:srgbClr>
          </a:solidFill>
          <a:ln>
            <a:noFill/>
          </a:ln>
        </p:spPr>
      </p:sp>
      <p:sp>
        <p:nvSpPr>
          <p:cNvPr id="40" name="TextBox 40"/>
          <p:cNvSpPr txBox="1"/>
          <p:nvPr/>
        </p:nvSpPr>
        <p:spPr>
          <a:xfrm>
            <a:off x="6732270" y="245554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41" name="TextBox 41"/>
          <p:cNvSpPr txBox="1"/>
          <p:nvPr/>
        </p:nvSpPr>
        <p:spPr>
          <a:xfrm>
            <a:off x="7303770" y="2455545"/>
            <a:ext cx="182308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加大代金券发放比例激励跨店行为</a:t>
            </a:r>
          </a:p>
        </p:txBody>
      </p:sp>
      <p:sp>
        <p:nvSpPr>
          <p:cNvPr id="42" name="Rectangle 42"/>
          <p:cNvSpPr/>
          <p:nvPr/>
        </p:nvSpPr>
        <p:spPr>
          <a:xfrm>
            <a:off x="381000" y="3028950"/>
            <a:ext cx="304800" cy="552450"/>
          </a:xfrm>
          <a:prstGeom prst="roundRect">
            <a:avLst>
              <a:gd name="adj" fmla="val 18750"/>
            </a:avLst>
          </a:prstGeom>
          <a:solidFill>
            <a:srgbClr val="F0EDE8"/>
          </a:solidFill>
          <a:ln>
            <a:noFill/>
          </a:ln>
        </p:spPr>
      </p:sp>
      <p:sp>
        <p:nvSpPr>
          <p:cNvPr id="43" name="TextBox 43"/>
          <p:cNvSpPr txBox="1"/>
          <p:nvPr/>
        </p:nvSpPr>
        <p:spPr>
          <a:xfrm>
            <a:off x="492669" y="32732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3</a:t>
            </a:r>
          </a:p>
        </p:txBody>
      </p:sp>
      <p:sp>
        <p:nvSpPr>
          <p:cNvPr id="44" name="Rectangle 44"/>
          <p:cNvSpPr/>
          <p:nvPr/>
        </p:nvSpPr>
        <p:spPr>
          <a:xfrm>
            <a:off x="723900" y="302895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45" name="TextBox 45"/>
          <p:cNvSpPr txBox="1"/>
          <p:nvPr/>
        </p:nvSpPr>
        <p:spPr>
          <a:xfrm>
            <a:off x="807720" y="3160395"/>
            <a:ext cx="1913096"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推广者可复制创始人谈商家的方式</a:t>
            </a:r>
          </a:p>
        </p:txBody>
      </p:sp>
      <p:sp>
        <p:nvSpPr>
          <p:cNvPr id="46" name="TextBox 46"/>
          <p:cNvSpPr txBox="1"/>
          <p:nvPr/>
        </p:nvSpPr>
        <p:spPr>
          <a:xfrm>
            <a:off x="808672" y="3358991"/>
            <a:ext cx="802053"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BD能力可复制性</a:t>
            </a:r>
          </a:p>
        </p:txBody>
      </p:sp>
      <p:sp>
        <p:nvSpPr>
          <p:cNvPr id="47" name="Rectangle 47"/>
          <p:cNvSpPr/>
          <p:nvPr/>
        </p:nvSpPr>
        <p:spPr>
          <a:xfrm>
            <a:off x="2667000" y="302895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48" name="TextBox 48"/>
          <p:cNvSpPr txBox="1"/>
          <p:nvPr/>
        </p:nvSpPr>
        <p:spPr>
          <a:xfrm>
            <a:off x="2750820" y="3160395"/>
            <a:ext cx="110299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推广者独立签约数据</a:t>
            </a:r>
          </a:p>
        </p:txBody>
      </p:sp>
      <p:sp>
        <p:nvSpPr>
          <p:cNvPr id="49" name="TextBox 49"/>
          <p:cNvSpPr txBox="1"/>
          <p:nvPr/>
        </p:nvSpPr>
        <p:spPr>
          <a:xfrm>
            <a:off x="2751772" y="3358991"/>
            <a:ext cx="1308116"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独立签约数 vs 陪同签约数</a:t>
            </a:r>
          </a:p>
        </p:txBody>
      </p:sp>
      <p:sp>
        <p:nvSpPr>
          <p:cNvPr id="50" name="Rectangle 50"/>
          <p:cNvSpPr/>
          <p:nvPr/>
        </p:nvSpPr>
        <p:spPr>
          <a:xfrm>
            <a:off x="5181600" y="302895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51" name="TextBox 51"/>
          <p:cNvSpPr txBox="1"/>
          <p:nvPr/>
        </p:nvSpPr>
        <p:spPr>
          <a:xfrm>
            <a:off x="5265420" y="3255645"/>
            <a:ext cx="38290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第二段</a:t>
            </a:r>
          </a:p>
        </p:txBody>
      </p:sp>
      <p:sp>
        <p:nvSpPr>
          <p:cNvPr id="52" name="Rectangle 52"/>
          <p:cNvSpPr/>
          <p:nvPr/>
        </p:nvSpPr>
        <p:spPr>
          <a:xfrm>
            <a:off x="6648450" y="3028950"/>
            <a:ext cx="5067300" cy="552450"/>
          </a:xfrm>
          <a:prstGeom prst="roundRect">
            <a:avLst>
              <a:gd name="adj" fmla="val 10345"/>
            </a:avLst>
          </a:prstGeom>
          <a:solidFill>
            <a:srgbClr val="E67E22">
              <a:alpha val="4000"/>
            </a:srgbClr>
          </a:solidFill>
          <a:ln>
            <a:noFill/>
          </a:ln>
        </p:spPr>
      </p:sp>
      <p:sp>
        <p:nvSpPr>
          <p:cNvPr id="53" name="TextBox 53"/>
          <p:cNvSpPr txBox="1"/>
          <p:nvPr/>
        </p:nvSpPr>
        <p:spPr>
          <a:xfrm>
            <a:off x="6732270" y="316039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54" name="TextBox 54"/>
          <p:cNvSpPr txBox="1"/>
          <p:nvPr/>
        </p:nvSpPr>
        <p:spPr>
          <a:xfrm>
            <a:off x="7303770" y="3160395"/>
            <a:ext cx="219513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改直销模式，创始人主导BD，推广者辅助</a:t>
            </a:r>
          </a:p>
        </p:txBody>
      </p:sp>
      <p:sp>
        <p:nvSpPr>
          <p:cNvPr id="55" name="Rectangle 55"/>
          <p:cNvSpPr/>
          <p:nvPr/>
        </p:nvSpPr>
        <p:spPr>
          <a:xfrm>
            <a:off x="381000" y="3733800"/>
            <a:ext cx="304800" cy="552450"/>
          </a:xfrm>
          <a:prstGeom prst="roundRect">
            <a:avLst>
              <a:gd name="adj" fmla="val 18750"/>
            </a:avLst>
          </a:prstGeom>
          <a:solidFill>
            <a:srgbClr val="F0EDE8"/>
          </a:solidFill>
          <a:ln>
            <a:noFill/>
          </a:ln>
        </p:spPr>
      </p:sp>
      <p:sp>
        <p:nvSpPr>
          <p:cNvPr id="56" name="TextBox 56"/>
          <p:cNvSpPr txBox="1"/>
          <p:nvPr/>
        </p:nvSpPr>
        <p:spPr>
          <a:xfrm>
            <a:off x="492669" y="397811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4</a:t>
            </a:r>
          </a:p>
        </p:txBody>
      </p:sp>
      <p:sp>
        <p:nvSpPr>
          <p:cNvPr id="57" name="Rectangle 57"/>
          <p:cNvSpPr/>
          <p:nvPr/>
        </p:nvSpPr>
        <p:spPr>
          <a:xfrm>
            <a:off x="723900" y="373380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58" name="TextBox 58"/>
          <p:cNvSpPr txBox="1"/>
          <p:nvPr/>
        </p:nvSpPr>
        <p:spPr>
          <a:xfrm>
            <a:off x="807720" y="3865245"/>
            <a:ext cx="1805983"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社区密度 &gt; 城市规模的试点逻辑</a:t>
            </a:r>
          </a:p>
        </p:txBody>
      </p:sp>
      <p:sp>
        <p:nvSpPr>
          <p:cNvPr id="59" name="TextBox 59"/>
          <p:cNvSpPr txBox="1"/>
          <p:nvPr/>
        </p:nvSpPr>
        <p:spPr>
          <a:xfrm>
            <a:off x="808672" y="4063841"/>
            <a:ext cx="681038"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密度优先策略</a:t>
            </a:r>
          </a:p>
        </p:txBody>
      </p:sp>
      <p:sp>
        <p:nvSpPr>
          <p:cNvPr id="60" name="Rectangle 60"/>
          <p:cNvSpPr/>
          <p:nvPr/>
        </p:nvSpPr>
        <p:spPr>
          <a:xfrm>
            <a:off x="2667000" y="373380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61" name="TextBox 61"/>
          <p:cNvSpPr txBox="1"/>
          <p:nvPr/>
        </p:nvSpPr>
        <p:spPr>
          <a:xfrm>
            <a:off x="2750820" y="3865245"/>
            <a:ext cx="98298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试点社区实际数据</a:t>
            </a:r>
          </a:p>
        </p:txBody>
      </p:sp>
      <p:sp>
        <p:nvSpPr>
          <p:cNvPr id="62" name="TextBox 62"/>
          <p:cNvSpPr txBox="1"/>
          <p:nvPr/>
        </p:nvSpPr>
        <p:spPr>
          <a:xfrm>
            <a:off x="2751772" y="4063841"/>
            <a:ext cx="1528143"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商家密度 vs 跨店核销率相关性</a:t>
            </a:r>
          </a:p>
        </p:txBody>
      </p:sp>
      <p:sp>
        <p:nvSpPr>
          <p:cNvPr id="63" name="Rectangle 63"/>
          <p:cNvSpPr/>
          <p:nvPr/>
        </p:nvSpPr>
        <p:spPr>
          <a:xfrm>
            <a:off x="5181600" y="373380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64" name="TextBox 64"/>
          <p:cNvSpPr txBox="1"/>
          <p:nvPr/>
        </p:nvSpPr>
        <p:spPr>
          <a:xfrm>
            <a:off x="5265420" y="3960495"/>
            <a:ext cx="38290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第一段</a:t>
            </a:r>
          </a:p>
        </p:txBody>
      </p:sp>
      <p:sp>
        <p:nvSpPr>
          <p:cNvPr id="65" name="Rectangle 65"/>
          <p:cNvSpPr/>
          <p:nvPr/>
        </p:nvSpPr>
        <p:spPr>
          <a:xfrm>
            <a:off x="6648450" y="3733800"/>
            <a:ext cx="5067300" cy="552450"/>
          </a:xfrm>
          <a:prstGeom prst="roundRect">
            <a:avLst>
              <a:gd name="adj" fmla="val 10345"/>
            </a:avLst>
          </a:prstGeom>
          <a:solidFill>
            <a:srgbClr val="E67E22">
              <a:alpha val="4000"/>
            </a:srgbClr>
          </a:solidFill>
          <a:ln>
            <a:noFill/>
          </a:ln>
        </p:spPr>
      </p:sp>
      <p:sp>
        <p:nvSpPr>
          <p:cNvPr id="66" name="TextBox 66"/>
          <p:cNvSpPr txBox="1"/>
          <p:nvPr/>
        </p:nvSpPr>
        <p:spPr>
          <a:xfrm>
            <a:off x="6732270" y="386524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67" name="TextBox 67"/>
          <p:cNvSpPr txBox="1"/>
          <p:nvPr/>
        </p:nvSpPr>
        <p:spPr>
          <a:xfrm>
            <a:off x="7303770" y="3865245"/>
            <a:ext cx="242316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改为按行业集中度选择试点（如餐饮一条街）</a:t>
            </a:r>
          </a:p>
        </p:txBody>
      </p:sp>
      <p:sp>
        <p:nvSpPr>
          <p:cNvPr id="68" name="Rectangle 68"/>
          <p:cNvSpPr/>
          <p:nvPr/>
        </p:nvSpPr>
        <p:spPr>
          <a:xfrm>
            <a:off x="381000" y="4438650"/>
            <a:ext cx="304800" cy="552450"/>
          </a:xfrm>
          <a:prstGeom prst="roundRect">
            <a:avLst>
              <a:gd name="adj" fmla="val 18750"/>
            </a:avLst>
          </a:prstGeom>
          <a:solidFill>
            <a:srgbClr val="F0EDE8"/>
          </a:solidFill>
          <a:ln>
            <a:noFill/>
          </a:ln>
        </p:spPr>
      </p:sp>
      <p:sp>
        <p:nvSpPr>
          <p:cNvPr id="69" name="TextBox 69"/>
          <p:cNvSpPr txBox="1"/>
          <p:nvPr/>
        </p:nvSpPr>
        <p:spPr>
          <a:xfrm>
            <a:off x="492669" y="46829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5</a:t>
            </a:r>
          </a:p>
        </p:txBody>
      </p:sp>
      <p:sp>
        <p:nvSpPr>
          <p:cNvPr id="70" name="Rectangle 70"/>
          <p:cNvSpPr/>
          <p:nvPr/>
        </p:nvSpPr>
        <p:spPr>
          <a:xfrm>
            <a:off x="723900" y="443865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71" name="TextBox 71"/>
          <p:cNvSpPr txBox="1"/>
          <p:nvPr/>
        </p:nvSpPr>
        <p:spPr>
          <a:xfrm>
            <a:off x="807720" y="4570095"/>
            <a:ext cx="1409033"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商家愿意支付平台服务费</a:t>
            </a:r>
          </a:p>
        </p:txBody>
      </p:sp>
      <p:sp>
        <p:nvSpPr>
          <p:cNvPr id="72" name="TextBox 72"/>
          <p:cNvSpPr txBox="1"/>
          <p:nvPr/>
        </p:nvSpPr>
        <p:spPr>
          <a:xfrm>
            <a:off x="808672" y="4768691"/>
            <a:ext cx="681038"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商家付费意愿</a:t>
            </a:r>
          </a:p>
        </p:txBody>
      </p:sp>
      <p:sp>
        <p:nvSpPr>
          <p:cNvPr id="73" name="Rectangle 73"/>
          <p:cNvSpPr/>
          <p:nvPr/>
        </p:nvSpPr>
        <p:spPr>
          <a:xfrm>
            <a:off x="2667000" y="443865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74" name="TextBox 74"/>
          <p:cNvSpPr txBox="1"/>
          <p:nvPr/>
        </p:nvSpPr>
        <p:spPr>
          <a:xfrm>
            <a:off x="2750820" y="4570095"/>
            <a:ext cx="86296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试点商户续约率</a:t>
            </a:r>
          </a:p>
        </p:txBody>
      </p:sp>
      <p:sp>
        <p:nvSpPr>
          <p:cNvPr id="75" name="TextBox 75"/>
          <p:cNvSpPr txBox="1"/>
          <p:nvPr/>
        </p:nvSpPr>
        <p:spPr>
          <a:xfrm>
            <a:off x="2751772" y="4768691"/>
            <a:ext cx="1319117"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首月续约率 + 净推荐值NPS</a:t>
            </a:r>
          </a:p>
        </p:txBody>
      </p:sp>
      <p:sp>
        <p:nvSpPr>
          <p:cNvPr id="76" name="Rectangle 76"/>
          <p:cNvSpPr/>
          <p:nvPr/>
        </p:nvSpPr>
        <p:spPr>
          <a:xfrm>
            <a:off x="5181600" y="443865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77" name="TextBox 77"/>
          <p:cNvSpPr txBox="1"/>
          <p:nvPr/>
        </p:nvSpPr>
        <p:spPr>
          <a:xfrm>
            <a:off x="5265420" y="4665345"/>
            <a:ext cx="808958"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第一段-第二段</a:t>
            </a:r>
          </a:p>
        </p:txBody>
      </p:sp>
      <p:sp>
        <p:nvSpPr>
          <p:cNvPr id="78" name="Rectangle 78"/>
          <p:cNvSpPr/>
          <p:nvPr/>
        </p:nvSpPr>
        <p:spPr>
          <a:xfrm>
            <a:off x="6648450" y="4438650"/>
            <a:ext cx="5067300" cy="552450"/>
          </a:xfrm>
          <a:prstGeom prst="roundRect">
            <a:avLst>
              <a:gd name="adj" fmla="val 10345"/>
            </a:avLst>
          </a:prstGeom>
          <a:solidFill>
            <a:srgbClr val="E67E22">
              <a:alpha val="4000"/>
            </a:srgbClr>
          </a:solidFill>
          <a:ln>
            <a:noFill/>
          </a:ln>
        </p:spPr>
      </p:sp>
      <p:sp>
        <p:nvSpPr>
          <p:cNvPr id="79" name="TextBox 79"/>
          <p:cNvSpPr txBox="1"/>
          <p:nvPr/>
        </p:nvSpPr>
        <p:spPr>
          <a:xfrm>
            <a:off x="6732270" y="457009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80" name="TextBox 80"/>
          <p:cNvSpPr txBox="1"/>
          <p:nvPr/>
        </p:nvSpPr>
        <p:spPr>
          <a:xfrm>
            <a:off x="7303770" y="4570095"/>
            <a:ext cx="206311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降低或免基础服务费，靠增值服务收费</a:t>
            </a:r>
          </a:p>
        </p:txBody>
      </p:sp>
      <p:sp>
        <p:nvSpPr>
          <p:cNvPr id="81" name="Rectangle 81"/>
          <p:cNvSpPr/>
          <p:nvPr/>
        </p:nvSpPr>
        <p:spPr>
          <a:xfrm>
            <a:off x="381000" y="5143500"/>
            <a:ext cx="304800" cy="552450"/>
          </a:xfrm>
          <a:prstGeom prst="roundRect">
            <a:avLst>
              <a:gd name="adj" fmla="val 18750"/>
            </a:avLst>
          </a:prstGeom>
          <a:solidFill>
            <a:srgbClr val="F0EDE8"/>
          </a:solidFill>
          <a:ln>
            <a:noFill/>
          </a:ln>
        </p:spPr>
      </p:sp>
      <p:sp>
        <p:nvSpPr>
          <p:cNvPr id="82" name="TextBox 82"/>
          <p:cNvSpPr txBox="1"/>
          <p:nvPr/>
        </p:nvSpPr>
        <p:spPr>
          <a:xfrm>
            <a:off x="492669" y="538781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6</a:t>
            </a:r>
          </a:p>
        </p:txBody>
      </p:sp>
      <p:sp>
        <p:nvSpPr>
          <p:cNvPr id="83" name="Rectangle 83"/>
          <p:cNvSpPr/>
          <p:nvPr/>
        </p:nvSpPr>
        <p:spPr>
          <a:xfrm>
            <a:off x="723900" y="514350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84" name="TextBox 84"/>
          <p:cNvSpPr txBox="1"/>
          <p:nvPr/>
        </p:nvSpPr>
        <p:spPr>
          <a:xfrm>
            <a:off x="807720" y="5274945"/>
            <a:ext cx="1787081"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创始人有内容输出的意愿和能力</a:t>
            </a:r>
          </a:p>
        </p:txBody>
      </p:sp>
      <p:sp>
        <p:nvSpPr>
          <p:cNvPr id="85" name="TextBox 85"/>
          <p:cNvSpPr txBox="1"/>
          <p:nvPr/>
        </p:nvSpPr>
        <p:spPr>
          <a:xfrm>
            <a:off x="808672" y="5473541"/>
            <a:ext cx="774549"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创始人IP可行性</a:t>
            </a:r>
          </a:p>
        </p:txBody>
      </p:sp>
      <p:sp>
        <p:nvSpPr>
          <p:cNvPr id="86" name="Rectangle 86"/>
          <p:cNvSpPr/>
          <p:nvPr/>
        </p:nvSpPr>
        <p:spPr>
          <a:xfrm>
            <a:off x="2667000" y="514350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87" name="TextBox 87"/>
          <p:cNvSpPr txBox="1"/>
          <p:nvPr/>
        </p:nvSpPr>
        <p:spPr>
          <a:xfrm>
            <a:off x="2750820" y="5274945"/>
            <a:ext cx="148104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创始人确认 + 首次内容尝试</a:t>
            </a:r>
          </a:p>
        </p:txBody>
      </p:sp>
      <p:sp>
        <p:nvSpPr>
          <p:cNvPr id="88" name="TextBox 88"/>
          <p:cNvSpPr txBox="1"/>
          <p:nvPr/>
        </p:nvSpPr>
        <p:spPr>
          <a:xfrm>
            <a:off x="2751772" y="5473541"/>
            <a:ext cx="1231106"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首次内容产出质量与反馈</a:t>
            </a:r>
          </a:p>
        </p:txBody>
      </p:sp>
      <p:sp>
        <p:nvSpPr>
          <p:cNvPr id="89" name="Rectangle 89"/>
          <p:cNvSpPr/>
          <p:nvPr/>
        </p:nvSpPr>
        <p:spPr>
          <a:xfrm>
            <a:off x="5181600" y="514350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90" name="TextBox 90"/>
          <p:cNvSpPr txBox="1"/>
          <p:nvPr/>
        </p:nvSpPr>
        <p:spPr>
          <a:xfrm>
            <a:off x="5265420" y="5370195"/>
            <a:ext cx="50292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第三段前</a:t>
            </a:r>
          </a:p>
        </p:txBody>
      </p:sp>
      <p:sp>
        <p:nvSpPr>
          <p:cNvPr id="91" name="Rectangle 91"/>
          <p:cNvSpPr/>
          <p:nvPr/>
        </p:nvSpPr>
        <p:spPr>
          <a:xfrm>
            <a:off x="6648450" y="5143500"/>
            <a:ext cx="5067300" cy="552450"/>
          </a:xfrm>
          <a:prstGeom prst="roundRect">
            <a:avLst>
              <a:gd name="adj" fmla="val 10345"/>
            </a:avLst>
          </a:prstGeom>
          <a:solidFill>
            <a:srgbClr val="E67E22">
              <a:alpha val="4000"/>
            </a:srgbClr>
          </a:solidFill>
          <a:ln>
            <a:noFill/>
          </a:ln>
        </p:spPr>
      </p:sp>
      <p:sp>
        <p:nvSpPr>
          <p:cNvPr id="92" name="TextBox 92"/>
          <p:cNvSpPr txBox="1"/>
          <p:nvPr/>
        </p:nvSpPr>
        <p:spPr>
          <a:xfrm>
            <a:off x="6732270" y="527494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93" name="TextBox 93"/>
          <p:cNvSpPr txBox="1"/>
          <p:nvPr/>
        </p:nvSpPr>
        <p:spPr>
          <a:xfrm>
            <a:off x="7303770" y="5274945"/>
            <a:ext cx="182308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仅梁君衡输出内容，创始人只署名</a:t>
            </a:r>
          </a:p>
        </p:txBody>
      </p:sp>
      <p:sp>
        <p:nvSpPr>
          <p:cNvPr id="94" name="Rectangle 94"/>
          <p:cNvSpPr/>
          <p:nvPr/>
        </p:nvSpPr>
        <p:spPr>
          <a:xfrm>
            <a:off x="381000" y="5848350"/>
            <a:ext cx="304800" cy="552450"/>
          </a:xfrm>
          <a:prstGeom prst="roundRect">
            <a:avLst>
              <a:gd name="adj" fmla="val 18750"/>
            </a:avLst>
          </a:prstGeom>
          <a:solidFill>
            <a:srgbClr val="F0EDE8"/>
          </a:solidFill>
          <a:ln>
            <a:noFill/>
          </a:ln>
        </p:spPr>
      </p:sp>
      <p:sp>
        <p:nvSpPr>
          <p:cNvPr id="95" name="TextBox 95"/>
          <p:cNvSpPr txBox="1"/>
          <p:nvPr/>
        </p:nvSpPr>
        <p:spPr>
          <a:xfrm>
            <a:off x="492669" y="6092666"/>
            <a:ext cx="81463" cy="167640"/>
          </a:xfrm>
          <a:prstGeom prst="rect">
            <a:avLst/>
          </a:prstGeom>
          <a:noFill/>
          <a:ln>
            <a:noFill/>
          </a:ln>
        </p:spPr>
        <p:txBody>
          <a:bodyPr wrap="none" lIns="0" tIns="0" rIns="0" bIns="0" anchor="t" anchorCtr="0">
            <a:spAutoFit/>
          </a:bodyPr>
          <a:lstStyle/>
          <a:p>
            <a:pPr algn="ctr"/>
            <a:r>
              <a:rPr lang="zh-CN" sz="825" dirty="0">
                <a:solidFill>
                  <a:srgbClr val="7F8C8D"/>
                </a:solidFill>
                <a:latin typeface="Arial"/>
                <a:ea typeface="Microsoft YaHei"/>
                <a:cs typeface="Arial"/>
              </a:rPr>
              <a:t>7</a:t>
            </a:r>
          </a:p>
        </p:txBody>
      </p:sp>
      <p:sp>
        <p:nvSpPr>
          <p:cNvPr id="96" name="Rectangle 96"/>
          <p:cNvSpPr/>
          <p:nvPr/>
        </p:nvSpPr>
        <p:spPr>
          <a:xfrm>
            <a:off x="723900" y="5848350"/>
            <a:ext cx="19050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97" name="TextBox 97"/>
          <p:cNvSpPr txBox="1"/>
          <p:nvPr/>
        </p:nvSpPr>
        <p:spPr>
          <a:xfrm>
            <a:off x="807720" y="5979795"/>
            <a:ext cx="1787081" cy="182880"/>
          </a:xfrm>
          <a:prstGeom prst="rect">
            <a:avLst/>
          </a:prstGeom>
          <a:noFill/>
          <a:ln>
            <a:noFill/>
          </a:ln>
        </p:spPr>
        <p:txBody>
          <a:bodyPr wrap="none" lIns="0" tIns="0" rIns="0" bIns="0" anchor="t" anchorCtr="0">
            <a:spAutoFit/>
          </a:bodyPr>
          <a:lstStyle/>
          <a:p>
            <a:pPr algn="l"/>
            <a:r>
              <a:rPr lang="zh-CN" sz="900" b="1" dirty="0">
                <a:solidFill>
                  <a:srgbClr val="2C2C2C"/>
                </a:solidFill>
                <a:latin typeface="Arial"/>
                <a:ea typeface="Microsoft YaHei"/>
                <a:cs typeface="Arial"/>
              </a:rPr>
              <a:t>社区商业数字经营品类可被认知</a:t>
            </a:r>
          </a:p>
        </p:txBody>
      </p:sp>
      <p:sp>
        <p:nvSpPr>
          <p:cNvPr id="98" name="TextBox 98"/>
          <p:cNvSpPr txBox="1"/>
          <p:nvPr/>
        </p:nvSpPr>
        <p:spPr>
          <a:xfrm>
            <a:off x="808672" y="6178391"/>
            <a:ext cx="571024"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品类定义权</a:t>
            </a:r>
          </a:p>
        </p:txBody>
      </p:sp>
      <p:sp>
        <p:nvSpPr>
          <p:cNvPr id="99" name="Rectangle 99"/>
          <p:cNvSpPr/>
          <p:nvPr/>
        </p:nvSpPr>
        <p:spPr>
          <a:xfrm>
            <a:off x="2667000" y="5848350"/>
            <a:ext cx="247650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100" name="TextBox 100"/>
          <p:cNvSpPr txBox="1"/>
          <p:nvPr/>
        </p:nvSpPr>
        <p:spPr>
          <a:xfrm>
            <a:off x="2750820" y="5979795"/>
            <a:ext cx="74295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首发文章反馈</a:t>
            </a:r>
          </a:p>
        </p:txBody>
      </p:sp>
      <p:sp>
        <p:nvSpPr>
          <p:cNvPr id="101" name="TextBox 101"/>
          <p:cNvSpPr txBox="1"/>
          <p:nvPr/>
        </p:nvSpPr>
        <p:spPr>
          <a:xfrm>
            <a:off x="2751772" y="6178391"/>
            <a:ext cx="1247608"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行业媒体转发 + 评论反馈</a:t>
            </a:r>
          </a:p>
        </p:txBody>
      </p:sp>
      <p:sp>
        <p:nvSpPr>
          <p:cNvPr id="102" name="Rectangle 102"/>
          <p:cNvSpPr/>
          <p:nvPr/>
        </p:nvSpPr>
        <p:spPr>
          <a:xfrm>
            <a:off x="5181600" y="5848350"/>
            <a:ext cx="1428750" cy="552450"/>
          </a:xfrm>
          <a:prstGeom prst="roundRect">
            <a:avLst>
              <a:gd name="adj" fmla="val 10345"/>
            </a:avLst>
          </a:prstGeom>
          <a:solidFill>
            <a:srgbClr val="F5F0EA"/>
          </a:solidFill>
          <a:ln>
            <a:noFill/>
          </a:ln>
          <a:effectLst>
            <a:outerShdw blurRad="76200" dist="19050" dir="5400000" algn="ctr" rotWithShape="0">
              <a:srgbClr val="2C2C2C">
                <a:alpha val="4500"/>
              </a:srgbClr>
            </a:outerShdw>
          </a:effectLst>
        </p:spPr>
      </p:sp>
      <p:sp>
        <p:nvSpPr>
          <p:cNvPr id="103" name="TextBox 103"/>
          <p:cNvSpPr txBox="1"/>
          <p:nvPr/>
        </p:nvSpPr>
        <p:spPr>
          <a:xfrm>
            <a:off x="5265420" y="6075045"/>
            <a:ext cx="38290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第三段</a:t>
            </a:r>
          </a:p>
        </p:txBody>
      </p:sp>
      <p:sp>
        <p:nvSpPr>
          <p:cNvPr id="104" name="Rectangle 104"/>
          <p:cNvSpPr/>
          <p:nvPr/>
        </p:nvSpPr>
        <p:spPr>
          <a:xfrm>
            <a:off x="6648450" y="5848350"/>
            <a:ext cx="5067300" cy="552450"/>
          </a:xfrm>
          <a:prstGeom prst="roundRect">
            <a:avLst>
              <a:gd name="adj" fmla="val 10345"/>
            </a:avLst>
          </a:prstGeom>
          <a:solidFill>
            <a:srgbClr val="E67E22">
              <a:alpha val="4000"/>
            </a:srgbClr>
          </a:solidFill>
          <a:ln>
            <a:noFill/>
          </a:ln>
        </p:spPr>
      </p:sp>
      <p:sp>
        <p:nvSpPr>
          <p:cNvPr id="105" name="TextBox 105"/>
          <p:cNvSpPr txBox="1"/>
          <p:nvPr/>
        </p:nvSpPr>
        <p:spPr>
          <a:xfrm>
            <a:off x="6732270" y="5979795"/>
            <a:ext cx="445013" cy="182880"/>
          </a:xfrm>
          <a:prstGeom prst="rect">
            <a:avLst/>
          </a:prstGeom>
          <a:noFill/>
          <a:ln>
            <a:noFill/>
          </a:ln>
        </p:spPr>
        <p:txBody>
          <a:bodyPr wrap="none" lIns="0" tIns="0" rIns="0" bIns="0" anchor="t" anchorCtr="0">
            <a:spAutoFit/>
          </a:bodyPr>
          <a:lstStyle/>
          <a:p>
            <a:pPr algn="l"/>
            <a:r>
              <a:rPr lang="zh-CN" sz="900" b="1" dirty="0">
                <a:solidFill>
                  <a:srgbClr val="E67E22"/>
                </a:solidFill>
                <a:latin typeface="Arial"/>
                <a:ea typeface="Microsoft YaHei"/>
                <a:cs typeface="Arial"/>
              </a:rPr>
              <a:t>Plan B:</a:t>
            </a:r>
          </a:p>
        </p:txBody>
      </p:sp>
      <p:sp>
        <p:nvSpPr>
          <p:cNvPr id="106" name="TextBox 106"/>
          <p:cNvSpPr txBox="1"/>
          <p:nvPr/>
        </p:nvSpPr>
        <p:spPr>
          <a:xfrm>
            <a:off x="7303770" y="5979795"/>
            <a:ext cx="218313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先叫「社区商家经营工具」降低认知门槛</a:t>
            </a:r>
          </a:p>
        </p:txBody>
      </p:sp>
      <p:sp>
        <p:nvSpPr>
          <p:cNvPr id="107" name="TextBox 107"/>
          <p:cNvSpPr txBox="1"/>
          <p:nvPr/>
        </p:nvSpPr>
        <p:spPr>
          <a:xfrm>
            <a:off x="11477054" y="664654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44</a:t>
            </a:r>
          </a:p>
        </p:txBody>
      </p:sp>
      <p:sp>
        <p:nvSpPr>
          <p:cNvPr id="108" name="TextBox 108"/>
          <p:cNvSpPr txBox="1"/>
          <p:nvPr/>
        </p:nvSpPr>
        <p:spPr>
          <a:xfrm>
            <a:off x="560070" y="664654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C0392B"/>
          </a:solidFill>
          <a:ln>
            <a:noFill/>
          </a:ln>
        </p:spPr>
      </p:sp>
      <p:sp>
        <p:nvSpPr>
          <p:cNvPr id="4" name="TextBox 4"/>
          <p:cNvSpPr txBox="1"/>
          <p:nvPr/>
        </p:nvSpPr>
        <p:spPr>
          <a:xfrm>
            <a:off x="781050" y="519112"/>
            <a:ext cx="8518208" cy="457200"/>
          </a:xfrm>
          <a:prstGeom prst="rect">
            <a:avLst/>
          </a:prstGeom>
          <a:noFill/>
          <a:ln>
            <a:noFill/>
          </a:ln>
        </p:spPr>
        <p:txBody>
          <a:bodyPr wrap="none" lIns="0" tIns="0" rIns="0" bIns="0" anchor="t" anchorCtr="0">
            <a:spAutoFit/>
          </a:bodyPr>
          <a:lstStyle/>
          <a:p>
            <a:pPr algn="l"/>
            <a:r>
              <a:rPr lang="zh-CN" sz="2250" dirty="0">
                <a:solidFill>
                  <a:srgbClr val="2C2C2C"/>
                </a:solidFill>
                <a:latin typeface="Georgia"/>
                <a:ea typeface="KaiTi"/>
                <a:cs typeface="Georgia"/>
              </a:rPr>
              <a:t>风险矩阵：8项已识别风险——跨店清算不可行=核心价值主张崩塌</a:t>
            </a:r>
          </a:p>
        </p:txBody>
      </p:sp>
      <p:sp>
        <p:nvSpPr>
          <p:cNvPr id="5" name="TextBox 5"/>
          <p:cNvSpPr txBox="1"/>
          <p:nvPr/>
        </p:nvSpPr>
        <p:spPr>
          <a:xfrm>
            <a:off x="795338" y="926306"/>
            <a:ext cx="3831550" cy="228600"/>
          </a:xfrm>
          <a:prstGeom prst="rect">
            <a:avLst/>
          </a:prstGeom>
          <a:noFill/>
          <a:ln>
            <a:noFill/>
          </a:ln>
        </p:spPr>
        <p:txBody>
          <a:bodyPr wrap="none" lIns="0" tIns="0" rIns="0" bIns="0" anchor="t" anchorCtr="0">
            <a:spAutoFit/>
          </a:bodyPr>
          <a:lstStyle/>
          <a:p>
            <a:pPr algn="l"/>
            <a:r>
              <a:rPr lang="zh-CN" sz="1125" dirty="0">
                <a:solidFill>
                  <a:srgbClr val="7F8C8D"/>
                </a:solidFill>
                <a:latin typeface="Arial"/>
                <a:ea typeface="Microsoft YaHei"/>
                <a:cs typeface="Arial"/>
              </a:rPr>
              <a:t>P0风险2项 . P1风险5项 . P2风险1项——全部已配缓解措施</a:t>
            </a:r>
          </a:p>
        </p:txBody>
      </p:sp>
      <p:sp>
        <p:nvSpPr>
          <p:cNvPr id="6" name="Rectangle 6"/>
          <p:cNvSpPr/>
          <p:nvPr/>
        </p:nvSpPr>
        <p:spPr>
          <a:xfrm>
            <a:off x="381000" y="1257300"/>
            <a:ext cx="266700" cy="266700"/>
          </a:xfrm>
          <a:prstGeom prst="roundRect">
            <a:avLst>
              <a:gd name="adj" fmla="val 14286"/>
            </a:avLst>
          </a:prstGeom>
          <a:solidFill>
            <a:srgbClr val="C0392B">
              <a:alpha val="12000"/>
            </a:srgbClr>
          </a:solidFill>
          <a:ln>
            <a:noFill/>
          </a:ln>
        </p:spPr>
      </p:sp>
      <p:sp>
        <p:nvSpPr>
          <p:cNvPr id="7" name="TextBox 7"/>
          <p:cNvSpPr txBox="1"/>
          <p:nvPr/>
        </p:nvSpPr>
        <p:spPr>
          <a:xfrm>
            <a:off x="472106" y="1349216"/>
            <a:ext cx="84488"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a:t>
            </a:r>
          </a:p>
        </p:txBody>
      </p:sp>
      <p:sp>
        <p:nvSpPr>
          <p:cNvPr id="8" name="Rectangle 8"/>
          <p:cNvSpPr/>
          <p:nvPr/>
        </p:nvSpPr>
        <p:spPr>
          <a:xfrm>
            <a:off x="685800" y="1257300"/>
            <a:ext cx="1714500" cy="266700"/>
          </a:xfrm>
          <a:prstGeom prst="roundRect">
            <a:avLst>
              <a:gd name="adj" fmla="val 14286"/>
            </a:avLst>
          </a:prstGeom>
          <a:solidFill>
            <a:srgbClr val="C0392B">
              <a:alpha val="12000"/>
            </a:srgbClr>
          </a:solidFill>
          <a:ln>
            <a:noFill/>
          </a:ln>
        </p:spPr>
      </p:sp>
      <p:sp>
        <p:nvSpPr>
          <p:cNvPr id="9" name="TextBox 9"/>
          <p:cNvSpPr txBox="1"/>
          <p:nvPr/>
        </p:nvSpPr>
        <p:spPr>
          <a:xfrm>
            <a:off x="1301544" y="1349216"/>
            <a:ext cx="483013"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风险描述</a:t>
            </a:r>
          </a:p>
        </p:txBody>
      </p:sp>
      <p:sp>
        <p:nvSpPr>
          <p:cNvPr id="10" name="Rectangle 10"/>
          <p:cNvSpPr/>
          <p:nvPr/>
        </p:nvSpPr>
        <p:spPr>
          <a:xfrm>
            <a:off x="2438400" y="1257300"/>
            <a:ext cx="762000" cy="266700"/>
          </a:xfrm>
          <a:prstGeom prst="roundRect">
            <a:avLst>
              <a:gd name="adj" fmla="val 14286"/>
            </a:avLst>
          </a:prstGeom>
          <a:solidFill>
            <a:srgbClr val="C0392B">
              <a:alpha val="12000"/>
            </a:srgbClr>
          </a:solidFill>
          <a:ln>
            <a:noFill/>
          </a:ln>
        </p:spPr>
      </p:sp>
      <p:sp>
        <p:nvSpPr>
          <p:cNvPr id="11" name="TextBox 11"/>
          <p:cNvSpPr txBox="1"/>
          <p:nvPr/>
        </p:nvSpPr>
        <p:spPr>
          <a:xfrm>
            <a:off x="2693408" y="1349216"/>
            <a:ext cx="251984"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程度</a:t>
            </a:r>
          </a:p>
        </p:txBody>
      </p:sp>
      <p:sp>
        <p:nvSpPr>
          <p:cNvPr id="12" name="Rectangle 12"/>
          <p:cNvSpPr/>
          <p:nvPr/>
        </p:nvSpPr>
        <p:spPr>
          <a:xfrm>
            <a:off x="3238500" y="1257300"/>
            <a:ext cx="571500" cy="266700"/>
          </a:xfrm>
          <a:prstGeom prst="roundRect">
            <a:avLst>
              <a:gd name="adj" fmla="val 14286"/>
            </a:avLst>
          </a:prstGeom>
          <a:solidFill>
            <a:srgbClr val="C0392B">
              <a:alpha val="12000"/>
            </a:srgbClr>
          </a:solidFill>
          <a:ln>
            <a:noFill/>
          </a:ln>
        </p:spPr>
      </p:sp>
      <p:sp>
        <p:nvSpPr>
          <p:cNvPr id="13" name="TextBox 13"/>
          <p:cNvSpPr txBox="1"/>
          <p:nvPr/>
        </p:nvSpPr>
        <p:spPr>
          <a:xfrm>
            <a:off x="3398258" y="1349216"/>
            <a:ext cx="251984"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影响</a:t>
            </a:r>
          </a:p>
        </p:txBody>
      </p:sp>
      <p:sp>
        <p:nvSpPr>
          <p:cNvPr id="14" name="Rectangle 14"/>
          <p:cNvSpPr/>
          <p:nvPr/>
        </p:nvSpPr>
        <p:spPr>
          <a:xfrm>
            <a:off x="3848100" y="1257300"/>
            <a:ext cx="571500" cy="266700"/>
          </a:xfrm>
          <a:prstGeom prst="roundRect">
            <a:avLst>
              <a:gd name="adj" fmla="val 14286"/>
            </a:avLst>
          </a:prstGeom>
          <a:solidFill>
            <a:srgbClr val="C0392B">
              <a:alpha val="12000"/>
            </a:srgbClr>
          </a:solidFill>
          <a:ln>
            <a:noFill/>
          </a:ln>
        </p:spPr>
      </p:sp>
      <p:sp>
        <p:nvSpPr>
          <p:cNvPr id="15" name="TextBox 15"/>
          <p:cNvSpPr txBox="1"/>
          <p:nvPr/>
        </p:nvSpPr>
        <p:spPr>
          <a:xfrm>
            <a:off x="4007858" y="1349216"/>
            <a:ext cx="251984"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概率</a:t>
            </a:r>
          </a:p>
        </p:txBody>
      </p:sp>
      <p:sp>
        <p:nvSpPr>
          <p:cNvPr id="16" name="Rectangle 16"/>
          <p:cNvSpPr/>
          <p:nvPr/>
        </p:nvSpPr>
        <p:spPr>
          <a:xfrm>
            <a:off x="4457700" y="1257300"/>
            <a:ext cx="2952750" cy="266700"/>
          </a:xfrm>
          <a:prstGeom prst="roundRect">
            <a:avLst>
              <a:gd name="adj" fmla="val 14286"/>
            </a:avLst>
          </a:prstGeom>
          <a:solidFill>
            <a:srgbClr val="C0392B">
              <a:alpha val="12000"/>
            </a:srgbClr>
          </a:solidFill>
          <a:ln>
            <a:noFill/>
          </a:ln>
        </p:spPr>
      </p:sp>
      <p:sp>
        <p:nvSpPr>
          <p:cNvPr id="17" name="TextBox 17"/>
          <p:cNvSpPr txBox="1"/>
          <p:nvPr/>
        </p:nvSpPr>
        <p:spPr>
          <a:xfrm>
            <a:off x="5692569" y="1349216"/>
            <a:ext cx="483013"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缓解措施</a:t>
            </a:r>
          </a:p>
        </p:txBody>
      </p:sp>
      <p:sp>
        <p:nvSpPr>
          <p:cNvPr id="18" name="Rectangle 18"/>
          <p:cNvSpPr/>
          <p:nvPr/>
        </p:nvSpPr>
        <p:spPr>
          <a:xfrm>
            <a:off x="381000" y="1581150"/>
            <a:ext cx="266700" cy="304800"/>
          </a:xfrm>
          <a:prstGeom prst="roundRect">
            <a:avLst>
              <a:gd name="adj" fmla="val 14286"/>
            </a:avLst>
          </a:prstGeom>
          <a:solidFill>
            <a:srgbClr val="C0392B">
              <a:alpha val="8000"/>
            </a:srgbClr>
          </a:solidFill>
          <a:ln>
            <a:noFill/>
          </a:ln>
        </p:spPr>
      </p:sp>
      <p:sp>
        <p:nvSpPr>
          <p:cNvPr id="19" name="TextBox 19"/>
          <p:cNvSpPr txBox="1"/>
          <p:nvPr/>
        </p:nvSpPr>
        <p:spPr>
          <a:xfrm>
            <a:off x="472106" y="1692116"/>
            <a:ext cx="84488"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1</a:t>
            </a:r>
          </a:p>
        </p:txBody>
      </p:sp>
      <p:sp>
        <p:nvSpPr>
          <p:cNvPr id="20" name="Rectangle 20"/>
          <p:cNvSpPr/>
          <p:nvPr/>
        </p:nvSpPr>
        <p:spPr>
          <a:xfrm>
            <a:off x="685800" y="1581150"/>
            <a:ext cx="1714500" cy="304800"/>
          </a:xfrm>
          <a:prstGeom prst="roundRect">
            <a:avLst>
              <a:gd name="adj" fmla="val 12500"/>
            </a:avLst>
          </a:prstGeom>
          <a:solidFill>
            <a:srgbClr val="C0392B">
              <a:alpha val="4000"/>
            </a:srgbClr>
          </a:solidFill>
          <a:ln>
            <a:noFill/>
          </a:ln>
        </p:spPr>
      </p:sp>
      <p:sp>
        <p:nvSpPr>
          <p:cNvPr id="21" name="TextBox 21"/>
          <p:cNvSpPr txBox="1"/>
          <p:nvPr/>
        </p:nvSpPr>
        <p:spPr>
          <a:xfrm>
            <a:off x="751522" y="1692116"/>
            <a:ext cx="1011079"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跨店清算技术不可行</a:t>
            </a:r>
          </a:p>
        </p:txBody>
      </p:sp>
      <p:sp>
        <p:nvSpPr>
          <p:cNvPr id="22" name="Rectangle 22"/>
          <p:cNvSpPr/>
          <p:nvPr/>
        </p:nvSpPr>
        <p:spPr>
          <a:xfrm>
            <a:off x="2438400" y="1600200"/>
            <a:ext cx="400050" cy="266700"/>
          </a:xfrm>
          <a:prstGeom prst="roundRect">
            <a:avLst>
              <a:gd name="adj" fmla="val 42857"/>
            </a:avLst>
          </a:prstGeom>
          <a:solidFill>
            <a:srgbClr val="C0392B">
              <a:alpha val="15000"/>
            </a:srgbClr>
          </a:solidFill>
          <a:ln>
            <a:noFill/>
          </a:ln>
        </p:spPr>
      </p:sp>
      <p:sp>
        <p:nvSpPr>
          <p:cNvPr id="23" name="TextBox 23"/>
          <p:cNvSpPr txBox="1"/>
          <p:nvPr/>
        </p:nvSpPr>
        <p:spPr>
          <a:xfrm>
            <a:off x="2571143" y="1700212"/>
            <a:ext cx="134564" cy="152400"/>
          </a:xfrm>
          <a:prstGeom prst="rect">
            <a:avLst/>
          </a:prstGeom>
          <a:noFill/>
          <a:ln>
            <a:noFill/>
          </a:ln>
        </p:spPr>
        <p:txBody>
          <a:bodyPr wrap="none" lIns="0" tIns="0" rIns="0" bIns="0" anchor="t" anchorCtr="0">
            <a:spAutoFit/>
          </a:bodyPr>
          <a:lstStyle/>
          <a:p>
            <a:pPr algn="ctr"/>
            <a:r>
              <a:rPr lang="zh-CN" sz="750" b="1" dirty="0">
                <a:solidFill>
                  <a:srgbClr val="C0392B"/>
                </a:solidFill>
                <a:latin typeface="Arial"/>
                <a:ea typeface="Microsoft YaHei"/>
                <a:cs typeface="Arial"/>
              </a:rPr>
              <a:t>P0</a:t>
            </a:r>
          </a:p>
        </p:txBody>
      </p:sp>
      <p:sp>
        <p:nvSpPr>
          <p:cNvPr id="24" name="TextBox 24"/>
          <p:cNvSpPr txBox="1"/>
          <p:nvPr/>
        </p:nvSpPr>
        <p:spPr>
          <a:xfrm>
            <a:off x="3456015" y="1692116"/>
            <a:ext cx="136469"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高</a:t>
            </a:r>
          </a:p>
        </p:txBody>
      </p:sp>
      <p:sp>
        <p:nvSpPr>
          <p:cNvPr id="25" name="TextBox 25"/>
          <p:cNvSpPr txBox="1"/>
          <p:nvPr/>
        </p:nvSpPr>
        <p:spPr>
          <a:xfrm>
            <a:off x="4068366" y="169211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26" name="TextBox 26"/>
          <p:cNvSpPr txBox="1"/>
          <p:nvPr/>
        </p:nvSpPr>
        <p:spPr>
          <a:xfrm>
            <a:off x="4542472" y="1692116"/>
            <a:ext cx="1121092"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先单店闭环，推迟跨店</a:t>
            </a:r>
          </a:p>
        </p:txBody>
      </p:sp>
      <p:sp>
        <p:nvSpPr>
          <p:cNvPr id="27" name="Rectangle 27"/>
          <p:cNvSpPr/>
          <p:nvPr/>
        </p:nvSpPr>
        <p:spPr>
          <a:xfrm>
            <a:off x="381000" y="1943100"/>
            <a:ext cx="266700" cy="304800"/>
          </a:xfrm>
          <a:prstGeom prst="roundRect">
            <a:avLst>
              <a:gd name="adj" fmla="val 14286"/>
            </a:avLst>
          </a:prstGeom>
          <a:solidFill>
            <a:srgbClr val="C0392B">
              <a:alpha val="8000"/>
            </a:srgbClr>
          </a:solidFill>
          <a:ln>
            <a:noFill/>
          </a:ln>
        </p:spPr>
      </p:sp>
      <p:sp>
        <p:nvSpPr>
          <p:cNvPr id="28" name="TextBox 28"/>
          <p:cNvSpPr txBox="1"/>
          <p:nvPr/>
        </p:nvSpPr>
        <p:spPr>
          <a:xfrm>
            <a:off x="472106" y="2054066"/>
            <a:ext cx="84488"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2</a:t>
            </a:r>
          </a:p>
        </p:txBody>
      </p:sp>
      <p:sp>
        <p:nvSpPr>
          <p:cNvPr id="29" name="Rectangle 29"/>
          <p:cNvSpPr/>
          <p:nvPr/>
        </p:nvSpPr>
        <p:spPr>
          <a:xfrm>
            <a:off x="685800" y="1943100"/>
            <a:ext cx="1714500" cy="304800"/>
          </a:xfrm>
          <a:prstGeom prst="roundRect">
            <a:avLst>
              <a:gd name="adj" fmla="val 12500"/>
            </a:avLst>
          </a:prstGeom>
          <a:solidFill>
            <a:srgbClr val="C0392B">
              <a:alpha val="4000"/>
            </a:srgbClr>
          </a:solidFill>
          <a:ln>
            <a:noFill/>
          </a:ln>
        </p:spPr>
      </p:sp>
      <p:sp>
        <p:nvSpPr>
          <p:cNvPr id="30" name="TextBox 30"/>
          <p:cNvSpPr txBox="1"/>
          <p:nvPr/>
        </p:nvSpPr>
        <p:spPr>
          <a:xfrm>
            <a:off x="751522" y="2054066"/>
            <a:ext cx="1121092"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消费金被认定为预付卡</a:t>
            </a:r>
          </a:p>
        </p:txBody>
      </p:sp>
      <p:sp>
        <p:nvSpPr>
          <p:cNvPr id="31" name="Rectangle 31"/>
          <p:cNvSpPr/>
          <p:nvPr/>
        </p:nvSpPr>
        <p:spPr>
          <a:xfrm>
            <a:off x="2438400" y="1962150"/>
            <a:ext cx="400050" cy="266700"/>
          </a:xfrm>
          <a:prstGeom prst="roundRect">
            <a:avLst>
              <a:gd name="adj" fmla="val 42857"/>
            </a:avLst>
          </a:prstGeom>
          <a:solidFill>
            <a:srgbClr val="C0392B">
              <a:alpha val="15000"/>
            </a:srgbClr>
          </a:solidFill>
          <a:ln>
            <a:noFill/>
          </a:ln>
        </p:spPr>
      </p:sp>
      <p:sp>
        <p:nvSpPr>
          <p:cNvPr id="32" name="TextBox 32"/>
          <p:cNvSpPr txBox="1"/>
          <p:nvPr/>
        </p:nvSpPr>
        <p:spPr>
          <a:xfrm>
            <a:off x="2571143" y="2062162"/>
            <a:ext cx="134564" cy="152400"/>
          </a:xfrm>
          <a:prstGeom prst="rect">
            <a:avLst/>
          </a:prstGeom>
          <a:noFill/>
          <a:ln>
            <a:noFill/>
          </a:ln>
        </p:spPr>
        <p:txBody>
          <a:bodyPr wrap="none" lIns="0" tIns="0" rIns="0" bIns="0" anchor="t" anchorCtr="0">
            <a:spAutoFit/>
          </a:bodyPr>
          <a:lstStyle/>
          <a:p>
            <a:pPr algn="ctr"/>
            <a:r>
              <a:rPr lang="zh-CN" sz="750" b="1" dirty="0">
                <a:solidFill>
                  <a:srgbClr val="C0392B"/>
                </a:solidFill>
                <a:latin typeface="Arial"/>
                <a:ea typeface="Microsoft YaHei"/>
                <a:cs typeface="Arial"/>
              </a:rPr>
              <a:t>P0</a:t>
            </a:r>
          </a:p>
        </p:txBody>
      </p:sp>
      <p:sp>
        <p:nvSpPr>
          <p:cNvPr id="33" name="TextBox 33"/>
          <p:cNvSpPr txBox="1"/>
          <p:nvPr/>
        </p:nvSpPr>
        <p:spPr>
          <a:xfrm>
            <a:off x="3456015" y="2054066"/>
            <a:ext cx="136469"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高</a:t>
            </a:r>
          </a:p>
        </p:txBody>
      </p:sp>
      <p:sp>
        <p:nvSpPr>
          <p:cNvPr id="34" name="TextBox 34"/>
          <p:cNvSpPr txBox="1"/>
          <p:nvPr/>
        </p:nvSpPr>
        <p:spPr>
          <a:xfrm>
            <a:off x="4068366" y="2054066"/>
            <a:ext cx="130969"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低</a:t>
            </a:r>
          </a:p>
        </p:txBody>
      </p:sp>
      <p:sp>
        <p:nvSpPr>
          <p:cNvPr id="35" name="TextBox 35"/>
          <p:cNvSpPr txBox="1"/>
          <p:nvPr/>
        </p:nvSpPr>
        <p:spPr>
          <a:xfrm>
            <a:off x="4542472" y="2054066"/>
            <a:ext cx="923068"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五不+汇付直清T+0</a:t>
            </a:r>
          </a:p>
        </p:txBody>
      </p:sp>
      <p:sp>
        <p:nvSpPr>
          <p:cNvPr id="36" name="Rectangle 36"/>
          <p:cNvSpPr/>
          <p:nvPr/>
        </p:nvSpPr>
        <p:spPr>
          <a:xfrm>
            <a:off x="381000" y="2305050"/>
            <a:ext cx="266700" cy="304800"/>
          </a:xfrm>
          <a:prstGeom prst="roundRect">
            <a:avLst>
              <a:gd name="adj" fmla="val 14286"/>
            </a:avLst>
          </a:prstGeom>
          <a:solidFill>
            <a:srgbClr val="E67E22">
              <a:alpha val="8000"/>
            </a:srgbClr>
          </a:solidFill>
          <a:ln>
            <a:noFill/>
          </a:ln>
        </p:spPr>
      </p:sp>
      <p:sp>
        <p:nvSpPr>
          <p:cNvPr id="37" name="TextBox 37"/>
          <p:cNvSpPr txBox="1"/>
          <p:nvPr/>
        </p:nvSpPr>
        <p:spPr>
          <a:xfrm>
            <a:off x="472106" y="2416016"/>
            <a:ext cx="84488"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3</a:t>
            </a:r>
          </a:p>
        </p:txBody>
      </p:sp>
      <p:sp>
        <p:nvSpPr>
          <p:cNvPr id="38" name="Rectangle 38"/>
          <p:cNvSpPr/>
          <p:nvPr/>
        </p:nvSpPr>
        <p:spPr>
          <a:xfrm>
            <a:off x="685800" y="2305050"/>
            <a:ext cx="1714500" cy="304800"/>
          </a:xfrm>
          <a:prstGeom prst="roundRect">
            <a:avLst>
              <a:gd name="adj" fmla="val 12500"/>
            </a:avLst>
          </a:prstGeom>
          <a:solidFill>
            <a:srgbClr val="E67E22">
              <a:alpha val="4000"/>
            </a:srgbClr>
          </a:solidFill>
          <a:ln>
            <a:noFill/>
          </a:ln>
        </p:spPr>
      </p:sp>
      <p:sp>
        <p:nvSpPr>
          <p:cNvPr id="39" name="TextBox 39"/>
          <p:cNvSpPr txBox="1"/>
          <p:nvPr/>
        </p:nvSpPr>
        <p:spPr>
          <a:xfrm>
            <a:off x="751522" y="2416016"/>
            <a:ext cx="901065"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试点社区推广困难</a:t>
            </a:r>
          </a:p>
        </p:txBody>
      </p:sp>
      <p:sp>
        <p:nvSpPr>
          <p:cNvPr id="40" name="Rectangle 40"/>
          <p:cNvSpPr/>
          <p:nvPr/>
        </p:nvSpPr>
        <p:spPr>
          <a:xfrm>
            <a:off x="2438400" y="2324100"/>
            <a:ext cx="400050" cy="266700"/>
          </a:xfrm>
          <a:prstGeom prst="roundRect">
            <a:avLst>
              <a:gd name="adj" fmla="val 42857"/>
            </a:avLst>
          </a:prstGeom>
          <a:solidFill>
            <a:srgbClr val="E67E22">
              <a:alpha val="15000"/>
            </a:srgbClr>
          </a:solidFill>
          <a:ln>
            <a:noFill/>
          </a:ln>
        </p:spPr>
      </p:sp>
      <p:sp>
        <p:nvSpPr>
          <p:cNvPr id="41" name="TextBox 41"/>
          <p:cNvSpPr txBox="1"/>
          <p:nvPr/>
        </p:nvSpPr>
        <p:spPr>
          <a:xfrm>
            <a:off x="2571143" y="2424112"/>
            <a:ext cx="134564" cy="152400"/>
          </a:xfrm>
          <a:prstGeom prst="rect">
            <a:avLst/>
          </a:prstGeom>
          <a:noFill/>
          <a:ln>
            <a:noFill/>
          </a:ln>
        </p:spPr>
        <p:txBody>
          <a:bodyPr wrap="none" lIns="0" tIns="0" rIns="0" bIns="0" anchor="t" anchorCtr="0">
            <a:spAutoFit/>
          </a:bodyPr>
          <a:lstStyle/>
          <a:p>
            <a:pPr algn="ctr"/>
            <a:r>
              <a:rPr lang="zh-CN" sz="750" b="1" dirty="0">
                <a:solidFill>
                  <a:srgbClr val="E67E22"/>
                </a:solidFill>
                <a:latin typeface="Arial"/>
                <a:ea typeface="Microsoft YaHei"/>
                <a:cs typeface="Arial"/>
              </a:rPr>
              <a:t>P1</a:t>
            </a:r>
          </a:p>
        </p:txBody>
      </p:sp>
      <p:sp>
        <p:nvSpPr>
          <p:cNvPr id="42" name="TextBox 42"/>
          <p:cNvSpPr txBox="1"/>
          <p:nvPr/>
        </p:nvSpPr>
        <p:spPr>
          <a:xfrm>
            <a:off x="3458766" y="241601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43" name="TextBox 43"/>
          <p:cNvSpPr txBox="1"/>
          <p:nvPr/>
        </p:nvSpPr>
        <p:spPr>
          <a:xfrm>
            <a:off x="4068366" y="241601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44" name="TextBox 44"/>
          <p:cNvSpPr txBox="1"/>
          <p:nvPr/>
        </p:nvSpPr>
        <p:spPr>
          <a:xfrm>
            <a:off x="4542472" y="2416016"/>
            <a:ext cx="901065"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创始人亲自带试点</a:t>
            </a:r>
          </a:p>
        </p:txBody>
      </p:sp>
      <p:sp>
        <p:nvSpPr>
          <p:cNvPr id="45" name="Rectangle 45"/>
          <p:cNvSpPr/>
          <p:nvPr/>
        </p:nvSpPr>
        <p:spPr>
          <a:xfrm>
            <a:off x="381000" y="2667000"/>
            <a:ext cx="266700" cy="304800"/>
          </a:xfrm>
          <a:prstGeom prst="roundRect">
            <a:avLst>
              <a:gd name="adj" fmla="val 14286"/>
            </a:avLst>
          </a:prstGeom>
          <a:solidFill>
            <a:srgbClr val="E67E22">
              <a:alpha val="8000"/>
            </a:srgbClr>
          </a:solidFill>
          <a:ln>
            <a:noFill/>
          </a:ln>
        </p:spPr>
      </p:sp>
      <p:sp>
        <p:nvSpPr>
          <p:cNvPr id="46" name="TextBox 46"/>
          <p:cNvSpPr txBox="1"/>
          <p:nvPr/>
        </p:nvSpPr>
        <p:spPr>
          <a:xfrm>
            <a:off x="472106" y="2777966"/>
            <a:ext cx="84488"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4</a:t>
            </a:r>
          </a:p>
        </p:txBody>
      </p:sp>
      <p:sp>
        <p:nvSpPr>
          <p:cNvPr id="47" name="Rectangle 47"/>
          <p:cNvSpPr/>
          <p:nvPr/>
        </p:nvSpPr>
        <p:spPr>
          <a:xfrm>
            <a:off x="685800" y="2667000"/>
            <a:ext cx="1714500" cy="304800"/>
          </a:xfrm>
          <a:prstGeom prst="roundRect">
            <a:avLst>
              <a:gd name="adj" fmla="val 12500"/>
            </a:avLst>
          </a:prstGeom>
          <a:solidFill>
            <a:srgbClr val="E67E22">
              <a:alpha val="4000"/>
            </a:srgbClr>
          </a:solidFill>
          <a:ln>
            <a:noFill/>
          </a:ln>
        </p:spPr>
      </p:sp>
      <p:sp>
        <p:nvSpPr>
          <p:cNvPr id="48" name="TextBox 48"/>
          <p:cNvSpPr txBox="1"/>
          <p:nvPr/>
        </p:nvSpPr>
        <p:spPr>
          <a:xfrm>
            <a:off x="751522" y="2777966"/>
            <a:ext cx="1011079"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推广者无法独立复制</a:t>
            </a:r>
          </a:p>
        </p:txBody>
      </p:sp>
      <p:sp>
        <p:nvSpPr>
          <p:cNvPr id="49" name="Rectangle 49"/>
          <p:cNvSpPr/>
          <p:nvPr/>
        </p:nvSpPr>
        <p:spPr>
          <a:xfrm>
            <a:off x="2438400" y="2686050"/>
            <a:ext cx="400050" cy="266700"/>
          </a:xfrm>
          <a:prstGeom prst="roundRect">
            <a:avLst>
              <a:gd name="adj" fmla="val 42857"/>
            </a:avLst>
          </a:prstGeom>
          <a:solidFill>
            <a:srgbClr val="E67E22">
              <a:alpha val="15000"/>
            </a:srgbClr>
          </a:solidFill>
          <a:ln>
            <a:noFill/>
          </a:ln>
        </p:spPr>
      </p:sp>
      <p:sp>
        <p:nvSpPr>
          <p:cNvPr id="50" name="TextBox 50"/>
          <p:cNvSpPr txBox="1"/>
          <p:nvPr/>
        </p:nvSpPr>
        <p:spPr>
          <a:xfrm>
            <a:off x="2571143" y="2786062"/>
            <a:ext cx="134564" cy="152400"/>
          </a:xfrm>
          <a:prstGeom prst="rect">
            <a:avLst/>
          </a:prstGeom>
          <a:noFill/>
          <a:ln>
            <a:noFill/>
          </a:ln>
        </p:spPr>
        <p:txBody>
          <a:bodyPr wrap="none" lIns="0" tIns="0" rIns="0" bIns="0" anchor="t" anchorCtr="0">
            <a:spAutoFit/>
          </a:bodyPr>
          <a:lstStyle/>
          <a:p>
            <a:pPr algn="ctr"/>
            <a:r>
              <a:rPr lang="zh-CN" sz="750" b="1" dirty="0">
                <a:solidFill>
                  <a:srgbClr val="E67E22"/>
                </a:solidFill>
                <a:latin typeface="Arial"/>
                <a:ea typeface="Microsoft YaHei"/>
                <a:cs typeface="Arial"/>
              </a:rPr>
              <a:t>P1</a:t>
            </a:r>
          </a:p>
        </p:txBody>
      </p:sp>
      <p:sp>
        <p:nvSpPr>
          <p:cNvPr id="51" name="TextBox 51"/>
          <p:cNvSpPr txBox="1"/>
          <p:nvPr/>
        </p:nvSpPr>
        <p:spPr>
          <a:xfrm>
            <a:off x="3458766" y="277796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52" name="TextBox 52"/>
          <p:cNvSpPr txBox="1"/>
          <p:nvPr/>
        </p:nvSpPr>
        <p:spPr>
          <a:xfrm>
            <a:off x="4068366" y="277796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53" name="TextBox 53"/>
          <p:cNvSpPr txBox="1"/>
          <p:nvPr/>
        </p:nvSpPr>
        <p:spPr>
          <a:xfrm>
            <a:off x="4542472" y="2777966"/>
            <a:ext cx="681038"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培训体系迭代</a:t>
            </a:r>
          </a:p>
        </p:txBody>
      </p:sp>
      <p:sp>
        <p:nvSpPr>
          <p:cNvPr id="54" name="Rectangle 54"/>
          <p:cNvSpPr/>
          <p:nvPr/>
        </p:nvSpPr>
        <p:spPr>
          <a:xfrm>
            <a:off x="381000" y="3028950"/>
            <a:ext cx="266700" cy="304800"/>
          </a:xfrm>
          <a:prstGeom prst="roundRect">
            <a:avLst>
              <a:gd name="adj" fmla="val 14286"/>
            </a:avLst>
          </a:prstGeom>
          <a:solidFill>
            <a:srgbClr val="E67E22">
              <a:alpha val="8000"/>
            </a:srgbClr>
          </a:solidFill>
          <a:ln>
            <a:noFill/>
          </a:ln>
        </p:spPr>
      </p:sp>
      <p:sp>
        <p:nvSpPr>
          <p:cNvPr id="55" name="TextBox 55"/>
          <p:cNvSpPr txBox="1"/>
          <p:nvPr/>
        </p:nvSpPr>
        <p:spPr>
          <a:xfrm>
            <a:off x="472106" y="3139916"/>
            <a:ext cx="84488"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5</a:t>
            </a:r>
          </a:p>
        </p:txBody>
      </p:sp>
      <p:sp>
        <p:nvSpPr>
          <p:cNvPr id="56" name="Rectangle 56"/>
          <p:cNvSpPr/>
          <p:nvPr/>
        </p:nvSpPr>
        <p:spPr>
          <a:xfrm>
            <a:off x="685800" y="3028950"/>
            <a:ext cx="1714500" cy="304800"/>
          </a:xfrm>
          <a:prstGeom prst="roundRect">
            <a:avLst>
              <a:gd name="adj" fmla="val 12500"/>
            </a:avLst>
          </a:prstGeom>
          <a:solidFill>
            <a:srgbClr val="E67E22">
              <a:alpha val="4000"/>
            </a:srgbClr>
          </a:solidFill>
          <a:ln>
            <a:noFill/>
          </a:ln>
        </p:spPr>
      </p:sp>
      <p:sp>
        <p:nvSpPr>
          <p:cNvPr id="57" name="TextBox 57"/>
          <p:cNvSpPr txBox="1"/>
          <p:nvPr/>
        </p:nvSpPr>
        <p:spPr>
          <a:xfrm>
            <a:off x="751522" y="3139916"/>
            <a:ext cx="1121092"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商家服务费支付意愿低</a:t>
            </a:r>
          </a:p>
        </p:txBody>
      </p:sp>
      <p:sp>
        <p:nvSpPr>
          <p:cNvPr id="58" name="Rectangle 58"/>
          <p:cNvSpPr/>
          <p:nvPr/>
        </p:nvSpPr>
        <p:spPr>
          <a:xfrm>
            <a:off x="2438400" y="3048000"/>
            <a:ext cx="400050" cy="266700"/>
          </a:xfrm>
          <a:prstGeom prst="roundRect">
            <a:avLst>
              <a:gd name="adj" fmla="val 42857"/>
            </a:avLst>
          </a:prstGeom>
          <a:solidFill>
            <a:srgbClr val="E67E22">
              <a:alpha val="15000"/>
            </a:srgbClr>
          </a:solidFill>
          <a:ln>
            <a:noFill/>
          </a:ln>
        </p:spPr>
      </p:sp>
      <p:sp>
        <p:nvSpPr>
          <p:cNvPr id="59" name="TextBox 59"/>
          <p:cNvSpPr txBox="1"/>
          <p:nvPr/>
        </p:nvSpPr>
        <p:spPr>
          <a:xfrm>
            <a:off x="2571143" y="3148012"/>
            <a:ext cx="134564" cy="152400"/>
          </a:xfrm>
          <a:prstGeom prst="rect">
            <a:avLst/>
          </a:prstGeom>
          <a:noFill/>
          <a:ln>
            <a:noFill/>
          </a:ln>
        </p:spPr>
        <p:txBody>
          <a:bodyPr wrap="none" lIns="0" tIns="0" rIns="0" bIns="0" anchor="t" anchorCtr="0">
            <a:spAutoFit/>
          </a:bodyPr>
          <a:lstStyle/>
          <a:p>
            <a:pPr algn="ctr"/>
            <a:r>
              <a:rPr lang="zh-CN" sz="750" b="1" dirty="0">
                <a:solidFill>
                  <a:srgbClr val="E67E22"/>
                </a:solidFill>
                <a:latin typeface="Arial"/>
                <a:ea typeface="Microsoft YaHei"/>
                <a:cs typeface="Arial"/>
              </a:rPr>
              <a:t>P1</a:t>
            </a:r>
          </a:p>
        </p:txBody>
      </p:sp>
      <p:sp>
        <p:nvSpPr>
          <p:cNvPr id="60" name="TextBox 60"/>
          <p:cNvSpPr txBox="1"/>
          <p:nvPr/>
        </p:nvSpPr>
        <p:spPr>
          <a:xfrm>
            <a:off x="3458766" y="313991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61" name="TextBox 61"/>
          <p:cNvSpPr txBox="1"/>
          <p:nvPr/>
        </p:nvSpPr>
        <p:spPr>
          <a:xfrm>
            <a:off x="4068366" y="313991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62" name="TextBox 62"/>
          <p:cNvSpPr txBox="1"/>
          <p:nvPr/>
        </p:nvSpPr>
        <p:spPr>
          <a:xfrm>
            <a:off x="4542472" y="3139916"/>
            <a:ext cx="851559"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免租期+增值服务</a:t>
            </a:r>
          </a:p>
        </p:txBody>
      </p:sp>
      <p:sp>
        <p:nvSpPr>
          <p:cNvPr id="63" name="Rectangle 63"/>
          <p:cNvSpPr/>
          <p:nvPr/>
        </p:nvSpPr>
        <p:spPr>
          <a:xfrm>
            <a:off x="381000" y="3390900"/>
            <a:ext cx="266700" cy="304800"/>
          </a:xfrm>
          <a:prstGeom prst="roundRect">
            <a:avLst>
              <a:gd name="adj" fmla="val 14286"/>
            </a:avLst>
          </a:prstGeom>
          <a:solidFill>
            <a:srgbClr val="E67E22">
              <a:alpha val="8000"/>
            </a:srgbClr>
          </a:solidFill>
          <a:ln>
            <a:noFill/>
          </a:ln>
        </p:spPr>
      </p:sp>
      <p:sp>
        <p:nvSpPr>
          <p:cNvPr id="64" name="TextBox 64"/>
          <p:cNvSpPr txBox="1"/>
          <p:nvPr/>
        </p:nvSpPr>
        <p:spPr>
          <a:xfrm>
            <a:off x="472106" y="3501866"/>
            <a:ext cx="84488"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6</a:t>
            </a:r>
          </a:p>
        </p:txBody>
      </p:sp>
      <p:sp>
        <p:nvSpPr>
          <p:cNvPr id="65" name="Rectangle 65"/>
          <p:cNvSpPr/>
          <p:nvPr/>
        </p:nvSpPr>
        <p:spPr>
          <a:xfrm>
            <a:off x="685800" y="3390900"/>
            <a:ext cx="1714500" cy="304800"/>
          </a:xfrm>
          <a:prstGeom prst="roundRect">
            <a:avLst>
              <a:gd name="adj" fmla="val 12500"/>
            </a:avLst>
          </a:prstGeom>
          <a:solidFill>
            <a:srgbClr val="E67E22">
              <a:alpha val="4000"/>
            </a:srgbClr>
          </a:solidFill>
          <a:ln>
            <a:noFill/>
          </a:ln>
        </p:spPr>
      </p:sp>
      <p:sp>
        <p:nvSpPr>
          <p:cNvPr id="66" name="TextBox 66"/>
          <p:cNvSpPr txBox="1"/>
          <p:nvPr/>
        </p:nvSpPr>
        <p:spPr>
          <a:xfrm>
            <a:off x="751522" y="3501866"/>
            <a:ext cx="791051"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商标注册被驳回</a:t>
            </a:r>
          </a:p>
        </p:txBody>
      </p:sp>
      <p:sp>
        <p:nvSpPr>
          <p:cNvPr id="67" name="Rectangle 67"/>
          <p:cNvSpPr/>
          <p:nvPr/>
        </p:nvSpPr>
        <p:spPr>
          <a:xfrm>
            <a:off x="2438400" y="3409950"/>
            <a:ext cx="400050" cy="266700"/>
          </a:xfrm>
          <a:prstGeom prst="roundRect">
            <a:avLst>
              <a:gd name="adj" fmla="val 42857"/>
            </a:avLst>
          </a:prstGeom>
          <a:solidFill>
            <a:srgbClr val="E67E22">
              <a:alpha val="15000"/>
            </a:srgbClr>
          </a:solidFill>
          <a:ln>
            <a:noFill/>
          </a:ln>
        </p:spPr>
      </p:sp>
      <p:sp>
        <p:nvSpPr>
          <p:cNvPr id="68" name="TextBox 68"/>
          <p:cNvSpPr txBox="1"/>
          <p:nvPr/>
        </p:nvSpPr>
        <p:spPr>
          <a:xfrm>
            <a:off x="2571143" y="3509962"/>
            <a:ext cx="134564" cy="152400"/>
          </a:xfrm>
          <a:prstGeom prst="rect">
            <a:avLst/>
          </a:prstGeom>
          <a:noFill/>
          <a:ln>
            <a:noFill/>
          </a:ln>
        </p:spPr>
        <p:txBody>
          <a:bodyPr wrap="none" lIns="0" tIns="0" rIns="0" bIns="0" anchor="t" anchorCtr="0">
            <a:spAutoFit/>
          </a:bodyPr>
          <a:lstStyle/>
          <a:p>
            <a:pPr algn="ctr"/>
            <a:r>
              <a:rPr lang="zh-CN" sz="750" b="1" dirty="0">
                <a:solidFill>
                  <a:srgbClr val="E67E22"/>
                </a:solidFill>
                <a:latin typeface="Arial"/>
                <a:ea typeface="Microsoft YaHei"/>
                <a:cs typeface="Arial"/>
              </a:rPr>
              <a:t>P1</a:t>
            </a:r>
          </a:p>
        </p:txBody>
      </p:sp>
      <p:sp>
        <p:nvSpPr>
          <p:cNvPr id="69" name="TextBox 69"/>
          <p:cNvSpPr txBox="1"/>
          <p:nvPr/>
        </p:nvSpPr>
        <p:spPr>
          <a:xfrm>
            <a:off x="3458766" y="350186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70" name="TextBox 70"/>
          <p:cNvSpPr txBox="1"/>
          <p:nvPr/>
        </p:nvSpPr>
        <p:spPr>
          <a:xfrm>
            <a:off x="4068366" y="3501866"/>
            <a:ext cx="130969"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低</a:t>
            </a:r>
          </a:p>
        </p:txBody>
      </p:sp>
      <p:sp>
        <p:nvSpPr>
          <p:cNvPr id="71" name="TextBox 71"/>
          <p:cNvSpPr txBox="1"/>
          <p:nvPr/>
        </p:nvSpPr>
        <p:spPr>
          <a:xfrm>
            <a:off x="4542472" y="3501866"/>
            <a:ext cx="791051"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备选方案已储备</a:t>
            </a:r>
          </a:p>
        </p:txBody>
      </p:sp>
      <p:sp>
        <p:nvSpPr>
          <p:cNvPr id="72" name="Rectangle 72"/>
          <p:cNvSpPr/>
          <p:nvPr/>
        </p:nvSpPr>
        <p:spPr>
          <a:xfrm>
            <a:off x="381000" y="3752850"/>
            <a:ext cx="266700" cy="304800"/>
          </a:xfrm>
          <a:prstGeom prst="roundRect">
            <a:avLst>
              <a:gd name="adj" fmla="val 14286"/>
            </a:avLst>
          </a:prstGeom>
          <a:solidFill>
            <a:srgbClr val="E67E22">
              <a:alpha val="8000"/>
            </a:srgbClr>
          </a:solidFill>
          <a:ln>
            <a:noFill/>
          </a:ln>
        </p:spPr>
      </p:sp>
      <p:sp>
        <p:nvSpPr>
          <p:cNvPr id="73" name="TextBox 73"/>
          <p:cNvSpPr txBox="1"/>
          <p:nvPr/>
        </p:nvSpPr>
        <p:spPr>
          <a:xfrm>
            <a:off x="472106" y="3863816"/>
            <a:ext cx="84488"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7</a:t>
            </a:r>
          </a:p>
        </p:txBody>
      </p:sp>
      <p:sp>
        <p:nvSpPr>
          <p:cNvPr id="74" name="Rectangle 74"/>
          <p:cNvSpPr/>
          <p:nvPr/>
        </p:nvSpPr>
        <p:spPr>
          <a:xfrm>
            <a:off x="685800" y="3752850"/>
            <a:ext cx="1714500" cy="304800"/>
          </a:xfrm>
          <a:prstGeom prst="roundRect">
            <a:avLst>
              <a:gd name="adj" fmla="val 12500"/>
            </a:avLst>
          </a:prstGeom>
          <a:solidFill>
            <a:srgbClr val="E67E22">
              <a:alpha val="4000"/>
            </a:srgbClr>
          </a:solidFill>
          <a:ln>
            <a:noFill/>
          </a:ln>
        </p:spPr>
      </p:sp>
      <p:sp>
        <p:nvSpPr>
          <p:cNvPr id="75" name="TextBox 75"/>
          <p:cNvSpPr txBox="1"/>
          <p:nvPr/>
        </p:nvSpPr>
        <p:spPr>
          <a:xfrm>
            <a:off x="751522" y="3863816"/>
            <a:ext cx="1011079"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合规术语理解不一致</a:t>
            </a:r>
          </a:p>
        </p:txBody>
      </p:sp>
      <p:sp>
        <p:nvSpPr>
          <p:cNvPr id="76" name="Rectangle 76"/>
          <p:cNvSpPr/>
          <p:nvPr/>
        </p:nvSpPr>
        <p:spPr>
          <a:xfrm>
            <a:off x="2438400" y="3771900"/>
            <a:ext cx="400050" cy="266700"/>
          </a:xfrm>
          <a:prstGeom prst="roundRect">
            <a:avLst>
              <a:gd name="adj" fmla="val 42857"/>
            </a:avLst>
          </a:prstGeom>
          <a:solidFill>
            <a:srgbClr val="E67E22">
              <a:alpha val="15000"/>
            </a:srgbClr>
          </a:solidFill>
          <a:ln>
            <a:noFill/>
          </a:ln>
        </p:spPr>
      </p:sp>
      <p:sp>
        <p:nvSpPr>
          <p:cNvPr id="77" name="TextBox 77"/>
          <p:cNvSpPr txBox="1"/>
          <p:nvPr/>
        </p:nvSpPr>
        <p:spPr>
          <a:xfrm>
            <a:off x="2571143" y="3871912"/>
            <a:ext cx="134564" cy="152400"/>
          </a:xfrm>
          <a:prstGeom prst="rect">
            <a:avLst/>
          </a:prstGeom>
          <a:noFill/>
          <a:ln>
            <a:noFill/>
          </a:ln>
        </p:spPr>
        <p:txBody>
          <a:bodyPr wrap="none" lIns="0" tIns="0" rIns="0" bIns="0" anchor="t" anchorCtr="0">
            <a:spAutoFit/>
          </a:bodyPr>
          <a:lstStyle/>
          <a:p>
            <a:pPr algn="ctr"/>
            <a:r>
              <a:rPr lang="zh-CN" sz="750" b="1" dirty="0">
                <a:solidFill>
                  <a:srgbClr val="E67E22"/>
                </a:solidFill>
                <a:latin typeface="Arial"/>
                <a:ea typeface="Microsoft YaHei"/>
                <a:cs typeface="Arial"/>
              </a:rPr>
              <a:t>P1</a:t>
            </a:r>
          </a:p>
        </p:txBody>
      </p:sp>
      <p:sp>
        <p:nvSpPr>
          <p:cNvPr id="78" name="TextBox 78"/>
          <p:cNvSpPr txBox="1"/>
          <p:nvPr/>
        </p:nvSpPr>
        <p:spPr>
          <a:xfrm>
            <a:off x="3458766" y="3863816"/>
            <a:ext cx="130969"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低</a:t>
            </a:r>
          </a:p>
        </p:txBody>
      </p:sp>
      <p:sp>
        <p:nvSpPr>
          <p:cNvPr id="79" name="TextBox 79"/>
          <p:cNvSpPr txBox="1"/>
          <p:nvPr/>
        </p:nvSpPr>
        <p:spPr>
          <a:xfrm>
            <a:off x="4068366" y="3863816"/>
            <a:ext cx="130969" cy="167640"/>
          </a:xfrm>
          <a:prstGeom prst="rect">
            <a:avLst/>
          </a:prstGeom>
          <a:noFill/>
          <a:ln>
            <a:noFill/>
          </a:ln>
        </p:spPr>
        <p:txBody>
          <a:bodyPr wrap="none" lIns="0" tIns="0" rIns="0" bIns="0" anchor="t" anchorCtr="0">
            <a:spAutoFit/>
          </a:bodyPr>
          <a:lstStyle/>
          <a:p>
            <a:pPr algn="ctr"/>
            <a:r>
              <a:rPr lang="zh-CN" sz="825" dirty="0">
                <a:solidFill>
                  <a:srgbClr val="E67E22"/>
                </a:solidFill>
                <a:latin typeface="Arial"/>
                <a:ea typeface="Microsoft YaHei"/>
                <a:cs typeface="Arial"/>
              </a:rPr>
              <a:t>中</a:t>
            </a:r>
          </a:p>
        </p:txBody>
      </p:sp>
      <p:sp>
        <p:nvSpPr>
          <p:cNvPr id="80" name="TextBox 80"/>
          <p:cNvSpPr txBox="1"/>
          <p:nvPr/>
        </p:nvSpPr>
        <p:spPr>
          <a:xfrm>
            <a:off x="4542472" y="3863816"/>
            <a:ext cx="851559"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术语表+全员培训</a:t>
            </a:r>
          </a:p>
        </p:txBody>
      </p:sp>
      <p:sp>
        <p:nvSpPr>
          <p:cNvPr id="81" name="Rectangle 81"/>
          <p:cNvSpPr/>
          <p:nvPr/>
        </p:nvSpPr>
        <p:spPr>
          <a:xfrm>
            <a:off x="381000" y="4114800"/>
            <a:ext cx="266700" cy="304800"/>
          </a:xfrm>
          <a:prstGeom prst="roundRect">
            <a:avLst>
              <a:gd name="adj" fmla="val 14286"/>
            </a:avLst>
          </a:prstGeom>
          <a:solidFill>
            <a:srgbClr val="1E8449">
              <a:alpha val="8000"/>
            </a:srgbClr>
          </a:solidFill>
          <a:ln>
            <a:noFill/>
          </a:ln>
        </p:spPr>
      </p:sp>
      <p:sp>
        <p:nvSpPr>
          <p:cNvPr id="82" name="TextBox 82"/>
          <p:cNvSpPr txBox="1"/>
          <p:nvPr/>
        </p:nvSpPr>
        <p:spPr>
          <a:xfrm>
            <a:off x="472106" y="4225766"/>
            <a:ext cx="84488"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8</a:t>
            </a:r>
          </a:p>
        </p:txBody>
      </p:sp>
      <p:sp>
        <p:nvSpPr>
          <p:cNvPr id="83" name="Rectangle 83"/>
          <p:cNvSpPr/>
          <p:nvPr/>
        </p:nvSpPr>
        <p:spPr>
          <a:xfrm>
            <a:off x="685800" y="4114800"/>
            <a:ext cx="1714500" cy="304800"/>
          </a:xfrm>
          <a:prstGeom prst="roundRect">
            <a:avLst>
              <a:gd name="adj" fmla="val 12500"/>
            </a:avLst>
          </a:prstGeom>
          <a:solidFill>
            <a:srgbClr val="1E8449">
              <a:alpha val="4000"/>
            </a:srgbClr>
          </a:solidFill>
          <a:ln>
            <a:noFill/>
          </a:ln>
        </p:spPr>
      </p:sp>
      <p:sp>
        <p:nvSpPr>
          <p:cNvPr id="84" name="TextBox 84"/>
          <p:cNvSpPr txBox="1"/>
          <p:nvPr/>
        </p:nvSpPr>
        <p:spPr>
          <a:xfrm>
            <a:off x="751522" y="4225766"/>
            <a:ext cx="681038" cy="167640"/>
          </a:xfrm>
          <a:prstGeom prst="rect">
            <a:avLst/>
          </a:prstGeom>
          <a:noFill/>
          <a:ln>
            <a:noFill/>
          </a:ln>
        </p:spPr>
        <p:txBody>
          <a:bodyPr wrap="none" lIns="0" tIns="0" rIns="0" bIns="0" anchor="t" anchorCtr="0">
            <a:spAutoFit/>
          </a:bodyPr>
          <a:lstStyle/>
          <a:p>
            <a:pPr algn="l"/>
            <a:r>
              <a:rPr lang="zh-CN" sz="825" dirty="0">
                <a:solidFill>
                  <a:srgbClr val="2C2C2C"/>
                </a:solidFill>
                <a:latin typeface="Arial"/>
                <a:ea typeface="Microsoft YaHei"/>
                <a:cs typeface="Arial"/>
              </a:rPr>
              <a:t>竞品快速跟进</a:t>
            </a:r>
          </a:p>
        </p:txBody>
      </p:sp>
      <p:sp>
        <p:nvSpPr>
          <p:cNvPr id="85" name="Rectangle 85"/>
          <p:cNvSpPr/>
          <p:nvPr/>
        </p:nvSpPr>
        <p:spPr>
          <a:xfrm>
            <a:off x="2438400" y="4133850"/>
            <a:ext cx="400050" cy="266700"/>
          </a:xfrm>
          <a:prstGeom prst="roundRect">
            <a:avLst>
              <a:gd name="adj" fmla="val 42857"/>
            </a:avLst>
          </a:prstGeom>
          <a:solidFill>
            <a:srgbClr val="1E8449">
              <a:alpha val="15000"/>
            </a:srgbClr>
          </a:solidFill>
          <a:ln>
            <a:noFill/>
          </a:ln>
        </p:spPr>
      </p:sp>
      <p:sp>
        <p:nvSpPr>
          <p:cNvPr id="86" name="TextBox 86"/>
          <p:cNvSpPr txBox="1"/>
          <p:nvPr/>
        </p:nvSpPr>
        <p:spPr>
          <a:xfrm>
            <a:off x="2571143" y="4233862"/>
            <a:ext cx="134564" cy="152400"/>
          </a:xfrm>
          <a:prstGeom prst="rect">
            <a:avLst/>
          </a:prstGeom>
          <a:noFill/>
          <a:ln>
            <a:noFill/>
          </a:ln>
        </p:spPr>
        <p:txBody>
          <a:bodyPr wrap="none" lIns="0" tIns="0" rIns="0" bIns="0" anchor="t" anchorCtr="0">
            <a:spAutoFit/>
          </a:bodyPr>
          <a:lstStyle/>
          <a:p>
            <a:pPr algn="ctr"/>
            <a:r>
              <a:rPr lang="zh-CN" sz="750" b="1" dirty="0">
                <a:solidFill>
                  <a:srgbClr val="1E8449"/>
                </a:solidFill>
                <a:latin typeface="Arial"/>
                <a:ea typeface="Microsoft YaHei"/>
                <a:cs typeface="Arial"/>
              </a:rPr>
              <a:t>P2</a:t>
            </a:r>
          </a:p>
        </p:txBody>
      </p:sp>
      <p:sp>
        <p:nvSpPr>
          <p:cNvPr id="87" name="TextBox 87"/>
          <p:cNvSpPr txBox="1"/>
          <p:nvPr/>
        </p:nvSpPr>
        <p:spPr>
          <a:xfrm>
            <a:off x="3458766" y="4225766"/>
            <a:ext cx="130969"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低</a:t>
            </a:r>
          </a:p>
        </p:txBody>
      </p:sp>
      <p:sp>
        <p:nvSpPr>
          <p:cNvPr id="88" name="TextBox 88"/>
          <p:cNvSpPr txBox="1"/>
          <p:nvPr/>
        </p:nvSpPr>
        <p:spPr>
          <a:xfrm>
            <a:off x="4068366" y="4225766"/>
            <a:ext cx="130969" cy="167640"/>
          </a:xfrm>
          <a:prstGeom prst="rect">
            <a:avLst/>
          </a:prstGeom>
          <a:noFill/>
          <a:ln>
            <a:noFill/>
          </a:ln>
        </p:spPr>
        <p:txBody>
          <a:bodyPr wrap="none" lIns="0" tIns="0" rIns="0" bIns="0" anchor="t" anchorCtr="0">
            <a:spAutoFit/>
          </a:bodyPr>
          <a:lstStyle/>
          <a:p>
            <a:pPr algn="ctr"/>
            <a:r>
              <a:rPr lang="zh-CN" sz="825" dirty="0">
                <a:solidFill>
                  <a:srgbClr val="1E8449"/>
                </a:solidFill>
                <a:latin typeface="Arial"/>
                <a:ea typeface="Microsoft YaHei"/>
                <a:cs typeface="Arial"/>
              </a:rPr>
              <a:t>低</a:t>
            </a:r>
          </a:p>
        </p:txBody>
      </p:sp>
      <p:sp>
        <p:nvSpPr>
          <p:cNvPr id="89" name="TextBox 89"/>
          <p:cNvSpPr txBox="1"/>
          <p:nvPr/>
        </p:nvSpPr>
        <p:spPr>
          <a:xfrm>
            <a:off x="4542472" y="4225766"/>
            <a:ext cx="901065" cy="167640"/>
          </a:xfrm>
          <a:prstGeom prst="rect">
            <a:avLst/>
          </a:prstGeom>
          <a:noFill/>
          <a:ln>
            <a:noFill/>
          </a:ln>
        </p:spPr>
        <p:txBody>
          <a:bodyPr wrap="none" lIns="0" tIns="0" rIns="0" bIns="0" anchor="t" anchorCtr="0">
            <a:spAutoFit/>
          </a:bodyPr>
          <a:lstStyle/>
          <a:p>
            <a:pPr algn="l"/>
            <a:r>
              <a:rPr lang="zh-CN" sz="825" dirty="0">
                <a:solidFill>
                  <a:srgbClr val="7F8C8D"/>
                </a:solidFill>
                <a:latin typeface="Arial"/>
                <a:ea typeface="Microsoft YaHei"/>
                <a:cs typeface="Arial"/>
              </a:rPr>
              <a:t>品类定义权已建立</a:t>
            </a:r>
          </a:p>
        </p:txBody>
      </p:sp>
      <p:sp>
        <p:nvSpPr>
          <p:cNvPr id="90" name="Rectangle 90"/>
          <p:cNvSpPr/>
          <p:nvPr/>
        </p:nvSpPr>
        <p:spPr>
          <a:xfrm>
            <a:off x="7715250" y="1257300"/>
            <a:ext cx="3905250" cy="3619500"/>
          </a:xfrm>
          <a:prstGeom prst="roundRect">
            <a:avLst>
              <a:gd name="adj" fmla="val 3684"/>
            </a:avLst>
          </a:prstGeom>
          <a:solidFill>
            <a:srgbClr val="F5F0EA"/>
          </a:solidFill>
          <a:ln>
            <a:noFill/>
          </a:ln>
          <a:effectLst>
            <a:outerShdw blurRad="76200" dist="19050" dir="5400000" algn="ctr" rotWithShape="0">
              <a:srgbClr val="2C2C2C">
                <a:alpha val="4500"/>
              </a:srgbClr>
            </a:outerShdw>
          </a:effectLst>
        </p:spPr>
      </p:sp>
      <p:sp>
        <p:nvSpPr>
          <p:cNvPr id="91" name="TextBox 91"/>
          <p:cNvSpPr txBox="1"/>
          <p:nvPr/>
        </p:nvSpPr>
        <p:spPr>
          <a:xfrm>
            <a:off x="9240584" y="1375410"/>
            <a:ext cx="854583" cy="243840"/>
          </a:xfrm>
          <a:prstGeom prst="rect">
            <a:avLst/>
          </a:prstGeom>
          <a:noFill/>
          <a:ln>
            <a:noFill/>
          </a:ln>
        </p:spPr>
        <p:txBody>
          <a:bodyPr wrap="none" lIns="0" tIns="0" rIns="0" bIns="0" anchor="t" anchorCtr="0">
            <a:spAutoFit/>
          </a:bodyPr>
          <a:lstStyle/>
          <a:p>
            <a:pPr algn="ctr"/>
            <a:r>
              <a:rPr lang="zh-CN" sz="1200" dirty="0">
                <a:solidFill>
                  <a:srgbClr val="2C2C2C"/>
                </a:solidFill>
                <a:latin typeface="Georgia"/>
                <a:ea typeface="KaiTi"/>
                <a:cs typeface="Georgia"/>
              </a:rPr>
              <a:t>影响 x 概率</a:t>
            </a:r>
          </a:p>
        </p:txBody>
      </p:sp>
      <p:sp>
        <p:nvSpPr>
          <p:cNvPr id="92" name="TextBox 92"/>
          <p:cNvSpPr txBox="1"/>
          <p:nvPr/>
        </p:nvSpPr>
        <p:spPr>
          <a:xfrm>
            <a:off x="7858125" y="1871662"/>
            <a:ext cx="319088" cy="152400"/>
          </a:xfrm>
          <a:prstGeom prst="rect">
            <a:avLst/>
          </a:prstGeom>
          <a:noFill/>
          <a:ln>
            <a:noFill/>
          </a:ln>
        </p:spPr>
        <p:txBody>
          <a:bodyPr wrap="none" lIns="0" tIns="0" rIns="0" bIns="0" anchor="t" anchorCtr="0">
            <a:spAutoFit/>
          </a:bodyPr>
          <a:lstStyle/>
          <a:p>
            <a:pPr algn="l"/>
            <a:r>
              <a:rPr lang="zh-CN" sz="750" dirty="0">
                <a:solidFill>
                  <a:srgbClr val="7F8C8D"/>
                </a:solidFill>
                <a:latin typeface="Arial"/>
                <a:ea typeface="Microsoft YaHei"/>
                <a:cs typeface="Arial"/>
              </a:rPr>
              <a:t>高概率</a:t>
            </a:r>
          </a:p>
        </p:txBody>
      </p:sp>
      <p:sp>
        <p:nvSpPr>
          <p:cNvPr id="93" name="TextBox 93"/>
          <p:cNvSpPr txBox="1"/>
          <p:nvPr/>
        </p:nvSpPr>
        <p:spPr>
          <a:xfrm>
            <a:off x="7858125" y="2776538"/>
            <a:ext cx="319088" cy="152400"/>
          </a:xfrm>
          <a:prstGeom prst="rect">
            <a:avLst/>
          </a:prstGeom>
          <a:noFill/>
          <a:ln>
            <a:noFill/>
          </a:ln>
        </p:spPr>
        <p:txBody>
          <a:bodyPr wrap="none" lIns="0" tIns="0" rIns="0" bIns="0" anchor="t" anchorCtr="0">
            <a:spAutoFit/>
          </a:bodyPr>
          <a:lstStyle/>
          <a:p>
            <a:pPr algn="l"/>
            <a:r>
              <a:rPr lang="zh-CN" sz="750" dirty="0">
                <a:solidFill>
                  <a:srgbClr val="7F8C8D"/>
                </a:solidFill>
                <a:latin typeface="Arial"/>
                <a:ea typeface="Microsoft YaHei"/>
                <a:cs typeface="Arial"/>
              </a:rPr>
              <a:t>中概率</a:t>
            </a:r>
          </a:p>
        </p:txBody>
      </p:sp>
      <p:sp>
        <p:nvSpPr>
          <p:cNvPr id="94" name="TextBox 94"/>
          <p:cNvSpPr txBox="1"/>
          <p:nvPr/>
        </p:nvSpPr>
        <p:spPr>
          <a:xfrm>
            <a:off x="7858125" y="3681412"/>
            <a:ext cx="319088" cy="152400"/>
          </a:xfrm>
          <a:prstGeom prst="rect">
            <a:avLst/>
          </a:prstGeom>
          <a:noFill/>
          <a:ln>
            <a:noFill/>
          </a:ln>
        </p:spPr>
        <p:txBody>
          <a:bodyPr wrap="none" lIns="0" tIns="0" rIns="0" bIns="0" anchor="t" anchorCtr="0">
            <a:spAutoFit/>
          </a:bodyPr>
          <a:lstStyle/>
          <a:p>
            <a:pPr algn="l"/>
            <a:r>
              <a:rPr lang="zh-CN" sz="750" dirty="0">
                <a:solidFill>
                  <a:srgbClr val="7F8C8D"/>
                </a:solidFill>
                <a:latin typeface="Arial"/>
                <a:ea typeface="Microsoft YaHei"/>
                <a:cs typeface="Arial"/>
              </a:rPr>
              <a:t>低概率</a:t>
            </a:r>
          </a:p>
        </p:txBody>
      </p:sp>
      <p:sp>
        <p:nvSpPr>
          <p:cNvPr id="95" name="TextBox 95"/>
          <p:cNvSpPr txBox="1"/>
          <p:nvPr/>
        </p:nvSpPr>
        <p:spPr>
          <a:xfrm>
            <a:off x="8432006" y="4681538"/>
            <a:ext cx="319088" cy="152400"/>
          </a:xfrm>
          <a:prstGeom prst="rect">
            <a:avLst/>
          </a:prstGeom>
          <a:noFill/>
          <a:ln>
            <a:noFill/>
          </a:ln>
        </p:spPr>
        <p:txBody>
          <a:bodyPr wrap="none" lIns="0" tIns="0" rIns="0" bIns="0" anchor="t" anchorCtr="0">
            <a:spAutoFit/>
          </a:bodyPr>
          <a:lstStyle/>
          <a:p>
            <a:pPr algn="ctr"/>
            <a:r>
              <a:rPr lang="zh-CN" sz="750" dirty="0">
                <a:solidFill>
                  <a:srgbClr val="7F8C8D"/>
                </a:solidFill>
                <a:latin typeface="Arial"/>
                <a:ea typeface="Microsoft YaHei"/>
                <a:cs typeface="Arial"/>
              </a:rPr>
              <a:t>低影响</a:t>
            </a:r>
          </a:p>
        </p:txBody>
      </p:sp>
      <p:sp>
        <p:nvSpPr>
          <p:cNvPr id="96" name="TextBox 96"/>
          <p:cNvSpPr txBox="1"/>
          <p:nvPr/>
        </p:nvSpPr>
        <p:spPr>
          <a:xfrm>
            <a:off x="9508331" y="4681538"/>
            <a:ext cx="319088" cy="152400"/>
          </a:xfrm>
          <a:prstGeom prst="rect">
            <a:avLst/>
          </a:prstGeom>
          <a:noFill/>
          <a:ln>
            <a:noFill/>
          </a:ln>
        </p:spPr>
        <p:txBody>
          <a:bodyPr wrap="none" lIns="0" tIns="0" rIns="0" bIns="0" anchor="t" anchorCtr="0">
            <a:spAutoFit/>
          </a:bodyPr>
          <a:lstStyle/>
          <a:p>
            <a:pPr algn="ctr"/>
            <a:r>
              <a:rPr lang="zh-CN" sz="750" dirty="0">
                <a:solidFill>
                  <a:srgbClr val="7F8C8D"/>
                </a:solidFill>
                <a:latin typeface="Arial"/>
                <a:ea typeface="Microsoft YaHei"/>
                <a:cs typeface="Arial"/>
              </a:rPr>
              <a:t>中影响</a:t>
            </a:r>
          </a:p>
        </p:txBody>
      </p:sp>
      <p:sp>
        <p:nvSpPr>
          <p:cNvPr id="97" name="TextBox 97"/>
          <p:cNvSpPr txBox="1"/>
          <p:nvPr/>
        </p:nvSpPr>
        <p:spPr>
          <a:xfrm>
            <a:off x="10584656" y="4681538"/>
            <a:ext cx="319088" cy="152400"/>
          </a:xfrm>
          <a:prstGeom prst="rect">
            <a:avLst/>
          </a:prstGeom>
          <a:noFill/>
          <a:ln>
            <a:noFill/>
          </a:ln>
        </p:spPr>
        <p:txBody>
          <a:bodyPr wrap="none" lIns="0" tIns="0" rIns="0" bIns="0" anchor="t" anchorCtr="0">
            <a:spAutoFit/>
          </a:bodyPr>
          <a:lstStyle/>
          <a:p>
            <a:pPr algn="ctr"/>
            <a:r>
              <a:rPr lang="zh-CN" sz="750" dirty="0">
                <a:solidFill>
                  <a:srgbClr val="7F8C8D"/>
                </a:solidFill>
                <a:latin typeface="Arial"/>
                <a:ea typeface="Microsoft YaHei"/>
                <a:cs typeface="Arial"/>
              </a:rPr>
              <a:t>高影响</a:t>
            </a:r>
          </a:p>
        </p:txBody>
      </p:sp>
      <p:sp>
        <p:nvSpPr>
          <p:cNvPr id="98" name="Line 98"/>
          <p:cNvSpPr/>
          <p:nvPr/>
        </p:nvSpPr>
        <p:spPr>
          <a:xfrm>
            <a:off x="9096375" y="1714500"/>
            <a:ext cx="9525" cy="2762250"/>
          </a:xfrm>
          <a:custGeom>
            <a:avLst/>
            <a:gdLst/>
            <a:ahLst/>
            <a:cxnLst/>
            <a:rect l="l" t="t" r="r" b="b"/>
            <a:pathLst>
              <a:path w="9525" h="2762250">
                <a:moveTo>
                  <a:pt x="0" y="0"/>
                </a:moveTo>
                <a:lnTo>
                  <a:pt x="0" y="2762250"/>
                </a:lnTo>
              </a:path>
            </a:pathLst>
          </a:custGeom>
          <a:noFill/>
          <a:ln w="9525">
            <a:solidFill>
              <a:srgbClr val="E8E3DC"/>
            </a:solidFill>
          </a:ln>
        </p:spPr>
      </p:sp>
      <p:sp>
        <p:nvSpPr>
          <p:cNvPr id="99" name="Line 99"/>
          <p:cNvSpPr/>
          <p:nvPr/>
        </p:nvSpPr>
        <p:spPr>
          <a:xfrm>
            <a:off x="10191750" y="1714500"/>
            <a:ext cx="9525" cy="2762250"/>
          </a:xfrm>
          <a:custGeom>
            <a:avLst/>
            <a:gdLst/>
            <a:ahLst/>
            <a:cxnLst/>
            <a:rect l="l" t="t" r="r" b="b"/>
            <a:pathLst>
              <a:path w="9525" h="2762250">
                <a:moveTo>
                  <a:pt x="0" y="0"/>
                </a:moveTo>
                <a:lnTo>
                  <a:pt x="0" y="2762250"/>
                </a:lnTo>
              </a:path>
            </a:pathLst>
          </a:custGeom>
          <a:noFill/>
          <a:ln w="9525">
            <a:solidFill>
              <a:srgbClr val="E8E3DC"/>
            </a:solidFill>
          </a:ln>
        </p:spPr>
      </p:sp>
      <p:sp>
        <p:nvSpPr>
          <p:cNvPr id="100" name="Line 100"/>
          <p:cNvSpPr/>
          <p:nvPr/>
        </p:nvSpPr>
        <p:spPr>
          <a:xfrm>
            <a:off x="8143875" y="2381250"/>
            <a:ext cx="3000375" cy="9525"/>
          </a:xfrm>
          <a:custGeom>
            <a:avLst/>
            <a:gdLst/>
            <a:ahLst/>
            <a:cxnLst/>
            <a:rect l="l" t="t" r="r" b="b"/>
            <a:pathLst>
              <a:path w="3000375" h="9525">
                <a:moveTo>
                  <a:pt x="0" y="0"/>
                </a:moveTo>
                <a:lnTo>
                  <a:pt x="3000375" y="0"/>
                </a:lnTo>
              </a:path>
            </a:pathLst>
          </a:custGeom>
          <a:noFill/>
          <a:ln w="9525">
            <a:solidFill>
              <a:srgbClr val="E8E3DC"/>
            </a:solidFill>
          </a:ln>
        </p:spPr>
      </p:sp>
      <p:sp>
        <p:nvSpPr>
          <p:cNvPr id="101" name="Line 101"/>
          <p:cNvSpPr/>
          <p:nvPr/>
        </p:nvSpPr>
        <p:spPr>
          <a:xfrm>
            <a:off x="8143875" y="3286125"/>
            <a:ext cx="3000375" cy="9525"/>
          </a:xfrm>
          <a:custGeom>
            <a:avLst/>
            <a:gdLst/>
            <a:ahLst/>
            <a:cxnLst/>
            <a:rect l="l" t="t" r="r" b="b"/>
            <a:pathLst>
              <a:path w="3000375" h="9525">
                <a:moveTo>
                  <a:pt x="0" y="0"/>
                </a:moveTo>
                <a:lnTo>
                  <a:pt x="3000375" y="0"/>
                </a:lnTo>
              </a:path>
            </a:pathLst>
          </a:custGeom>
          <a:noFill/>
          <a:ln w="9525">
            <a:solidFill>
              <a:srgbClr val="E8E3DC"/>
            </a:solidFill>
          </a:ln>
        </p:spPr>
      </p:sp>
      <p:sp>
        <p:nvSpPr>
          <p:cNvPr id="102" name="Rectangle 102"/>
          <p:cNvSpPr/>
          <p:nvPr/>
        </p:nvSpPr>
        <p:spPr>
          <a:xfrm>
            <a:off x="10191750" y="1714500"/>
            <a:ext cx="952500" cy="666750"/>
          </a:xfrm>
          <a:prstGeom prst="roundRect">
            <a:avLst>
              <a:gd name="adj" fmla="val 8571"/>
            </a:avLst>
          </a:prstGeom>
          <a:solidFill>
            <a:srgbClr val="C0392B">
              <a:alpha val="6000"/>
            </a:srgbClr>
          </a:solidFill>
          <a:ln>
            <a:noFill/>
          </a:ln>
        </p:spPr>
      </p:sp>
      <p:sp>
        <p:nvSpPr>
          <p:cNvPr id="103" name="Rectangle 103"/>
          <p:cNvSpPr/>
          <p:nvPr/>
        </p:nvSpPr>
        <p:spPr>
          <a:xfrm>
            <a:off x="10191750" y="2381250"/>
            <a:ext cx="952500" cy="904875"/>
          </a:xfrm>
          <a:prstGeom prst="roundRect">
            <a:avLst>
              <a:gd name="adj" fmla="val 6316"/>
            </a:avLst>
          </a:prstGeom>
          <a:solidFill>
            <a:srgbClr val="E67E22">
              <a:alpha val="4000"/>
            </a:srgbClr>
          </a:solidFill>
          <a:ln>
            <a:noFill/>
          </a:ln>
        </p:spPr>
      </p:sp>
      <p:sp>
        <p:nvSpPr>
          <p:cNvPr id="104" name="Rectangle 104"/>
          <p:cNvSpPr/>
          <p:nvPr/>
        </p:nvSpPr>
        <p:spPr>
          <a:xfrm>
            <a:off x="9096375" y="1714500"/>
            <a:ext cx="1095375" cy="666750"/>
          </a:xfrm>
          <a:prstGeom prst="roundRect">
            <a:avLst>
              <a:gd name="adj" fmla="val 8571"/>
            </a:avLst>
          </a:prstGeom>
          <a:solidFill>
            <a:srgbClr val="E67E22">
              <a:alpha val="4000"/>
            </a:srgbClr>
          </a:solidFill>
          <a:ln>
            <a:noFill/>
          </a:ln>
        </p:spPr>
      </p:sp>
      <p:sp>
        <p:nvSpPr>
          <p:cNvPr id="105" name="Rectangle 105"/>
          <p:cNvSpPr/>
          <p:nvPr/>
        </p:nvSpPr>
        <p:spPr>
          <a:xfrm>
            <a:off x="9096375" y="2381250"/>
            <a:ext cx="1095375" cy="904875"/>
          </a:xfrm>
          <a:prstGeom prst="roundRect">
            <a:avLst>
              <a:gd name="adj" fmla="val 6316"/>
            </a:avLst>
          </a:prstGeom>
          <a:solidFill>
            <a:srgbClr val="E67E22">
              <a:alpha val="2000"/>
            </a:srgbClr>
          </a:solidFill>
          <a:ln>
            <a:noFill/>
          </a:ln>
        </p:spPr>
      </p:sp>
      <p:sp>
        <p:nvSpPr>
          <p:cNvPr id="106" name="Rectangle 106"/>
          <p:cNvSpPr/>
          <p:nvPr/>
        </p:nvSpPr>
        <p:spPr>
          <a:xfrm>
            <a:off x="10191750" y="3286125"/>
            <a:ext cx="952500" cy="1190625"/>
          </a:xfrm>
          <a:prstGeom prst="roundRect">
            <a:avLst>
              <a:gd name="adj" fmla="val 6000"/>
            </a:avLst>
          </a:prstGeom>
          <a:solidFill>
            <a:srgbClr val="E67E22">
              <a:alpha val="2000"/>
            </a:srgbClr>
          </a:solidFill>
          <a:ln>
            <a:noFill/>
          </a:ln>
        </p:spPr>
      </p:sp>
      <p:sp>
        <p:nvSpPr>
          <p:cNvPr id="107" name="Rectangle 107"/>
          <p:cNvSpPr/>
          <p:nvPr/>
        </p:nvSpPr>
        <p:spPr>
          <a:xfrm>
            <a:off x="8143875" y="1714500"/>
            <a:ext cx="952500" cy="666750"/>
          </a:xfrm>
          <a:prstGeom prst="roundRect">
            <a:avLst>
              <a:gd name="adj" fmla="val 8571"/>
            </a:avLst>
          </a:prstGeom>
          <a:solidFill>
            <a:srgbClr val="1E8449">
              <a:alpha val="4000"/>
            </a:srgbClr>
          </a:solidFill>
          <a:ln>
            <a:noFill/>
          </a:ln>
        </p:spPr>
      </p:sp>
      <p:sp>
        <p:nvSpPr>
          <p:cNvPr id="108" name="Rectangle 108"/>
          <p:cNvSpPr/>
          <p:nvPr/>
        </p:nvSpPr>
        <p:spPr>
          <a:xfrm>
            <a:off x="8143875" y="2381250"/>
            <a:ext cx="952500" cy="904875"/>
          </a:xfrm>
          <a:prstGeom prst="roundRect">
            <a:avLst>
              <a:gd name="adj" fmla="val 6316"/>
            </a:avLst>
          </a:prstGeom>
          <a:solidFill>
            <a:srgbClr val="1E8449">
              <a:alpha val="6000"/>
            </a:srgbClr>
          </a:solidFill>
          <a:ln>
            <a:noFill/>
          </a:ln>
        </p:spPr>
      </p:sp>
      <p:sp>
        <p:nvSpPr>
          <p:cNvPr id="109" name="Rectangle 109"/>
          <p:cNvSpPr/>
          <p:nvPr/>
        </p:nvSpPr>
        <p:spPr>
          <a:xfrm>
            <a:off x="8143875" y="3286125"/>
            <a:ext cx="952500" cy="1190625"/>
          </a:xfrm>
          <a:prstGeom prst="roundRect">
            <a:avLst>
              <a:gd name="adj" fmla="val 6000"/>
            </a:avLst>
          </a:prstGeom>
          <a:solidFill>
            <a:srgbClr val="1E8449">
              <a:alpha val="8000"/>
            </a:srgbClr>
          </a:solidFill>
          <a:ln>
            <a:noFill/>
          </a:ln>
        </p:spPr>
      </p:sp>
      <p:sp>
        <p:nvSpPr>
          <p:cNvPr id="110" name="Rectangle 110"/>
          <p:cNvSpPr/>
          <p:nvPr/>
        </p:nvSpPr>
        <p:spPr>
          <a:xfrm>
            <a:off x="9096375" y="3286125"/>
            <a:ext cx="1095375" cy="1190625"/>
          </a:xfrm>
          <a:prstGeom prst="roundRect">
            <a:avLst>
              <a:gd name="adj" fmla="val 5217"/>
            </a:avLst>
          </a:prstGeom>
          <a:solidFill>
            <a:srgbClr val="1E8449">
              <a:alpha val="6000"/>
            </a:srgbClr>
          </a:solidFill>
          <a:ln>
            <a:noFill/>
          </a:ln>
        </p:spPr>
      </p:sp>
      <p:sp>
        <p:nvSpPr>
          <p:cNvPr id="111" name="Ellipse 111"/>
          <p:cNvSpPr/>
          <p:nvPr/>
        </p:nvSpPr>
        <p:spPr>
          <a:xfrm>
            <a:off x="10582275" y="2752725"/>
            <a:ext cx="171450" cy="171450"/>
          </a:xfrm>
          <a:prstGeom prst="ellipse">
            <a:avLst/>
          </a:prstGeom>
          <a:solidFill>
            <a:srgbClr val="C0392B"/>
          </a:solidFill>
          <a:ln>
            <a:noFill/>
          </a:ln>
        </p:spPr>
      </p:sp>
      <p:sp>
        <p:nvSpPr>
          <p:cNvPr id="112" name="Ellipse 112"/>
          <p:cNvSpPr/>
          <p:nvPr/>
        </p:nvSpPr>
        <p:spPr>
          <a:xfrm>
            <a:off x="10620375" y="2790825"/>
            <a:ext cx="95250" cy="95250"/>
          </a:xfrm>
          <a:prstGeom prst="ellipse">
            <a:avLst/>
          </a:prstGeom>
          <a:solidFill>
            <a:srgbClr val="FFFFFF"/>
          </a:solidFill>
          <a:ln>
            <a:noFill/>
          </a:ln>
        </p:spPr>
      </p:sp>
      <p:sp>
        <p:nvSpPr>
          <p:cNvPr id="113" name="TextBox 113"/>
          <p:cNvSpPr txBox="1"/>
          <p:nvPr/>
        </p:nvSpPr>
        <p:spPr>
          <a:xfrm>
            <a:off x="10869930" y="2811780"/>
            <a:ext cx="59246" cy="121920"/>
          </a:xfrm>
          <a:prstGeom prst="rect">
            <a:avLst/>
          </a:prstGeom>
          <a:noFill/>
          <a:ln>
            <a:noFill/>
          </a:ln>
        </p:spPr>
        <p:txBody>
          <a:bodyPr wrap="none" lIns="0" tIns="0" rIns="0" bIns="0" anchor="t" anchorCtr="0">
            <a:spAutoFit/>
          </a:bodyPr>
          <a:lstStyle/>
          <a:p>
            <a:pPr algn="l"/>
            <a:r>
              <a:rPr lang="zh-CN" sz="600" dirty="0">
                <a:solidFill>
                  <a:srgbClr val="C0392B"/>
                </a:solidFill>
                <a:latin typeface="Arial"/>
                <a:ea typeface="Microsoft YaHei"/>
                <a:cs typeface="Arial"/>
              </a:rPr>
              <a:t>1</a:t>
            </a:r>
          </a:p>
        </p:txBody>
      </p:sp>
      <p:sp>
        <p:nvSpPr>
          <p:cNvPr id="114" name="Ellipse 114"/>
          <p:cNvSpPr/>
          <p:nvPr/>
        </p:nvSpPr>
        <p:spPr>
          <a:xfrm>
            <a:off x="10582275" y="3800475"/>
            <a:ext cx="171450" cy="171450"/>
          </a:xfrm>
          <a:prstGeom prst="ellipse">
            <a:avLst/>
          </a:prstGeom>
          <a:solidFill>
            <a:srgbClr val="C0392B"/>
          </a:solidFill>
          <a:ln>
            <a:noFill/>
          </a:ln>
        </p:spPr>
      </p:sp>
      <p:sp>
        <p:nvSpPr>
          <p:cNvPr id="115" name="Ellipse 115"/>
          <p:cNvSpPr/>
          <p:nvPr/>
        </p:nvSpPr>
        <p:spPr>
          <a:xfrm>
            <a:off x="10620375" y="3838575"/>
            <a:ext cx="95250" cy="95250"/>
          </a:xfrm>
          <a:prstGeom prst="ellipse">
            <a:avLst/>
          </a:prstGeom>
          <a:solidFill>
            <a:srgbClr val="FFFFFF"/>
          </a:solidFill>
          <a:ln>
            <a:noFill/>
          </a:ln>
        </p:spPr>
      </p:sp>
      <p:sp>
        <p:nvSpPr>
          <p:cNvPr id="116" name="TextBox 116"/>
          <p:cNvSpPr txBox="1"/>
          <p:nvPr/>
        </p:nvSpPr>
        <p:spPr>
          <a:xfrm>
            <a:off x="10869930" y="3859530"/>
            <a:ext cx="59246" cy="121920"/>
          </a:xfrm>
          <a:prstGeom prst="rect">
            <a:avLst/>
          </a:prstGeom>
          <a:noFill/>
          <a:ln>
            <a:noFill/>
          </a:ln>
        </p:spPr>
        <p:txBody>
          <a:bodyPr wrap="none" lIns="0" tIns="0" rIns="0" bIns="0" anchor="t" anchorCtr="0">
            <a:spAutoFit/>
          </a:bodyPr>
          <a:lstStyle/>
          <a:p>
            <a:pPr algn="l"/>
            <a:r>
              <a:rPr lang="zh-CN" sz="600" dirty="0">
                <a:solidFill>
                  <a:srgbClr val="C0392B"/>
                </a:solidFill>
                <a:latin typeface="Arial"/>
                <a:ea typeface="Microsoft YaHei"/>
                <a:cs typeface="Arial"/>
              </a:rPr>
              <a:t>2</a:t>
            </a:r>
          </a:p>
        </p:txBody>
      </p:sp>
      <p:sp>
        <p:nvSpPr>
          <p:cNvPr id="117" name="Ellipse 117"/>
          <p:cNvSpPr/>
          <p:nvPr/>
        </p:nvSpPr>
        <p:spPr>
          <a:xfrm>
            <a:off x="9582150" y="2752725"/>
            <a:ext cx="171450" cy="171450"/>
          </a:xfrm>
          <a:prstGeom prst="ellipse">
            <a:avLst/>
          </a:prstGeom>
          <a:solidFill>
            <a:srgbClr val="E67E22"/>
          </a:solidFill>
          <a:ln>
            <a:noFill/>
          </a:ln>
        </p:spPr>
      </p:sp>
      <p:sp>
        <p:nvSpPr>
          <p:cNvPr id="118" name="Ellipse 118"/>
          <p:cNvSpPr/>
          <p:nvPr/>
        </p:nvSpPr>
        <p:spPr>
          <a:xfrm>
            <a:off x="9620250" y="2790825"/>
            <a:ext cx="95250" cy="95250"/>
          </a:xfrm>
          <a:prstGeom prst="ellipse">
            <a:avLst/>
          </a:prstGeom>
          <a:solidFill>
            <a:srgbClr val="FFFFFF"/>
          </a:solidFill>
          <a:ln>
            <a:noFill/>
          </a:ln>
        </p:spPr>
      </p:sp>
      <p:sp>
        <p:nvSpPr>
          <p:cNvPr id="119" name="TextBox 119"/>
          <p:cNvSpPr txBox="1"/>
          <p:nvPr/>
        </p:nvSpPr>
        <p:spPr>
          <a:xfrm>
            <a:off x="9869805" y="2811780"/>
            <a:ext cx="59246" cy="121920"/>
          </a:xfrm>
          <a:prstGeom prst="rect">
            <a:avLst/>
          </a:prstGeom>
          <a:noFill/>
          <a:ln>
            <a:noFill/>
          </a:ln>
        </p:spPr>
        <p:txBody>
          <a:bodyPr wrap="none" lIns="0" tIns="0" rIns="0" bIns="0" anchor="t" anchorCtr="0">
            <a:spAutoFit/>
          </a:bodyPr>
          <a:lstStyle/>
          <a:p>
            <a:pPr algn="l"/>
            <a:r>
              <a:rPr lang="zh-CN" sz="600" dirty="0">
                <a:solidFill>
                  <a:srgbClr val="E67E22"/>
                </a:solidFill>
                <a:latin typeface="Arial"/>
                <a:ea typeface="Microsoft YaHei"/>
                <a:cs typeface="Arial"/>
              </a:rPr>
              <a:t>3</a:t>
            </a:r>
          </a:p>
        </p:txBody>
      </p:sp>
      <p:sp>
        <p:nvSpPr>
          <p:cNvPr id="120" name="Ellipse 120"/>
          <p:cNvSpPr/>
          <p:nvPr/>
        </p:nvSpPr>
        <p:spPr>
          <a:xfrm>
            <a:off x="9344025" y="2533650"/>
            <a:ext cx="171450" cy="171450"/>
          </a:xfrm>
          <a:prstGeom prst="ellipse">
            <a:avLst/>
          </a:prstGeom>
          <a:solidFill>
            <a:srgbClr val="E67E22"/>
          </a:solidFill>
          <a:ln>
            <a:noFill/>
          </a:ln>
        </p:spPr>
      </p:sp>
      <p:sp>
        <p:nvSpPr>
          <p:cNvPr id="121" name="Ellipse 121"/>
          <p:cNvSpPr/>
          <p:nvPr/>
        </p:nvSpPr>
        <p:spPr>
          <a:xfrm>
            <a:off x="9382125" y="2571750"/>
            <a:ext cx="95250" cy="95250"/>
          </a:xfrm>
          <a:prstGeom prst="ellipse">
            <a:avLst/>
          </a:prstGeom>
          <a:solidFill>
            <a:srgbClr val="FFFFFF"/>
          </a:solidFill>
          <a:ln>
            <a:noFill/>
          </a:ln>
        </p:spPr>
      </p:sp>
      <p:sp>
        <p:nvSpPr>
          <p:cNvPr id="122" name="TextBox 122"/>
          <p:cNvSpPr txBox="1"/>
          <p:nvPr/>
        </p:nvSpPr>
        <p:spPr>
          <a:xfrm>
            <a:off x="8679180" y="2592705"/>
            <a:ext cx="59246" cy="121920"/>
          </a:xfrm>
          <a:prstGeom prst="rect">
            <a:avLst/>
          </a:prstGeom>
          <a:noFill/>
          <a:ln>
            <a:noFill/>
          </a:ln>
        </p:spPr>
        <p:txBody>
          <a:bodyPr wrap="none" lIns="0" tIns="0" rIns="0" bIns="0" anchor="t" anchorCtr="0">
            <a:spAutoFit/>
          </a:bodyPr>
          <a:lstStyle/>
          <a:p>
            <a:pPr algn="l"/>
            <a:r>
              <a:rPr lang="zh-CN" sz="600" dirty="0">
                <a:solidFill>
                  <a:srgbClr val="E67E22"/>
                </a:solidFill>
                <a:latin typeface="Arial"/>
                <a:ea typeface="Microsoft YaHei"/>
                <a:cs typeface="Arial"/>
              </a:rPr>
              <a:t>4</a:t>
            </a:r>
          </a:p>
        </p:txBody>
      </p:sp>
      <p:sp>
        <p:nvSpPr>
          <p:cNvPr id="123" name="Ellipse 123"/>
          <p:cNvSpPr/>
          <p:nvPr/>
        </p:nvSpPr>
        <p:spPr>
          <a:xfrm>
            <a:off x="9820275" y="2533650"/>
            <a:ext cx="171450" cy="171450"/>
          </a:xfrm>
          <a:prstGeom prst="ellipse">
            <a:avLst/>
          </a:prstGeom>
          <a:solidFill>
            <a:srgbClr val="E67E22"/>
          </a:solidFill>
          <a:ln>
            <a:noFill/>
          </a:ln>
        </p:spPr>
      </p:sp>
      <p:sp>
        <p:nvSpPr>
          <p:cNvPr id="124" name="Ellipse 124"/>
          <p:cNvSpPr/>
          <p:nvPr/>
        </p:nvSpPr>
        <p:spPr>
          <a:xfrm>
            <a:off x="9858375" y="2571750"/>
            <a:ext cx="95250" cy="95250"/>
          </a:xfrm>
          <a:prstGeom prst="ellipse">
            <a:avLst/>
          </a:prstGeom>
          <a:solidFill>
            <a:srgbClr val="FFFFFF"/>
          </a:solidFill>
          <a:ln>
            <a:noFill/>
          </a:ln>
        </p:spPr>
      </p:sp>
      <p:sp>
        <p:nvSpPr>
          <p:cNvPr id="125" name="TextBox 125"/>
          <p:cNvSpPr txBox="1"/>
          <p:nvPr/>
        </p:nvSpPr>
        <p:spPr>
          <a:xfrm>
            <a:off x="10107930" y="2592705"/>
            <a:ext cx="59246" cy="121920"/>
          </a:xfrm>
          <a:prstGeom prst="rect">
            <a:avLst/>
          </a:prstGeom>
          <a:noFill/>
          <a:ln>
            <a:noFill/>
          </a:ln>
        </p:spPr>
        <p:txBody>
          <a:bodyPr wrap="none" lIns="0" tIns="0" rIns="0" bIns="0" anchor="t" anchorCtr="0">
            <a:spAutoFit/>
          </a:bodyPr>
          <a:lstStyle/>
          <a:p>
            <a:pPr algn="l"/>
            <a:r>
              <a:rPr lang="zh-CN" sz="600" dirty="0">
                <a:solidFill>
                  <a:srgbClr val="E67E22"/>
                </a:solidFill>
                <a:latin typeface="Arial"/>
                <a:ea typeface="Microsoft YaHei"/>
                <a:cs typeface="Arial"/>
              </a:rPr>
              <a:t>5</a:t>
            </a:r>
          </a:p>
        </p:txBody>
      </p:sp>
      <p:sp>
        <p:nvSpPr>
          <p:cNvPr id="126" name="Ellipse 126"/>
          <p:cNvSpPr/>
          <p:nvPr/>
        </p:nvSpPr>
        <p:spPr>
          <a:xfrm>
            <a:off x="9582150" y="3800475"/>
            <a:ext cx="171450" cy="171450"/>
          </a:xfrm>
          <a:prstGeom prst="ellipse">
            <a:avLst/>
          </a:prstGeom>
          <a:solidFill>
            <a:srgbClr val="E67E22"/>
          </a:solidFill>
          <a:ln>
            <a:noFill/>
          </a:ln>
        </p:spPr>
      </p:sp>
      <p:sp>
        <p:nvSpPr>
          <p:cNvPr id="127" name="Ellipse 127"/>
          <p:cNvSpPr/>
          <p:nvPr/>
        </p:nvSpPr>
        <p:spPr>
          <a:xfrm>
            <a:off x="9620250" y="3838575"/>
            <a:ext cx="95250" cy="95250"/>
          </a:xfrm>
          <a:prstGeom prst="ellipse">
            <a:avLst/>
          </a:prstGeom>
          <a:solidFill>
            <a:srgbClr val="FFFFFF"/>
          </a:solidFill>
          <a:ln>
            <a:noFill/>
          </a:ln>
        </p:spPr>
      </p:sp>
      <p:sp>
        <p:nvSpPr>
          <p:cNvPr id="128" name="TextBox 128"/>
          <p:cNvSpPr txBox="1"/>
          <p:nvPr/>
        </p:nvSpPr>
        <p:spPr>
          <a:xfrm>
            <a:off x="9869805" y="3859530"/>
            <a:ext cx="59246" cy="121920"/>
          </a:xfrm>
          <a:prstGeom prst="rect">
            <a:avLst/>
          </a:prstGeom>
          <a:noFill/>
          <a:ln>
            <a:noFill/>
          </a:ln>
        </p:spPr>
        <p:txBody>
          <a:bodyPr wrap="none" lIns="0" tIns="0" rIns="0" bIns="0" anchor="t" anchorCtr="0">
            <a:spAutoFit/>
          </a:bodyPr>
          <a:lstStyle/>
          <a:p>
            <a:pPr algn="l"/>
            <a:r>
              <a:rPr lang="zh-CN" sz="600" dirty="0">
                <a:solidFill>
                  <a:srgbClr val="E67E22"/>
                </a:solidFill>
                <a:latin typeface="Arial"/>
                <a:ea typeface="Microsoft YaHei"/>
                <a:cs typeface="Arial"/>
              </a:rPr>
              <a:t>6</a:t>
            </a:r>
          </a:p>
        </p:txBody>
      </p:sp>
      <p:sp>
        <p:nvSpPr>
          <p:cNvPr id="129" name="Ellipse 129"/>
          <p:cNvSpPr/>
          <p:nvPr/>
        </p:nvSpPr>
        <p:spPr>
          <a:xfrm>
            <a:off x="8534400" y="2752725"/>
            <a:ext cx="171450" cy="171450"/>
          </a:xfrm>
          <a:prstGeom prst="ellipse">
            <a:avLst/>
          </a:prstGeom>
          <a:solidFill>
            <a:srgbClr val="E67E22"/>
          </a:solidFill>
          <a:ln>
            <a:noFill/>
          </a:ln>
        </p:spPr>
      </p:sp>
      <p:sp>
        <p:nvSpPr>
          <p:cNvPr id="130" name="Ellipse 130"/>
          <p:cNvSpPr/>
          <p:nvPr/>
        </p:nvSpPr>
        <p:spPr>
          <a:xfrm>
            <a:off x="8572500" y="2790825"/>
            <a:ext cx="95250" cy="95250"/>
          </a:xfrm>
          <a:prstGeom prst="ellipse">
            <a:avLst/>
          </a:prstGeom>
          <a:solidFill>
            <a:srgbClr val="FFFFFF"/>
          </a:solidFill>
          <a:ln>
            <a:noFill/>
          </a:ln>
        </p:spPr>
      </p:sp>
      <p:sp>
        <p:nvSpPr>
          <p:cNvPr id="131" name="TextBox 131"/>
          <p:cNvSpPr txBox="1"/>
          <p:nvPr/>
        </p:nvSpPr>
        <p:spPr>
          <a:xfrm>
            <a:off x="8326755" y="2811780"/>
            <a:ext cx="59246" cy="121920"/>
          </a:xfrm>
          <a:prstGeom prst="rect">
            <a:avLst/>
          </a:prstGeom>
          <a:noFill/>
          <a:ln>
            <a:noFill/>
          </a:ln>
        </p:spPr>
        <p:txBody>
          <a:bodyPr wrap="none" lIns="0" tIns="0" rIns="0" bIns="0" anchor="t" anchorCtr="0">
            <a:spAutoFit/>
          </a:bodyPr>
          <a:lstStyle/>
          <a:p>
            <a:pPr algn="l"/>
            <a:r>
              <a:rPr lang="zh-CN" sz="600" dirty="0">
                <a:solidFill>
                  <a:srgbClr val="E67E22"/>
                </a:solidFill>
                <a:latin typeface="Arial"/>
                <a:ea typeface="Microsoft YaHei"/>
                <a:cs typeface="Arial"/>
              </a:rPr>
              <a:t>7</a:t>
            </a:r>
          </a:p>
        </p:txBody>
      </p:sp>
      <p:sp>
        <p:nvSpPr>
          <p:cNvPr id="132" name="Ellipse 132"/>
          <p:cNvSpPr/>
          <p:nvPr/>
        </p:nvSpPr>
        <p:spPr>
          <a:xfrm>
            <a:off x="8534400" y="3800475"/>
            <a:ext cx="171450" cy="171450"/>
          </a:xfrm>
          <a:prstGeom prst="ellipse">
            <a:avLst/>
          </a:prstGeom>
          <a:solidFill>
            <a:srgbClr val="1E8449"/>
          </a:solidFill>
          <a:ln>
            <a:noFill/>
          </a:ln>
        </p:spPr>
      </p:sp>
      <p:sp>
        <p:nvSpPr>
          <p:cNvPr id="133" name="Ellipse 133"/>
          <p:cNvSpPr/>
          <p:nvPr/>
        </p:nvSpPr>
        <p:spPr>
          <a:xfrm>
            <a:off x="8572500" y="3838575"/>
            <a:ext cx="95250" cy="95250"/>
          </a:xfrm>
          <a:prstGeom prst="ellipse">
            <a:avLst/>
          </a:prstGeom>
          <a:solidFill>
            <a:srgbClr val="FFFFFF"/>
          </a:solidFill>
          <a:ln>
            <a:noFill/>
          </a:ln>
        </p:spPr>
      </p:sp>
      <p:sp>
        <p:nvSpPr>
          <p:cNvPr id="134" name="TextBox 134"/>
          <p:cNvSpPr txBox="1"/>
          <p:nvPr/>
        </p:nvSpPr>
        <p:spPr>
          <a:xfrm>
            <a:off x="8326755" y="3859530"/>
            <a:ext cx="59246" cy="121920"/>
          </a:xfrm>
          <a:prstGeom prst="rect">
            <a:avLst/>
          </a:prstGeom>
          <a:noFill/>
          <a:ln>
            <a:noFill/>
          </a:ln>
        </p:spPr>
        <p:txBody>
          <a:bodyPr wrap="none" lIns="0" tIns="0" rIns="0" bIns="0" anchor="t" anchorCtr="0">
            <a:spAutoFit/>
          </a:bodyPr>
          <a:lstStyle/>
          <a:p>
            <a:pPr algn="l"/>
            <a:r>
              <a:rPr lang="zh-CN" sz="600" dirty="0">
                <a:solidFill>
                  <a:srgbClr val="1E8449"/>
                </a:solidFill>
                <a:latin typeface="Arial"/>
                <a:ea typeface="Microsoft YaHei"/>
                <a:cs typeface="Arial"/>
              </a:rPr>
              <a:t>8</a:t>
            </a:r>
          </a:p>
        </p:txBody>
      </p:sp>
      <p:sp>
        <p:nvSpPr>
          <p:cNvPr id="135" name="Rectangle 135"/>
          <p:cNvSpPr/>
          <p:nvPr/>
        </p:nvSpPr>
        <p:spPr>
          <a:xfrm>
            <a:off x="7905750" y="4972050"/>
            <a:ext cx="114300" cy="114300"/>
          </a:xfrm>
          <a:prstGeom prst="roundRect">
            <a:avLst>
              <a:gd name="adj" fmla="val 25000"/>
            </a:avLst>
          </a:prstGeom>
          <a:solidFill>
            <a:srgbClr val="C0392B"/>
          </a:solidFill>
          <a:ln>
            <a:noFill/>
          </a:ln>
        </p:spPr>
      </p:sp>
      <p:sp>
        <p:nvSpPr>
          <p:cNvPr id="136" name="TextBox 136"/>
          <p:cNvSpPr txBox="1"/>
          <p:nvPr/>
        </p:nvSpPr>
        <p:spPr>
          <a:xfrm>
            <a:off x="8067675" y="4995862"/>
            <a:ext cx="129064" cy="152400"/>
          </a:xfrm>
          <a:prstGeom prst="rect">
            <a:avLst/>
          </a:prstGeom>
          <a:noFill/>
          <a:ln>
            <a:noFill/>
          </a:ln>
        </p:spPr>
        <p:txBody>
          <a:bodyPr wrap="none" lIns="0" tIns="0" rIns="0" bIns="0" anchor="t" anchorCtr="0">
            <a:spAutoFit/>
          </a:bodyPr>
          <a:lstStyle/>
          <a:p>
            <a:pPr algn="l"/>
            <a:r>
              <a:rPr lang="zh-CN" sz="750" dirty="0">
                <a:solidFill>
                  <a:srgbClr val="7F8C8D"/>
                </a:solidFill>
                <a:latin typeface="Arial"/>
                <a:ea typeface="Microsoft YaHei"/>
                <a:cs typeface="Arial"/>
              </a:rPr>
              <a:t>P0</a:t>
            </a:r>
          </a:p>
        </p:txBody>
      </p:sp>
      <p:sp>
        <p:nvSpPr>
          <p:cNvPr id="137" name="Rectangle 137"/>
          <p:cNvSpPr/>
          <p:nvPr/>
        </p:nvSpPr>
        <p:spPr>
          <a:xfrm>
            <a:off x="8382000" y="4972050"/>
            <a:ext cx="114300" cy="114300"/>
          </a:xfrm>
          <a:prstGeom prst="roundRect">
            <a:avLst>
              <a:gd name="adj" fmla="val 25000"/>
            </a:avLst>
          </a:prstGeom>
          <a:solidFill>
            <a:srgbClr val="E67E22"/>
          </a:solidFill>
          <a:ln>
            <a:noFill/>
          </a:ln>
        </p:spPr>
      </p:sp>
      <p:sp>
        <p:nvSpPr>
          <p:cNvPr id="138" name="TextBox 138"/>
          <p:cNvSpPr txBox="1"/>
          <p:nvPr/>
        </p:nvSpPr>
        <p:spPr>
          <a:xfrm>
            <a:off x="8543925" y="4995862"/>
            <a:ext cx="129064" cy="152400"/>
          </a:xfrm>
          <a:prstGeom prst="rect">
            <a:avLst/>
          </a:prstGeom>
          <a:noFill/>
          <a:ln>
            <a:noFill/>
          </a:ln>
        </p:spPr>
        <p:txBody>
          <a:bodyPr wrap="none" lIns="0" tIns="0" rIns="0" bIns="0" anchor="t" anchorCtr="0">
            <a:spAutoFit/>
          </a:bodyPr>
          <a:lstStyle/>
          <a:p>
            <a:pPr algn="l"/>
            <a:r>
              <a:rPr lang="zh-CN" sz="750" dirty="0">
                <a:solidFill>
                  <a:srgbClr val="7F8C8D"/>
                </a:solidFill>
                <a:latin typeface="Arial"/>
                <a:ea typeface="Microsoft YaHei"/>
                <a:cs typeface="Arial"/>
              </a:rPr>
              <a:t>P1</a:t>
            </a:r>
          </a:p>
        </p:txBody>
      </p:sp>
      <p:sp>
        <p:nvSpPr>
          <p:cNvPr id="139" name="Rectangle 139"/>
          <p:cNvSpPr/>
          <p:nvPr/>
        </p:nvSpPr>
        <p:spPr>
          <a:xfrm>
            <a:off x="8858250" y="4972050"/>
            <a:ext cx="114300" cy="114300"/>
          </a:xfrm>
          <a:prstGeom prst="roundRect">
            <a:avLst>
              <a:gd name="adj" fmla="val 25000"/>
            </a:avLst>
          </a:prstGeom>
          <a:solidFill>
            <a:srgbClr val="1E8449"/>
          </a:solidFill>
          <a:ln>
            <a:noFill/>
          </a:ln>
        </p:spPr>
      </p:sp>
      <p:sp>
        <p:nvSpPr>
          <p:cNvPr id="140" name="TextBox 140"/>
          <p:cNvSpPr txBox="1"/>
          <p:nvPr/>
        </p:nvSpPr>
        <p:spPr>
          <a:xfrm>
            <a:off x="9020175" y="4995862"/>
            <a:ext cx="129064" cy="152400"/>
          </a:xfrm>
          <a:prstGeom prst="rect">
            <a:avLst/>
          </a:prstGeom>
          <a:noFill/>
          <a:ln>
            <a:noFill/>
          </a:ln>
        </p:spPr>
        <p:txBody>
          <a:bodyPr wrap="none" lIns="0" tIns="0" rIns="0" bIns="0" anchor="t" anchorCtr="0">
            <a:spAutoFit/>
          </a:bodyPr>
          <a:lstStyle/>
          <a:p>
            <a:pPr algn="l"/>
            <a:r>
              <a:rPr lang="zh-CN" sz="750" dirty="0">
                <a:solidFill>
                  <a:srgbClr val="7F8C8D"/>
                </a:solidFill>
                <a:latin typeface="Arial"/>
                <a:ea typeface="Microsoft YaHei"/>
                <a:cs typeface="Arial"/>
              </a:rPr>
              <a:t>P2</a:t>
            </a:r>
          </a:p>
        </p:txBody>
      </p:sp>
      <p:sp>
        <p:nvSpPr>
          <p:cNvPr id="141" name="Rectangle 141"/>
          <p:cNvSpPr/>
          <p:nvPr/>
        </p:nvSpPr>
        <p:spPr>
          <a:xfrm>
            <a:off x="381000" y="4629150"/>
            <a:ext cx="11239500" cy="457200"/>
          </a:xfrm>
          <a:prstGeom prst="roundRect">
            <a:avLst>
              <a:gd name="adj" fmla="val 20833"/>
            </a:avLst>
          </a:prstGeom>
          <a:solidFill>
            <a:srgbClr val="C0392B">
              <a:alpha val="4000"/>
            </a:srgbClr>
          </a:solidFill>
          <a:ln>
            <a:noFill/>
          </a:ln>
        </p:spPr>
      </p:sp>
      <p:sp>
        <p:nvSpPr>
          <p:cNvPr id="142" name="Rectangle 142"/>
          <p:cNvSpPr/>
          <p:nvPr/>
        </p:nvSpPr>
        <p:spPr>
          <a:xfrm>
            <a:off x="419100" y="4667250"/>
            <a:ext cx="11163300" cy="381000"/>
          </a:xfrm>
          <a:prstGeom prst="roundRect">
            <a:avLst>
              <a:gd name="adj" fmla="val 20000"/>
            </a:avLst>
          </a:prstGeom>
          <a:solidFill>
            <a:srgbClr val="F5F0EA"/>
          </a:solidFill>
          <a:ln>
            <a:noFill/>
          </a:ln>
        </p:spPr>
      </p:sp>
      <p:sp>
        <p:nvSpPr>
          <p:cNvPr id="143" name="TextBox 143"/>
          <p:cNvSpPr txBox="1"/>
          <p:nvPr/>
        </p:nvSpPr>
        <p:spPr>
          <a:xfrm>
            <a:off x="654368" y="4809649"/>
            <a:ext cx="707350" cy="198120"/>
          </a:xfrm>
          <a:prstGeom prst="rect">
            <a:avLst/>
          </a:prstGeom>
          <a:noFill/>
          <a:ln>
            <a:noFill/>
          </a:ln>
        </p:spPr>
        <p:txBody>
          <a:bodyPr wrap="none" lIns="0" tIns="0" rIns="0" bIns="0" anchor="t" anchorCtr="0">
            <a:spAutoFit/>
          </a:bodyPr>
          <a:lstStyle/>
          <a:p>
            <a:pPr algn="l"/>
            <a:r>
              <a:rPr lang="zh-CN" sz="975" b="1" dirty="0">
                <a:solidFill>
                  <a:srgbClr val="C0392B"/>
                </a:solidFill>
                <a:latin typeface="Arial"/>
                <a:ea typeface="Microsoft YaHei"/>
                <a:cs typeface="Arial"/>
              </a:rPr>
              <a:t>核心结论：</a:t>
            </a:r>
          </a:p>
        </p:txBody>
      </p:sp>
      <p:sp>
        <p:nvSpPr>
          <p:cNvPr id="144" name="TextBox 144"/>
          <p:cNvSpPr txBox="1"/>
          <p:nvPr/>
        </p:nvSpPr>
        <p:spPr>
          <a:xfrm>
            <a:off x="1606868" y="4809649"/>
            <a:ext cx="4874371"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跨店清算=核心价值主张——优先级最高。消费金=合规底线——五项不可一项不能突破。</a:t>
            </a:r>
          </a:p>
        </p:txBody>
      </p:sp>
      <p:sp>
        <p:nvSpPr>
          <p:cNvPr id="145" name="Rectangle 145"/>
          <p:cNvSpPr/>
          <p:nvPr/>
        </p:nvSpPr>
        <p:spPr>
          <a:xfrm>
            <a:off x="381000" y="5200650"/>
            <a:ext cx="11239500" cy="533400"/>
          </a:xfrm>
          <a:prstGeom prst="roundRect">
            <a:avLst>
              <a:gd name="adj" fmla="val 17857"/>
            </a:avLst>
          </a:prstGeom>
          <a:solidFill>
            <a:srgbClr val="1A5276">
              <a:alpha val="4000"/>
            </a:srgbClr>
          </a:solidFill>
          <a:ln>
            <a:noFill/>
          </a:ln>
        </p:spPr>
      </p:sp>
      <p:sp>
        <p:nvSpPr>
          <p:cNvPr id="146" name="Rectangle 146"/>
          <p:cNvSpPr/>
          <p:nvPr/>
        </p:nvSpPr>
        <p:spPr>
          <a:xfrm>
            <a:off x="419100" y="5238750"/>
            <a:ext cx="11163300" cy="457200"/>
          </a:xfrm>
          <a:prstGeom prst="roundRect">
            <a:avLst>
              <a:gd name="adj" fmla="val 16667"/>
            </a:avLst>
          </a:prstGeom>
          <a:solidFill>
            <a:srgbClr val="F5F0EA"/>
          </a:solidFill>
          <a:ln>
            <a:noFill/>
          </a:ln>
        </p:spPr>
      </p:sp>
      <p:sp>
        <p:nvSpPr>
          <p:cNvPr id="147" name="Rectangle 147"/>
          <p:cNvSpPr/>
          <p:nvPr/>
        </p:nvSpPr>
        <p:spPr>
          <a:xfrm>
            <a:off x="666750" y="5334000"/>
            <a:ext cx="381000" cy="266700"/>
          </a:xfrm>
          <a:prstGeom prst="roundRect">
            <a:avLst>
              <a:gd name="adj" fmla="val 21429"/>
            </a:avLst>
          </a:prstGeom>
          <a:solidFill>
            <a:srgbClr val="C0392B">
              <a:alpha val="12000"/>
            </a:srgbClr>
          </a:solidFill>
          <a:ln>
            <a:noFill/>
          </a:ln>
        </p:spPr>
      </p:sp>
      <p:sp>
        <p:nvSpPr>
          <p:cNvPr id="148" name="TextBox 148"/>
          <p:cNvSpPr txBox="1"/>
          <p:nvPr/>
        </p:nvSpPr>
        <p:spPr>
          <a:xfrm>
            <a:off x="783240" y="5425916"/>
            <a:ext cx="148021" cy="167640"/>
          </a:xfrm>
          <a:prstGeom prst="rect">
            <a:avLst/>
          </a:prstGeom>
          <a:noFill/>
          <a:ln>
            <a:noFill/>
          </a:ln>
        </p:spPr>
        <p:txBody>
          <a:bodyPr wrap="none" lIns="0" tIns="0" rIns="0" bIns="0" anchor="t" anchorCtr="0">
            <a:spAutoFit/>
          </a:bodyPr>
          <a:lstStyle/>
          <a:p>
            <a:pPr algn="ctr"/>
            <a:r>
              <a:rPr lang="zh-CN" sz="825" b="1" dirty="0">
                <a:solidFill>
                  <a:srgbClr val="C0392B"/>
                </a:solidFill>
                <a:latin typeface="Arial"/>
                <a:ea typeface="Microsoft YaHei"/>
                <a:cs typeface="Arial"/>
              </a:rPr>
              <a:t>P0</a:t>
            </a:r>
          </a:p>
        </p:txBody>
      </p:sp>
      <p:sp>
        <p:nvSpPr>
          <p:cNvPr id="149" name="TextBox 149"/>
          <p:cNvSpPr txBox="1"/>
          <p:nvPr/>
        </p:nvSpPr>
        <p:spPr>
          <a:xfrm>
            <a:off x="1131570" y="5417820"/>
            <a:ext cx="1667066"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2项 高影响 核心价值/合规底线</a:t>
            </a:r>
          </a:p>
        </p:txBody>
      </p:sp>
      <p:sp>
        <p:nvSpPr>
          <p:cNvPr id="150" name="Rectangle 150"/>
          <p:cNvSpPr/>
          <p:nvPr/>
        </p:nvSpPr>
        <p:spPr>
          <a:xfrm>
            <a:off x="4191000" y="5334000"/>
            <a:ext cx="381000" cy="266700"/>
          </a:xfrm>
          <a:prstGeom prst="roundRect">
            <a:avLst>
              <a:gd name="adj" fmla="val 21429"/>
            </a:avLst>
          </a:prstGeom>
          <a:solidFill>
            <a:srgbClr val="E67E22">
              <a:alpha val="12000"/>
            </a:srgbClr>
          </a:solidFill>
          <a:ln>
            <a:noFill/>
          </a:ln>
        </p:spPr>
      </p:sp>
      <p:sp>
        <p:nvSpPr>
          <p:cNvPr id="151" name="TextBox 151"/>
          <p:cNvSpPr txBox="1"/>
          <p:nvPr/>
        </p:nvSpPr>
        <p:spPr>
          <a:xfrm>
            <a:off x="4307490" y="5425916"/>
            <a:ext cx="148021" cy="167640"/>
          </a:xfrm>
          <a:prstGeom prst="rect">
            <a:avLst/>
          </a:prstGeom>
          <a:noFill/>
          <a:ln>
            <a:noFill/>
          </a:ln>
        </p:spPr>
        <p:txBody>
          <a:bodyPr wrap="none" lIns="0" tIns="0" rIns="0" bIns="0" anchor="t" anchorCtr="0">
            <a:spAutoFit/>
          </a:bodyPr>
          <a:lstStyle/>
          <a:p>
            <a:pPr algn="ctr"/>
            <a:r>
              <a:rPr lang="zh-CN" sz="825" b="1" dirty="0">
                <a:solidFill>
                  <a:srgbClr val="E67E22"/>
                </a:solidFill>
                <a:latin typeface="Arial"/>
                <a:ea typeface="Microsoft YaHei"/>
                <a:cs typeface="Arial"/>
              </a:rPr>
              <a:t>P1</a:t>
            </a:r>
          </a:p>
        </p:txBody>
      </p:sp>
      <p:sp>
        <p:nvSpPr>
          <p:cNvPr id="152" name="TextBox 152"/>
          <p:cNvSpPr txBox="1"/>
          <p:nvPr/>
        </p:nvSpPr>
        <p:spPr>
          <a:xfrm>
            <a:off x="4655820" y="5417820"/>
            <a:ext cx="1361027"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5项 中影响 可管理可缓解</a:t>
            </a:r>
          </a:p>
        </p:txBody>
      </p:sp>
      <p:sp>
        <p:nvSpPr>
          <p:cNvPr id="153" name="Rectangle 153"/>
          <p:cNvSpPr/>
          <p:nvPr/>
        </p:nvSpPr>
        <p:spPr>
          <a:xfrm>
            <a:off x="7715250" y="5334000"/>
            <a:ext cx="381000" cy="266700"/>
          </a:xfrm>
          <a:prstGeom prst="roundRect">
            <a:avLst>
              <a:gd name="adj" fmla="val 21429"/>
            </a:avLst>
          </a:prstGeom>
          <a:solidFill>
            <a:srgbClr val="1E8449">
              <a:alpha val="12000"/>
            </a:srgbClr>
          </a:solidFill>
          <a:ln>
            <a:noFill/>
          </a:ln>
        </p:spPr>
      </p:sp>
      <p:sp>
        <p:nvSpPr>
          <p:cNvPr id="154" name="TextBox 154"/>
          <p:cNvSpPr txBox="1"/>
          <p:nvPr/>
        </p:nvSpPr>
        <p:spPr>
          <a:xfrm>
            <a:off x="7831740" y="5425916"/>
            <a:ext cx="148021" cy="167640"/>
          </a:xfrm>
          <a:prstGeom prst="rect">
            <a:avLst/>
          </a:prstGeom>
          <a:noFill/>
          <a:ln>
            <a:noFill/>
          </a:ln>
        </p:spPr>
        <p:txBody>
          <a:bodyPr wrap="none" lIns="0" tIns="0" rIns="0" bIns="0" anchor="t" anchorCtr="0">
            <a:spAutoFit/>
          </a:bodyPr>
          <a:lstStyle/>
          <a:p>
            <a:pPr algn="ctr"/>
            <a:r>
              <a:rPr lang="zh-CN" sz="825" b="1" dirty="0">
                <a:solidFill>
                  <a:srgbClr val="1E8449"/>
                </a:solidFill>
                <a:latin typeface="Arial"/>
                <a:ea typeface="Microsoft YaHei"/>
                <a:cs typeface="Arial"/>
              </a:rPr>
              <a:t>P2</a:t>
            </a:r>
          </a:p>
        </p:txBody>
      </p:sp>
      <p:sp>
        <p:nvSpPr>
          <p:cNvPr id="155" name="TextBox 155"/>
          <p:cNvSpPr txBox="1"/>
          <p:nvPr/>
        </p:nvSpPr>
        <p:spPr>
          <a:xfrm>
            <a:off x="8180070" y="5417820"/>
            <a:ext cx="148104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1项 低影响 品类护城河已建</a:t>
            </a:r>
          </a:p>
        </p:txBody>
      </p:sp>
      <p:sp>
        <p:nvSpPr>
          <p:cNvPr id="156" name="TextBox 156"/>
          <p:cNvSpPr txBox="1"/>
          <p:nvPr/>
        </p:nvSpPr>
        <p:spPr>
          <a:xfrm>
            <a:off x="11477054" y="664654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45</a:t>
            </a:r>
          </a:p>
        </p:txBody>
      </p:sp>
      <p:sp>
        <p:nvSpPr>
          <p:cNvPr id="157" name="TextBox 157"/>
          <p:cNvSpPr txBox="1"/>
          <p:nvPr/>
        </p:nvSpPr>
        <p:spPr>
          <a:xfrm>
            <a:off x="560070" y="664654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76250"/>
            <a:ext cx="57150" cy="381000"/>
          </a:xfrm>
          <a:prstGeom prst="roundRect">
            <a:avLst>
              <a:gd name="adj" fmla="val 50000"/>
            </a:avLst>
          </a:prstGeom>
          <a:solidFill>
            <a:srgbClr val="1E8449"/>
          </a:solidFill>
          <a:ln>
            <a:noFill/>
          </a:ln>
        </p:spPr>
      </p:sp>
      <p:sp>
        <p:nvSpPr>
          <p:cNvPr id="4" name="TextBox 4"/>
          <p:cNvSpPr txBox="1"/>
          <p:nvPr/>
        </p:nvSpPr>
        <p:spPr>
          <a:xfrm>
            <a:off x="775335" y="470535"/>
            <a:ext cx="4389120"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卷四总结：合规底线一页纸</a:t>
            </a:r>
          </a:p>
        </p:txBody>
      </p:sp>
      <p:sp>
        <p:nvSpPr>
          <p:cNvPr id="5" name="Rectangle 5"/>
          <p:cNvSpPr/>
          <p:nvPr/>
        </p:nvSpPr>
        <p:spPr>
          <a:xfrm>
            <a:off x="571500" y="1143000"/>
            <a:ext cx="11049000" cy="952500"/>
          </a:xfrm>
          <a:prstGeom prst="roundRect">
            <a:avLst>
              <a:gd name="adj" fmla="val 14000"/>
            </a:avLst>
          </a:prstGeom>
          <a:solidFill>
            <a:srgbClr val="F5F0EA"/>
          </a:solidFill>
          <a:ln>
            <a:noFill/>
          </a:ln>
          <a:effectLst>
            <a:outerShdw blurRad="76200" dist="19050" dir="5400000" algn="ctr" rotWithShape="0">
              <a:srgbClr val="2C2C2C">
                <a:alpha val="4500"/>
              </a:srgbClr>
            </a:outerShdw>
          </a:effectLst>
        </p:spPr>
      </p:sp>
      <p:sp>
        <p:nvSpPr>
          <p:cNvPr id="6" name="Rectangle 6"/>
          <p:cNvSpPr/>
          <p:nvPr/>
        </p:nvSpPr>
        <p:spPr>
          <a:xfrm>
            <a:off x="571500" y="1143000"/>
            <a:ext cx="76200" cy="952500"/>
          </a:xfrm>
          <a:prstGeom prst="roundRect">
            <a:avLst>
              <a:gd name="adj" fmla="val 50000"/>
            </a:avLst>
          </a:prstGeom>
          <a:solidFill>
            <a:srgbClr val="C0392B"/>
          </a:solidFill>
          <a:ln>
            <a:noFill/>
          </a:ln>
        </p:spPr>
      </p:sp>
      <p:sp>
        <p:nvSpPr>
          <p:cNvPr id="7" name="TextBox 7"/>
          <p:cNvSpPr txBox="1"/>
          <p:nvPr/>
        </p:nvSpPr>
        <p:spPr>
          <a:xfrm>
            <a:off x="889635" y="1237298"/>
            <a:ext cx="192548" cy="396240"/>
          </a:xfrm>
          <a:prstGeom prst="rect">
            <a:avLst/>
          </a:prstGeom>
          <a:noFill/>
          <a:ln>
            <a:noFill/>
          </a:ln>
        </p:spPr>
        <p:txBody>
          <a:bodyPr wrap="none" lIns="0" tIns="0" rIns="0" bIns="0" anchor="t" anchorCtr="0">
            <a:spAutoFit/>
          </a:bodyPr>
          <a:lstStyle/>
          <a:p>
            <a:pPr algn="l"/>
            <a:r>
              <a:rPr lang="zh-CN" sz="1950" dirty="0">
                <a:solidFill>
                  <a:srgbClr val="C0392B"/>
                </a:solidFill>
                <a:latin typeface="Georgia"/>
                <a:ea typeface="KaiTi"/>
                <a:cs typeface="Georgia"/>
              </a:rPr>
              <a:t>1</a:t>
            </a:r>
          </a:p>
        </p:txBody>
      </p:sp>
      <p:sp>
        <p:nvSpPr>
          <p:cNvPr id="8" name="TextBox 8"/>
          <p:cNvSpPr txBox="1"/>
          <p:nvPr/>
        </p:nvSpPr>
        <p:spPr>
          <a:xfrm>
            <a:off x="1215390" y="1253490"/>
            <a:ext cx="1053846" cy="365760"/>
          </a:xfrm>
          <a:prstGeom prst="rect">
            <a:avLst/>
          </a:prstGeom>
          <a:noFill/>
          <a:ln>
            <a:noFill/>
          </a:ln>
        </p:spPr>
        <p:txBody>
          <a:bodyPr wrap="none" lIns="0" tIns="0" rIns="0" bIns="0" anchor="t" anchorCtr="0">
            <a:spAutoFit/>
          </a:bodyPr>
          <a:lstStyle/>
          <a:p>
            <a:pPr algn="l"/>
            <a:r>
              <a:rPr lang="zh-CN" sz="1800" b="1" dirty="0">
                <a:solidFill>
                  <a:srgbClr val="2C2C2C"/>
                </a:solidFill>
                <a:latin typeface="Georgia"/>
                <a:ea typeface="KaiTi"/>
                <a:cs typeface="Georgia"/>
              </a:rPr>
              <a:t>三条红线</a:t>
            </a:r>
          </a:p>
        </p:txBody>
      </p:sp>
      <p:sp>
        <p:nvSpPr>
          <p:cNvPr id="9" name="TextBox 9"/>
          <p:cNvSpPr txBox="1"/>
          <p:nvPr/>
        </p:nvSpPr>
        <p:spPr>
          <a:xfrm>
            <a:off x="1223962" y="1593056"/>
            <a:ext cx="322397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积分不可兑现 . 不可形成资金池 . 不可承诺收益</a:t>
            </a:r>
          </a:p>
        </p:txBody>
      </p:sp>
      <p:sp>
        <p:nvSpPr>
          <p:cNvPr id="10" name="TextBox 10"/>
          <p:cNvSpPr txBox="1"/>
          <p:nvPr/>
        </p:nvSpPr>
        <p:spPr>
          <a:xfrm>
            <a:off x="1225868" y="1837849"/>
            <a:ext cx="1604462" cy="198120"/>
          </a:xfrm>
          <a:prstGeom prst="rect">
            <a:avLst/>
          </a:prstGeom>
          <a:noFill/>
          <a:ln>
            <a:noFill/>
          </a:ln>
        </p:spPr>
        <p:txBody>
          <a:bodyPr wrap="none" lIns="0" tIns="0" rIns="0" bIns="0" anchor="t" anchorCtr="0">
            <a:spAutoFit/>
          </a:bodyPr>
          <a:lstStyle/>
          <a:p>
            <a:pPr algn="l"/>
            <a:r>
              <a:rPr lang="zh-CN" sz="975" dirty="0">
                <a:solidFill>
                  <a:srgbClr val="C0392B"/>
                </a:solidFill>
                <a:latin typeface="Arial"/>
                <a:ea typeface="Microsoft YaHei"/>
                <a:cs typeface="Arial"/>
              </a:rPr>
              <a:t>任何一条突破 = 生存权归零</a:t>
            </a:r>
          </a:p>
        </p:txBody>
      </p:sp>
      <p:sp>
        <p:nvSpPr>
          <p:cNvPr id="11" name="Rectangle 11"/>
          <p:cNvSpPr/>
          <p:nvPr/>
        </p:nvSpPr>
        <p:spPr>
          <a:xfrm>
            <a:off x="571500" y="2266950"/>
            <a:ext cx="11049000" cy="685800"/>
          </a:xfrm>
          <a:prstGeom prst="roundRect">
            <a:avLst>
              <a:gd name="adj" fmla="val 19444"/>
            </a:avLst>
          </a:prstGeom>
          <a:solidFill>
            <a:srgbClr val="F5F0EA"/>
          </a:solidFill>
          <a:ln>
            <a:noFill/>
          </a:ln>
          <a:effectLst>
            <a:outerShdw blurRad="76200" dist="19050" dir="5400000" algn="ctr" rotWithShape="0">
              <a:srgbClr val="2C2C2C">
                <a:alpha val="4500"/>
              </a:srgbClr>
            </a:outerShdw>
          </a:effectLst>
        </p:spPr>
      </p:sp>
      <p:sp>
        <p:nvSpPr>
          <p:cNvPr id="12" name="Rectangle 12"/>
          <p:cNvSpPr/>
          <p:nvPr/>
        </p:nvSpPr>
        <p:spPr>
          <a:xfrm>
            <a:off x="571500" y="2266950"/>
            <a:ext cx="76200" cy="685800"/>
          </a:xfrm>
          <a:prstGeom prst="roundRect">
            <a:avLst>
              <a:gd name="adj" fmla="val 50000"/>
            </a:avLst>
          </a:prstGeom>
          <a:solidFill>
            <a:srgbClr val="E67E22"/>
          </a:solidFill>
          <a:ln>
            <a:noFill/>
          </a:ln>
        </p:spPr>
      </p:sp>
      <p:sp>
        <p:nvSpPr>
          <p:cNvPr id="13" name="TextBox 13"/>
          <p:cNvSpPr txBox="1"/>
          <p:nvPr/>
        </p:nvSpPr>
        <p:spPr>
          <a:xfrm>
            <a:off x="889635" y="2361248"/>
            <a:ext cx="192548" cy="396240"/>
          </a:xfrm>
          <a:prstGeom prst="rect">
            <a:avLst/>
          </a:prstGeom>
          <a:noFill/>
          <a:ln>
            <a:noFill/>
          </a:ln>
        </p:spPr>
        <p:txBody>
          <a:bodyPr wrap="none" lIns="0" tIns="0" rIns="0" bIns="0" anchor="t" anchorCtr="0">
            <a:spAutoFit/>
          </a:bodyPr>
          <a:lstStyle/>
          <a:p>
            <a:pPr algn="l"/>
            <a:r>
              <a:rPr lang="zh-CN" sz="1950" dirty="0">
                <a:solidFill>
                  <a:srgbClr val="E67E22"/>
                </a:solidFill>
                <a:latin typeface="Georgia"/>
                <a:ea typeface="KaiTi"/>
                <a:cs typeface="Georgia"/>
              </a:rPr>
              <a:t>2</a:t>
            </a:r>
          </a:p>
        </p:txBody>
      </p:sp>
      <p:sp>
        <p:nvSpPr>
          <p:cNvPr id="14" name="TextBox 14"/>
          <p:cNvSpPr txBox="1"/>
          <p:nvPr/>
        </p:nvSpPr>
        <p:spPr>
          <a:xfrm>
            <a:off x="1215390" y="2377440"/>
            <a:ext cx="2087175" cy="365760"/>
          </a:xfrm>
          <a:prstGeom prst="rect">
            <a:avLst/>
          </a:prstGeom>
          <a:noFill/>
          <a:ln>
            <a:noFill/>
          </a:ln>
        </p:spPr>
        <p:txBody>
          <a:bodyPr wrap="none" lIns="0" tIns="0" rIns="0" bIns="0" anchor="t" anchorCtr="0">
            <a:spAutoFit/>
          </a:bodyPr>
          <a:lstStyle/>
          <a:p>
            <a:pPr algn="l"/>
            <a:r>
              <a:rPr lang="zh-CN" sz="1800" b="1" dirty="0">
                <a:solidFill>
                  <a:srgbClr val="2C2C2C"/>
                </a:solidFill>
                <a:latin typeface="Georgia"/>
                <a:ea typeface="KaiTi"/>
                <a:cs typeface="Georgia"/>
              </a:rPr>
              <a:t>16组强制术语替换</a:t>
            </a:r>
          </a:p>
        </p:txBody>
      </p:sp>
      <p:sp>
        <p:nvSpPr>
          <p:cNvPr id="15" name="TextBox 15"/>
          <p:cNvSpPr txBox="1"/>
          <p:nvPr/>
        </p:nvSpPr>
        <p:spPr>
          <a:xfrm>
            <a:off x="1223962" y="2697956"/>
            <a:ext cx="5294233"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语言即合规——从「数字资产」到「消费权益」，所有对外材料必须通过术语扫描</a:t>
            </a:r>
          </a:p>
        </p:txBody>
      </p:sp>
      <p:sp>
        <p:nvSpPr>
          <p:cNvPr id="16" name="Rectangle 16"/>
          <p:cNvSpPr/>
          <p:nvPr/>
        </p:nvSpPr>
        <p:spPr>
          <a:xfrm>
            <a:off x="571500" y="3124200"/>
            <a:ext cx="11049000" cy="838200"/>
          </a:xfrm>
          <a:prstGeom prst="roundRect">
            <a:avLst>
              <a:gd name="adj" fmla="val 15909"/>
            </a:avLst>
          </a:prstGeom>
          <a:solidFill>
            <a:srgbClr val="F5F0EA"/>
          </a:solidFill>
          <a:ln>
            <a:noFill/>
          </a:ln>
          <a:effectLst>
            <a:outerShdw blurRad="76200" dist="19050" dir="5400000" algn="ctr" rotWithShape="0">
              <a:srgbClr val="2C2C2C">
                <a:alpha val="4500"/>
              </a:srgbClr>
            </a:outerShdw>
          </a:effectLst>
        </p:spPr>
      </p:sp>
      <p:sp>
        <p:nvSpPr>
          <p:cNvPr id="17" name="Rectangle 17"/>
          <p:cNvSpPr/>
          <p:nvPr/>
        </p:nvSpPr>
        <p:spPr>
          <a:xfrm>
            <a:off x="571500" y="3124200"/>
            <a:ext cx="76200" cy="838200"/>
          </a:xfrm>
          <a:prstGeom prst="roundRect">
            <a:avLst>
              <a:gd name="adj" fmla="val 50000"/>
            </a:avLst>
          </a:prstGeom>
          <a:solidFill>
            <a:srgbClr val="C0392B"/>
          </a:solidFill>
          <a:ln>
            <a:noFill/>
          </a:ln>
        </p:spPr>
      </p:sp>
      <p:sp>
        <p:nvSpPr>
          <p:cNvPr id="18" name="TextBox 18"/>
          <p:cNvSpPr txBox="1"/>
          <p:nvPr/>
        </p:nvSpPr>
        <p:spPr>
          <a:xfrm>
            <a:off x="889635" y="3218498"/>
            <a:ext cx="192548" cy="396240"/>
          </a:xfrm>
          <a:prstGeom prst="rect">
            <a:avLst/>
          </a:prstGeom>
          <a:noFill/>
          <a:ln>
            <a:noFill/>
          </a:ln>
        </p:spPr>
        <p:txBody>
          <a:bodyPr wrap="none" lIns="0" tIns="0" rIns="0" bIns="0" anchor="t" anchorCtr="0">
            <a:spAutoFit/>
          </a:bodyPr>
          <a:lstStyle/>
          <a:p>
            <a:pPr algn="l"/>
            <a:r>
              <a:rPr lang="zh-CN" sz="1950" dirty="0">
                <a:solidFill>
                  <a:srgbClr val="C0392B"/>
                </a:solidFill>
                <a:latin typeface="Georgia"/>
                <a:ea typeface="KaiTi"/>
                <a:cs typeface="Georgia"/>
              </a:rPr>
              <a:t>3</a:t>
            </a:r>
          </a:p>
        </p:txBody>
      </p:sp>
      <p:sp>
        <p:nvSpPr>
          <p:cNvPr id="19" name="TextBox 19"/>
          <p:cNvSpPr txBox="1"/>
          <p:nvPr/>
        </p:nvSpPr>
        <p:spPr>
          <a:xfrm>
            <a:off x="1215390" y="3234690"/>
            <a:ext cx="1305878" cy="365760"/>
          </a:xfrm>
          <a:prstGeom prst="rect">
            <a:avLst/>
          </a:prstGeom>
          <a:noFill/>
          <a:ln>
            <a:noFill/>
          </a:ln>
        </p:spPr>
        <p:txBody>
          <a:bodyPr wrap="none" lIns="0" tIns="0" rIns="0" bIns="0" anchor="t" anchorCtr="0">
            <a:spAutoFit/>
          </a:bodyPr>
          <a:lstStyle/>
          <a:p>
            <a:pPr algn="l"/>
            <a:r>
              <a:rPr lang="zh-CN" sz="1800" b="1" dirty="0">
                <a:solidFill>
                  <a:srgbClr val="2C2C2C"/>
                </a:solidFill>
                <a:latin typeface="Georgia"/>
                <a:ea typeface="KaiTi"/>
                <a:cs typeface="Georgia"/>
              </a:rPr>
              <a:t>消费金五不</a:t>
            </a:r>
          </a:p>
        </p:txBody>
      </p:sp>
      <p:sp>
        <p:nvSpPr>
          <p:cNvPr id="20" name="TextBox 20"/>
          <p:cNvSpPr txBox="1"/>
          <p:nvPr/>
        </p:nvSpPr>
        <p:spPr>
          <a:xfrm>
            <a:off x="1223962" y="3574256"/>
            <a:ext cx="3719036"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不可充值 . 不可提现 . 不可转让 . 不可买卖 . 不可兑现</a:t>
            </a:r>
          </a:p>
        </p:txBody>
      </p:sp>
      <p:sp>
        <p:nvSpPr>
          <p:cNvPr id="21" name="TextBox 21"/>
          <p:cNvSpPr txBox="1"/>
          <p:nvPr/>
        </p:nvSpPr>
        <p:spPr>
          <a:xfrm>
            <a:off x="1226820" y="3769995"/>
            <a:ext cx="3899344"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任何一项突破 → 可能被认定为「预付卡」或「电子货币」 → 触发支付监管</a:t>
            </a:r>
          </a:p>
        </p:txBody>
      </p:sp>
      <p:sp>
        <p:nvSpPr>
          <p:cNvPr id="22" name="Rectangle 22"/>
          <p:cNvSpPr/>
          <p:nvPr/>
        </p:nvSpPr>
        <p:spPr>
          <a:xfrm>
            <a:off x="571500" y="4133850"/>
            <a:ext cx="11049000" cy="685800"/>
          </a:xfrm>
          <a:prstGeom prst="roundRect">
            <a:avLst>
              <a:gd name="adj" fmla="val 19444"/>
            </a:avLst>
          </a:prstGeom>
          <a:solidFill>
            <a:srgbClr val="F5F0EA"/>
          </a:solidFill>
          <a:ln>
            <a:noFill/>
          </a:ln>
          <a:effectLst>
            <a:outerShdw blurRad="76200" dist="19050" dir="5400000" algn="ctr" rotWithShape="0">
              <a:srgbClr val="2C2C2C">
                <a:alpha val="4500"/>
              </a:srgbClr>
            </a:outerShdw>
          </a:effectLst>
        </p:spPr>
      </p:sp>
      <p:sp>
        <p:nvSpPr>
          <p:cNvPr id="23" name="Rectangle 23"/>
          <p:cNvSpPr/>
          <p:nvPr/>
        </p:nvSpPr>
        <p:spPr>
          <a:xfrm>
            <a:off x="571500" y="4133850"/>
            <a:ext cx="76200" cy="685800"/>
          </a:xfrm>
          <a:prstGeom prst="roundRect">
            <a:avLst>
              <a:gd name="adj" fmla="val 50000"/>
            </a:avLst>
          </a:prstGeom>
          <a:solidFill>
            <a:srgbClr val="1E8449"/>
          </a:solidFill>
          <a:ln>
            <a:noFill/>
          </a:ln>
        </p:spPr>
      </p:sp>
      <p:sp>
        <p:nvSpPr>
          <p:cNvPr id="24" name="TextBox 24"/>
          <p:cNvSpPr txBox="1"/>
          <p:nvPr/>
        </p:nvSpPr>
        <p:spPr>
          <a:xfrm>
            <a:off x="889635" y="4228148"/>
            <a:ext cx="192548" cy="396240"/>
          </a:xfrm>
          <a:prstGeom prst="rect">
            <a:avLst/>
          </a:prstGeom>
          <a:noFill/>
          <a:ln>
            <a:noFill/>
          </a:ln>
        </p:spPr>
        <p:txBody>
          <a:bodyPr wrap="none" lIns="0" tIns="0" rIns="0" bIns="0" anchor="t" anchorCtr="0">
            <a:spAutoFit/>
          </a:bodyPr>
          <a:lstStyle/>
          <a:p>
            <a:pPr algn="l"/>
            <a:r>
              <a:rPr lang="zh-CN" sz="1950" dirty="0">
                <a:solidFill>
                  <a:srgbClr val="1E8449"/>
                </a:solidFill>
                <a:latin typeface="Georgia"/>
                <a:ea typeface="KaiTi"/>
                <a:cs typeface="Georgia"/>
              </a:rPr>
              <a:t>4</a:t>
            </a:r>
          </a:p>
        </p:txBody>
      </p:sp>
      <p:sp>
        <p:nvSpPr>
          <p:cNvPr id="25" name="TextBox 25"/>
          <p:cNvSpPr txBox="1"/>
          <p:nvPr/>
        </p:nvSpPr>
        <p:spPr>
          <a:xfrm>
            <a:off x="1215390" y="4244340"/>
            <a:ext cx="1734331" cy="365760"/>
          </a:xfrm>
          <a:prstGeom prst="rect">
            <a:avLst/>
          </a:prstGeom>
          <a:noFill/>
          <a:ln>
            <a:noFill/>
          </a:ln>
        </p:spPr>
        <p:txBody>
          <a:bodyPr wrap="none" lIns="0" tIns="0" rIns="0" bIns="0" anchor="t" anchorCtr="0">
            <a:spAutoFit/>
          </a:bodyPr>
          <a:lstStyle/>
          <a:p>
            <a:pPr algn="l"/>
            <a:r>
              <a:rPr lang="zh-CN" sz="1800" b="1" dirty="0">
                <a:solidFill>
                  <a:srgbClr val="2C2C2C"/>
                </a:solidFill>
                <a:latin typeface="Georgia"/>
                <a:ea typeface="KaiTi"/>
                <a:cs typeface="Georgia"/>
              </a:rPr>
              <a:t>100% 去金融化</a:t>
            </a:r>
          </a:p>
        </p:txBody>
      </p:sp>
      <p:sp>
        <p:nvSpPr>
          <p:cNvPr id="26" name="TextBox 26"/>
          <p:cNvSpPr txBox="1"/>
          <p:nvPr/>
        </p:nvSpPr>
        <p:spPr>
          <a:xfrm>
            <a:off x="1223962" y="4564856"/>
            <a:ext cx="508420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无资金池 . 无沉淀资金 . 无T+N账期——汇付直清每一笔T+0，平台零资金经手</a:t>
            </a:r>
          </a:p>
        </p:txBody>
      </p:sp>
      <p:sp>
        <p:nvSpPr>
          <p:cNvPr id="27" name="Rectangle 27"/>
          <p:cNvSpPr/>
          <p:nvPr/>
        </p:nvSpPr>
        <p:spPr>
          <a:xfrm>
            <a:off x="571500" y="4991100"/>
            <a:ext cx="11049000" cy="685800"/>
          </a:xfrm>
          <a:prstGeom prst="roundRect">
            <a:avLst>
              <a:gd name="adj" fmla="val 19444"/>
            </a:avLst>
          </a:prstGeom>
          <a:solidFill>
            <a:srgbClr val="F5F0EA"/>
          </a:solidFill>
          <a:ln>
            <a:noFill/>
          </a:ln>
          <a:effectLst>
            <a:outerShdw blurRad="76200" dist="19050" dir="5400000" algn="ctr" rotWithShape="0">
              <a:srgbClr val="2C2C2C">
                <a:alpha val="4500"/>
              </a:srgbClr>
            </a:outerShdw>
          </a:effectLst>
        </p:spPr>
      </p:sp>
      <p:sp>
        <p:nvSpPr>
          <p:cNvPr id="28" name="Rectangle 28"/>
          <p:cNvSpPr/>
          <p:nvPr/>
        </p:nvSpPr>
        <p:spPr>
          <a:xfrm>
            <a:off x="571500" y="4991100"/>
            <a:ext cx="76200" cy="685800"/>
          </a:xfrm>
          <a:prstGeom prst="roundRect">
            <a:avLst>
              <a:gd name="adj" fmla="val 50000"/>
            </a:avLst>
          </a:prstGeom>
          <a:solidFill>
            <a:srgbClr val="1A5276"/>
          </a:solidFill>
          <a:ln>
            <a:noFill/>
          </a:ln>
        </p:spPr>
      </p:sp>
      <p:sp>
        <p:nvSpPr>
          <p:cNvPr id="29" name="TextBox 29"/>
          <p:cNvSpPr txBox="1"/>
          <p:nvPr/>
        </p:nvSpPr>
        <p:spPr>
          <a:xfrm>
            <a:off x="889635" y="5085398"/>
            <a:ext cx="192548" cy="396240"/>
          </a:xfrm>
          <a:prstGeom prst="rect">
            <a:avLst/>
          </a:prstGeom>
          <a:noFill/>
          <a:ln>
            <a:noFill/>
          </a:ln>
        </p:spPr>
        <p:txBody>
          <a:bodyPr wrap="none" lIns="0" tIns="0" rIns="0" bIns="0" anchor="t" anchorCtr="0">
            <a:spAutoFit/>
          </a:bodyPr>
          <a:lstStyle/>
          <a:p>
            <a:pPr algn="l"/>
            <a:r>
              <a:rPr lang="zh-CN" sz="1950" dirty="0">
                <a:solidFill>
                  <a:srgbClr val="1A5276"/>
                </a:solidFill>
                <a:latin typeface="Georgia"/>
                <a:ea typeface="KaiTi"/>
                <a:cs typeface="Georgia"/>
              </a:rPr>
              <a:t>5</a:t>
            </a:r>
          </a:p>
        </p:txBody>
      </p:sp>
      <p:sp>
        <p:nvSpPr>
          <p:cNvPr id="30" name="TextBox 30"/>
          <p:cNvSpPr txBox="1"/>
          <p:nvPr/>
        </p:nvSpPr>
        <p:spPr>
          <a:xfrm>
            <a:off x="1215390" y="5101590"/>
            <a:ext cx="1557909" cy="365760"/>
          </a:xfrm>
          <a:prstGeom prst="rect">
            <a:avLst/>
          </a:prstGeom>
          <a:noFill/>
          <a:ln>
            <a:noFill/>
          </a:ln>
        </p:spPr>
        <p:txBody>
          <a:bodyPr wrap="none" lIns="0" tIns="0" rIns="0" bIns="0" anchor="t" anchorCtr="0">
            <a:spAutoFit/>
          </a:bodyPr>
          <a:lstStyle/>
          <a:p>
            <a:pPr algn="l"/>
            <a:r>
              <a:rPr lang="zh-CN" sz="1800" b="1" dirty="0">
                <a:solidFill>
                  <a:srgbClr val="2C2C2C"/>
                </a:solidFill>
                <a:latin typeface="Georgia"/>
                <a:ea typeface="KaiTi"/>
                <a:cs typeface="Georgia"/>
              </a:rPr>
              <a:t>自动合规检查</a:t>
            </a:r>
          </a:p>
        </p:txBody>
      </p:sp>
      <p:sp>
        <p:nvSpPr>
          <p:cNvPr id="31" name="TextBox 31"/>
          <p:cNvSpPr txBox="1"/>
          <p:nvPr/>
        </p:nvSpPr>
        <p:spPr>
          <a:xfrm>
            <a:off x="1223962" y="5422106"/>
            <a:ext cx="552676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所有 generate_*.js 脚本每次运行自动执行合规术语扫描 → 所有打印文档零违禁词</a:t>
            </a:r>
          </a:p>
        </p:txBody>
      </p:sp>
      <p:sp>
        <p:nvSpPr>
          <p:cNvPr id="32" name="Rectangle 32"/>
          <p:cNvSpPr/>
          <p:nvPr/>
        </p:nvSpPr>
        <p:spPr>
          <a:xfrm>
            <a:off x="571500" y="5867400"/>
            <a:ext cx="11049000" cy="495300"/>
          </a:xfrm>
          <a:prstGeom prst="roundRect">
            <a:avLst>
              <a:gd name="adj" fmla="val 26923"/>
            </a:avLst>
          </a:prstGeom>
          <a:solidFill>
            <a:srgbClr val="1E8449">
              <a:alpha val="8000"/>
            </a:srgbClr>
          </a:solidFill>
          <a:ln>
            <a:noFill/>
          </a:ln>
        </p:spPr>
      </p:sp>
      <p:sp>
        <p:nvSpPr>
          <p:cNvPr id="33" name="Rectangle 33"/>
          <p:cNvSpPr/>
          <p:nvPr/>
        </p:nvSpPr>
        <p:spPr>
          <a:xfrm>
            <a:off x="609600" y="5905500"/>
            <a:ext cx="10972800" cy="419100"/>
          </a:xfrm>
          <a:prstGeom prst="roundRect">
            <a:avLst>
              <a:gd name="adj" fmla="val 27273"/>
            </a:avLst>
          </a:prstGeom>
          <a:solidFill>
            <a:srgbClr val="1E8449">
              <a:alpha val="4000"/>
            </a:srgbClr>
          </a:solidFill>
          <a:ln>
            <a:noFill/>
          </a:ln>
        </p:spPr>
      </p:sp>
      <p:sp>
        <p:nvSpPr>
          <p:cNvPr id="34" name="TextBox 34"/>
          <p:cNvSpPr txBox="1"/>
          <p:nvPr/>
        </p:nvSpPr>
        <p:spPr>
          <a:xfrm>
            <a:off x="4476750" y="6010275"/>
            <a:ext cx="3238500" cy="304800"/>
          </a:xfrm>
          <a:prstGeom prst="rect">
            <a:avLst/>
          </a:prstGeom>
          <a:noFill/>
          <a:ln>
            <a:noFill/>
          </a:ln>
        </p:spPr>
        <p:txBody>
          <a:bodyPr wrap="none" lIns="0" tIns="0" rIns="0" bIns="0" anchor="t" anchorCtr="0">
            <a:spAutoFit/>
          </a:bodyPr>
          <a:lstStyle/>
          <a:p>
            <a:pPr algn="ctr"/>
            <a:r>
              <a:rPr lang="zh-CN" sz="1500" dirty="0">
                <a:solidFill>
                  <a:srgbClr val="1E8449"/>
                </a:solidFill>
                <a:latin typeface="Georgia"/>
                <a:ea typeface="KaiTi"/>
                <a:cs typeface="Georgia"/>
              </a:rPr>
              <a:t>任何对外材料必须经过合规术语扫描</a:t>
            </a:r>
          </a:p>
        </p:txBody>
      </p:sp>
      <p:sp>
        <p:nvSpPr>
          <p:cNvPr id="35" name="TextBox 35"/>
          <p:cNvSpPr txBox="1"/>
          <p:nvPr/>
        </p:nvSpPr>
        <p:spPr>
          <a:xfrm>
            <a:off x="11477054" y="664654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46</a:t>
            </a:r>
          </a:p>
        </p:txBody>
      </p:sp>
      <p:sp>
        <p:nvSpPr>
          <p:cNvPr id="36" name="TextBox 36"/>
          <p:cNvSpPr txBox="1"/>
          <p:nvPr/>
        </p:nvSpPr>
        <p:spPr>
          <a:xfrm>
            <a:off x="560070" y="664654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95300"/>
            <a:ext cx="57150" cy="381000"/>
          </a:xfrm>
          <a:prstGeom prst="roundRect">
            <a:avLst>
              <a:gd name="adj" fmla="val 50000"/>
            </a:avLst>
          </a:prstGeom>
          <a:solidFill>
            <a:srgbClr val="7F8C8D"/>
          </a:solidFill>
          <a:ln>
            <a:noFill/>
          </a:ln>
        </p:spPr>
      </p:sp>
      <p:sp>
        <p:nvSpPr>
          <p:cNvPr id="4" name="TextBox 4"/>
          <p:cNvSpPr txBox="1"/>
          <p:nvPr/>
        </p:nvSpPr>
        <p:spPr>
          <a:xfrm>
            <a:off x="727710" y="470535"/>
            <a:ext cx="7755541"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附录A：22轮战略推导 —— 从信息采集到执行校验</a:t>
            </a:r>
          </a:p>
        </p:txBody>
      </p:sp>
      <p:sp>
        <p:nvSpPr>
          <p:cNvPr id="5" name="TextBox 5"/>
          <p:cNvSpPr txBox="1"/>
          <p:nvPr/>
        </p:nvSpPr>
        <p:spPr>
          <a:xfrm>
            <a:off x="742950" y="866775"/>
            <a:ext cx="5198745"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每轮对话产出核心结论，22轮无废轮 —— 完整推导链可追溯</a:t>
            </a:r>
          </a:p>
        </p:txBody>
      </p:sp>
      <p:sp>
        <p:nvSpPr>
          <p:cNvPr id="6" name="Rectangle 6"/>
          <p:cNvSpPr/>
          <p:nvPr/>
        </p:nvSpPr>
        <p:spPr>
          <a:xfrm>
            <a:off x="571500" y="1276350"/>
            <a:ext cx="11049000" cy="704850"/>
          </a:xfrm>
          <a:prstGeom prst="roundRect">
            <a:avLst>
              <a:gd name="adj" fmla="val 13514"/>
            </a:avLst>
          </a:prstGeom>
          <a:solidFill>
            <a:srgbClr val="F0EDE8"/>
          </a:solidFill>
          <a:ln>
            <a:noFill/>
          </a:ln>
          <a:effectLst>
            <a:outerShdw blurRad="76200" dist="19050" dir="5400000" algn="ctr" rotWithShape="0">
              <a:srgbClr val="2C2C2C">
                <a:alpha val="4500"/>
              </a:srgbClr>
            </a:outerShdw>
          </a:effectLst>
        </p:spPr>
      </p:sp>
      <p:sp>
        <p:nvSpPr>
          <p:cNvPr id="7" name="Rectangle 7"/>
          <p:cNvSpPr/>
          <p:nvPr/>
        </p:nvSpPr>
        <p:spPr>
          <a:xfrm>
            <a:off x="571500" y="1276350"/>
            <a:ext cx="57150" cy="704850"/>
          </a:xfrm>
          <a:prstGeom prst="roundRect">
            <a:avLst>
              <a:gd name="adj" fmla="val 50000"/>
            </a:avLst>
          </a:prstGeom>
          <a:gradFill>
            <a:gsLst>
              <a:gs pos="0">
                <a:srgbClr val="1A5276"/>
              </a:gs>
              <a:gs pos="100000">
                <a:srgbClr val="2980B9"/>
              </a:gs>
            </a:gsLst>
            <a:lin ang="0" scaled="1"/>
          </a:gradFill>
          <a:ln>
            <a:noFill/>
          </a:ln>
        </p:spPr>
      </p:sp>
      <p:sp>
        <p:nvSpPr>
          <p:cNvPr id="8" name="TextBox 8"/>
          <p:cNvSpPr txBox="1"/>
          <p:nvPr/>
        </p:nvSpPr>
        <p:spPr>
          <a:xfrm>
            <a:off x="763905" y="1359218"/>
            <a:ext cx="818738"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a:ea typeface="Microsoft YaHei"/>
                <a:cs typeface="Arial"/>
              </a:rPr>
              <a:t>Phase 1A</a:t>
            </a:r>
          </a:p>
        </p:txBody>
      </p:sp>
      <p:sp>
        <p:nvSpPr>
          <p:cNvPr id="9" name="TextBox 9"/>
          <p:cNvSpPr txBox="1"/>
          <p:nvPr/>
        </p:nvSpPr>
        <p:spPr>
          <a:xfrm>
            <a:off x="1504950" y="1343025"/>
            <a:ext cx="1623798"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信息采集（6轮）</a:t>
            </a:r>
          </a:p>
        </p:txBody>
      </p:sp>
      <p:sp>
        <p:nvSpPr>
          <p:cNvPr id="10" name="TextBox 10"/>
          <p:cNvSpPr txBox="1"/>
          <p:nvPr/>
        </p:nvSpPr>
        <p:spPr>
          <a:xfrm>
            <a:off x="3318510" y="1375410"/>
            <a:ext cx="2870835"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行业 · 竞品 · 用户 · 自身 · 痛点 · 机会</a:t>
            </a:r>
          </a:p>
        </p:txBody>
      </p:sp>
      <p:sp>
        <p:nvSpPr>
          <p:cNvPr id="11" name="TextBox 11"/>
          <p:cNvSpPr txBox="1"/>
          <p:nvPr/>
        </p:nvSpPr>
        <p:spPr>
          <a:xfrm>
            <a:off x="1510665" y="1620202"/>
            <a:ext cx="5004292" cy="213360"/>
          </a:xfrm>
          <a:prstGeom prst="rect">
            <a:avLst/>
          </a:prstGeom>
          <a:noFill/>
          <a:ln>
            <a:noFill/>
          </a:ln>
        </p:spPr>
        <p:txBody>
          <a:bodyPr wrap="none" lIns="0" tIns="0" rIns="0" bIns="0" anchor="t" anchorCtr="0">
            <a:spAutoFit/>
          </a:bodyPr>
          <a:lstStyle/>
          <a:p>
            <a:pPr algn="l"/>
            <a:r>
              <a:rPr lang="zh-CN" sz="1050" dirty="0">
                <a:solidFill>
                  <a:srgbClr val="1A5276"/>
                </a:solidFill>
                <a:latin typeface="Arial"/>
                <a:ea typeface="Microsoft YaHei"/>
                <a:cs typeface="Arial"/>
              </a:rPr>
              <a:t>→ 输出：生态位确立 —— 找到「社区商业数字经营生态」这一无人占领的品类空白</a:t>
            </a:r>
          </a:p>
        </p:txBody>
      </p:sp>
      <p:sp>
        <p:nvSpPr>
          <p:cNvPr id="12" name="Ellipse 12"/>
          <p:cNvSpPr/>
          <p:nvPr/>
        </p:nvSpPr>
        <p:spPr>
          <a:xfrm>
            <a:off x="561975" y="2038350"/>
            <a:ext cx="76200" cy="76200"/>
          </a:xfrm>
          <a:prstGeom prst="ellipse">
            <a:avLst/>
          </a:prstGeom>
          <a:solidFill>
            <a:srgbClr val="7F8C8D">
              <a:alpha val="50000"/>
            </a:srgbClr>
          </a:solidFill>
          <a:ln>
            <a:noFill/>
          </a:ln>
        </p:spPr>
      </p:sp>
      <p:sp>
        <p:nvSpPr>
          <p:cNvPr id="13" name="Line 13"/>
          <p:cNvSpPr/>
          <p:nvPr/>
        </p:nvSpPr>
        <p:spPr>
          <a:xfrm>
            <a:off x="600075" y="2114550"/>
            <a:ext cx="9525" cy="171450"/>
          </a:xfrm>
          <a:custGeom>
            <a:avLst/>
            <a:gdLst/>
            <a:ahLst/>
            <a:cxnLst/>
            <a:rect l="l" t="t" r="r" b="b"/>
            <a:pathLst>
              <a:path w="9525" h="171450">
                <a:moveTo>
                  <a:pt x="0" y="0"/>
                </a:moveTo>
                <a:lnTo>
                  <a:pt x="0" y="171450"/>
                </a:lnTo>
              </a:path>
            </a:pathLst>
          </a:custGeom>
          <a:noFill/>
          <a:ln w="9525">
            <a:solidFill>
              <a:srgbClr val="7F8C8D">
                <a:alpha val="30000"/>
              </a:srgbClr>
            </a:solidFill>
            <a:custDash>
              <a:ds d="300000" sp="300000"/>
            </a:custDash>
          </a:ln>
        </p:spPr>
      </p:sp>
      <p:sp>
        <p:nvSpPr>
          <p:cNvPr id="14" name="Rectangle 14"/>
          <p:cNvSpPr/>
          <p:nvPr/>
        </p:nvSpPr>
        <p:spPr>
          <a:xfrm>
            <a:off x="571500" y="2190750"/>
            <a:ext cx="11049000" cy="704850"/>
          </a:xfrm>
          <a:prstGeom prst="roundRect">
            <a:avLst>
              <a:gd name="adj" fmla="val 13514"/>
            </a:avLst>
          </a:prstGeom>
          <a:solidFill>
            <a:srgbClr val="F0EDE8"/>
          </a:solidFill>
          <a:ln>
            <a:noFill/>
          </a:ln>
          <a:effectLst>
            <a:outerShdw blurRad="76200" dist="19050" dir="5400000" algn="ctr" rotWithShape="0">
              <a:srgbClr val="2C2C2C">
                <a:alpha val="4500"/>
              </a:srgbClr>
            </a:outerShdw>
          </a:effectLst>
        </p:spPr>
      </p:sp>
      <p:sp>
        <p:nvSpPr>
          <p:cNvPr id="15" name="Rectangle 15"/>
          <p:cNvSpPr/>
          <p:nvPr/>
        </p:nvSpPr>
        <p:spPr>
          <a:xfrm>
            <a:off x="571500" y="2190750"/>
            <a:ext cx="57150" cy="704850"/>
          </a:xfrm>
          <a:prstGeom prst="roundRect">
            <a:avLst>
              <a:gd name="adj" fmla="val 50000"/>
            </a:avLst>
          </a:prstGeom>
          <a:gradFill>
            <a:gsLst>
              <a:gs pos="0">
                <a:srgbClr val="1E8449"/>
              </a:gs>
              <a:gs pos="100000">
                <a:srgbClr val="27AE60"/>
              </a:gs>
            </a:gsLst>
            <a:lin ang="0" scaled="1"/>
          </a:gradFill>
          <a:ln>
            <a:noFill/>
          </a:ln>
        </p:spPr>
      </p:sp>
      <p:sp>
        <p:nvSpPr>
          <p:cNvPr id="16" name="TextBox 16"/>
          <p:cNvSpPr txBox="1"/>
          <p:nvPr/>
        </p:nvSpPr>
        <p:spPr>
          <a:xfrm>
            <a:off x="763905" y="2273618"/>
            <a:ext cx="818738" cy="274320"/>
          </a:xfrm>
          <a:prstGeom prst="rect">
            <a:avLst/>
          </a:prstGeom>
          <a:noFill/>
          <a:ln>
            <a:noFill/>
          </a:ln>
        </p:spPr>
        <p:txBody>
          <a:bodyPr wrap="none" lIns="0" tIns="0" rIns="0" bIns="0" anchor="t" anchorCtr="0">
            <a:spAutoFit/>
          </a:bodyPr>
          <a:lstStyle/>
          <a:p>
            <a:pPr algn="l"/>
            <a:r>
              <a:rPr lang="zh-CN" sz="1350" b="1" dirty="0">
                <a:solidFill>
                  <a:srgbClr val="1E8449"/>
                </a:solidFill>
                <a:latin typeface="Arial"/>
                <a:ea typeface="Microsoft YaHei"/>
                <a:cs typeface="Arial"/>
              </a:rPr>
              <a:t>Phase 1B</a:t>
            </a:r>
          </a:p>
        </p:txBody>
      </p:sp>
      <p:sp>
        <p:nvSpPr>
          <p:cNvPr id="17" name="TextBox 17"/>
          <p:cNvSpPr txBox="1"/>
          <p:nvPr/>
        </p:nvSpPr>
        <p:spPr>
          <a:xfrm>
            <a:off x="1504950" y="2257425"/>
            <a:ext cx="1623798"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交叉验证（4轮）</a:t>
            </a:r>
          </a:p>
        </p:txBody>
      </p:sp>
      <p:sp>
        <p:nvSpPr>
          <p:cNvPr id="18" name="TextBox 18"/>
          <p:cNvSpPr txBox="1"/>
          <p:nvPr/>
        </p:nvSpPr>
        <p:spPr>
          <a:xfrm>
            <a:off x="3318510" y="2289810"/>
            <a:ext cx="3942969"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数据验证 · 竞品深挖 · 用户画像确认 · 信息充分度评分</a:t>
            </a:r>
          </a:p>
        </p:txBody>
      </p:sp>
      <p:sp>
        <p:nvSpPr>
          <p:cNvPr id="19" name="TextBox 19"/>
          <p:cNvSpPr txBox="1"/>
          <p:nvPr/>
        </p:nvSpPr>
        <p:spPr>
          <a:xfrm>
            <a:off x="1510665" y="2534602"/>
            <a:ext cx="4584240" cy="213360"/>
          </a:xfrm>
          <a:prstGeom prst="rect">
            <a:avLst/>
          </a:prstGeom>
          <a:noFill/>
          <a:ln>
            <a:noFill/>
          </a:ln>
        </p:spPr>
        <p:txBody>
          <a:bodyPr wrap="none" lIns="0" tIns="0" rIns="0" bIns="0" anchor="t" anchorCtr="0">
            <a:spAutoFit/>
          </a:bodyPr>
          <a:lstStyle/>
          <a:p>
            <a:pPr algn="l"/>
            <a:r>
              <a:rPr lang="zh-CN" sz="1050" dirty="0">
                <a:solidFill>
                  <a:srgbClr val="1E8449"/>
                </a:solidFill>
                <a:latin typeface="Arial"/>
                <a:ea typeface="Microsoft YaHei"/>
                <a:cs typeface="Arial"/>
              </a:rPr>
              <a:t>→ 输出：信息充分度评估 —— 从「假设」转向「验证」，确保战略地基牢固</a:t>
            </a:r>
          </a:p>
        </p:txBody>
      </p:sp>
      <p:sp>
        <p:nvSpPr>
          <p:cNvPr id="20" name="Ellipse 20"/>
          <p:cNvSpPr/>
          <p:nvPr/>
        </p:nvSpPr>
        <p:spPr>
          <a:xfrm>
            <a:off x="561975" y="2952750"/>
            <a:ext cx="76200" cy="76200"/>
          </a:xfrm>
          <a:prstGeom prst="ellipse">
            <a:avLst/>
          </a:prstGeom>
          <a:solidFill>
            <a:srgbClr val="7F8C8D">
              <a:alpha val="50000"/>
            </a:srgbClr>
          </a:solidFill>
          <a:ln>
            <a:noFill/>
          </a:ln>
        </p:spPr>
      </p:sp>
      <p:sp>
        <p:nvSpPr>
          <p:cNvPr id="21" name="Line 21"/>
          <p:cNvSpPr/>
          <p:nvPr/>
        </p:nvSpPr>
        <p:spPr>
          <a:xfrm>
            <a:off x="600075" y="3028950"/>
            <a:ext cx="9525" cy="171450"/>
          </a:xfrm>
          <a:custGeom>
            <a:avLst/>
            <a:gdLst/>
            <a:ahLst/>
            <a:cxnLst/>
            <a:rect l="l" t="t" r="r" b="b"/>
            <a:pathLst>
              <a:path w="9525" h="171450">
                <a:moveTo>
                  <a:pt x="0" y="0"/>
                </a:moveTo>
                <a:lnTo>
                  <a:pt x="0" y="171450"/>
                </a:lnTo>
              </a:path>
            </a:pathLst>
          </a:custGeom>
          <a:noFill/>
          <a:ln w="9525">
            <a:solidFill>
              <a:srgbClr val="7F8C8D">
                <a:alpha val="30000"/>
              </a:srgbClr>
            </a:solidFill>
            <a:custDash>
              <a:ds d="300000" sp="300000"/>
            </a:custDash>
          </a:ln>
        </p:spPr>
      </p:sp>
      <p:sp>
        <p:nvSpPr>
          <p:cNvPr id="22" name="Rectangle 22"/>
          <p:cNvSpPr/>
          <p:nvPr/>
        </p:nvSpPr>
        <p:spPr>
          <a:xfrm>
            <a:off x="571500" y="3105150"/>
            <a:ext cx="11049000" cy="704850"/>
          </a:xfrm>
          <a:prstGeom prst="roundRect">
            <a:avLst>
              <a:gd name="adj" fmla="val 13514"/>
            </a:avLst>
          </a:prstGeom>
          <a:solidFill>
            <a:srgbClr val="F0EDE8"/>
          </a:solidFill>
          <a:ln>
            <a:noFill/>
          </a:ln>
          <a:effectLst>
            <a:outerShdw blurRad="76200" dist="19050" dir="5400000" algn="ctr" rotWithShape="0">
              <a:srgbClr val="2C2C2C">
                <a:alpha val="4500"/>
              </a:srgbClr>
            </a:outerShdw>
          </a:effectLst>
        </p:spPr>
      </p:sp>
      <p:sp>
        <p:nvSpPr>
          <p:cNvPr id="23" name="Rectangle 23"/>
          <p:cNvSpPr/>
          <p:nvPr/>
        </p:nvSpPr>
        <p:spPr>
          <a:xfrm>
            <a:off x="571500" y="3105150"/>
            <a:ext cx="57150" cy="704850"/>
          </a:xfrm>
          <a:prstGeom prst="roundRect">
            <a:avLst>
              <a:gd name="adj" fmla="val 50000"/>
            </a:avLst>
          </a:prstGeom>
          <a:gradFill>
            <a:gsLst>
              <a:gs pos="0">
                <a:srgbClr val="D4A574"/>
              </a:gs>
              <a:gs pos="100000">
                <a:srgbClr val="E67E22"/>
              </a:gs>
            </a:gsLst>
            <a:lin ang="0" scaled="1"/>
          </a:gradFill>
          <a:ln>
            <a:noFill/>
          </a:ln>
        </p:spPr>
      </p:sp>
      <p:sp>
        <p:nvSpPr>
          <p:cNvPr id="24" name="TextBox 24"/>
          <p:cNvSpPr txBox="1"/>
          <p:nvPr/>
        </p:nvSpPr>
        <p:spPr>
          <a:xfrm>
            <a:off x="763905" y="3188018"/>
            <a:ext cx="818738" cy="274320"/>
          </a:xfrm>
          <a:prstGeom prst="rect">
            <a:avLst/>
          </a:prstGeom>
          <a:noFill/>
          <a:ln>
            <a:noFill/>
          </a:ln>
        </p:spPr>
        <p:txBody>
          <a:bodyPr wrap="none" lIns="0" tIns="0" rIns="0" bIns="0" anchor="t" anchorCtr="0">
            <a:spAutoFit/>
          </a:bodyPr>
          <a:lstStyle/>
          <a:p>
            <a:pPr algn="l"/>
            <a:r>
              <a:rPr lang="zh-CN" sz="1350" b="1" dirty="0">
                <a:solidFill>
                  <a:srgbClr val="D4A574"/>
                </a:solidFill>
                <a:latin typeface="Arial"/>
                <a:ea typeface="Microsoft YaHei"/>
                <a:cs typeface="Arial"/>
              </a:rPr>
              <a:t>Phase 1D</a:t>
            </a:r>
          </a:p>
        </p:txBody>
      </p:sp>
      <p:sp>
        <p:nvSpPr>
          <p:cNvPr id="25" name="TextBox 25"/>
          <p:cNvSpPr txBox="1"/>
          <p:nvPr/>
        </p:nvSpPr>
        <p:spPr>
          <a:xfrm>
            <a:off x="1504950" y="3171825"/>
            <a:ext cx="1623798"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命名深化（3轮）</a:t>
            </a:r>
          </a:p>
        </p:txBody>
      </p:sp>
      <p:sp>
        <p:nvSpPr>
          <p:cNvPr id="26" name="TextBox 26"/>
          <p:cNvSpPr txBox="1"/>
          <p:nvPr/>
        </p:nvSpPr>
        <p:spPr>
          <a:xfrm>
            <a:off x="3318510" y="3204210"/>
            <a:ext cx="2574798"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V2 → V3 → V4 → 赋商版 → 链邦赋商通</a:t>
            </a:r>
          </a:p>
        </p:txBody>
      </p:sp>
      <p:sp>
        <p:nvSpPr>
          <p:cNvPr id="27" name="TextBox 27"/>
          <p:cNvSpPr txBox="1"/>
          <p:nvPr/>
        </p:nvSpPr>
        <p:spPr>
          <a:xfrm>
            <a:off x="1510665" y="3449002"/>
            <a:ext cx="4486227" cy="213360"/>
          </a:xfrm>
          <a:prstGeom prst="rect">
            <a:avLst/>
          </a:prstGeom>
          <a:noFill/>
          <a:ln>
            <a:noFill/>
          </a:ln>
        </p:spPr>
        <p:txBody>
          <a:bodyPr wrap="none" lIns="0" tIns="0" rIns="0" bIns="0" anchor="t" anchorCtr="0">
            <a:spAutoFit/>
          </a:bodyPr>
          <a:lstStyle/>
          <a:p>
            <a:pPr algn="l"/>
            <a:r>
              <a:rPr lang="zh-CN" sz="1050" dirty="0">
                <a:solidFill>
                  <a:srgbClr val="D4A574"/>
                </a:solidFill>
                <a:latin typeface="Arial"/>
                <a:ea typeface="Microsoft YaHei"/>
                <a:cs typeface="Arial"/>
              </a:rPr>
              <a:t>→ 输出：品牌命名最终落定 —— 六维评估 + 字频分析 + 商标可注册性确认</a:t>
            </a:r>
          </a:p>
        </p:txBody>
      </p:sp>
      <p:sp>
        <p:nvSpPr>
          <p:cNvPr id="28" name="Ellipse 28"/>
          <p:cNvSpPr/>
          <p:nvPr/>
        </p:nvSpPr>
        <p:spPr>
          <a:xfrm>
            <a:off x="561975" y="3867150"/>
            <a:ext cx="76200" cy="76200"/>
          </a:xfrm>
          <a:prstGeom prst="ellipse">
            <a:avLst/>
          </a:prstGeom>
          <a:solidFill>
            <a:srgbClr val="7F8C8D">
              <a:alpha val="50000"/>
            </a:srgbClr>
          </a:solidFill>
          <a:ln>
            <a:noFill/>
          </a:ln>
        </p:spPr>
      </p:sp>
      <p:sp>
        <p:nvSpPr>
          <p:cNvPr id="29" name="Line 29"/>
          <p:cNvSpPr/>
          <p:nvPr/>
        </p:nvSpPr>
        <p:spPr>
          <a:xfrm>
            <a:off x="600075" y="3943350"/>
            <a:ext cx="9525" cy="171450"/>
          </a:xfrm>
          <a:custGeom>
            <a:avLst/>
            <a:gdLst/>
            <a:ahLst/>
            <a:cxnLst/>
            <a:rect l="l" t="t" r="r" b="b"/>
            <a:pathLst>
              <a:path w="9525" h="171450">
                <a:moveTo>
                  <a:pt x="0" y="0"/>
                </a:moveTo>
                <a:lnTo>
                  <a:pt x="0" y="171450"/>
                </a:lnTo>
              </a:path>
            </a:pathLst>
          </a:custGeom>
          <a:noFill/>
          <a:ln w="9525">
            <a:solidFill>
              <a:srgbClr val="7F8C8D">
                <a:alpha val="30000"/>
              </a:srgbClr>
            </a:solidFill>
            <a:custDash>
              <a:ds d="300000" sp="300000"/>
            </a:custDash>
          </a:ln>
        </p:spPr>
      </p:sp>
      <p:sp>
        <p:nvSpPr>
          <p:cNvPr id="30" name="Rectangle 30"/>
          <p:cNvSpPr/>
          <p:nvPr/>
        </p:nvSpPr>
        <p:spPr>
          <a:xfrm>
            <a:off x="571500" y="4019550"/>
            <a:ext cx="11049000" cy="704850"/>
          </a:xfrm>
          <a:prstGeom prst="roundRect">
            <a:avLst>
              <a:gd name="adj" fmla="val 13514"/>
            </a:avLst>
          </a:prstGeom>
          <a:solidFill>
            <a:srgbClr val="F0EDE8"/>
          </a:solidFill>
          <a:ln>
            <a:noFill/>
          </a:ln>
          <a:effectLst>
            <a:outerShdw blurRad="76200" dist="19050" dir="5400000" algn="ctr" rotWithShape="0">
              <a:srgbClr val="2C2C2C">
                <a:alpha val="4500"/>
              </a:srgbClr>
            </a:outerShdw>
          </a:effectLst>
        </p:spPr>
      </p:sp>
      <p:sp>
        <p:nvSpPr>
          <p:cNvPr id="31" name="Rectangle 31"/>
          <p:cNvSpPr/>
          <p:nvPr/>
        </p:nvSpPr>
        <p:spPr>
          <a:xfrm>
            <a:off x="571500" y="4019550"/>
            <a:ext cx="57150" cy="704850"/>
          </a:xfrm>
          <a:prstGeom prst="roundRect">
            <a:avLst>
              <a:gd name="adj" fmla="val 50000"/>
            </a:avLst>
          </a:prstGeom>
          <a:gradFill>
            <a:gsLst>
              <a:gs pos="0">
                <a:srgbClr val="E67E22"/>
              </a:gs>
              <a:gs pos="100000">
                <a:srgbClr val="F39C12"/>
              </a:gs>
            </a:gsLst>
            <a:lin ang="0" scaled="1"/>
          </a:gradFill>
          <a:ln>
            <a:noFill/>
          </a:ln>
        </p:spPr>
      </p:sp>
      <p:sp>
        <p:nvSpPr>
          <p:cNvPr id="32" name="TextBox 32"/>
          <p:cNvSpPr txBox="1"/>
          <p:nvPr/>
        </p:nvSpPr>
        <p:spPr>
          <a:xfrm>
            <a:off x="763905" y="4102418"/>
            <a:ext cx="714775" cy="274320"/>
          </a:xfrm>
          <a:prstGeom prst="rect">
            <a:avLst/>
          </a:prstGeom>
          <a:noFill/>
          <a:ln>
            <a:noFill/>
          </a:ln>
        </p:spPr>
        <p:txBody>
          <a:bodyPr wrap="none" lIns="0" tIns="0" rIns="0" bIns="0" anchor="t" anchorCtr="0">
            <a:spAutoFit/>
          </a:bodyPr>
          <a:lstStyle/>
          <a:p>
            <a:pPr algn="l"/>
            <a:r>
              <a:rPr lang="zh-CN" sz="1350" b="1" dirty="0">
                <a:solidFill>
                  <a:srgbClr val="E67E22"/>
                </a:solidFill>
                <a:latin typeface="Arial"/>
                <a:ea typeface="Microsoft YaHei"/>
                <a:cs typeface="Arial"/>
              </a:rPr>
              <a:t>Phase 2</a:t>
            </a:r>
          </a:p>
        </p:txBody>
      </p:sp>
      <p:sp>
        <p:nvSpPr>
          <p:cNvPr id="33" name="TextBox 33"/>
          <p:cNvSpPr txBox="1"/>
          <p:nvPr/>
        </p:nvSpPr>
        <p:spPr>
          <a:xfrm>
            <a:off x="1504950" y="4086225"/>
            <a:ext cx="1623798"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战略定位（9轮）</a:t>
            </a:r>
          </a:p>
        </p:txBody>
      </p:sp>
      <p:sp>
        <p:nvSpPr>
          <p:cNvPr id="34" name="TextBox 34"/>
          <p:cNvSpPr txBox="1"/>
          <p:nvPr/>
        </p:nvSpPr>
        <p:spPr>
          <a:xfrm>
            <a:off x="3318510" y="4118610"/>
            <a:ext cx="4863084"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使命 · 愿景 · 价值观 · 人格 · 故事 · 视觉 · 广告语 · 命名 · 一致性</a:t>
            </a:r>
          </a:p>
        </p:txBody>
      </p:sp>
      <p:sp>
        <p:nvSpPr>
          <p:cNvPr id="35" name="TextBox 35"/>
          <p:cNvSpPr txBox="1"/>
          <p:nvPr/>
        </p:nvSpPr>
        <p:spPr>
          <a:xfrm>
            <a:off x="1510665" y="4363402"/>
            <a:ext cx="3758136" cy="213360"/>
          </a:xfrm>
          <a:prstGeom prst="rect">
            <a:avLst/>
          </a:prstGeom>
          <a:noFill/>
          <a:ln>
            <a:noFill/>
          </a:ln>
        </p:spPr>
        <p:txBody>
          <a:bodyPr wrap="none" lIns="0" tIns="0" rIns="0" bIns="0" anchor="t" anchorCtr="0">
            <a:spAutoFit/>
          </a:bodyPr>
          <a:lstStyle/>
          <a:p>
            <a:pPr algn="l"/>
            <a:r>
              <a:rPr lang="zh-CN" sz="1050" dirty="0">
                <a:solidFill>
                  <a:srgbClr val="E67E22"/>
                </a:solidFill>
                <a:latin typeface="Arial"/>
                <a:ea typeface="Microsoft YaHei"/>
                <a:cs typeface="Arial"/>
              </a:rPr>
              <a:t>→ 输出：九大战略模块完整落定 —— C+四层定位体系全面覆盖</a:t>
            </a:r>
          </a:p>
        </p:txBody>
      </p:sp>
      <p:sp>
        <p:nvSpPr>
          <p:cNvPr id="36" name="Ellipse 36"/>
          <p:cNvSpPr/>
          <p:nvPr/>
        </p:nvSpPr>
        <p:spPr>
          <a:xfrm>
            <a:off x="561975" y="4781550"/>
            <a:ext cx="76200" cy="76200"/>
          </a:xfrm>
          <a:prstGeom prst="ellipse">
            <a:avLst/>
          </a:prstGeom>
          <a:solidFill>
            <a:srgbClr val="7F8C8D">
              <a:alpha val="50000"/>
            </a:srgbClr>
          </a:solidFill>
          <a:ln>
            <a:noFill/>
          </a:ln>
        </p:spPr>
      </p:sp>
      <p:sp>
        <p:nvSpPr>
          <p:cNvPr id="37" name="Line 37"/>
          <p:cNvSpPr/>
          <p:nvPr/>
        </p:nvSpPr>
        <p:spPr>
          <a:xfrm>
            <a:off x="600075" y="4857750"/>
            <a:ext cx="9525" cy="171450"/>
          </a:xfrm>
          <a:custGeom>
            <a:avLst/>
            <a:gdLst/>
            <a:ahLst/>
            <a:cxnLst/>
            <a:rect l="l" t="t" r="r" b="b"/>
            <a:pathLst>
              <a:path w="9525" h="171450">
                <a:moveTo>
                  <a:pt x="0" y="0"/>
                </a:moveTo>
                <a:lnTo>
                  <a:pt x="0" y="171450"/>
                </a:lnTo>
              </a:path>
            </a:pathLst>
          </a:custGeom>
          <a:noFill/>
          <a:ln w="9525">
            <a:solidFill>
              <a:srgbClr val="7F8C8D">
                <a:alpha val="30000"/>
              </a:srgbClr>
            </a:solidFill>
            <a:custDash>
              <a:ds d="300000" sp="300000"/>
            </a:custDash>
          </a:ln>
        </p:spPr>
      </p:sp>
      <p:sp>
        <p:nvSpPr>
          <p:cNvPr id="38" name="Rectangle 38"/>
          <p:cNvSpPr/>
          <p:nvPr/>
        </p:nvSpPr>
        <p:spPr>
          <a:xfrm>
            <a:off x="571500" y="4933950"/>
            <a:ext cx="11049000" cy="552450"/>
          </a:xfrm>
          <a:prstGeom prst="roundRect">
            <a:avLst>
              <a:gd name="adj" fmla="val 17241"/>
            </a:avLst>
          </a:prstGeom>
          <a:solidFill>
            <a:srgbClr val="F0EDE8"/>
          </a:solidFill>
          <a:ln>
            <a:noFill/>
          </a:ln>
          <a:effectLst>
            <a:outerShdw blurRad="76200" dist="19050" dir="5400000" algn="ctr" rotWithShape="0">
              <a:srgbClr val="2C2C2C">
                <a:alpha val="4500"/>
              </a:srgbClr>
            </a:outerShdw>
          </a:effectLst>
        </p:spPr>
      </p:sp>
      <p:sp>
        <p:nvSpPr>
          <p:cNvPr id="39" name="Rectangle 39"/>
          <p:cNvSpPr/>
          <p:nvPr/>
        </p:nvSpPr>
        <p:spPr>
          <a:xfrm>
            <a:off x="571500" y="4933950"/>
            <a:ext cx="57150" cy="552450"/>
          </a:xfrm>
          <a:prstGeom prst="roundRect">
            <a:avLst>
              <a:gd name="adj" fmla="val 50000"/>
            </a:avLst>
          </a:prstGeom>
          <a:gradFill>
            <a:gsLst>
              <a:gs pos="0">
                <a:srgbClr val="8E44AD"/>
              </a:gs>
              <a:gs pos="100000">
                <a:srgbClr val="BB8FCE"/>
              </a:gs>
            </a:gsLst>
            <a:lin ang="0" scaled="1"/>
          </a:gradFill>
          <a:ln>
            <a:noFill/>
          </a:ln>
        </p:spPr>
      </p:sp>
      <p:sp>
        <p:nvSpPr>
          <p:cNvPr id="40" name="TextBox 40"/>
          <p:cNvSpPr txBox="1"/>
          <p:nvPr/>
        </p:nvSpPr>
        <p:spPr>
          <a:xfrm>
            <a:off x="763905" y="5016818"/>
            <a:ext cx="818738" cy="274320"/>
          </a:xfrm>
          <a:prstGeom prst="rect">
            <a:avLst/>
          </a:prstGeom>
          <a:noFill/>
          <a:ln>
            <a:noFill/>
          </a:ln>
        </p:spPr>
        <p:txBody>
          <a:bodyPr wrap="none" lIns="0" tIns="0" rIns="0" bIns="0" anchor="t" anchorCtr="0">
            <a:spAutoFit/>
          </a:bodyPr>
          <a:lstStyle/>
          <a:p>
            <a:pPr algn="l"/>
            <a:r>
              <a:rPr lang="zh-CN" sz="1350" b="1" dirty="0">
                <a:solidFill>
                  <a:srgbClr val="8E44AD"/>
                </a:solidFill>
                <a:latin typeface="Arial"/>
                <a:ea typeface="Microsoft YaHei"/>
                <a:cs typeface="Arial"/>
              </a:rPr>
              <a:t>Phase 3A</a:t>
            </a:r>
          </a:p>
        </p:txBody>
      </p:sp>
      <p:sp>
        <p:nvSpPr>
          <p:cNvPr id="41" name="TextBox 41"/>
          <p:cNvSpPr txBox="1"/>
          <p:nvPr/>
        </p:nvSpPr>
        <p:spPr>
          <a:xfrm>
            <a:off x="1504950" y="5000625"/>
            <a:ext cx="215936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执行校验·产品（3轮）</a:t>
            </a:r>
          </a:p>
        </p:txBody>
      </p:sp>
      <p:sp>
        <p:nvSpPr>
          <p:cNvPr id="42" name="TextBox 42"/>
          <p:cNvSpPr txBox="1"/>
          <p:nvPr/>
        </p:nvSpPr>
        <p:spPr>
          <a:xfrm>
            <a:off x="3699510" y="5033010"/>
            <a:ext cx="1678686"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产品策略 · 定价 · 渠道</a:t>
            </a:r>
          </a:p>
        </p:txBody>
      </p:sp>
      <p:sp>
        <p:nvSpPr>
          <p:cNvPr id="43" name="TextBox 43"/>
          <p:cNvSpPr txBox="1"/>
          <p:nvPr/>
        </p:nvSpPr>
        <p:spPr>
          <a:xfrm>
            <a:off x="1510665" y="5258752"/>
            <a:ext cx="4024170" cy="213360"/>
          </a:xfrm>
          <a:prstGeom prst="rect">
            <a:avLst/>
          </a:prstGeom>
          <a:noFill/>
          <a:ln>
            <a:noFill/>
          </a:ln>
        </p:spPr>
        <p:txBody>
          <a:bodyPr wrap="none" lIns="0" tIns="0" rIns="0" bIns="0" anchor="t" anchorCtr="0">
            <a:spAutoFit/>
          </a:bodyPr>
          <a:lstStyle/>
          <a:p>
            <a:pPr algn="l"/>
            <a:r>
              <a:rPr lang="zh-CN" sz="1050" dirty="0">
                <a:solidFill>
                  <a:srgbClr val="8E44AD"/>
                </a:solidFill>
                <a:latin typeface="Arial"/>
                <a:ea typeface="Microsoft YaHei"/>
                <a:cs typeface="Arial"/>
              </a:rPr>
              <a:t>→ 输出：三大执行维度校验完成 —— 战略可落地、可度量、可复盘</a:t>
            </a:r>
          </a:p>
        </p:txBody>
      </p:sp>
      <p:sp>
        <p:nvSpPr>
          <p:cNvPr id="44" name="Ellipse 44"/>
          <p:cNvSpPr/>
          <p:nvPr/>
        </p:nvSpPr>
        <p:spPr>
          <a:xfrm>
            <a:off x="561975" y="5543550"/>
            <a:ext cx="76200" cy="76200"/>
          </a:xfrm>
          <a:prstGeom prst="ellipse">
            <a:avLst/>
          </a:prstGeom>
          <a:solidFill>
            <a:srgbClr val="7F8C8D">
              <a:alpha val="50000"/>
            </a:srgbClr>
          </a:solidFill>
          <a:ln>
            <a:noFill/>
          </a:ln>
        </p:spPr>
      </p:sp>
      <p:sp>
        <p:nvSpPr>
          <p:cNvPr id="45" name="Line 45"/>
          <p:cNvSpPr/>
          <p:nvPr/>
        </p:nvSpPr>
        <p:spPr>
          <a:xfrm>
            <a:off x="600075" y="5619750"/>
            <a:ext cx="9525" cy="95250"/>
          </a:xfrm>
          <a:custGeom>
            <a:avLst/>
            <a:gdLst/>
            <a:ahLst/>
            <a:cxnLst/>
            <a:rect l="l" t="t" r="r" b="b"/>
            <a:pathLst>
              <a:path w="9525" h="95250">
                <a:moveTo>
                  <a:pt x="0" y="0"/>
                </a:moveTo>
                <a:lnTo>
                  <a:pt x="0" y="95250"/>
                </a:lnTo>
              </a:path>
            </a:pathLst>
          </a:custGeom>
          <a:noFill/>
          <a:ln w="9525">
            <a:solidFill>
              <a:srgbClr val="7F8C8D">
                <a:alpha val="30000"/>
              </a:srgbClr>
            </a:solidFill>
            <a:custDash>
              <a:ds d="300000" sp="300000"/>
            </a:custDash>
          </a:ln>
        </p:spPr>
      </p:sp>
      <p:sp>
        <p:nvSpPr>
          <p:cNvPr id="46" name="Rectangle 46"/>
          <p:cNvSpPr/>
          <p:nvPr/>
        </p:nvSpPr>
        <p:spPr>
          <a:xfrm>
            <a:off x="571500" y="5695950"/>
            <a:ext cx="11049000" cy="552450"/>
          </a:xfrm>
          <a:prstGeom prst="roundRect">
            <a:avLst>
              <a:gd name="adj" fmla="val 17241"/>
            </a:avLst>
          </a:prstGeom>
          <a:solidFill>
            <a:srgbClr val="F0EDE8"/>
          </a:solidFill>
          <a:ln>
            <a:noFill/>
          </a:ln>
          <a:effectLst>
            <a:outerShdw blurRad="76200" dist="19050" dir="5400000" algn="ctr" rotWithShape="0">
              <a:srgbClr val="2C2C2C">
                <a:alpha val="4500"/>
              </a:srgbClr>
            </a:outerShdw>
          </a:effectLst>
        </p:spPr>
      </p:sp>
      <p:sp>
        <p:nvSpPr>
          <p:cNvPr id="47" name="Rectangle 47"/>
          <p:cNvSpPr/>
          <p:nvPr/>
        </p:nvSpPr>
        <p:spPr>
          <a:xfrm>
            <a:off x="571500" y="5695950"/>
            <a:ext cx="57150" cy="552450"/>
          </a:xfrm>
          <a:prstGeom prst="roundRect">
            <a:avLst>
              <a:gd name="adj" fmla="val 50000"/>
            </a:avLst>
          </a:prstGeom>
          <a:gradFill>
            <a:gsLst>
              <a:gs pos="0">
                <a:srgbClr val="2C3E50"/>
              </a:gs>
              <a:gs pos="100000">
                <a:srgbClr val="7F8C8D"/>
              </a:gs>
            </a:gsLst>
            <a:lin ang="0" scaled="1"/>
          </a:gradFill>
          <a:ln>
            <a:noFill/>
          </a:ln>
        </p:spPr>
      </p:sp>
      <p:sp>
        <p:nvSpPr>
          <p:cNvPr id="48" name="TextBox 48"/>
          <p:cNvSpPr txBox="1"/>
          <p:nvPr/>
        </p:nvSpPr>
        <p:spPr>
          <a:xfrm>
            <a:off x="763905" y="5778818"/>
            <a:ext cx="818738" cy="274320"/>
          </a:xfrm>
          <a:prstGeom prst="rect">
            <a:avLst/>
          </a:prstGeom>
          <a:noFill/>
          <a:ln>
            <a:noFill/>
          </a:ln>
        </p:spPr>
        <p:txBody>
          <a:bodyPr wrap="none" lIns="0" tIns="0" rIns="0" bIns="0" anchor="t" anchorCtr="0">
            <a:spAutoFit/>
          </a:bodyPr>
          <a:lstStyle/>
          <a:p>
            <a:pPr algn="l"/>
            <a:r>
              <a:rPr lang="zh-CN" sz="1350" b="1" dirty="0">
                <a:solidFill>
                  <a:srgbClr val="2C3E50"/>
                </a:solidFill>
                <a:latin typeface="Arial"/>
                <a:ea typeface="Microsoft YaHei"/>
                <a:cs typeface="Arial"/>
              </a:rPr>
              <a:t>Phase 3B</a:t>
            </a:r>
          </a:p>
        </p:txBody>
      </p:sp>
      <p:sp>
        <p:nvSpPr>
          <p:cNvPr id="49" name="TextBox 49"/>
          <p:cNvSpPr txBox="1"/>
          <p:nvPr/>
        </p:nvSpPr>
        <p:spPr>
          <a:xfrm>
            <a:off x="1504950" y="5762625"/>
            <a:ext cx="2159365" cy="304800"/>
          </a:xfrm>
          <a:prstGeom prst="rect">
            <a:avLst/>
          </a:prstGeom>
          <a:noFill/>
          <a:ln>
            <a:noFill/>
          </a:ln>
        </p:spPr>
        <p:txBody>
          <a:bodyPr wrap="none" lIns="0" tIns="0" rIns="0" bIns="0" anchor="t" anchorCtr="0">
            <a:spAutoFit/>
          </a:bodyPr>
          <a:lstStyle/>
          <a:p>
            <a:pPr algn="l"/>
            <a:r>
              <a:rPr lang="zh-CN" sz="1500" b="1" dirty="0">
                <a:solidFill>
                  <a:srgbClr val="2C2C2C"/>
                </a:solidFill>
                <a:latin typeface="Georgia"/>
                <a:ea typeface="KaiTi"/>
                <a:cs typeface="Georgia"/>
              </a:rPr>
              <a:t>执行校验·传播（4轮）</a:t>
            </a:r>
          </a:p>
        </p:txBody>
      </p:sp>
      <p:sp>
        <p:nvSpPr>
          <p:cNvPr id="50" name="TextBox 50"/>
          <p:cNvSpPr txBox="1"/>
          <p:nvPr/>
        </p:nvSpPr>
        <p:spPr>
          <a:xfrm>
            <a:off x="3699510" y="5795010"/>
            <a:ext cx="1862709" cy="243840"/>
          </a:xfrm>
          <a:prstGeom prst="rect">
            <a:avLst/>
          </a:prstGeom>
          <a:noFill/>
          <a:ln>
            <a:noFill/>
          </a:ln>
        </p:spPr>
        <p:txBody>
          <a:bodyPr wrap="none" lIns="0" tIns="0" rIns="0" bIns="0" anchor="t" anchorCtr="0">
            <a:spAutoFit/>
          </a:bodyPr>
          <a:lstStyle/>
          <a:p>
            <a:pPr algn="l"/>
            <a:r>
              <a:rPr lang="zh-CN" sz="1200" dirty="0">
                <a:solidFill>
                  <a:srgbClr val="7F8C8D"/>
                </a:solidFill>
                <a:latin typeface="Arial"/>
                <a:ea typeface="Microsoft YaHei"/>
                <a:cs typeface="Arial"/>
              </a:rPr>
              <a:t>内容 · 社群 · 预算 · 团队</a:t>
            </a:r>
          </a:p>
        </p:txBody>
      </p:sp>
      <p:sp>
        <p:nvSpPr>
          <p:cNvPr id="51" name="TextBox 51"/>
          <p:cNvSpPr txBox="1"/>
          <p:nvPr/>
        </p:nvSpPr>
        <p:spPr>
          <a:xfrm>
            <a:off x="1510665" y="6020752"/>
            <a:ext cx="3744135"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a:ea typeface="Microsoft YaHei"/>
                <a:cs typeface="Arial"/>
              </a:rPr>
              <a:t>→ 输出：四大传播维度校验完成 —— 传播策略与预算模型契合</a:t>
            </a:r>
          </a:p>
        </p:txBody>
      </p:sp>
      <p:sp>
        <p:nvSpPr>
          <p:cNvPr id="52" name="Rectangle 52"/>
          <p:cNvSpPr/>
          <p:nvPr/>
        </p:nvSpPr>
        <p:spPr>
          <a:xfrm>
            <a:off x="571500" y="6362700"/>
            <a:ext cx="11049000" cy="19050"/>
          </a:xfrm>
          <a:prstGeom prst="rect">
            <a:avLst/>
          </a:prstGeom>
          <a:solidFill>
            <a:srgbClr val="E8E3DC"/>
          </a:solidFill>
          <a:ln>
            <a:noFill/>
          </a:ln>
        </p:spPr>
      </p:sp>
      <p:sp>
        <p:nvSpPr>
          <p:cNvPr id="53" name="TextBox 53"/>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47</a:t>
            </a:r>
          </a:p>
        </p:txBody>
      </p:sp>
      <p:sp>
        <p:nvSpPr>
          <p:cNvPr id="54" name="TextBox 54"/>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95300"/>
            <a:ext cx="57150" cy="381000"/>
          </a:xfrm>
          <a:prstGeom prst="roundRect">
            <a:avLst>
              <a:gd name="adj" fmla="val 50000"/>
            </a:avLst>
          </a:prstGeom>
          <a:solidFill>
            <a:srgbClr val="7F8C8D"/>
          </a:solidFill>
          <a:ln>
            <a:noFill/>
          </a:ln>
        </p:spPr>
      </p:sp>
      <p:sp>
        <p:nvSpPr>
          <p:cNvPr id="4" name="TextBox 4"/>
          <p:cNvSpPr txBox="1"/>
          <p:nvPr/>
        </p:nvSpPr>
        <p:spPr>
          <a:xfrm>
            <a:off x="727710" y="470535"/>
            <a:ext cx="6477381"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附录B：8家竞品 —— 从美团到日本商店街</a:t>
            </a:r>
          </a:p>
        </p:txBody>
      </p:sp>
      <p:sp>
        <p:nvSpPr>
          <p:cNvPr id="5" name="TextBox 5"/>
          <p:cNvSpPr txBox="1"/>
          <p:nvPr/>
        </p:nvSpPr>
        <p:spPr>
          <a:xfrm>
            <a:off x="742950" y="866775"/>
            <a:ext cx="4178618"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没有直接竞品 —— 链邦赋商通开辟的是全新品类</a:t>
            </a:r>
          </a:p>
        </p:txBody>
      </p:sp>
      <p:sp>
        <p:nvSpPr>
          <p:cNvPr id="6" name="Rectangle 6"/>
          <p:cNvSpPr/>
          <p:nvPr/>
        </p:nvSpPr>
        <p:spPr>
          <a:xfrm>
            <a:off x="571500" y="1238250"/>
            <a:ext cx="11049000" cy="342900"/>
          </a:xfrm>
          <a:prstGeom prst="roundRect">
            <a:avLst>
              <a:gd name="adj" fmla="val 16667"/>
            </a:avLst>
          </a:prstGeom>
          <a:solidFill>
            <a:srgbClr val="1A5276"/>
          </a:solidFill>
          <a:ln>
            <a:noFill/>
          </a:ln>
        </p:spPr>
      </p:sp>
      <p:sp>
        <p:nvSpPr>
          <p:cNvPr id="7" name="TextBox 7"/>
          <p:cNvSpPr txBox="1"/>
          <p:nvPr/>
        </p:nvSpPr>
        <p:spPr>
          <a:xfrm>
            <a:off x="747712" y="1345406"/>
            <a:ext cx="34361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竞品</a:t>
            </a:r>
          </a:p>
        </p:txBody>
      </p:sp>
      <p:sp>
        <p:nvSpPr>
          <p:cNvPr id="8" name="TextBox 8"/>
          <p:cNvSpPr txBox="1"/>
          <p:nvPr/>
        </p:nvSpPr>
        <p:spPr>
          <a:xfrm>
            <a:off x="1604962" y="1345406"/>
            <a:ext cx="65865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核心逻辑</a:t>
            </a:r>
          </a:p>
        </p:txBody>
      </p:sp>
      <p:sp>
        <p:nvSpPr>
          <p:cNvPr id="9" name="TextBox 9"/>
          <p:cNvSpPr txBox="1"/>
          <p:nvPr/>
        </p:nvSpPr>
        <p:spPr>
          <a:xfrm>
            <a:off x="4319588" y="1345406"/>
            <a:ext cx="1761292"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与链邦赋商通的核心差异</a:t>
            </a:r>
          </a:p>
        </p:txBody>
      </p:sp>
      <p:sp>
        <p:nvSpPr>
          <p:cNvPr id="10" name="TextBox 10"/>
          <p:cNvSpPr txBox="1"/>
          <p:nvPr/>
        </p:nvSpPr>
        <p:spPr>
          <a:xfrm>
            <a:off x="8748712" y="1345406"/>
            <a:ext cx="34361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启示</a:t>
            </a:r>
          </a:p>
        </p:txBody>
      </p:sp>
      <p:sp>
        <p:nvSpPr>
          <p:cNvPr id="11" name="Rectangle 11"/>
          <p:cNvSpPr/>
          <p:nvPr/>
        </p:nvSpPr>
        <p:spPr>
          <a:xfrm>
            <a:off x="571500" y="1600200"/>
            <a:ext cx="11049000" cy="514350"/>
          </a:xfrm>
          <a:prstGeom prst="roundRect">
            <a:avLst>
              <a:gd name="adj" fmla="val 11111"/>
            </a:avLst>
          </a:prstGeom>
          <a:solidFill>
            <a:srgbClr val="F5F0EA"/>
          </a:solidFill>
          <a:ln>
            <a:noFill/>
          </a:ln>
        </p:spPr>
      </p:sp>
      <p:sp>
        <p:nvSpPr>
          <p:cNvPr id="12" name="TextBox 12"/>
          <p:cNvSpPr txBox="1"/>
          <p:nvPr/>
        </p:nvSpPr>
        <p:spPr>
          <a:xfrm>
            <a:off x="746760" y="1775460"/>
            <a:ext cx="366522"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美团</a:t>
            </a:r>
          </a:p>
        </p:txBody>
      </p:sp>
      <p:sp>
        <p:nvSpPr>
          <p:cNvPr id="13" name="TextBox 13"/>
          <p:cNvSpPr txBox="1"/>
          <p:nvPr/>
        </p:nvSpPr>
        <p:spPr>
          <a:xfrm>
            <a:off x="1604962" y="1783556"/>
            <a:ext cx="140124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交易撮合 · 流量分发</a:t>
            </a:r>
          </a:p>
        </p:txBody>
      </p:sp>
      <p:sp>
        <p:nvSpPr>
          <p:cNvPr id="14" name="TextBox 14"/>
          <p:cNvSpPr txBox="1"/>
          <p:nvPr/>
        </p:nvSpPr>
        <p:spPr>
          <a:xfrm>
            <a:off x="4319588" y="1783556"/>
            <a:ext cx="215134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商家无关系归属 · 流量平台控制</a:t>
            </a:r>
          </a:p>
        </p:txBody>
      </p:sp>
      <p:sp>
        <p:nvSpPr>
          <p:cNvPr id="15" name="TextBox 15"/>
          <p:cNvSpPr txBox="1"/>
          <p:nvPr/>
        </p:nvSpPr>
        <p:spPr>
          <a:xfrm>
            <a:off x="8748712" y="1783556"/>
            <a:ext cx="1828800"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我们做关系不是做交易效率</a:t>
            </a:r>
          </a:p>
        </p:txBody>
      </p:sp>
      <p:sp>
        <p:nvSpPr>
          <p:cNvPr id="16" name="Rectangle 16"/>
          <p:cNvSpPr/>
          <p:nvPr/>
        </p:nvSpPr>
        <p:spPr>
          <a:xfrm>
            <a:off x="571500" y="2133600"/>
            <a:ext cx="11049000" cy="514350"/>
          </a:xfrm>
          <a:prstGeom prst="roundRect">
            <a:avLst>
              <a:gd name="adj" fmla="val 11111"/>
            </a:avLst>
          </a:prstGeom>
          <a:solidFill>
            <a:srgbClr val="FFFFFF"/>
          </a:solidFill>
          <a:ln>
            <a:noFill/>
          </a:ln>
        </p:spPr>
      </p:sp>
      <p:sp>
        <p:nvSpPr>
          <p:cNvPr id="17" name="TextBox 17"/>
          <p:cNvSpPr txBox="1"/>
          <p:nvPr/>
        </p:nvSpPr>
        <p:spPr>
          <a:xfrm>
            <a:off x="746760" y="2308860"/>
            <a:ext cx="702564"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抖音生活</a:t>
            </a:r>
          </a:p>
        </p:txBody>
      </p:sp>
      <p:sp>
        <p:nvSpPr>
          <p:cNvPr id="18" name="TextBox 18"/>
          <p:cNvSpPr txBox="1"/>
          <p:nvPr/>
        </p:nvSpPr>
        <p:spPr>
          <a:xfrm>
            <a:off x="1604962" y="2316956"/>
            <a:ext cx="1401247"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内容驱动 · 冲动消费</a:t>
            </a:r>
          </a:p>
        </p:txBody>
      </p:sp>
      <p:sp>
        <p:nvSpPr>
          <p:cNvPr id="19" name="TextBox 19"/>
          <p:cNvSpPr txBox="1"/>
          <p:nvPr/>
        </p:nvSpPr>
        <p:spPr>
          <a:xfrm>
            <a:off x="4319588" y="2316956"/>
            <a:ext cx="170128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一次性流量 · 无经营关系</a:t>
            </a:r>
          </a:p>
        </p:txBody>
      </p:sp>
      <p:sp>
        <p:nvSpPr>
          <p:cNvPr id="20" name="TextBox 20"/>
          <p:cNvSpPr txBox="1"/>
          <p:nvPr/>
        </p:nvSpPr>
        <p:spPr>
          <a:xfrm>
            <a:off x="8748712" y="2316956"/>
            <a:ext cx="1528762"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内容为商家服务非平台</a:t>
            </a:r>
          </a:p>
        </p:txBody>
      </p:sp>
      <p:sp>
        <p:nvSpPr>
          <p:cNvPr id="21" name="Rectangle 21"/>
          <p:cNvSpPr/>
          <p:nvPr/>
        </p:nvSpPr>
        <p:spPr>
          <a:xfrm>
            <a:off x="571500" y="2667000"/>
            <a:ext cx="11049000" cy="514350"/>
          </a:xfrm>
          <a:prstGeom prst="roundRect">
            <a:avLst>
              <a:gd name="adj" fmla="val 11111"/>
            </a:avLst>
          </a:prstGeom>
          <a:solidFill>
            <a:srgbClr val="F5F0EA"/>
          </a:solidFill>
          <a:ln>
            <a:noFill/>
          </a:ln>
        </p:spPr>
      </p:sp>
      <p:sp>
        <p:nvSpPr>
          <p:cNvPr id="22" name="TextBox 22"/>
          <p:cNvSpPr txBox="1"/>
          <p:nvPr/>
        </p:nvSpPr>
        <p:spPr>
          <a:xfrm>
            <a:off x="746760" y="2842260"/>
            <a:ext cx="366522"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有赞</a:t>
            </a:r>
          </a:p>
        </p:txBody>
      </p:sp>
      <p:sp>
        <p:nvSpPr>
          <p:cNvPr id="23" name="TextBox 23"/>
          <p:cNvSpPr txBox="1"/>
          <p:nvPr/>
        </p:nvSpPr>
        <p:spPr>
          <a:xfrm>
            <a:off x="1604962" y="2850356"/>
            <a:ext cx="14312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SaaS工具 · 商家自主</a:t>
            </a:r>
          </a:p>
        </p:txBody>
      </p:sp>
      <p:sp>
        <p:nvSpPr>
          <p:cNvPr id="24" name="TextBox 24"/>
          <p:cNvSpPr txBox="1"/>
          <p:nvPr/>
        </p:nvSpPr>
        <p:spPr>
          <a:xfrm>
            <a:off x="4319588" y="2850356"/>
            <a:ext cx="170128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无跨店互通 · 无生态协同</a:t>
            </a:r>
          </a:p>
        </p:txBody>
      </p:sp>
      <p:sp>
        <p:nvSpPr>
          <p:cNvPr id="25" name="TextBox 25"/>
          <p:cNvSpPr txBox="1"/>
          <p:nvPr/>
        </p:nvSpPr>
        <p:spPr>
          <a:xfrm>
            <a:off x="8748712" y="2850356"/>
            <a:ext cx="1078706"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我们有生态互通</a:t>
            </a:r>
          </a:p>
        </p:txBody>
      </p:sp>
      <p:sp>
        <p:nvSpPr>
          <p:cNvPr id="26" name="Rectangle 26"/>
          <p:cNvSpPr/>
          <p:nvPr/>
        </p:nvSpPr>
        <p:spPr>
          <a:xfrm>
            <a:off x="571500" y="3200400"/>
            <a:ext cx="11049000" cy="514350"/>
          </a:xfrm>
          <a:prstGeom prst="roundRect">
            <a:avLst>
              <a:gd name="adj" fmla="val 11111"/>
            </a:avLst>
          </a:prstGeom>
          <a:solidFill>
            <a:srgbClr val="FFFFFF"/>
          </a:solidFill>
          <a:ln>
            <a:noFill/>
          </a:ln>
        </p:spPr>
      </p:sp>
      <p:sp>
        <p:nvSpPr>
          <p:cNvPr id="27" name="TextBox 27"/>
          <p:cNvSpPr txBox="1"/>
          <p:nvPr/>
        </p:nvSpPr>
        <p:spPr>
          <a:xfrm>
            <a:off x="746760" y="3375660"/>
            <a:ext cx="635356"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Shopify</a:t>
            </a:r>
          </a:p>
        </p:txBody>
      </p:sp>
      <p:sp>
        <p:nvSpPr>
          <p:cNvPr id="28" name="TextBox 28"/>
          <p:cNvSpPr txBox="1"/>
          <p:nvPr/>
        </p:nvSpPr>
        <p:spPr>
          <a:xfrm>
            <a:off x="1604962" y="3383756"/>
            <a:ext cx="898684"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独立站 · DTC</a:t>
            </a:r>
          </a:p>
        </p:txBody>
      </p:sp>
      <p:sp>
        <p:nvSpPr>
          <p:cNvPr id="29" name="TextBox 29"/>
          <p:cNvSpPr txBox="1"/>
          <p:nvPr/>
        </p:nvSpPr>
        <p:spPr>
          <a:xfrm>
            <a:off x="4319588" y="3383756"/>
            <a:ext cx="1761292"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无社区维度 · B2C非B2B2C</a:t>
            </a:r>
          </a:p>
        </p:txBody>
      </p:sp>
      <p:sp>
        <p:nvSpPr>
          <p:cNvPr id="30" name="TextBox 30"/>
          <p:cNvSpPr txBox="1"/>
          <p:nvPr/>
        </p:nvSpPr>
        <p:spPr>
          <a:xfrm>
            <a:off x="8748712" y="3383756"/>
            <a:ext cx="1401247"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商家自主 + 社区网络</a:t>
            </a:r>
          </a:p>
        </p:txBody>
      </p:sp>
      <p:sp>
        <p:nvSpPr>
          <p:cNvPr id="31" name="Rectangle 31"/>
          <p:cNvSpPr/>
          <p:nvPr/>
        </p:nvSpPr>
        <p:spPr>
          <a:xfrm>
            <a:off x="571500" y="3733800"/>
            <a:ext cx="11049000" cy="514350"/>
          </a:xfrm>
          <a:prstGeom prst="roundRect">
            <a:avLst>
              <a:gd name="adj" fmla="val 11111"/>
            </a:avLst>
          </a:prstGeom>
          <a:solidFill>
            <a:srgbClr val="F5F0EA"/>
          </a:solidFill>
          <a:ln>
            <a:noFill/>
          </a:ln>
        </p:spPr>
      </p:sp>
      <p:sp>
        <p:nvSpPr>
          <p:cNvPr id="32" name="TextBox 32"/>
          <p:cNvSpPr txBox="1"/>
          <p:nvPr/>
        </p:nvSpPr>
        <p:spPr>
          <a:xfrm>
            <a:off x="746760" y="3909060"/>
            <a:ext cx="702564"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兴盛优选</a:t>
            </a:r>
          </a:p>
        </p:txBody>
      </p:sp>
      <p:sp>
        <p:nvSpPr>
          <p:cNvPr id="33" name="TextBox 33"/>
          <p:cNvSpPr txBox="1"/>
          <p:nvPr/>
        </p:nvSpPr>
        <p:spPr>
          <a:xfrm>
            <a:off x="1604962" y="3917156"/>
            <a:ext cx="62865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社区团购</a:t>
            </a:r>
          </a:p>
        </p:txBody>
      </p:sp>
      <p:sp>
        <p:nvSpPr>
          <p:cNvPr id="34" name="TextBox 34"/>
          <p:cNvSpPr txBox="1"/>
          <p:nvPr/>
        </p:nvSpPr>
        <p:spPr>
          <a:xfrm>
            <a:off x="4319588" y="3917156"/>
            <a:ext cx="1551265"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价格驱动 · 团长中心化</a:t>
            </a:r>
          </a:p>
        </p:txBody>
      </p:sp>
      <p:sp>
        <p:nvSpPr>
          <p:cNvPr id="35" name="TextBox 35"/>
          <p:cNvSpPr txBox="1"/>
          <p:nvPr/>
        </p:nvSpPr>
        <p:spPr>
          <a:xfrm>
            <a:off x="8748712" y="3917156"/>
            <a:ext cx="1228725"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我们做经营非价格</a:t>
            </a:r>
          </a:p>
        </p:txBody>
      </p:sp>
      <p:sp>
        <p:nvSpPr>
          <p:cNvPr id="36" name="Rectangle 36"/>
          <p:cNvSpPr/>
          <p:nvPr/>
        </p:nvSpPr>
        <p:spPr>
          <a:xfrm>
            <a:off x="571500" y="4267200"/>
            <a:ext cx="11049000" cy="514350"/>
          </a:xfrm>
          <a:prstGeom prst="roundRect">
            <a:avLst>
              <a:gd name="adj" fmla="val 11111"/>
            </a:avLst>
          </a:prstGeom>
          <a:solidFill>
            <a:srgbClr val="FFFFFF"/>
          </a:solidFill>
          <a:ln>
            <a:noFill/>
          </a:ln>
        </p:spPr>
      </p:sp>
      <p:sp>
        <p:nvSpPr>
          <p:cNvPr id="37" name="TextBox 37"/>
          <p:cNvSpPr txBox="1"/>
          <p:nvPr/>
        </p:nvSpPr>
        <p:spPr>
          <a:xfrm>
            <a:off x="746760" y="4442460"/>
            <a:ext cx="870585"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日本商店街</a:t>
            </a:r>
          </a:p>
        </p:txBody>
      </p:sp>
      <p:sp>
        <p:nvSpPr>
          <p:cNvPr id="38" name="TextBox 38"/>
          <p:cNvSpPr txBox="1"/>
          <p:nvPr/>
        </p:nvSpPr>
        <p:spPr>
          <a:xfrm>
            <a:off x="1604962" y="4450556"/>
            <a:ext cx="110120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线下协同 · 共济</a:t>
            </a:r>
          </a:p>
        </p:txBody>
      </p:sp>
      <p:sp>
        <p:nvSpPr>
          <p:cNvPr id="39" name="TextBox 39"/>
          <p:cNvSpPr txBox="1"/>
          <p:nvPr/>
        </p:nvSpPr>
        <p:spPr>
          <a:xfrm>
            <a:off x="4319588" y="4450556"/>
            <a:ext cx="1551265"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无数字化 · 无跨店通兑</a:t>
            </a:r>
          </a:p>
        </p:txBody>
      </p:sp>
      <p:sp>
        <p:nvSpPr>
          <p:cNvPr id="40" name="TextBox 40"/>
          <p:cNvSpPr txBox="1"/>
          <p:nvPr/>
        </p:nvSpPr>
        <p:spPr>
          <a:xfrm>
            <a:off x="8748712" y="4450556"/>
            <a:ext cx="928688"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数字化升级版</a:t>
            </a:r>
          </a:p>
        </p:txBody>
      </p:sp>
      <p:sp>
        <p:nvSpPr>
          <p:cNvPr id="41" name="Rectangle 41"/>
          <p:cNvSpPr/>
          <p:nvPr/>
        </p:nvSpPr>
        <p:spPr>
          <a:xfrm>
            <a:off x="571500" y="4800600"/>
            <a:ext cx="11049000" cy="514350"/>
          </a:xfrm>
          <a:prstGeom prst="roundRect">
            <a:avLst>
              <a:gd name="adj" fmla="val 11111"/>
            </a:avLst>
          </a:prstGeom>
          <a:solidFill>
            <a:srgbClr val="F5F0EA"/>
          </a:solidFill>
          <a:ln>
            <a:noFill/>
          </a:ln>
        </p:spPr>
      </p:sp>
      <p:sp>
        <p:nvSpPr>
          <p:cNvPr id="42" name="TextBox 42"/>
          <p:cNvSpPr txBox="1"/>
          <p:nvPr/>
        </p:nvSpPr>
        <p:spPr>
          <a:xfrm>
            <a:off x="746760" y="4975860"/>
            <a:ext cx="584949"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Costco</a:t>
            </a:r>
          </a:p>
        </p:txBody>
      </p:sp>
      <p:sp>
        <p:nvSpPr>
          <p:cNvPr id="43" name="TextBox 43"/>
          <p:cNvSpPr txBox="1"/>
          <p:nvPr/>
        </p:nvSpPr>
        <p:spPr>
          <a:xfrm>
            <a:off x="1604962" y="4983956"/>
            <a:ext cx="95119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会员制 · 精选</a:t>
            </a:r>
          </a:p>
        </p:txBody>
      </p:sp>
      <p:sp>
        <p:nvSpPr>
          <p:cNvPr id="44" name="TextBox 44"/>
          <p:cNvSpPr txBox="1"/>
          <p:nvPr/>
        </p:nvSpPr>
        <p:spPr>
          <a:xfrm>
            <a:off x="4319588" y="4983956"/>
            <a:ext cx="1551265"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单品零售 · 非经营生态</a:t>
            </a:r>
          </a:p>
        </p:txBody>
      </p:sp>
      <p:sp>
        <p:nvSpPr>
          <p:cNvPr id="45" name="TextBox 45"/>
          <p:cNvSpPr txBox="1"/>
          <p:nvPr/>
        </p:nvSpPr>
        <p:spPr>
          <a:xfrm>
            <a:off x="8748712" y="4983956"/>
            <a:ext cx="928688"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会员互通机制</a:t>
            </a:r>
          </a:p>
        </p:txBody>
      </p:sp>
      <p:sp>
        <p:nvSpPr>
          <p:cNvPr id="46" name="Rectangle 46"/>
          <p:cNvSpPr/>
          <p:nvPr/>
        </p:nvSpPr>
        <p:spPr>
          <a:xfrm>
            <a:off x="571500" y="5334000"/>
            <a:ext cx="11049000" cy="514350"/>
          </a:xfrm>
          <a:prstGeom prst="roundRect">
            <a:avLst>
              <a:gd name="adj" fmla="val 11111"/>
            </a:avLst>
          </a:prstGeom>
          <a:solidFill>
            <a:srgbClr val="FFFFFF"/>
          </a:solidFill>
          <a:ln>
            <a:noFill/>
          </a:ln>
        </p:spPr>
      </p:sp>
      <p:sp>
        <p:nvSpPr>
          <p:cNvPr id="47" name="TextBox 47"/>
          <p:cNvSpPr txBox="1"/>
          <p:nvPr/>
        </p:nvSpPr>
        <p:spPr>
          <a:xfrm>
            <a:off x="746760" y="5509260"/>
            <a:ext cx="534543"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拼多多</a:t>
            </a:r>
          </a:p>
        </p:txBody>
      </p:sp>
      <p:sp>
        <p:nvSpPr>
          <p:cNvPr id="48" name="TextBox 48"/>
          <p:cNvSpPr txBox="1"/>
          <p:nvPr/>
        </p:nvSpPr>
        <p:spPr>
          <a:xfrm>
            <a:off x="1604962" y="5517356"/>
            <a:ext cx="1101209"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社交裂变 · 低价</a:t>
            </a:r>
          </a:p>
        </p:txBody>
      </p:sp>
      <p:sp>
        <p:nvSpPr>
          <p:cNvPr id="49" name="TextBox 49"/>
          <p:cNvSpPr txBox="1"/>
          <p:nvPr/>
        </p:nvSpPr>
        <p:spPr>
          <a:xfrm>
            <a:off x="4319588" y="5517356"/>
            <a:ext cx="86868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C2M非B2B2C</a:t>
            </a:r>
          </a:p>
        </p:txBody>
      </p:sp>
      <p:sp>
        <p:nvSpPr>
          <p:cNvPr id="50" name="TextBox 50"/>
          <p:cNvSpPr txBox="1"/>
          <p:nvPr/>
        </p:nvSpPr>
        <p:spPr>
          <a:xfrm>
            <a:off x="8748712" y="5517356"/>
            <a:ext cx="928688" cy="228600"/>
          </a:xfrm>
          <a:prstGeom prst="rect">
            <a:avLst/>
          </a:prstGeom>
          <a:noFill/>
          <a:ln>
            <a:noFill/>
          </a:ln>
        </p:spPr>
        <p:txBody>
          <a:bodyPr wrap="none" lIns="0" tIns="0" rIns="0" bIns="0" anchor="t" anchorCtr="0">
            <a:spAutoFit/>
          </a:bodyPr>
          <a:lstStyle/>
          <a:p>
            <a:pPr algn="l"/>
            <a:r>
              <a:rPr lang="zh-CN" sz="1125" dirty="0">
                <a:solidFill>
                  <a:srgbClr val="1A5276"/>
                </a:solidFill>
                <a:latin typeface="Arial"/>
                <a:ea typeface="Microsoft YaHei"/>
                <a:cs typeface="Arial"/>
              </a:rPr>
              <a:t>商家关系归属</a:t>
            </a:r>
          </a:p>
        </p:txBody>
      </p:sp>
      <p:sp>
        <p:nvSpPr>
          <p:cNvPr id="51" name="Rectangle 51"/>
          <p:cNvSpPr/>
          <p:nvPr/>
        </p:nvSpPr>
        <p:spPr>
          <a:xfrm>
            <a:off x="571500" y="6000750"/>
            <a:ext cx="11049000" cy="381000"/>
          </a:xfrm>
          <a:prstGeom prst="roundRect">
            <a:avLst>
              <a:gd name="adj" fmla="val 25000"/>
            </a:avLst>
          </a:prstGeom>
          <a:solidFill>
            <a:srgbClr val="1A5276"/>
          </a:solidFill>
          <a:ln>
            <a:noFill/>
          </a:ln>
          <a:effectLst>
            <a:outerShdw blurRad="76200" dist="19050" dir="5400000" algn="ctr" rotWithShape="0">
              <a:srgbClr val="2C2C2C">
                <a:alpha val="4500"/>
              </a:srgbClr>
            </a:outerShdw>
          </a:effectLst>
        </p:spPr>
      </p:sp>
      <p:sp>
        <p:nvSpPr>
          <p:cNvPr id="52" name="TextBox 52"/>
          <p:cNvSpPr txBox="1"/>
          <p:nvPr/>
        </p:nvSpPr>
        <p:spPr>
          <a:xfrm>
            <a:off x="3054477" y="6102668"/>
            <a:ext cx="608304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核心发现：链邦赋商通是目前唯一以「社区商家经营关系」为核心的平台</a:t>
            </a:r>
          </a:p>
        </p:txBody>
      </p:sp>
      <p:sp>
        <p:nvSpPr>
          <p:cNvPr id="53" name="TextBox 53"/>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48</a:t>
            </a:r>
          </a:p>
        </p:txBody>
      </p:sp>
      <p:sp>
        <p:nvSpPr>
          <p:cNvPr id="54" name="TextBox 54"/>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95300"/>
            <a:ext cx="57150" cy="381000"/>
          </a:xfrm>
          <a:prstGeom prst="roundRect">
            <a:avLst>
              <a:gd name="adj" fmla="val 50000"/>
            </a:avLst>
          </a:prstGeom>
          <a:solidFill>
            <a:srgbClr val="7F8C8D"/>
          </a:solidFill>
          <a:ln>
            <a:noFill/>
          </a:ln>
        </p:spPr>
      </p:sp>
      <p:sp>
        <p:nvSpPr>
          <p:cNvPr id="4" name="TextBox 4"/>
          <p:cNvSpPr txBox="1"/>
          <p:nvPr/>
        </p:nvSpPr>
        <p:spPr>
          <a:xfrm>
            <a:off x="727710" y="470535"/>
            <a:ext cx="7467505"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附录C：每一个策略判断都能溯源到具体方法论</a:t>
            </a:r>
          </a:p>
        </p:txBody>
      </p:sp>
      <p:sp>
        <p:nvSpPr>
          <p:cNvPr id="5" name="Rectangle 5"/>
          <p:cNvSpPr/>
          <p:nvPr/>
        </p:nvSpPr>
        <p:spPr>
          <a:xfrm>
            <a:off x="571500" y="1028700"/>
            <a:ext cx="11049000" cy="304800"/>
          </a:xfrm>
          <a:prstGeom prst="roundRect">
            <a:avLst>
              <a:gd name="adj" fmla="val 18750"/>
            </a:avLst>
          </a:prstGeom>
          <a:solidFill>
            <a:srgbClr val="1A5276"/>
          </a:solidFill>
          <a:ln>
            <a:noFill/>
          </a:ln>
        </p:spPr>
      </p:sp>
      <p:sp>
        <p:nvSpPr>
          <p:cNvPr id="6" name="TextBox 6"/>
          <p:cNvSpPr txBox="1"/>
          <p:nvPr/>
        </p:nvSpPr>
        <p:spPr>
          <a:xfrm>
            <a:off x="748665" y="1124902"/>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模块</a:t>
            </a:r>
          </a:p>
        </p:txBody>
      </p:sp>
      <p:sp>
        <p:nvSpPr>
          <p:cNvPr id="7" name="TextBox 7"/>
          <p:cNvSpPr txBox="1"/>
          <p:nvPr/>
        </p:nvSpPr>
        <p:spPr>
          <a:xfrm>
            <a:off x="2463165" y="1124902"/>
            <a:ext cx="930833"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方法论 / 框架</a:t>
            </a:r>
          </a:p>
        </p:txBody>
      </p:sp>
      <p:sp>
        <p:nvSpPr>
          <p:cNvPr id="8" name="TextBox 8"/>
          <p:cNvSpPr txBox="1"/>
          <p:nvPr/>
        </p:nvSpPr>
        <p:spPr>
          <a:xfrm>
            <a:off x="7892415" y="1124902"/>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来源</a:t>
            </a:r>
          </a:p>
        </p:txBody>
      </p:sp>
      <p:sp>
        <p:nvSpPr>
          <p:cNvPr id="9" name="Rectangle 9"/>
          <p:cNvSpPr/>
          <p:nvPr/>
        </p:nvSpPr>
        <p:spPr>
          <a:xfrm>
            <a:off x="571500" y="1352550"/>
            <a:ext cx="11049000" cy="323850"/>
          </a:xfrm>
          <a:prstGeom prst="roundRect">
            <a:avLst>
              <a:gd name="adj" fmla="val 11765"/>
            </a:avLst>
          </a:prstGeom>
          <a:solidFill>
            <a:srgbClr val="F5F0EA"/>
          </a:solidFill>
          <a:ln>
            <a:noFill/>
          </a:ln>
        </p:spPr>
      </p:sp>
      <p:sp>
        <p:nvSpPr>
          <p:cNvPr id="10" name="TextBox 10"/>
          <p:cNvSpPr txBox="1"/>
          <p:nvPr/>
        </p:nvSpPr>
        <p:spPr>
          <a:xfrm>
            <a:off x="748665" y="1448752"/>
            <a:ext cx="761762"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生态位分析</a:t>
            </a:r>
          </a:p>
        </p:txBody>
      </p:sp>
      <p:sp>
        <p:nvSpPr>
          <p:cNvPr id="11" name="TextBox 11"/>
          <p:cNvSpPr txBox="1"/>
          <p:nvPr/>
        </p:nvSpPr>
        <p:spPr>
          <a:xfrm>
            <a:off x="2463165" y="1448752"/>
            <a:ext cx="3149060"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三圆交集模型（市场空白 ∩ 用户需求 ∩ 自身能力）</a:t>
            </a:r>
          </a:p>
        </p:txBody>
      </p:sp>
      <p:sp>
        <p:nvSpPr>
          <p:cNvPr id="12" name="TextBox 12"/>
          <p:cNvSpPr txBox="1"/>
          <p:nvPr/>
        </p:nvSpPr>
        <p:spPr>
          <a:xfrm>
            <a:off x="7893368" y="1456849"/>
            <a:ext cx="243006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《品牌全案策略指南2.0》+ 波特竞争战略</a:t>
            </a:r>
          </a:p>
        </p:txBody>
      </p:sp>
      <p:sp>
        <p:nvSpPr>
          <p:cNvPr id="13" name="Rectangle 13"/>
          <p:cNvSpPr/>
          <p:nvPr/>
        </p:nvSpPr>
        <p:spPr>
          <a:xfrm>
            <a:off x="571500" y="1695450"/>
            <a:ext cx="11049000" cy="323850"/>
          </a:xfrm>
          <a:prstGeom prst="roundRect">
            <a:avLst>
              <a:gd name="adj" fmla="val 11765"/>
            </a:avLst>
          </a:prstGeom>
          <a:solidFill>
            <a:srgbClr val="FFFFFF"/>
          </a:solidFill>
          <a:ln>
            <a:noFill/>
          </a:ln>
        </p:spPr>
      </p:sp>
      <p:sp>
        <p:nvSpPr>
          <p:cNvPr id="14" name="TextBox 14"/>
          <p:cNvSpPr txBox="1"/>
          <p:nvPr/>
        </p:nvSpPr>
        <p:spPr>
          <a:xfrm>
            <a:off x="748665" y="17916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品类定义</a:t>
            </a:r>
          </a:p>
        </p:txBody>
      </p:sp>
      <p:sp>
        <p:nvSpPr>
          <p:cNvPr id="15" name="TextBox 15"/>
          <p:cNvSpPr txBox="1"/>
          <p:nvPr/>
        </p:nvSpPr>
        <p:spPr>
          <a:xfrm>
            <a:off x="2463165" y="1791652"/>
            <a:ext cx="1006792"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品类定义权理论</a:t>
            </a:r>
          </a:p>
        </p:txBody>
      </p:sp>
      <p:sp>
        <p:nvSpPr>
          <p:cNvPr id="16" name="TextBox 16"/>
          <p:cNvSpPr txBox="1"/>
          <p:nvPr/>
        </p:nvSpPr>
        <p:spPr>
          <a:xfrm>
            <a:off x="7893368" y="1799749"/>
            <a:ext cx="134443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里斯 &amp; 特劳特《定位》</a:t>
            </a:r>
          </a:p>
        </p:txBody>
      </p:sp>
      <p:sp>
        <p:nvSpPr>
          <p:cNvPr id="17" name="Rectangle 17"/>
          <p:cNvSpPr/>
          <p:nvPr/>
        </p:nvSpPr>
        <p:spPr>
          <a:xfrm>
            <a:off x="571500" y="2038350"/>
            <a:ext cx="11049000" cy="323850"/>
          </a:xfrm>
          <a:prstGeom prst="roundRect">
            <a:avLst>
              <a:gd name="adj" fmla="val 11765"/>
            </a:avLst>
          </a:prstGeom>
          <a:solidFill>
            <a:srgbClr val="F5F0EA"/>
          </a:solidFill>
          <a:ln>
            <a:noFill/>
          </a:ln>
        </p:spPr>
      </p:sp>
      <p:sp>
        <p:nvSpPr>
          <p:cNvPr id="18" name="TextBox 18"/>
          <p:cNvSpPr txBox="1"/>
          <p:nvPr/>
        </p:nvSpPr>
        <p:spPr>
          <a:xfrm>
            <a:off x="748665" y="2134552"/>
            <a:ext cx="77646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C+四层定位</a:t>
            </a:r>
          </a:p>
        </p:txBody>
      </p:sp>
      <p:sp>
        <p:nvSpPr>
          <p:cNvPr id="19" name="TextBox 19"/>
          <p:cNvSpPr txBox="1"/>
          <p:nvPr/>
        </p:nvSpPr>
        <p:spPr>
          <a:xfrm>
            <a:off x="2463165" y="2134552"/>
            <a:ext cx="866775"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四层定位结构</a:t>
            </a:r>
          </a:p>
        </p:txBody>
      </p:sp>
      <p:sp>
        <p:nvSpPr>
          <p:cNvPr id="20" name="TextBox 20"/>
          <p:cNvSpPr txBox="1"/>
          <p:nvPr/>
        </p:nvSpPr>
        <p:spPr>
          <a:xfrm>
            <a:off x="7893368" y="2142649"/>
            <a:ext cx="179948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《品牌全案策略指南2.0》独创</a:t>
            </a:r>
          </a:p>
        </p:txBody>
      </p:sp>
      <p:sp>
        <p:nvSpPr>
          <p:cNvPr id="21" name="Rectangle 21"/>
          <p:cNvSpPr/>
          <p:nvPr/>
        </p:nvSpPr>
        <p:spPr>
          <a:xfrm>
            <a:off x="571500" y="2381250"/>
            <a:ext cx="11049000" cy="323850"/>
          </a:xfrm>
          <a:prstGeom prst="roundRect">
            <a:avLst>
              <a:gd name="adj" fmla="val 11765"/>
            </a:avLst>
          </a:prstGeom>
          <a:solidFill>
            <a:srgbClr val="FFFFFF"/>
          </a:solidFill>
          <a:ln>
            <a:noFill/>
          </a:ln>
        </p:spPr>
      </p:sp>
      <p:sp>
        <p:nvSpPr>
          <p:cNvPr id="22" name="TextBox 22"/>
          <p:cNvSpPr txBox="1"/>
          <p:nvPr/>
        </p:nvSpPr>
        <p:spPr>
          <a:xfrm>
            <a:off x="748665" y="2477452"/>
            <a:ext cx="90878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定位方法选择</a:t>
            </a:r>
          </a:p>
        </p:txBody>
      </p:sp>
      <p:sp>
        <p:nvSpPr>
          <p:cNvPr id="23" name="TextBox 23"/>
          <p:cNvSpPr txBox="1"/>
          <p:nvPr/>
        </p:nvSpPr>
        <p:spPr>
          <a:xfrm>
            <a:off x="2463165" y="2477452"/>
            <a:ext cx="726758"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四问决策树</a:t>
            </a:r>
          </a:p>
        </p:txBody>
      </p:sp>
      <p:sp>
        <p:nvSpPr>
          <p:cNvPr id="24" name="TextBox 24"/>
          <p:cNvSpPr txBox="1"/>
          <p:nvPr/>
        </p:nvSpPr>
        <p:spPr>
          <a:xfrm>
            <a:off x="7893368" y="2485549"/>
            <a:ext cx="205951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《品牌全案策略指南2.0》决策树二</a:t>
            </a:r>
          </a:p>
        </p:txBody>
      </p:sp>
      <p:sp>
        <p:nvSpPr>
          <p:cNvPr id="25" name="Rectangle 25"/>
          <p:cNvSpPr/>
          <p:nvPr/>
        </p:nvSpPr>
        <p:spPr>
          <a:xfrm>
            <a:off x="571500" y="2724150"/>
            <a:ext cx="11049000" cy="323850"/>
          </a:xfrm>
          <a:prstGeom prst="roundRect">
            <a:avLst>
              <a:gd name="adj" fmla="val 11765"/>
            </a:avLst>
          </a:prstGeom>
          <a:solidFill>
            <a:srgbClr val="F5F0EA"/>
          </a:solidFill>
          <a:ln>
            <a:noFill/>
          </a:ln>
        </p:spPr>
      </p:sp>
      <p:sp>
        <p:nvSpPr>
          <p:cNvPr id="26" name="TextBox 26"/>
          <p:cNvSpPr txBox="1"/>
          <p:nvPr/>
        </p:nvSpPr>
        <p:spPr>
          <a:xfrm>
            <a:off x="748665" y="2820352"/>
            <a:ext cx="90878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品牌价值画布</a:t>
            </a:r>
          </a:p>
        </p:txBody>
      </p:sp>
      <p:sp>
        <p:nvSpPr>
          <p:cNvPr id="27" name="TextBox 27"/>
          <p:cNvSpPr txBox="1"/>
          <p:nvPr/>
        </p:nvSpPr>
        <p:spPr>
          <a:xfrm>
            <a:off x="2463165" y="2820352"/>
            <a:ext cx="1146810"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价值主张画布改编</a:t>
            </a:r>
          </a:p>
        </p:txBody>
      </p:sp>
      <p:sp>
        <p:nvSpPr>
          <p:cNvPr id="28" name="TextBox 28"/>
          <p:cNvSpPr txBox="1"/>
          <p:nvPr/>
        </p:nvSpPr>
        <p:spPr>
          <a:xfrm>
            <a:off x="7893368" y="2828449"/>
            <a:ext cx="228054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Osterwalder价值主张画布 + 品牌适配</a:t>
            </a:r>
          </a:p>
        </p:txBody>
      </p:sp>
      <p:sp>
        <p:nvSpPr>
          <p:cNvPr id="29" name="Rectangle 29"/>
          <p:cNvSpPr/>
          <p:nvPr/>
        </p:nvSpPr>
        <p:spPr>
          <a:xfrm>
            <a:off x="571500" y="3067050"/>
            <a:ext cx="11049000" cy="323850"/>
          </a:xfrm>
          <a:prstGeom prst="roundRect">
            <a:avLst>
              <a:gd name="adj" fmla="val 11765"/>
            </a:avLst>
          </a:prstGeom>
          <a:solidFill>
            <a:srgbClr val="FFFFFF"/>
          </a:solidFill>
          <a:ln>
            <a:noFill/>
          </a:ln>
        </p:spPr>
      </p:sp>
      <p:sp>
        <p:nvSpPr>
          <p:cNvPr id="30" name="TextBox 30"/>
          <p:cNvSpPr txBox="1"/>
          <p:nvPr/>
        </p:nvSpPr>
        <p:spPr>
          <a:xfrm>
            <a:off x="748665" y="31632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使命三层</a:t>
            </a:r>
          </a:p>
        </p:txBody>
      </p:sp>
      <p:sp>
        <p:nvSpPr>
          <p:cNvPr id="31" name="TextBox 31"/>
          <p:cNvSpPr txBox="1"/>
          <p:nvPr/>
        </p:nvSpPr>
        <p:spPr>
          <a:xfrm>
            <a:off x="2463165" y="3163252"/>
            <a:ext cx="1006792"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金字塔使命结构</a:t>
            </a:r>
          </a:p>
        </p:txBody>
      </p:sp>
      <p:sp>
        <p:nvSpPr>
          <p:cNvPr id="32" name="TextBox 32"/>
          <p:cNvSpPr txBox="1"/>
          <p:nvPr/>
        </p:nvSpPr>
        <p:spPr>
          <a:xfrm>
            <a:off x="7893368" y="3171349"/>
            <a:ext cx="235855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Collins《基业长青》+ 日本企业理念经营</a:t>
            </a:r>
          </a:p>
        </p:txBody>
      </p:sp>
      <p:sp>
        <p:nvSpPr>
          <p:cNvPr id="33" name="Rectangle 33"/>
          <p:cNvSpPr/>
          <p:nvPr/>
        </p:nvSpPr>
        <p:spPr>
          <a:xfrm>
            <a:off x="571500" y="3409950"/>
            <a:ext cx="11049000" cy="323850"/>
          </a:xfrm>
          <a:prstGeom prst="roundRect">
            <a:avLst>
              <a:gd name="adj" fmla="val 11765"/>
            </a:avLst>
          </a:prstGeom>
          <a:solidFill>
            <a:srgbClr val="F5F0EA"/>
          </a:solidFill>
          <a:ln>
            <a:noFill/>
          </a:ln>
        </p:spPr>
      </p:sp>
      <p:sp>
        <p:nvSpPr>
          <p:cNvPr id="34" name="TextBox 34"/>
          <p:cNvSpPr txBox="1"/>
          <p:nvPr/>
        </p:nvSpPr>
        <p:spPr>
          <a:xfrm>
            <a:off x="748665" y="35061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愿景三层</a:t>
            </a:r>
          </a:p>
        </p:txBody>
      </p:sp>
      <p:sp>
        <p:nvSpPr>
          <p:cNvPr id="35" name="TextBox 35"/>
          <p:cNvSpPr txBox="1"/>
          <p:nvPr/>
        </p:nvSpPr>
        <p:spPr>
          <a:xfrm>
            <a:off x="2463165" y="3506152"/>
            <a:ext cx="866775"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时间轴对比法</a:t>
            </a:r>
          </a:p>
        </p:txBody>
      </p:sp>
      <p:sp>
        <p:nvSpPr>
          <p:cNvPr id="36" name="TextBox 36"/>
          <p:cNvSpPr txBox="1"/>
          <p:nvPr/>
        </p:nvSpPr>
        <p:spPr>
          <a:xfrm>
            <a:off x="7893368" y="3514249"/>
            <a:ext cx="116240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Collins BHAG + 自创</a:t>
            </a:r>
          </a:p>
        </p:txBody>
      </p:sp>
      <p:sp>
        <p:nvSpPr>
          <p:cNvPr id="37" name="Rectangle 37"/>
          <p:cNvSpPr/>
          <p:nvPr/>
        </p:nvSpPr>
        <p:spPr>
          <a:xfrm>
            <a:off x="571500" y="3752850"/>
            <a:ext cx="11049000" cy="323850"/>
          </a:xfrm>
          <a:prstGeom prst="roundRect">
            <a:avLst>
              <a:gd name="adj" fmla="val 11765"/>
            </a:avLst>
          </a:prstGeom>
          <a:solidFill>
            <a:srgbClr val="FFFFFF"/>
          </a:solidFill>
          <a:ln>
            <a:noFill/>
          </a:ln>
        </p:spPr>
      </p:sp>
      <p:sp>
        <p:nvSpPr>
          <p:cNvPr id="38" name="TextBox 38"/>
          <p:cNvSpPr txBox="1"/>
          <p:nvPr/>
        </p:nvSpPr>
        <p:spPr>
          <a:xfrm>
            <a:off x="748665" y="3849052"/>
            <a:ext cx="90878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价值观过滤器</a:t>
            </a:r>
          </a:p>
        </p:txBody>
      </p:sp>
      <p:sp>
        <p:nvSpPr>
          <p:cNvPr id="39" name="TextBox 39"/>
          <p:cNvSpPr txBox="1"/>
          <p:nvPr/>
        </p:nvSpPr>
        <p:spPr>
          <a:xfrm>
            <a:off x="2463165" y="3849052"/>
            <a:ext cx="1006792"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价值观取舍测试</a:t>
            </a:r>
          </a:p>
        </p:txBody>
      </p:sp>
      <p:sp>
        <p:nvSpPr>
          <p:cNvPr id="40" name="TextBox 40"/>
          <p:cNvSpPr txBox="1"/>
          <p:nvPr/>
        </p:nvSpPr>
        <p:spPr>
          <a:xfrm>
            <a:off x="7893368" y="3857149"/>
            <a:ext cx="233255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Lencioni《团队协作的五大障碍》+ 自创</a:t>
            </a:r>
          </a:p>
        </p:txBody>
      </p:sp>
      <p:sp>
        <p:nvSpPr>
          <p:cNvPr id="41" name="Rectangle 41"/>
          <p:cNvSpPr/>
          <p:nvPr/>
        </p:nvSpPr>
        <p:spPr>
          <a:xfrm>
            <a:off x="571500" y="4095750"/>
            <a:ext cx="11049000" cy="323850"/>
          </a:xfrm>
          <a:prstGeom prst="roundRect">
            <a:avLst>
              <a:gd name="adj" fmla="val 11765"/>
            </a:avLst>
          </a:prstGeom>
          <a:solidFill>
            <a:srgbClr val="F5F0EA"/>
          </a:solidFill>
          <a:ln>
            <a:noFill/>
          </a:ln>
        </p:spPr>
      </p:sp>
      <p:sp>
        <p:nvSpPr>
          <p:cNvPr id="42" name="TextBox 42"/>
          <p:cNvSpPr txBox="1"/>
          <p:nvPr/>
        </p:nvSpPr>
        <p:spPr>
          <a:xfrm>
            <a:off x="748665" y="41919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品牌人格</a:t>
            </a:r>
          </a:p>
        </p:txBody>
      </p:sp>
      <p:sp>
        <p:nvSpPr>
          <p:cNvPr id="43" name="TextBox 43"/>
          <p:cNvSpPr txBox="1"/>
          <p:nvPr/>
        </p:nvSpPr>
        <p:spPr>
          <a:xfrm>
            <a:off x="2463165" y="4191952"/>
            <a:ext cx="1321832"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12原型 + 本土化改造</a:t>
            </a:r>
          </a:p>
        </p:txBody>
      </p:sp>
      <p:sp>
        <p:nvSpPr>
          <p:cNvPr id="44" name="TextBox 44"/>
          <p:cNvSpPr txBox="1"/>
          <p:nvPr/>
        </p:nvSpPr>
        <p:spPr>
          <a:xfrm>
            <a:off x="7893368" y="4200049"/>
            <a:ext cx="192950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Mark品牌12原型 + 中国社区文化</a:t>
            </a:r>
          </a:p>
        </p:txBody>
      </p:sp>
      <p:sp>
        <p:nvSpPr>
          <p:cNvPr id="45" name="Rectangle 45"/>
          <p:cNvSpPr/>
          <p:nvPr/>
        </p:nvSpPr>
        <p:spPr>
          <a:xfrm>
            <a:off x="571500" y="4438650"/>
            <a:ext cx="11049000" cy="323850"/>
          </a:xfrm>
          <a:prstGeom prst="roundRect">
            <a:avLst>
              <a:gd name="adj" fmla="val 11765"/>
            </a:avLst>
          </a:prstGeom>
          <a:solidFill>
            <a:srgbClr val="FFFFFF"/>
          </a:solidFill>
          <a:ln>
            <a:noFill/>
          </a:ln>
        </p:spPr>
      </p:sp>
      <p:sp>
        <p:nvSpPr>
          <p:cNvPr id="46" name="TextBox 46"/>
          <p:cNvSpPr txBox="1"/>
          <p:nvPr/>
        </p:nvSpPr>
        <p:spPr>
          <a:xfrm>
            <a:off x="748665" y="4534852"/>
            <a:ext cx="761762"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广告语体系</a:t>
            </a:r>
          </a:p>
        </p:txBody>
      </p:sp>
      <p:sp>
        <p:nvSpPr>
          <p:cNvPr id="47" name="TextBox 47"/>
          <p:cNvSpPr txBox="1"/>
          <p:nvPr/>
        </p:nvSpPr>
        <p:spPr>
          <a:xfrm>
            <a:off x="2463165" y="4534852"/>
            <a:ext cx="866775"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三层沟通模型</a:t>
            </a:r>
          </a:p>
        </p:txBody>
      </p:sp>
      <p:sp>
        <p:nvSpPr>
          <p:cNvPr id="48" name="TextBox 48"/>
          <p:cNvSpPr txBox="1"/>
          <p:nvPr/>
        </p:nvSpPr>
        <p:spPr>
          <a:xfrm>
            <a:off x="7893368" y="4542949"/>
            <a:ext cx="153945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《品牌全案策略指南2.0》</a:t>
            </a:r>
          </a:p>
        </p:txBody>
      </p:sp>
      <p:sp>
        <p:nvSpPr>
          <p:cNvPr id="49" name="Rectangle 49"/>
          <p:cNvSpPr/>
          <p:nvPr/>
        </p:nvSpPr>
        <p:spPr>
          <a:xfrm>
            <a:off x="571500" y="4781550"/>
            <a:ext cx="11049000" cy="323850"/>
          </a:xfrm>
          <a:prstGeom prst="roundRect">
            <a:avLst>
              <a:gd name="adj" fmla="val 11765"/>
            </a:avLst>
          </a:prstGeom>
          <a:solidFill>
            <a:srgbClr val="F5F0EA"/>
          </a:solidFill>
          <a:ln>
            <a:noFill/>
          </a:ln>
        </p:spPr>
      </p:sp>
      <p:sp>
        <p:nvSpPr>
          <p:cNvPr id="50" name="TextBox 50"/>
          <p:cNvSpPr txBox="1"/>
          <p:nvPr/>
        </p:nvSpPr>
        <p:spPr>
          <a:xfrm>
            <a:off x="748665" y="4877752"/>
            <a:ext cx="761762"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命名方法论</a:t>
            </a:r>
          </a:p>
        </p:txBody>
      </p:sp>
      <p:sp>
        <p:nvSpPr>
          <p:cNvPr id="51" name="TextBox 51"/>
          <p:cNvSpPr txBox="1"/>
          <p:nvPr/>
        </p:nvSpPr>
        <p:spPr>
          <a:xfrm>
            <a:off x="2463165" y="4877752"/>
            <a:ext cx="1307830"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六维评估 + 字频分析</a:t>
            </a:r>
          </a:p>
        </p:txBody>
      </p:sp>
      <p:sp>
        <p:nvSpPr>
          <p:cNvPr id="52" name="TextBox 52"/>
          <p:cNvSpPr txBox="1"/>
          <p:nvPr/>
        </p:nvSpPr>
        <p:spPr>
          <a:xfrm>
            <a:off x="7893368" y="4885849"/>
            <a:ext cx="230004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《品牌全案策略指南2.0》+ 商标数据库</a:t>
            </a:r>
          </a:p>
        </p:txBody>
      </p:sp>
      <p:sp>
        <p:nvSpPr>
          <p:cNvPr id="53" name="Rectangle 53"/>
          <p:cNvSpPr/>
          <p:nvPr/>
        </p:nvSpPr>
        <p:spPr>
          <a:xfrm>
            <a:off x="571500" y="5124450"/>
            <a:ext cx="11049000" cy="323850"/>
          </a:xfrm>
          <a:prstGeom prst="roundRect">
            <a:avLst>
              <a:gd name="adj" fmla="val 11765"/>
            </a:avLst>
          </a:prstGeom>
          <a:solidFill>
            <a:srgbClr val="FFFFFF"/>
          </a:solidFill>
          <a:ln>
            <a:noFill/>
          </a:ln>
        </p:spPr>
      </p:sp>
      <p:sp>
        <p:nvSpPr>
          <p:cNvPr id="54" name="TextBox 54"/>
          <p:cNvSpPr txBox="1"/>
          <p:nvPr/>
        </p:nvSpPr>
        <p:spPr>
          <a:xfrm>
            <a:off x="748665" y="52206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三段序列</a:t>
            </a:r>
          </a:p>
        </p:txBody>
      </p:sp>
      <p:sp>
        <p:nvSpPr>
          <p:cNvPr id="55" name="TextBox 55"/>
          <p:cNvSpPr txBox="1"/>
          <p:nvPr/>
        </p:nvSpPr>
        <p:spPr>
          <a:xfrm>
            <a:off x="2463165" y="5220652"/>
            <a:ext cx="1608868"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Type 1/2决策 + 华为方法</a:t>
            </a:r>
          </a:p>
        </p:txBody>
      </p:sp>
      <p:sp>
        <p:nvSpPr>
          <p:cNvPr id="56" name="TextBox 56"/>
          <p:cNvSpPr txBox="1"/>
          <p:nvPr/>
        </p:nvSpPr>
        <p:spPr>
          <a:xfrm>
            <a:off x="7893368" y="5228749"/>
            <a:ext cx="88937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Amazon + 华为</a:t>
            </a:r>
          </a:p>
        </p:txBody>
      </p:sp>
      <p:sp>
        <p:nvSpPr>
          <p:cNvPr id="57" name="Rectangle 57"/>
          <p:cNvSpPr/>
          <p:nvPr/>
        </p:nvSpPr>
        <p:spPr>
          <a:xfrm>
            <a:off x="571500" y="5467350"/>
            <a:ext cx="11049000" cy="323850"/>
          </a:xfrm>
          <a:prstGeom prst="roundRect">
            <a:avLst>
              <a:gd name="adj" fmla="val 11765"/>
            </a:avLst>
          </a:prstGeom>
          <a:solidFill>
            <a:srgbClr val="F5F0EA"/>
          </a:solidFill>
          <a:ln>
            <a:noFill/>
          </a:ln>
        </p:spPr>
      </p:sp>
      <p:sp>
        <p:nvSpPr>
          <p:cNvPr id="58" name="TextBox 58"/>
          <p:cNvSpPr txBox="1"/>
          <p:nvPr/>
        </p:nvSpPr>
        <p:spPr>
          <a:xfrm>
            <a:off x="748665" y="55635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预算分配</a:t>
            </a:r>
          </a:p>
        </p:txBody>
      </p:sp>
      <p:sp>
        <p:nvSpPr>
          <p:cNvPr id="59" name="TextBox 59"/>
          <p:cNvSpPr txBox="1"/>
          <p:nvPr/>
        </p:nvSpPr>
        <p:spPr>
          <a:xfrm>
            <a:off x="2463165" y="5563552"/>
            <a:ext cx="1006792"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三步预算优先序</a:t>
            </a:r>
          </a:p>
        </p:txBody>
      </p:sp>
      <p:sp>
        <p:nvSpPr>
          <p:cNvPr id="60" name="TextBox 60"/>
          <p:cNvSpPr txBox="1"/>
          <p:nvPr/>
        </p:nvSpPr>
        <p:spPr>
          <a:xfrm>
            <a:off x="7893368" y="5571649"/>
            <a:ext cx="1539454"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《品牌全案策略指南2.0》</a:t>
            </a:r>
          </a:p>
        </p:txBody>
      </p:sp>
      <p:sp>
        <p:nvSpPr>
          <p:cNvPr id="61" name="Rectangle 61"/>
          <p:cNvSpPr/>
          <p:nvPr/>
        </p:nvSpPr>
        <p:spPr>
          <a:xfrm>
            <a:off x="571500" y="5810250"/>
            <a:ext cx="11049000" cy="323850"/>
          </a:xfrm>
          <a:prstGeom prst="roundRect">
            <a:avLst>
              <a:gd name="adj" fmla="val 11765"/>
            </a:avLst>
          </a:prstGeom>
          <a:solidFill>
            <a:srgbClr val="FFFFFF"/>
          </a:solidFill>
          <a:ln>
            <a:noFill/>
          </a:ln>
        </p:spPr>
      </p:sp>
      <p:sp>
        <p:nvSpPr>
          <p:cNvPr id="62" name="TextBox 62"/>
          <p:cNvSpPr txBox="1"/>
          <p:nvPr/>
        </p:nvSpPr>
        <p:spPr>
          <a:xfrm>
            <a:off x="748665" y="59064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风险矩阵</a:t>
            </a:r>
          </a:p>
        </p:txBody>
      </p:sp>
      <p:sp>
        <p:nvSpPr>
          <p:cNvPr id="63" name="TextBox 63"/>
          <p:cNvSpPr txBox="1"/>
          <p:nvPr/>
        </p:nvSpPr>
        <p:spPr>
          <a:xfrm>
            <a:off x="2463165" y="5906452"/>
            <a:ext cx="1027795"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影响 × 概率矩阵</a:t>
            </a:r>
          </a:p>
        </p:txBody>
      </p:sp>
      <p:sp>
        <p:nvSpPr>
          <p:cNvPr id="64" name="TextBox 64"/>
          <p:cNvSpPr txBox="1"/>
          <p:nvPr/>
        </p:nvSpPr>
        <p:spPr>
          <a:xfrm>
            <a:off x="7893368" y="5914549"/>
            <a:ext cx="95438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PMBOK风险管理</a:t>
            </a:r>
          </a:p>
        </p:txBody>
      </p:sp>
      <p:sp>
        <p:nvSpPr>
          <p:cNvPr id="65" name="Rectangle 65"/>
          <p:cNvSpPr/>
          <p:nvPr/>
        </p:nvSpPr>
        <p:spPr>
          <a:xfrm>
            <a:off x="571500" y="6153150"/>
            <a:ext cx="11049000" cy="323850"/>
          </a:xfrm>
          <a:prstGeom prst="roundRect">
            <a:avLst>
              <a:gd name="adj" fmla="val 11765"/>
            </a:avLst>
          </a:prstGeom>
          <a:solidFill>
            <a:srgbClr val="F5F0EA"/>
          </a:solidFill>
          <a:ln>
            <a:noFill/>
          </a:ln>
        </p:spPr>
      </p:sp>
      <p:sp>
        <p:nvSpPr>
          <p:cNvPr id="66" name="TextBox 66"/>
          <p:cNvSpPr txBox="1"/>
          <p:nvPr/>
        </p:nvSpPr>
        <p:spPr>
          <a:xfrm>
            <a:off x="748665" y="6249352"/>
            <a:ext cx="614744"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合规框架</a:t>
            </a:r>
          </a:p>
        </p:txBody>
      </p:sp>
      <p:sp>
        <p:nvSpPr>
          <p:cNvPr id="67" name="TextBox 67"/>
          <p:cNvSpPr txBox="1"/>
          <p:nvPr/>
        </p:nvSpPr>
        <p:spPr>
          <a:xfrm>
            <a:off x="2463165" y="6249352"/>
            <a:ext cx="1622870" cy="213360"/>
          </a:xfrm>
          <a:prstGeom prst="rect">
            <a:avLst/>
          </a:prstGeom>
          <a:noFill/>
          <a:ln>
            <a:noFill/>
          </a:ln>
        </p:spPr>
        <p:txBody>
          <a:bodyPr wrap="none" lIns="0" tIns="0" rIns="0" bIns="0" anchor="t" anchorCtr="0">
            <a:spAutoFit/>
          </a:bodyPr>
          <a:lstStyle/>
          <a:p>
            <a:pPr algn="l"/>
            <a:r>
              <a:rPr lang="zh-CN" sz="1050" dirty="0">
                <a:solidFill>
                  <a:srgbClr val="2C2C2C"/>
                </a:solidFill>
                <a:latin typeface="Arial"/>
                <a:ea typeface="Microsoft YaHei"/>
                <a:cs typeface="Arial"/>
              </a:rPr>
              <a:t>三红线 + 五不 + 16组术语</a:t>
            </a:r>
          </a:p>
        </p:txBody>
      </p:sp>
      <p:sp>
        <p:nvSpPr>
          <p:cNvPr id="68" name="TextBox 68"/>
          <p:cNvSpPr txBox="1"/>
          <p:nvPr/>
        </p:nvSpPr>
        <p:spPr>
          <a:xfrm>
            <a:off x="7893368" y="6257449"/>
            <a:ext cx="101938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PRC法律法规汇编</a:t>
            </a:r>
          </a:p>
        </p:txBody>
      </p:sp>
      <p:sp>
        <p:nvSpPr>
          <p:cNvPr id="69" name="TextBox 69"/>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49</a:t>
            </a:r>
          </a:p>
        </p:txBody>
      </p:sp>
      <p:sp>
        <p:nvSpPr>
          <p:cNvPr id="70" name="TextBox 70"/>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95300"/>
            <a:ext cx="57150" cy="381000"/>
          </a:xfrm>
          <a:prstGeom prst="roundRect">
            <a:avLst>
              <a:gd name="adj" fmla="val 50000"/>
            </a:avLst>
          </a:prstGeom>
          <a:solidFill>
            <a:srgbClr val="7F8C8D"/>
          </a:solidFill>
          <a:ln>
            <a:noFill/>
          </a:ln>
        </p:spPr>
      </p:sp>
      <p:sp>
        <p:nvSpPr>
          <p:cNvPr id="4" name="TextBox 4"/>
          <p:cNvSpPr txBox="1"/>
          <p:nvPr/>
        </p:nvSpPr>
        <p:spPr>
          <a:xfrm>
            <a:off x="727710" y="470535"/>
            <a:ext cx="8997696"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附录D：8个关键决策 —— 每一个都有决策依据和替代方案</a:t>
            </a:r>
          </a:p>
        </p:txBody>
      </p:sp>
      <p:sp>
        <p:nvSpPr>
          <p:cNvPr id="5" name="Rectangle 5"/>
          <p:cNvSpPr/>
          <p:nvPr/>
        </p:nvSpPr>
        <p:spPr>
          <a:xfrm>
            <a:off x="571500" y="1028700"/>
            <a:ext cx="11049000" cy="304800"/>
          </a:xfrm>
          <a:prstGeom prst="roundRect">
            <a:avLst>
              <a:gd name="adj" fmla="val 18750"/>
            </a:avLst>
          </a:prstGeom>
          <a:solidFill>
            <a:srgbClr val="1A5276"/>
          </a:solidFill>
          <a:ln>
            <a:noFill/>
          </a:ln>
        </p:spPr>
      </p:sp>
      <p:sp>
        <p:nvSpPr>
          <p:cNvPr id="6" name="TextBox 6"/>
          <p:cNvSpPr txBox="1"/>
          <p:nvPr/>
        </p:nvSpPr>
        <p:spPr>
          <a:xfrm>
            <a:off x="749618" y="1132999"/>
            <a:ext cx="9984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a:t>
            </a:r>
          </a:p>
        </p:txBody>
      </p:sp>
      <p:sp>
        <p:nvSpPr>
          <p:cNvPr id="7" name="TextBox 7"/>
          <p:cNvSpPr txBox="1"/>
          <p:nvPr/>
        </p:nvSpPr>
        <p:spPr>
          <a:xfrm>
            <a:off x="1035368" y="1132999"/>
            <a:ext cx="2977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决策</a:t>
            </a:r>
          </a:p>
        </p:txBody>
      </p:sp>
      <p:sp>
        <p:nvSpPr>
          <p:cNvPr id="8" name="TextBox 8"/>
          <p:cNvSpPr txBox="1"/>
          <p:nvPr/>
        </p:nvSpPr>
        <p:spPr>
          <a:xfrm>
            <a:off x="4369118" y="1132999"/>
            <a:ext cx="2977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日期</a:t>
            </a:r>
          </a:p>
        </p:txBody>
      </p:sp>
      <p:sp>
        <p:nvSpPr>
          <p:cNvPr id="9" name="TextBox 9"/>
          <p:cNvSpPr txBox="1"/>
          <p:nvPr/>
        </p:nvSpPr>
        <p:spPr>
          <a:xfrm>
            <a:off x="5035868" y="11329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决策依据</a:t>
            </a:r>
          </a:p>
        </p:txBody>
      </p:sp>
      <p:sp>
        <p:nvSpPr>
          <p:cNvPr id="10" name="TextBox 10"/>
          <p:cNvSpPr txBox="1"/>
          <p:nvPr/>
        </p:nvSpPr>
        <p:spPr>
          <a:xfrm>
            <a:off x="8560118" y="11329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替代方案</a:t>
            </a:r>
          </a:p>
        </p:txBody>
      </p:sp>
      <p:sp>
        <p:nvSpPr>
          <p:cNvPr id="11" name="Rectangle 11"/>
          <p:cNvSpPr/>
          <p:nvPr/>
        </p:nvSpPr>
        <p:spPr>
          <a:xfrm>
            <a:off x="571500" y="1352550"/>
            <a:ext cx="11049000" cy="609600"/>
          </a:xfrm>
          <a:prstGeom prst="roundRect">
            <a:avLst>
              <a:gd name="adj" fmla="val 6250"/>
            </a:avLst>
          </a:prstGeom>
          <a:solidFill>
            <a:srgbClr val="F5F0EA"/>
          </a:solidFill>
          <a:ln>
            <a:noFill/>
          </a:ln>
        </p:spPr>
      </p:sp>
      <p:sp>
        <p:nvSpPr>
          <p:cNvPr id="12" name="TextBox 12"/>
          <p:cNvSpPr txBox="1"/>
          <p:nvPr/>
        </p:nvSpPr>
        <p:spPr>
          <a:xfrm>
            <a:off x="748665" y="144875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1</a:t>
            </a:r>
          </a:p>
        </p:txBody>
      </p:sp>
      <p:sp>
        <p:nvSpPr>
          <p:cNvPr id="13" name="TextBox 13"/>
          <p:cNvSpPr txBox="1"/>
          <p:nvPr/>
        </p:nvSpPr>
        <p:spPr>
          <a:xfrm>
            <a:off x="1035368" y="1456849"/>
            <a:ext cx="570833"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品类定义</a:t>
            </a:r>
          </a:p>
        </p:txBody>
      </p:sp>
      <p:sp>
        <p:nvSpPr>
          <p:cNvPr id="14" name="TextBox 14"/>
          <p:cNvSpPr txBox="1"/>
          <p:nvPr/>
        </p:nvSpPr>
        <p:spPr>
          <a:xfrm>
            <a:off x="1036320" y="1655445"/>
            <a:ext cx="230314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社区商业数字经营生态（非本地生活平台）</a:t>
            </a:r>
          </a:p>
        </p:txBody>
      </p:sp>
      <p:sp>
        <p:nvSpPr>
          <p:cNvPr id="15" name="TextBox 15"/>
          <p:cNvSpPr txBox="1"/>
          <p:nvPr/>
        </p:nvSpPr>
        <p:spPr>
          <a:xfrm>
            <a:off x="4369118" y="1552099"/>
            <a:ext cx="31080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6/15</a:t>
            </a:r>
          </a:p>
        </p:txBody>
      </p:sp>
      <p:sp>
        <p:nvSpPr>
          <p:cNvPr id="16" name="TextBox 16"/>
          <p:cNvSpPr txBox="1"/>
          <p:nvPr/>
        </p:nvSpPr>
        <p:spPr>
          <a:xfrm>
            <a:off x="5036820" y="1464945"/>
            <a:ext cx="1955102"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生态位分析·品类空白·有品类无品牌</a:t>
            </a:r>
          </a:p>
        </p:txBody>
      </p:sp>
      <p:sp>
        <p:nvSpPr>
          <p:cNvPr id="17" name="TextBox 17"/>
          <p:cNvSpPr txBox="1"/>
          <p:nvPr/>
        </p:nvSpPr>
        <p:spPr>
          <a:xfrm>
            <a:off x="8561070" y="1464945"/>
            <a:ext cx="2081117"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定位为「更好的美团」 — 放弃（必输）</a:t>
            </a:r>
          </a:p>
        </p:txBody>
      </p:sp>
      <p:sp>
        <p:nvSpPr>
          <p:cNvPr id="18" name="Rectangle 18"/>
          <p:cNvSpPr/>
          <p:nvPr/>
        </p:nvSpPr>
        <p:spPr>
          <a:xfrm>
            <a:off x="571500" y="1981200"/>
            <a:ext cx="11049000" cy="609600"/>
          </a:xfrm>
          <a:prstGeom prst="roundRect">
            <a:avLst>
              <a:gd name="adj" fmla="val 6250"/>
            </a:avLst>
          </a:prstGeom>
          <a:solidFill>
            <a:srgbClr val="FFFFFF"/>
          </a:solidFill>
          <a:ln>
            <a:noFill/>
          </a:ln>
        </p:spPr>
      </p:sp>
      <p:sp>
        <p:nvSpPr>
          <p:cNvPr id="19" name="TextBox 19"/>
          <p:cNvSpPr txBox="1"/>
          <p:nvPr/>
        </p:nvSpPr>
        <p:spPr>
          <a:xfrm>
            <a:off x="748665" y="207740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2</a:t>
            </a:r>
          </a:p>
        </p:txBody>
      </p:sp>
      <p:sp>
        <p:nvSpPr>
          <p:cNvPr id="20" name="TextBox 20"/>
          <p:cNvSpPr txBox="1"/>
          <p:nvPr/>
        </p:nvSpPr>
        <p:spPr>
          <a:xfrm>
            <a:off x="1035368" y="2085499"/>
            <a:ext cx="707350"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消费金设计</a:t>
            </a:r>
          </a:p>
        </p:txBody>
      </p:sp>
      <p:sp>
        <p:nvSpPr>
          <p:cNvPr id="21" name="TextBox 21"/>
          <p:cNvSpPr txBox="1"/>
          <p:nvPr/>
        </p:nvSpPr>
        <p:spPr>
          <a:xfrm>
            <a:off x="1036320" y="2284095"/>
            <a:ext cx="1048988"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非充值·仅消费奖励</a:t>
            </a:r>
          </a:p>
        </p:txBody>
      </p:sp>
      <p:sp>
        <p:nvSpPr>
          <p:cNvPr id="22" name="TextBox 22"/>
          <p:cNvSpPr txBox="1"/>
          <p:nvPr/>
        </p:nvSpPr>
        <p:spPr>
          <a:xfrm>
            <a:off x="4369118" y="2180749"/>
            <a:ext cx="23929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6/2</a:t>
            </a:r>
          </a:p>
        </p:txBody>
      </p:sp>
      <p:sp>
        <p:nvSpPr>
          <p:cNvPr id="23" name="TextBox 23"/>
          <p:cNvSpPr txBox="1"/>
          <p:nvPr/>
        </p:nvSpPr>
        <p:spPr>
          <a:xfrm>
            <a:off x="5036820" y="2093595"/>
            <a:ext cx="1169003"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合规红线·无支付牌照</a:t>
            </a:r>
          </a:p>
        </p:txBody>
      </p:sp>
      <p:sp>
        <p:nvSpPr>
          <p:cNvPr id="24" name="TextBox 24"/>
          <p:cNvSpPr txBox="1"/>
          <p:nvPr/>
        </p:nvSpPr>
        <p:spPr>
          <a:xfrm>
            <a:off x="8561070" y="2093595"/>
            <a:ext cx="1961102"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充值型会员余额 — 放弃（金融监管）</a:t>
            </a:r>
          </a:p>
        </p:txBody>
      </p:sp>
      <p:sp>
        <p:nvSpPr>
          <p:cNvPr id="25" name="Rectangle 25"/>
          <p:cNvSpPr/>
          <p:nvPr/>
        </p:nvSpPr>
        <p:spPr>
          <a:xfrm>
            <a:off x="571500" y="2609850"/>
            <a:ext cx="11049000" cy="609600"/>
          </a:xfrm>
          <a:prstGeom prst="roundRect">
            <a:avLst>
              <a:gd name="adj" fmla="val 6250"/>
            </a:avLst>
          </a:prstGeom>
          <a:solidFill>
            <a:srgbClr val="F5F0EA"/>
          </a:solidFill>
          <a:ln>
            <a:noFill/>
          </a:ln>
        </p:spPr>
      </p:sp>
      <p:sp>
        <p:nvSpPr>
          <p:cNvPr id="26" name="TextBox 26"/>
          <p:cNvSpPr txBox="1"/>
          <p:nvPr/>
        </p:nvSpPr>
        <p:spPr>
          <a:xfrm>
            <a:off x="748665" y="270605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3</a:t>
            </a:r>
          </a:p>
        </p:txBody>
      </p:sp>
      <p:sp>
        <p:nvSpPr>
          <p:cNvPr id="27" name="TextBox 27"/>
          <p:cNvSpPr txBox="1"/>
          <p:nvPr/>
        </p:nvSpPr>
        <p:spPr>
          <a:xfrm>
            <a:off x="1035368" y="2714149"/>
            <a:ext cx="570833"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资金路径</a:t>
            </a:r>
          </a:p>
        </p:txBody>
      </p:sp>
      <p:sp>
        <p:nvSpPr>
          <p:cNvPr id="28" name="TextBox 28"/>
          <p:cNvSpPr txBox="1"/>
          <p:nvPr/>
        </p:nvSpPr>
        <p:spPr>
          <a:xfrm>
            <a:off x="1036320" y="2912745"/>
            <a:ext cx="1313021"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汇付直清·T+0·无资金池</a:t>
            </a:r>
          </a:p>
        </p:txBody>
      </p:sp>
      <p:sp>
        <p:nvSpPr>
          <p:cNvPr id="29" name="TextBox 29"/>
          <p:cNvSpPr txBox="1"/>
          <p:nvPr/>
        </p:nvSpPr>
        <p:spPr>
          <a:xfrm>
            <a:off x="4369118" y="2809399"/>
            <a:ext cx="23929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6/4</a:t>
            </a:r>
          </a:p>
        </p:txBody>
      </p:sp>
      <p:sp>
        <p:nvSpPr>
          <p:cNvPr id="30" name="TextBox 30"/>
          <p:cNvSpPr txBox="1"/>
          <p:nvPr/>
        </p:nvSpPr>
        <p:spPr>
          <a:xfrm>
            <a:off x="5036820" y="2722245"/>
            <a:ext cx="1169003"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二清风险·资金池非法</a:t>
            </a:r>
          </a:p>
        </p:txBody>
      </p:sp>
      <p:sp>
        <p:nvSpPr>
          <p:cNvPr id="31" name="TextBox 31"/>
          <p:cNvSpPr txBox="1"/>
          <p:nvPr/>
        </p:nvSpPr>
        <p:spPr>
          <a:xfrm>
            <a:off x="8561070" y="2722245"/>
            <a:ext cx="1799082"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T+1结算 — 放弃（资金沉淀风险）</a:t>
            </a:r>
          </a:p>
        </p:txBody>
      </p:sp>
      <p:sp>
        <p:nvSpPr>
          <p:cNvPr id="32" name="Rectangle 32"/>
          <p:cNvSpPr/>
          <p:nvPr/>
        </p:nvSpPr>
        <p:spPr>
          <a:xfrm>
            <a:off x="571500" y="3238500"/>
            <a:ext cx="11049000" cy="609600"/>
          </a:xfrm>
          <a:prstGeom prst="roundRect">
            <a:avLst>
              <a:gd name="adj" fmla="val 6250"/>
            </a:avLst>
          </a:prstGeom>
          <a:solidFill>
            <a:srgbClr val="FFFFFF"/>
          </a:solidFill>
          <a:ln>
            <a:noFill/>
          </a:ln>
        </p:spPr>
      </p:sp>
      <p:sp>
        <p:nvSpPr>
          <p:cNvPr id="33" name="TextBox 33"/>
          <p:cNvSpPr txBox="1"/>
          <p:nvPr/>
        </p:nvSpPr>
        <p:spPr>
          <a:xfrm>
            <a:off x="748665" y="333470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4</a:t>
            </a:r>
          </a:p>
        </p:txBody>
      </p:sp>
      <p:sp>
        <p:nvSpPr>
          <p:cNvPr id="34" name="TextBox 34"/>
          <p:cNvSpPr txBox="1"/>
          <p:nvPr/>
        </p:nvSpPr>
        <p:spPr>
          <a:xfrm>
            <a:off x="1035368" y="3342799"/>
            <a:ext cx="570833"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品牌命名</a:t>
            </a:r>
          </a:p>
        </p:txBody>
      </p:sp>
      <p:sp>
        <p:nvSpPr>
          <p:cNvPr id="35" name="TextBox 35"/>
          <p:cNvSpPr txBox="1"/>
          <p:nvPr/>
        </p:nvSpPr>
        <p:spPr>
          <a:xfrm>
            <a:off x="1036320" y="3541395"/>
            <a:ext cx="1102995"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链邦赋商通（最终）</a:t>
            </a:r>
          </a:p>
        </p:txBody>
      </p:sp>
      <p:sp>
        <p:nvSpPr>
          <p:cNvPr id="36" name="TextBox 36"/>
          <p:cNvSpPr txBox="1"/>
          <p:nvPr/>
        </p:nvSpPr>
        <p:spPr>
          <a:xfrm>
            <a:off x="4369118" y="3438049"/>
            <a:ext cx="31080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6/15</a:t>
            </a:r>
          </a:p>
        </p:txBody>
      </p:sp>
      <p:sp>
        <p:nvSpPr>
          <p:cNvPr id="37" name="TextBox 37"/>
          <p:cNvSpPr txBox="1"/>
          <p:nvPr/>
        </p:nvSpPr>
        <p:spPr>
          <a:xfrm>
            <a:off x="5036820" y="3350895"/>
            <a:ext cx="1595056"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六维评估·商标查询·字频分析</a:t>
            </a:r>
          </a:p>
        </p:txBody>
      </p:sp>
      <p:sp>
        <p:nvSpPr>
          <p:cNvPr id="38" name="TextBox 38"/>
          <p:cNvSpPr txBox="1"/>
          <p:nvPr/>
        </p:nvSpPr>
        <p:spPr>
          <a:xfrm>
            <a:off x="8561070" y="3350895"/>
            <a:ext cx="1811083"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V2链商/V3近商联等 — 全部已评估</a:t>
            </a:r>
          </a:p>
        </p:txBody>
      </p:sp>
      <p:sp>
        <p:nvSpPr>
          <p:cNvPr id="39" name="Rectangle 39"/>
          <p:cNvSpPr/>
          <p:nvPr/>
        </p:nvSpPr>
        <p:spPr>
          <a:xfrm>
            <a:off x="571500" y="3867150"/>
            <a:ext cx="11049000" cy="609600"/>
          </a:xfrm>
          <a:prstGeom prst="roundRect">
            <a:avLst>
              <a:gd name="adj" fmla="val 6250"/>
            </a:avLst>
          </a:prstGeom>
          <a:solidFill>
            <a:srgbClr val="F5F0EA"/>
          </a:solidFill>
          <a:ln>
            <a:noFill/>
          </a:ln>
        </p:spPr>
      </p:sp>
      <p:sp>
        <p:nvSpPr>
          <p:cNvPr id="40" name="TextBox 40"/>
          <p:cNvSpPr txBox="1"/>
          <p:nvPr/>
        </p:nvSpPr>
        <p:spPr>
          <a:xfrm>
            <a:off x="748665" y="396335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5</a:t>
            </a:r>
          </a:p>
        </p:txBody>
      </p:sp>
      <p:sp>
        <p:nvSpPr>
          <p:cNvPr id="41" name="TextBox 41"/>
          <p:cNvSpPr txBox="1"/>
          <p:nvPr/>
        </p:nvSpPr>
        <p:spPr>
          <a:xfrm>
            <a:off x="1035368" y="3971449"/>
            <a:ext cx="570833"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试点策略</a:t>
            </a:r>
          </a:p>
        </p:txBody>
      </p:sp>
      <p:sp>
        <p:nvSpPr>
          <p:cNvPr id="42" name="TextBox 42"/>
          <p:cNvSpPr txBox="1"/>
          <p:nvPr/>
        </p:nvSpPr>
        <p:spPr>
          <a:xfrm>
            <a:off x="1036320" y="4170045"/>
            <a:ext cx="982980"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一个社区打透再扩</a:t>
            </a:r>
          </a:p>
        </p:txBody>
      </p:sp>
      <p:sp>
        <p:nvSpPr>
          <p:cNvPr id="43" name="TextBox 43"/>
          <p:cNvSpPr txBox="1"/>
          <p:nvPr/>
        </p:nvSpPr>
        <p:spPr>
          <a:xfrm>
            <a:off x="4369118" y="4066699"/>
            <a:ext cx="31080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6/17</a:t>
            </a:r>
          </a:p>
        </p:txBody>
      </p:sp>
      <p:sp>
        <p:nvSpPr>
          <p:cNvPr id="44" name="TextBox 44"/>
          <p:cNvSpPr txBox="1"/>
          <p:nvPr/>
        </p:nvSpPr>
        <p:spPr>
          <a:xfrm>
            <a:off x="5036820" y="3979545"/>
            <a:ext cx="2111121"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Amazon Type 1决策·美团千团大战教训</a:t>
            </a:r>
          </a:p>
        </p:txBody>
      </p:sp>
      <p:sp>
        <p:nvSpPr>
          <p:cNvPr id="45" name="TextBox 45"/>
          <p:cNvSpPr txBox="1"/>
          <p:nvPr/>
        </p:nvSpPr>
        <p:spPr>
          <a:xfrm>
            <a:off x="8561070" y="3979545"/>
            <a:ext cx="1961102"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多城市同时铺开 — 放弃（资源分散）</a:t>
            </a:r>
          </a:p>
        </p:txBody>
      </p:sp>
      <p:sp>
        <p:nvSpPr>
          <p:cNvPr id="46" name="Rectangle 46"/>
          <p:cNvSpPr/>
          <p:nvPr/>
        </p:nvSpPr>
        <p:spPr>
          <a:xfrm>
            <a:off x="571500" y="4495800"/>
            <a:ext cx="11049000" cy="609600"/>
          </a:xfrm>
          <a:prstGeom prst="roundRect">
            <a:avLst>
              <a:gd name="adj" fmla="val 6250"/>
            </a:avLst>
          </a:prstGeom>
          <a:solidFill>
            <a:srgbClr val="FFFFFF"/>
          </a:solidFill>
          <a:ln>
            <a:noFill/>
          </a:ln>
        </p:spPr>
      </p:sp>
      <p:sp>
        <p:nvSpPr>
          <p:cNvPr id="47" name="TextBox 47"/>
          <p:cNvSpPr txBox="1"/>
          <p:nvPr/>
        </p:nvSpPr>
        <p:spPr>
          <a:xfrm>
            <a:off x="748665" y="459200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6</a:t>
            </a:r>
          </a:p>
        </p:txBody>
      </p:sp>
      <p:sp>
        <p:nvSpPr>
          <p:cNvPr id="48" name="TextBox 48"/>
          <p:cNvSpPr txBox="1"/>
          <p:nvPr/>
        </p:nvSpPr>
        <p:spPr>
          <a:xfrm>
            <a:off x="1035368" y="4600099"/>
            <a:ext cx="843867"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不做竞价排名</a:t>
            </a:r>
          </a:p>
        </p:txBody>
      </p:sp>
      <p:sp>
        <p:nvSpPr>
          <p:cNvPr id="49" name="TextBox 49"/>
          <p:cNvSpPr txBox="1"/>
          <p:nvPr/>
        </p:nvSpPr>
        <p:spPr>
          <a:xfrm>
            <a:off x="4369118" y="4695349"/>
            <a:ext cx="31080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6/17</a:t>
            </a:r>
          </a:p>
        </p:txBody>
      </p:sp>
      <p:sp>
        <p:nvSpPr>
          <p:cNvPr id="50" name="TextBox 50"/>
          <p:cNvSpPr txBox="1"/>
          <p:nvPr/>
        </p:nvSpPr>
        <p:spPr>
          <a:xfrm>
            <a:off x="5036820" y="4608195"/>
            <a:ext cx="1169003"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价值观③商家经营自主</a:t>
            </a:r>
          </a:p>
        </p:txBody>
      </p:sp>
      <p:sp>
        <p:nvSpPr>
          <p:cNvPr id="51" name="TextBox 51"/>
          <p:cNvSpPr txBox="1"/>
          <p:nvPr/>
        </p:nvSpPr>
        <p:spPr>
          <a:xfrm>
            <a:off x="8561070" y="4608195"/>
            <a:ext cx="1721072" cy="182880"/>
          </a:xfrm>
          <a:prstGeom prst="rect">
            <a:avLst/>
          </a:prstGeom>
          <a:noFill/>
          <a:ln>
            <a:noFill/>
          </a:ln>
        </p:spPr>
        <p:txBody>
          <a:bodyPr wrap="none" lIns="0" tIns="0" rIns="0" bIns="0" anchor="t" anchorCtr="0">
            <a:spAutoFit/>
          </a:bodyPr>
          <a:lstStyle/>
          <a:p>
            <a:pPr algn="l"/>
            <a:r>
              <a:rPr lang="zh-CN" sz="900" dirty="0">
                <a:solidFill>
                  <a:srgbClr val="C0392B"/>
                </a:solidFill>
                <a:latin typeface="Arial"/>
                <a:ea typeface="Microsoft YaHei"/>
                <a:cs typeface="Arial"/>
              </a:rPr>
              <a:t>竞价排名 — 放弃（违背价值观）</a:t>
            </a:r>
          </a:p>
        </p:txBody>
      </p:sp>
      <p:sp>
        <p:nvSpPr>
          <p:cNvPr id="52" name="Rectangle 52"/>
          <p:cNvSpPr/>
          <p:nvPr/>
        </p:nvSpPr>
        <p:spPr>
          <a:xfrm>
            <a:off x="571500" y="5124450"/>
            <a:ext cx="11049000" cy="609600"/>
          </a:xfrm>
          <a:prstGeom prst="roundRect">
            <a:avLst>
              <a:gd name="adj" fmla="val 6250"/>
            </a:avLst>
          </a:prstGeom>
          <a:solidFill>
            <a:srgbClr val="F5F0EA"/>
          </a:solidFill>
          <a:ln>
            <a:noFill/>
          </a:ln>
        </p:spPr>
      </p:sp>
      <p:sp>
        <p:nvSpPr>
          <p:cNvPr id="53" name="TextBox 53"/>
          <p:cNvSpPr txBox="1"/>
          <p:nvPr/>
        </p:nvSpPr>
        <p:spPr>
          <a:xfrm>
            <a:off x="748665" y="522065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7</a:t>
            </a:r>
          </a:p>
        </p:txBody>
      </p:sp>
      <p:sp>
        <p:nvSpPr>
          <p:cNvPr id="54" name="TextBox 54"/>
          <p:cNvSpPr txBox="1"/>
          <p:nvPr/>
        </p:nvSpPr>
        <p:spPr>
          <a:xfrm>
            <a:off x="1035368" y="5228749"/>
            <a:ext cx="843867"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不投品牌广告</a:t>
            </a:r>
          </a:p>
        </p:txBody>
      </p:sp>
      <p:sp>
        <p:nvSpPr>
          <p:cNvPr id="55" name="TextBox 55"/>
          <p:cNvSpPr txBox="1"/>
          <p:nvPr/>
        </p:nvSpPr>
        <p:spPr>
          <a:xfrm>
            <a:off x="4369118" y="5323999"/>
            <a:ext cx="31080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6/17</a:t>
            </a:r>
          </a:p>
        </p:txBody>
      </p:sp>
      <p:sp>
        <p:nvSpPr>
          <p:cNvPr id="56" name="TextBox 56"/>
          <p:cNvSpPr txBox="1"/>
          <p:nvPr/>
        </p:nvSpPr>
        <p:spPr>
          <a:xfrm>
            <a:off x="5036820" y="5236845"/>
            <a:ext cx="1409033"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第零段未完成·飞轮未验证</a:t>
            </a:r>
          </a:p>
        </p:txBody>
      </p:sp>
      <p:sp>
        <p:nvSpPr>
          <p:cNvPr id="57" name="TextBox 57"/>
          <p:cNvSpPr txBox="1"/>
          <p:nvPr/>
        </p:nvSpPr>
        <p:spPr>
          <a:xfrm>
            <a:off x="8561070" y="5236845"/>
            <a:ext cx="1481042" cy="182880"/>
          </a:xfrm>
          <a:prstGeom prst="rect">
            <a:avLst/>
          </a:prstGeom>
          <a:noFill/>
          <a:ln>
            <a:noFill/>
          </a:ln>
        </p:spPr>
        <p:txBody>
          <a:bodyPr wrap="none" lIns="0" tIns="0" rIns="0" bIns="0" anchor="t" anchorCtr="0">
            <a:spAutoFit/>
          </a:bodyPr>
          <a:lstStyle/>
          <a:p>
            <a:pPr algn="l"/>
            <a:r>
              <a:rPr lang="zh-CN" sz="900" dirty="0">
                <a:solidFill>
                  <a:srgbClr val="D4A574"/>
                </a:solidFill>
                <a:latin typeface="Arial"/>
                <a:ea typeface="Microsoft YaHei"/>
                <a:cs typeface="Arial"/>
              </a:rPr>
              <a:t>品牌广告 — 推迟至第二段后</a:t>
            </a:r>
          </a:p>
        </p:txBody>
      </p:sp>
      <p:sp>
        <p:nvSpPr>
          <p:cNvPr id="58" name="Rectangle 58"/>
          <p:cNvSpPr/>
          <p:nvPr/>
        </p:nvSpPr>
        <p:spPr>
          <a:xfrm>
            <a:off x="571500" y="5753100"/>
            <a:ext cx="11049000" cy="609600"/>
          </a:xfrm>
          <a:prstGeom prst="roundRect">
            <a:avLst>
              <a:gd name="adj" fmla="val 6250"/>
            </a:avLst>
          </a:prstGeom>
          <a:solidFill>
            <a:srgbClr val="FFFFFF"/>
          </a:solidFill>
          <a:ln>
            <a:noFill/>
          </a:ln>
        </p:spPr>
      </p:sp>
      <p:sp>
        <p:nvSpPr>
          <p:cNvPr id="59" name="TextBox 59"/>
          <p:cNvSpPr txBox="1"/>
          <p:nvPr/>
        </p:nvSpPr>
        <p:spPr>
          <a:xfrm>
            <a:off x="748665" y="5849302"/>
            <a:ext cx="107530" cy="213360"/>
          </a:xfrm>
          <a:prstGeom prst="rect">
            <a:avLst/>
          </a:prstGeom>
          <a:noFill/>
          <a:ln>
            <a:noFill/>
          </a:ln>
        </p:spPr>
        <p:txBody>
          <a:bodyPr wrap="none" lIns="0" tIns="0" rIns="0" bIns="0" anchor="t" anchorCtr="0">
            <a:spAutoFit/>
          </a:bodyPr>
          <a:lstStyle/>
          <a:p>
            <a:pPr algn="l"/>
            <a:r>
              <a:rPr lang="zh-CN" sz="1050" b="1" dirty="0">
                <a:solidFill>
                  <a:srgbClr val="E67E22"/>
                </a:solidFill>
                <a:latin typeface="Arial"/>
                <a:ea typeface="Microsoft YaHei"/>
                <a:cs typeface="Arial"/>
              </a:rPr>
              <a:t>8</a:t>
            </a:r>
          </a:p>
        </p:txBody>
      </p:sp>
      <p:sp>
        <p:nvSpPr>
          <p:cNvPr id="60" name="TextBox 60"/>
          <p:cNvSpPr txBox="1"/>
          <p:nvPr/>
        </p:nvSpPr>
        <p:spPr>
          <a:xfrm>
            <a:off x="1035368" y="5857399"/>
            <a:ext cx="1505975" cy="198120"/>
          </a:xfrm>
          <a:prstGeom prst="rect">
            <a:avLst/>
          </a:prstGeom>
          <a:noFill/>
          <a:ln>
            <a:noFill/>
          </a:ln>
        </p:spPr>
        <p:txBody>
          <a:bodyPr wrap="none" lIns="0" tIns="0" rIns="0" bIns="0" anchor="t" anchorCtr="0">
            <a:spAutoFit/>
          </a:bodyPr>
          <a:lstStyle/>
          <a:p>
            <a:pPr algn="l"/>
            <a:r>
              <a:rPr lang="zh-CN" sz="975" b="1" dirty="0">
                <a:solidFill>
                  <a:srgbClr val="2C2C2C"/>
                </a:solidFill>
                <a:latin typeface="Arial"/>
                <a:ea typeface="Microsoft YaHei"/>
                <a:cs typeface="Arial"/>
              </a:rPr>
              <a:t>先做跨店验证再做UI升级</a:t>
            </a:r>
          </a:p>
        </p:txBody>
      </p:sp>
      <p:sp>
        <p:nvSpPr>
          <p:cNvPr id="61" name="TextBox 61"/>
          <p:cNvSpPr txBox="1"/>
          <p:nvPr/>
        </p:nvSpPr>
        <p:spPr>
          <a:xfrm>
            <a:off x="4369118" y="5952649"/>
            <a:ext cx="31080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6/17</a:t>
            </a:r>
          </a:p>
        </p:txBody>
      </p:sp>
      <p:sp>
        <p:nvSpPr>
          <p:cNvPr id="62" name="TextBox 62"/>
          <p:cNvSpPr txBox="1"/>
          <p:nvPr/>
        </p:nvSpPr>
        <p:spPr>
          <a:xfrm>
            <a:off x="5036820" y="5865495"/>
            <a:ext cx="1090993" cy="182880"/>
          </a:xfrm>
          <a:prstGeom prst="rect">
            <a:avLst/>
          </a:prstGeom>
          <a:noFill/>
          <a:ln>
            <a:noFill/>
          </a:ln>
        </p:spPr>
        <p:txBody>
          <a:bodyPr wrap="none" lIns="0" tIns="0" rIns="0" bIns="0" anchor="t" anchorCtr="0">
            <a:spAutoFit/>
          </a:bodyPr>
          <a:lstStyle/>
          <a:p>
            <a:pPr algn="l"/>
            <a:r>
              <a:rPr lang="zh-CN" sz="900" dirty="0">
                <a:solidFill>
                  <a:srgbClr val="2C2C2C"/>
                </a:solidFill>
                <a:latin typeface="Arial"/>
                <a:ea typeface="Microsoft YaHei"/>
                <a:cs typeface="Arial"/>
              </a:rPr>
              <a:t>预算优先序·P1 &gt; P3</a:t>
            </a:r>
          </a:p>
        </p:txBody>
      </p:sp>
      <p:sp>
        <p:nvSpPr>
          <p:cNvPr id="63" name="TextBox 63"/>
          <p:cNvSpPr txBox="1"/>
          <p:nvPr/>
        </p:nvSpPr>
        <p:spPr>
          <a:xfrm>
            <a:off x="8561070" y="5865495"/>
            <a:ext cx="1319022" cy="182880"/>
          </a:xfrm>
          <a:prstGeom prst="rect">
            <a:avLst/>
          </a:prstGeom>
          <a:noFill/>
          <a:ln>
            <a:noFill/>
          </a:ln>
        </p:spPr>
        <p:txBody>
          <a:bodyPr wrap="none" lIns="0" tIns="0" rIns="0" bIns="0" anchor="t" anchorCtr="0">
            <a:spAutoFit/>
          </a:bodyPr>
          <a:lstStyle/>
          <a:p>
            <a:pPr algn="l"/>
            <a:r>
              <a:rPr lang="zh-CN" sz="900" dirty="0">
                <a:solidFill>
                  <a:srgbClr val="D4A574"/>
                </a:solidFill>
                <a:latin typeface="Arial"/>
                <a:ea typeface="Microsoft YaHei"/>
                <a:cs typeface="Arial"/>
              </a:rPr>
              <a:t>先做千面千店2.0 — 推迟</a:t>
            </a:r>
          </a:p>
        </p:txBody>
      </p:sp>
      <p:sp>
        <p:nvSpPr>
          <p:cNvPr id="64" name="TextBox 64"/>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50</a:t>
            </a:r>
          </a:p>
        </p:txBody>
      </p:sp>
      <p:sp>
        <p:nvSpPr>
          <p:cNvPr id="65" name="TextBox 65"/>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95300"/>
            <a:ext cx="57150" cy="381000"/>
          </a:xfrm>
          <a:prstGeom prst="roundRect">
            <a:avLst>
              <a:gd name="adj" fmla="val 50000"/>
            </a:avLst>
          </a:prstGeom>
          <a:solidFill>
            <a:srgbClr val="7F8C8D"/>
          </a:solidFill>
          <a:ln>
            <a:noFill/>
          </a:ln>
        </p:spPr>
      </p:sp>
      <p:sp>
        <p:nvSpPr>
          <p:cNvPr id="4" name="TextBox 4"/>
          <p:cNvSpPr txBox="1"/>
          <p:nvPr/>
        </p:nvSpPr>
        <p:spPr>
          <a:xfrm>
            <a:off x="727710" y="470535"/>
            <a:ext cx="8565642"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附录E：12项已完成内容资产 —— 26个脚本 + 模板体系</a:t>
            </a:r>
          </a:p>
        </p:txBody>
      </p:sp>
      <p:sp>
        <p:nvSpPr>
          <p:cNvPr id="5" name="TextBox 5"/>
          <p:cNvSpPr txBox="1"/>
          <p:nvPr/>
        </p:nvSpPr>
        <p:spPr>
          <a:xfrm>
            <a:off x="742950" y="866775"/>
            <a:ext cx="4778692" cy="304800"/>
          </a:xfrm>
          <a:prstGeom prst="rect">
            <a:avLst/>
          </a:prstGeom>
          <a:noFill/>
          <a:ln>
            <a:noFill/>
          </a:ln>
        </p:spPr>
        <p:txBody>
          <a:bodyPr wrap="none" lIns="0" tIns="0" rIns="0" bIns="0" anchor="t" anchorCtr="0">
            <a:spAutoFit/>
          </a:bodyPr>
          <a:lstStyle/>
          <a:p>
            <a:pPr algn="l"/>
            <a:r>
              <a:rPr lang="zh-CN" sz="1500" dirty="0">
                <a:solidFill>
                  <a:srgbClr val="7F8C8D"/>
                </a:solidFill>
                <a:latin typeface="Arial"/>
                <a:ea typeface="Microsoft YaHei"/>
                <a:cs typeface="Arial"/>
              </a:rPr>
              <a:t>战略资产已完成建设 —— 下一步是将组织资产从零补上</a:t>
            </a:r>
          </a:p>
        </p:txBody>
      </p:sp>
      <p:sp>
        <p:nvSpPr>
          <p:cNvPr id="6" name="Rectangle 6"/>
          <p:cNvSpPr/>
          <p:nvPr/>
        </p:nvSpPr>
        <p:spPr>
          <a:xfrm>
            <a:off x="571500" y="12382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7" name="Rectangle 7"/>
          <p:cNvSpPr/>
          <p:nvPr/>
        </p:nvSpPr>
        <p:spPr>
          <a:xfrm>
            <a:off x="571500" y="1238250"/>
            <a:ext cx="2619375" cy="57150"/>
          </a:xfrm>
          <a:prstGeom prst="roundRect">
            <a:avLst>
              <a:gd name="adj" fmla="val 50000"/>
            </a:avLst>
          </a:prstGeom>
          <a:gradFill>
            <a:gsLst>
              <a:gs pos="0">
                <a:srgbClr val="1A5276"/>
              </a:gs>
              <a:gs pos="100000">
                <a:srgbClr val="2980B9"/>
              </a:gs>
            </a:gsLst>
            <a:lin ang="5400000" scaled="1"/>
          </a:gradFill>
          <a:ln>
            <a:noFill/>
          </a:ln>
        </p:spPr>
      </p:sp>
      <p:sp>
        <p:nvSpPr>
          <p:cNvPr id="8" name="TextBox 8"/>
          <p:cNvSpPr txBox="1"/>
          <p:nvPr/>
        </p:nvSpPr>
        <p:spPr>
          <a:xfrm>
            <a:off x="765810" y="1489710"/>
            <a:ext cx="534543"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模型类</a:t>
            </a:r>
          </a:p>
        </p:txBody>
      </p:sp>
      <p:sp>
        <p:nvSpPr>
          <p:cNvPr id="9" name="TextBox 9"/>
          <p:cNvSpPr txBox="1"/>
          <p:nvPr/>
        </p:nvSpPr>
        <p:spPr>
          <a:xfrm>
            <a:off x="768668" y="1742599"/>
            <a:ext cx="96088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服务费结算V3.2</a:t>
            </a:r>
          </a:p>
        </p:txBody>
      </p:sp>
      <p:sp>
        <p:nvSpPr>
          <p:cNvPr id="10" name="TextBox 10"/>
          <p:cNvSpPr txBox="1"/>
          <p:nvPr/>
        </p:nvSpPr>
        <p:spPr>
          <a:xfrm>
            <a:off x="768668" y="1933099"/>
            <a:ext cx="700850"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修订版V2.0</a:t>
            </a:r>
          </a:p>
        </p:txBody>
      </p:sp>
      <p:sp>
        <p:nvSpPr>
          <p:cNvPr id="11" name="TextBox 11"/>
          <p:cNvSpPr txBox="1"/>
          <p:nvPr/>
        </p:nvSpPr>
        <p:spPr>
          <a:xfrm>
            <a:off x="768668" y="2123599"/>
            <a:ext cx="1266420"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利润率策略·分析报告</a:t>
            </a:r>
          </a:p>
        </p:txBody>
      </p:sp>
      <p:sp>
        <p:nvSpPr>
          <p:cNvPr id="12" name="Rectangle 12"/>
          <p:cNvSpPr/>
          <p:nvPr/>
        </p:nvSpPr>
        <p:spPr>
          <a:xfrm>
            <a:off x="3381375" y="12382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13" name="Rectangle 13"/>
          <p:cNvSpPr/>
          <p:nvPr/>
        </p:nvSpPr>
        <p:spPr>
          <a:xfrm>
            <a:off x="3381375" y="1238250"/>
            <a:ext cx="2619375" cy="57150"/>
          </a:xfrm>
          <a:prstGeom prst="roundRect">
            <a:avLst>
              <a:gd name="adj" fmla="val 50000"/>
            </a:avLst>
          </a:prstGeom>
          <a:gradFill>
            <a:gsLst>
              <a:gs pos="0">
                <a:srgbClr val="1E8449"/>
              </a:gs>
              <a:gs pos="100000">
                <a:srgbClr val="27AE60"/>
              </a:gs>
            </a:gsLst>
            <a:lin ang="5400000" scaled="1"/>
          </a:gradFill>
          <a:ln>
            <a:noFill/>
          </a:ln>
        </p:spPr>
      </p:sp>
      <p:sp>
        <p:nvSpPr>
          <p:cNvPr id="14" name="TextBox 14"/>
          <p:cNvSpPr txBox="1"/>
          <p:nvPr/>
        </p:nvSpPr>
        <p:spPr>
          <a:xfrm>
            <a:off x="3575685" y="1489710"/>
            <a:ext cx="534543"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合规类</a:t>
            </a:r>
          </a:p>
        </p:txBody>
      </p:sp>
      <p:sp>
        <p:nvSpPr>
          <p:cNvPr id="15" name="TextBox 15"/>
          <p:cNvSpPr txBox="1"/>
          <p:nvPr/>
        </p:nvSpPr>
        <p:spPr>
          <a:xfrm>
            <a:off x="3578542" y="1742599"/>
            <a:ext cx="544830"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合规框架</a:t>
            </a:r>
          </a:p>
        </p:txBody>
      </p:sp>
      <p:sp>
        <p:nvSpPr>
          <p:cNvPr id="16" name="TextBox 16"/>
          <p:cNvSpPr txBox="1"/>
          <p:nvPr/>
        </p:nvSpPr>
        <p:spPr>
          <a:xfrm>
            <a:off x="3578542" y="1933099"/>
            <a:ext cx="1207913"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术语映射表（16组）</a:t>
            </a:r>
          </a:p>
        </p:txBody>
      </p:sp>
      <p:sp>
        <p:nvSpPr>
          <p:cNvPr id="17" name="TextBox 17"/>
          <p:cNvSpPr txBox="1"/>
          <p:nvPr/>
        </p:nvSpPr>
        <p:spPr>
          <a:xfrm>
            <a:off x="3578542" y="2123599"/>
            <a:ext cx="544830"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三条红线</a:t>
            </a:r>
          </a:p>
        </p:txBody>
      </p:sp>
      <p:sp>
        <p:nvSpPr>
          <p:cNvPr id="18" name="Rectangle 18"/>
          <p:cNvSpPr/>
          <p:nvPr/>
        </p:nvSpPr>
        <p:spPr>
          <a:xfrm>
            <a:off x="6191250" y="12382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19" name="Rectangle 19"/>
          <p:cNvSpPr/>
          <p:nvPr/>
        </p:nvSpPr>
        <p:spPr>
          <a:xfrm>
            <a:off x="6191250" y="1238250"/>
            <a:ext cx="2619375" cy="57150"/>
          </a:xfrm>
          <a:prstGeom prst="roundRect">
            <a:avLst>
              <a:gd name="adj" fmla="val 50000"/>
            </a:avLst>
          </a:prstGeom>
          <a:gradFill>
            <a:gsLst>
              <a:gs pos="0">
                <a:srgbClr val="E67E22"/>
              </a:gs>
              <a:gs pos="100000">
                <a:srgbClr val="F39C12"/>
              </a:gs>
            </a:gsLst>
            <a:lin ang="5400000" scaled="1"/>
          </a:gradFill>
          <a:ln>
            <a:noFill/>
          </a:ln>
        </p:spPr>
      </p:sp>
      <p:sp>
        <p:nvSpPr>
          <p:cNvPr id="20" name="TextBox 20"/>
          <p:cNvSpPr txBox="1"/>
          <p:nvPr/>
        </p:nvSpPr>
        <p:spPr>
          <a:xfrm>
            <a:off x="6385560" y="1489710"/>
            <a:ext cx="534543"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执行类</a:t>
            </a:r>
          </a:p>
        </p:txBody>
      </p:sp>
      <p:sp>
        <p:nvSpPr>
          <p:cNvPr id="21" name="TextBox 21"/>
          <p:cNvSpPr txBox="1"/>
          <p:nvPr/>
        </p:nvSpPr>
        <p:spPr>
          <a:xfrm>
            <a:off x="6388418" y="1742599"/>
            <a:ext cx="1006388"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3个月工作计划表</a:t>
            </a:r>
          </a:p>
        </p:txBody>
      </p:sp>
      <p:sp>
        <p:nvSpPr>
          <p:cNvPr id="22" name="TextBox 22"/>
          <p:cNvSpPr txBox="1"/>
          <p:nvPr/>
        </p:nvSpPr>
        <p:spPr>
          <a:xfrm>
            <a:off x="6388418" y="1933099"/>
            <a:ext cx="80486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品牌执行手册</a:t>
            </a:r>
          </a:p>
        </p:txBody>
      </p:sp>
      <p:sp>
        <p:nvSpPr>
          <p:cNvPr id="23" name="TextBox 23"/>
          <p:cNvSpPr txBox="1"/>
          <p:nvPr/>
        </p:nvSpPr>
        <p:spPr>
          <a:xfrm>
            <a:off x="6388418" y="2123599"/>
            <a:ext cx="1636967"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营销策略（含HTML可视化）</a:t>
            </a:r>
          </a:p>
        </p:txBody>
      </p:sp>
      <p:sp>
        <p:nvSpPr>
          <p:cNvPr id="24" name="Rectangle 24"/>
          <p:cNvSpPr/>
          <p:nvPr/>
        </p:nvSpPr>
        <p:spPr>
          <a:xfrm>
            <a:off x="9001125" y="12382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25" name="Rectangle 25"/>
          <p:cNvSpPr/>
          <p:nvPr/>
        </p:nvSpPr>
        <p:spPr>
          <a:xfrm>
            <a:off x="9001125" y="1238250"/>
            <a:ext cx="2619375" cy="57150"/>
          </a:xfrm>
          <a:prstGeom prst="roundRect">
            <a:avLst>
              <a:gd name="adj" fmla="val 50000"/>
            </a:avLst>
          </a:prstGeom>
          <a:gradFill>
            <a:gsLst>
              <a:gs pos="0">
                <a:srgbClr val="8E44AD"/>
              </a:gs>
              <a:gs pos="100000">
                <a:srgbClr val="BB8FCE"/>
              </a:gs>
            </a:gsLst>
            <a:lin ang="5400000" scaled="1"/>
          </a:gradFill>
          <a:ln>
            <a:noFill/>
          </a:ln>
        </p:spPr>
      </p:sp>
      <p:sp>
        <p:nvSpPr>
          <p:cNvPr id="26" name="TextBox 26"/>
          <p:cNvSpPr txBox="1"/>
          <p:nvPr/>
        </p:nvSpPr>
        <p:spPr>
          <a:xfrm>
            <a:off x="9195435" y="1489710"/>
            <a:ext cx="534543" cy="243840"/>
          </a:xfrm>
          <a:prstGeom prst="rect">
            <a:avLst/>
          </a:prstGeom>
          <a:noFill/>
          <a:ln>
            <a:noFill/>
          </a:ln>
        </p:spPr>
        <p:txBody>
          <a:bodyPr wrap="none" lIns="0" tIns="0" rIns="0" bIns="0" anchor="t" anchorCtr="0">
            <a:spAutoFit/>
          </a:bodyPr>
          <a:lstStyle/>
          <a:p>
            <a:pPr algn="l"/>
            <a:r>
              <a:rPr lang="zh-CN" sz="1200" b="1" dirty="0">
                <a:solidFill>
                  <a:srgbClr val="8E44AD"/>
                </a:solidFill>
                <a:latin typeface="Arial"/>
                <a:ea typeface="Microsoft YaHei"/>
                <a:cs typeface="Arial"/>
              </a:rPr>
              <a:t>手册类</a:t>
            </a:r>
          </a:p>
        </p:txBody>
      </p:sp>
      <p:sp>
        <p:nvSpPr>
          <p:cNvPr id="27" name="TextBox 27"/>
          <p:cNvSpPr txBox="1"/>
          <p:nvPr/>
        </p:nvSpPr>
        <p:spPr>
          <a:xfrm>
            <a:off x="9198292" y="1742599"/>
            <a:ext cx="136393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品牌画册V3.0（40页）</a:t>
            </a:r>
          </a:p>
        </p:txBody>
      </p:sp>
      <p:sp>
        <p:nvSpPr>
          <p:cNvPr id="28" name="TextBox 28"/>
          <p:cNvSpPr txBox="1"/>
          <p:nvPr/>
        </p:nvSpPr>
        <p:spPr>
          <a:xfrm>
            <a:off x="9198292" y="1933099"/>
            <a:ext cx="80486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画册修改方案</a:t>
            </a:r>
          </a:p>
        </p:txBody>
      </p:sp>
      <p:sp>
        <p:nvSpPr>
          <p:cNvPr id="29" name="Rectangle 29"/>
          <p:cNvSpPr/>
          <p:nvPr/>
        </p:nvSpPr>
        <p:spPr>
          <a:xfrm>
            <a:off x="571500" y="262890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30" name="Rectangle 30"/>
          <p:cNvSpPr/>
          <p:nvPr/>
        </p:nvSpPr>
        <p:spPr>
          <a:xfrm>
            <a:off x="571500" y="2628900"/>
            <a:ext cx="2619375" cy="57150"/>
          </a:xfrm>
          <a:prstGeom prst="roundRect">
            <a:avLst>
              <a:gd name="adj" fmla="val 50000"/>
            </a:avLst>
          </a:prstGeom>
          <a:gradFill>
            <a:gsLst>
              <a:gs pos="0">
                <a:srgbClr val="E67E22"/>
              </a:gs>
              <a:gs pos="100000">
                <a:srgbClr val="F39C12"/>
              </a:gs>
            </a:gsLst>
            <a:lin ang="5400000" scaled="1"/>
          </a:gradFill>
          <a:ln>
            <a:noFill/>
          </a:ln>
        </p:spPr>
      </p:sp>
      <p:sp>
        <p:nvSpPr>
          <p:cNvPr id="31" name="TextBox 31"/>
          <p:cNvSpPr txBox="1"/>
          <p:nvPr/>
        </p:nvSpPr>
        <p:spPr>
          <a:xfrm>
            <a:off x="765810" y="2880360"/>
            <a:ext cx="534543"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命名类</a:t>
            </a:r>
          </a:p>
        </p:txBody>
      </p:sp>
      <p:sp>
        <p:nvSpPr>
          <p:cNvPr id="32" name="TextBox 32"/>
          <p:cNvSpPr txBox="1"/>
          <p:nvPr/>
        </p:nvSpPr>
        <p:spPr>
          <a:xfrm>
            <a:off x="768668" y="3133249"/>
            <a:ext cx="1292423"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V2 · V3 · V4 · 赋商版</a:t>
            </a:r>
          </a:p>
        </p:txBody>
      </p:sp>
      <p:sp>
        <p:nvSpPr>
          <p:cNvPr id="33" name="TextBox 33"/>
          <p:cNvSpPr txBox="1"/>
          <p:nvPr/>
        </p:nvSpPr>
        <p:spPr>
          <a:xfrm>
            <a:off x="768668" y="3323749"/>
            <a:ext cx="876371"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最终版（5代）</a:t>
            </a:r>
          </a:p>
        </p:txBody>
      </p:sp>
      <p:sp>
        <p:nvSpPr>
          <p:cNvPr id="34" name="TextBox 34"/>
          <p:cNvSpPr txBox="1"/>
          <p:nvPr/>
        </p:nvSpPr>
        <p:spPr>
          <a:xfrm>
            <a:off x="768668" y="3514249"/>
            <a:ext cx="1064895"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商标可注册性验证</a:t>
            </a:r>
          </a:p>
        </p:txBody>
      </p:sp>
      <p:sp>
        <p:nvSpPr>
          <p:cNvPr id="35" name="Rectangle 35"/>
          <p:cNvSpPr/>
          <p:nvPr/>
        </p:nvSpPr>
        <p:spPr>
          <a:xfrm>
            <a:off x="3381375" y="262890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36" name="Rectangle 36"/>
          <p:cNvSpPr/>
          <p:nvPr/>
        </p:nvSpPr>
        <p:spPr>
          <a:xfrm>
            <a:off x="3381375" y="2628900"/>
            <a:ext cx="2619375" cy="57150"/>
          </a:xfrm>
          <a:prstGeom prst="roundRect">
            <a:avLst>
              <a:gd name="adj" fmla="val 50000"/>
            </a:avLst>
          </a:prstGeom>
          <a:gradFill>
            <a:gsLst>
              <a:gs pos="0">
                <a:srgbClr val="1A5276"/>
              </a:gs>
              <a:gs pos="100000">
                <a:srgbClr val="2980B9"/>
              </a:gs>
            </a:gsLst>
            <a:lin ang="5400000" scaled="1"/>
          </a:gradFill>
          <a:ln>
            <a:noFill/>
          </a:ln>
        </p:spPr>
      </p:sp>
      <p:sp>
        <p:nvSpPr>
          <p:cNvPr id="37" name="TextBox 37"/>
          <p:cNvSpPr txBox="1"/>
          <p:nvPr/>
        </p:nvSpPr>
        <p:spPr>
          <a:xfrm>
            <a:off x="3575685" y="2880360"/>
            <a:ext cx="534543"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评估类</a:t>
            </a:r>
          </a:p>
        </p:txBody>
      </p:sp>
      <p:sp>
        <p:nvSpPr>
          <p:cNvPr id="38" name="TextBox 38"/>
          <p:cNvSpPr txBox="1"/>
          <p:nvPr/>
        </p:nvSpPr>
        <p:spPr>
          <a:xfrm>
            <a:off x="3578542" y="3133249"/>
            <a:ext cx="1194911"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多角色客观评估报告</a:t>
            </a:r>
          </a:p>
        </p:txBody>
      </p:sp>
      <p:sp>
        <p:nvSpPr>
          <p:cNvPr id="39" name="TextBox 39"/>
          <p:cNvSpPr txBox="1"/>
          <p:nvPr/>
        </p:nvSpPr>
        <p:spPr>
          <a:xfrm>
            <a:off x="3578542" y="3323749"/>
            <a:ext cx="1467945"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HK IPO营销计划（16章）</a:t>
            </a:r>
          </a:p>
        </p:txBody>
      </p:sp>
      <p:sp>
        <p:nvSpPr>
          <p:cNvPr id="40" name="TextBox 40"/>
          <p:cNvSpPr txBox="1"/>
          <p:nvPr/>
        </p:nvSpPr>
        <p:spPr>
          <a:xfrm>
            <a:off x="3578542" y="3514249"/>
            <a:ext cx="1227415"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7角色 + 3年财务预测</a:t>
            </a:r>
          </a:p>
        </p:txBody>
      </p:sp>
      <p:sp>
        <p:nvSpPr>
          <p:cNvPr id="41" name="Rectangle 41"/>
          <p:cNvSpPr/>
          <p:nvPr/>
        </p:nvSpPr>
        <p:spPr>
          <a:xfrm>
            <a:off x="6191250" y="262890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42" name="Rectangle 42"/>
          <p:cNvSpPr/>
          <p:nvPr/>
        </p:nvSpPr>
        <p:spPr>
          <a:xfrm>
            <a:off x="6191250" y="2628900"/>
            <a:ext cx="2619375" cy="57150"/>
          </a:xfrm>
          <a:prstGeom prst="roundRect">
            <a:avLst>
              <a:gd name="adj" fmla="val 50000"/>
            </a:avLst>
          </a:prstGeom>
          <a:gradFill>
            <a:gsLst>
              <a:gs pos="0">
                <a:srgbClr val="8E44AD"/>
              </a:gs>
              <a:gs pos="100000">
                <a:srgbClr val="BB8FCE"/>
              </a:gs>
            </a:gsLst>
            <a:lin ang="5400000" scaled="1"/>
          </a:gradFill>
          <a:ln>
            <a:noFill/>
          </a:ln>
        </p:spPr>
      </p:sp>
      <p:sp>
        <p:nvSpPr>
          <p:cNvPr id="43" name="TextBox 43"/>
          <p:cNvSpPr txBox="1"/>
          <p:nvPr/>
        </p:nvSpPr>
        <p:spPr>
          <a:xfrm>
            <a:off x="6385560" y="2880360"/>
            <a:ext cx="702564" cy="243840"/>
          </a:xfrm>
          <a:prstGeom prst="rect">
            <a:avLst/>
          </a:prstGeom>
          <a:noFill/>
          <a:ln>
            <a:noFill/>
          </a:ln>
        </p:spPr>
        <p:txBody>
          <a:bodyPr wrap="none" lIns="0" tIns="0" rIns="0" bIns="0" anchor="t" anchorCtr="0">
            <a:spAutoFit/>
          </a:bodyPr>
          <a:lstStyle/>
          <a:p>
            <a:pPr algn="l"/>
            <a:r>
              <a:rPr lang="zh-CN" sz="1200" b="1" dirty="0">
                <a:solidFill>
                  <a:srgbClr val="8E44AD"/>
                </a:solidFill>
                <a:latin typeface="Arial"/>
                <a:ea typeface="Microsoft YaHei"/>
                <a:cs typeface="Arial"/>
              </a:rPr>
              <a:t>可视化类</a:t>
            </a:r>
          </a:p>
        </p:txBody>
      </p:sp>
      <p:sp>
        <p:nvSpPr>
          <p:cNvPr id="44" name="TextBox 44"/>
          <p:cNvSpPr txBox="1"/>
          <p:nvPr/>
        </p:nvSpPr>
        <p:spPr>
          <a:xfrm>
            <a:off x="6388418" y="3133249"/>
            <a:ext cx="1246918"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商业模式全景图HTML</a:t>
            </a:r>
          </a:p>
        </p:txBody>
      </p:sp>
      <p:sp>
        <p:nvSpPr>
          <p:cNvPr id="45" name="TextBox 45"/>
          <p:cNvSpPr txBox="1"/>
          <p:nvPr/>
        </p:nvSpPr>
        <p:spPr>
          <a:xfrm>
            <a:off x="6388418" y="3323749"/>
            <a:ext cx="1591461"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营销策略HTML（24+图表）</a:t>
            </a:r>
          </a:p>
        </p:txBody>
      </p:sp>
      <p:sp>
        <p:nvSpPr>
          <p:cNvPr id="46" name="TextBox 46"/>
          <p:cNvSpPr txBox="1"/>
          <p:nvPr/>
        </p:nvSpPr>
        <p:spPr>
          <a:xfrm>
            <a:off x="6388418" y="3514249"/>
            <a:ext cx="895874"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XMind思维导图</a:t>
            </a:r>
          </a:p>
        </p:txBody>
      </p:sp>
      <p:sp>
        <p:nvSpPr>
          <p:cNvPr id="47" name="Rectangle 47"/>
          <p:cNvSpPr/>
          <p:nvPr/>
        </p:nvSpPr>
        <p:spPr>
          <a:xfrm>
            <a:off x="9001125" y="262890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48" name="Rectangle 48"/>
          <p:cNvSpPr/>
          <p:nvPr/>
        </p:nvSpPr>
        <p:spPr>
          <a:xfrm>
            <a:off x="9001125" y="2628900"/>
            <a:ext cx="2619375" cy="57150"/>
          </a:xfrm>
          <a:prstGeom prst="roundRect">
            <a:avLst>
              <a:gd name="adj" fmla="val 50000"/>
            </a:avLst>
          </a:prstGeom>
          <a:gradFill>
            <a:gsLst>
              <a:gs pos="0">
                <a:srgbClr val="1E8449"/>
              </a:gs>
              <a:gs pos="100000">
                <a:srgbClr val="27AE60"/>
              </a:gs>
            </a:gsLst>
            <a:lin ang="5400000" scaled="1"/>
          </a:gradFill>
          <a:ln>
            <a:noFill/>
          </a:ln>
        </p:spPr>
      </p:sp>
      <p:sp>
        <p:nvSpPr>
          <p:cNvPr id="49" name="TextBox 49"/>
          <p:cNvSpPr txBox="1"/>
          <p:nvPr/>
        </p:nvSpPr>
        <p:spPr>
          <a:xfrm>
            <a:off x="9195435" y="2880360"/>
            <a:ext cx="534543"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会议类</a:t>
            </a:r>
          </a:p>
        </p:txBody>
      </p:sp>
      <p:sp>
        <p:nvSpPr>
          <p:cNvPr id="50" name="TextBox 50"/>
          <p:cNvSpPr txBox="1"/>
          <p:nvPr/>
        </p:nvSpPr>
        <p:spPr>
          <a:xfrm>
            <a:off x="9198292" y="3133249"/>
            <a:ext cx="80486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会议纪要模板</a:t>
            </a:r>
          </a:p>
        </p:txBody>
      </p:sp>
      <p:sp>
        <p:nvSpPr>
          <p:cNvPr id="51" name="TextBox 51"/>
          <p:cNvSpPr txBox="1"/>
          <p:nvPr/>
        </p:nvSpPr>
        <p:spPr>
          <a:xfrm>
            <a:off x="9198292" y="3323749"/>
            <a:ext cx="1149406"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6/2技术部会议整理</a:t>
            </a:r>
          </a:p>
        </p:txBody>
      </p:sp>
      <p:sp>
        <p:nvSpPr>
          <p:cNvPr id="52" name="Rectangle 52"/>
          <p:cNvSpPr/>
          <p:nvPr/>
        </p:nvSpPr>
        <p:spPr>
          <a:xfrm>
            <a:off x="571500" y="40195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53" name="Rectangle 53"/>
          <p:cNvSpPr/>
          <p:nvPr/>
        </p:nvSpPr>
        <p:spPr>
          <a:xfrm>
            <a:off x="571500" y="4019550"/>
            <a:ext cx="2619375" cy="57150"/>
          </a:xfrm>
          <a:prstGeom prst="roundRect">
            <a:avLst>
              <a:gd name="adj" fmla="val 50000"/>
            </a:avLst>
          </a:prstGeom>
          <a:gradFill>
            <a:gsLst>
              <a:gs pos="0">
                <a:srgbClr val="1A5276"/>
              </a:gs>
              <a:gs pos="100000">
                <a:srgbClr val="2980B9"/>
              </a:gs>
            </a:gsLst>
            <a:lin ang="5400000" scaled="1"/>
          </a:gradFill>
          <a:ln>
            <a:noFill/>
          </a:ln>
        </p:spPr>
      </p:sp>
      <p:sp>
        <p:nvSpPr>
          <p:cNvPr id="54" name="TextBox 54"/>
          <p:cNvSpPr txBox="1"/>
          <p:nvPr/>
        </p:nvSpPr>
        <p:spPr>
          <a:xfrm>
            <a:off x="765810" y="4271010"/>
            <a:ext cx="534543" cy="243840"/>
          </a:xfrm>
          <a:prstGeom prst="rect">
            <a:avLst/>
          </a:prstGeom>
          <a:noFill/>
          <a:ln>
            <a:noFill/>
          </a:ln>
        </p:spPr>
        <p:txBody>
          <a:bodyPr wrap="none" lIns="0" tIns="0" rIns="0" bIns="0" anchor="t" anchorCtr="0">
            <a:spAutoFit/>
          </a:bodyPr>
          <a:lstStyle/>
          <a:p>
            <a:pPr algn="l"/>
            <a:r>
              <a:rPr lang="zh-CN" sz="1200" b="1" dirty="0">
                <a:solidFill>
                  <a:srgbClr val="1A5276"/>
                </a:solidFill>
                <a:latin typeface="Arial"/>
                <a:ea typeface="Microsoft YaHei"/>
                <a:cs typeface="Arial"/>
              </a:rPr>
              <a:t>脚本类</a:t>
            </a:r>
          </a:p>
        </p:txBody>
      </p:sp>
      <p:sp>
        <p:nvSpPr>
          <p:cNvPr id="55" name="TextBox 55"/>
          <p:cNvSpPr txBox="1"/>
          <p:nvPr/>
        </p:nvSpPr>
        <p:spPr>
          <a:xfrm>
            <a:off x="768668" y="4523899"/>
            <a:ext cx="1532954"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26个 generate_*.js 脚本</a:t>
            </a:r>
          </a:p>
        </p:txBody>
      </p:sp>
      <p:sp>
        <p:nvSpPr>
          <p:cNvPr id="56" name="TextBox 56"/>
          <p:cNvSpPr txBox="1"/>
          <p:nvPr/>
        </p:nvSpPr>
        <p:spPr>
          <a:xfrm>
            <a:off x="768668" y="4714399"/>
            <a:ext cx="131192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_script_template.js</a:t>
            </a:r>
          </a:p>
        </p:txBody>
      </p:sp>
      <p:sp>
        <p:nvSpPr>
          <p:cNvPr id="57" name="TextBox 57"/>
          <p:cNvSpPr txBox="1"/>
          <p:nvPr/>
        </p:nvSpPr>
        <p:spPr>
          <a:xfrm>
            <a:off x="768668" y="4904899"/>
            <a:ext cx="117540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regenerate_all.sh</a:t>
            </a:r>
          </a:p>
        </p:txBody>
      </p:sp>
      <p:sp>
        <p:nvSpPr>
          <p:cNvPr id="58" name="Rectangle 58"/>
          <p:cNvSpPr/>
          <p:nvPr/>
        </p:nvSpPr>
        <p:spPr>
          <a:xfrm>
            <a:off x="3381375" y="40195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59" name="Rectangle 59"/>
          <p:cNvSpPr/>
          <p:nvPr/>
        </p:nvSpPr>
        <p:spPr>
          <a:xfrm>
            <a:off x="3381375" y="4019550"/>
            <a:ext cx="2619375" cy="57150"/>
          </a:xfrm>
          <a:prstGeom prst="roundRect">
            <a:avLst>
              <a:gd name="adj" fmla="val 50000"/>
            </a:avLst>
          </a:prstGeom>
          <a:gradFill>
            <a:gsLst>
              <a:gs pos="0">
                <a:srgbClr val="E67E22"/>
              </a:gs>
              <a:gs pos="100000">
                <a:srgbClr val="F39C12"/>
              </a:gs>
            </a:gsLst>
            <a:lin ang="5400000" scaled="1"/>
          </a:gradFill>
          <a:ln>
            <a:noFill/>
          </a:ln>
        </p:spPr>
      </p:sp>
      <p:sp>
        <p:nvSpPr>
          <p:cNvPr id="60" name="TextBox 60"/>
          <p:cNvSpPr txBox="1"/>
          <p:nvPr/>
        </p:nvSpPr>
        <p:spPr>
          <a:xfrm>
            <a:off x="3575685" y="4271010"/>
            <a:ext cx="534543" cy="243840"/>
          </a:xfrm>
          <a:prstGeom prst="rect">
            <a:avLst/>
          </a:prstGeom>
          <a:noFill/>
          <a:ln>
            <a:noFill/>
          </a:ln>
        </p:spPr>
        <p:txBody>
          <a:bodyPr wrap="none" lIns="0" tIns="0" rIns="0" bIns="0" anchor="t" anchorCtr="0">
            <a:spAutoFit/>
          </a:bodyPr>
          <a:lstStyle/>
          <a:p>
            <a:pPr algn="l"/>
            <a:r>
              <a:rPr lang="zh-CN" sz="1200" b="1" dirty="0">
                <a:solidFill>
                  <a:srgbClr val="E67E22"/>
                </a:solidFill>
                <a:latin typeface="Arial"/>
                <a:ea typeface="Microsoft YaHei"/>
                <a:cs typeface="Arial"/>
              </a:rPr>
              <a:t>工具类</a:t>
            </a:r>
          </a:p>
        </p:txBody>
      </p:sp>
      <p:sp>
        <p:nvSpPr>
          <p:cNvPr id="61" name="TextBox 61"/>
          <p:cNvSpPr txBox="1"/>
          <p:nvPr/>
        </p:nvSpPr>
        <p:spPr>
          <a:xfrm>
            <a:off x="3578542" y="4523899"/>
            <a:ext cx="1253419"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lib/docx-helpers.js</a:t>
            </a:r>
          </a:p>
        </p:txBody>
      </p:sp>
      <p:sp>
        <p:nvSpPr>
          <p:cNvPr id="62" name="TextBox 62"/>
          <p:cNvSpPr txBox="1"/>
          <p:nvPr/>
        </p:nvSpPr>
        <p:spPr>
          <a:xfrm>
            <a:off x="3578542" y="4714399"/>
            <a:ext cx="1071396"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lib/constants.js</a:t>
            </a:r>
          </a:p>
        </p:txBody>
      </p:sp>
      <p:sp>
        <p:nvSpPr>
          <p:cNvPr id="63" name="TextBox 63"/>
          <p:cNvSpPr txBox="1"/>
          <p:nvPr/>
        </p:nvSpPr>
        <p:spPr>
          <a:xfrm>
            <a:off x="3578542" y="4904899"/>
            <a:ext cx="134443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集中参数 + 共享工具库</a:t>
            </a:r>
          </a:p>
        </p:txBody>
      </p:sp>
      <p:sp>
        <p:nvSpPr>
          <p:cNvPr id="64" name="Rectangle 64"/>
          <p:cNvSpPr/>
          <p:nvPr/>
        </p:nvSpPr>
        <p:spPr>
          <a:xfrm>
            <a:off x="6191250" y="40195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65" name="Rectangle 65"/>
          <p:cNvSpPr/>
          <p:nvPr/>
        </p:nvSpPr>
        <p:spPr>
          <a:xfrm>
            <a:off x="6191250" y="4019550"/>
            <a:ext cx="2619375" cy="57150"/>
          </a:xfrm>
          <a:prstGeom prst="roundRect">
            <a:avLst>
              <a:gd name="adj" fmla="val 50000"/>
            </a:avLst>
          </a:prstGeom>
          <a:gradFill>
            <a:gsLst>
              <a:gs pos="0">
                <a:srgbClr val="1E8449"/>
              </a:gs>
              <a:gs pos="100000">
                <a:srgbClr val="27AE60"/>
              </a:gs>
            </a:gsLst>
            <a:lin ang="5400000" scaled="1"/>
          </a:gradFill>
          <a:ln>
            <a:noFill/>
          </a:ln>
        </p:spPr>
      </p:sp>
      <p:sp>
        <p:nvSpPr>
          <p:cNvPr id="66" name="TextBox 66"/>
          <p:cNvSpPr txBox="1"/>
          <p:nvPr/>
        </p:nvSpPr>
        <p:spPr>
          <a:xfrm>
            <a:off x="6385560" y="4271010"/>
            <a:ext cx="534543" cy="243840"/>
          </a:xfrm>
          <a:prstGeom prst="rect">
            <a:avLst/>
          </a:prstGeom>
          <a:noFill/>
          <a:ln>
            <a:noFill/>
          </a:ln>
        </p:spPr>
        <p:txBody>
          <a:bodyPr wrap="none" lIns="0" tIns="0" rIns="0" bIns="0" anchor="t" anchorCtr="0">
            <a:spAutoFit/>
          </a:bodyPr>
          <a:lstStyle/>
          <a:p>
            <a:pPr algn="l"/>
            <a:r>
              <a:rPr lang="zh-CN" sz="1200" b="1" dirty="0">
                <a:solidFill>
                  <a:srgbClr val="1E8449"/>
                </a:solidFill>
                <a:latin typeface="Arial"/>
                <a:ea typeface="Microsoft YaHei"/>
                <a:cs typeface="Arial"/>
              </a:rPr>
              <a:t>记忆类</a:t>
            </a:r>
          </a:p>
        </p:txBody>
      </p:sp>
      <p:sp>
        <p:nvSpPr>
          <p:cNvPr id="67" name="TextBox 67"/>
          <p:cNvSpPr txBox="1"/>
          <p:nvPr/>
        </p:nvSpPr>
        <p:spPr>
          <a:xfrm>
            <a:off x="6388418" y="4523899"/>
            <a:ext cx="967383"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6条Memory记录</a:t>
            </a:r>
          </a:p>
        </p:txBody>
      </p:sp>
      <p:sp>
        <p:nvSpPr>
          <p:cNvPr id="68" name="TextBox 68"/>
          <p:cNvSpPr txBox="1"/>
          <p:nvPr/>
        </p:nvSpPr>
        <p:spPr>
          <a:xfrm>
            <a:off x="6388418" y="4714399"/>
            <a:ext cx="1214414"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合规术语 · 模型参数</a:t>
            </a:r>
          </a:p>
        </p:txBody>
      </p:sp>
      <p:sp>
        <p:nvSpPr>
          <p:cNvPr id="69" name="TextBox 69"/>
          <p:cNvSpPr txBox="1"/>
          <p:nvPr/>
        </p:nvSpPr>
        <p:spPr>
          <a:xfrm>
            <a:off x="6388418" y="4904899"/>
            <a:ext cx="804862"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品牌命名决策</a:t>
            </a:r>
          </a:p>
        </p:txBody>
      </p:sp>
      <p:sp>
        <p:nvSpPr>
          <p:cNvPr id="70" name="Rectangle 70"/>
          <p:cNvSpPr/>
          <p:nvPr/>
        </p:nvSpPr>
        <p:spPr>
          <a:xfrm>
            <a:off x="9001125" y="4019550"/>
            <a:ext cx="2619375" cy="1238250"/>
          </a:xfrm>
          <a:prstGeom prst="roundRect">
            <a:avLst>
              <a:gd name="adj" fmla="val 10769"/>
            </a:avLst>
          </a:prstGeom>
          <a:solidFill>
            <a:srgbClr val="F5F0EA"/>
          </a:solidFill>
          <a:ln>
            <a:noFill/>
          </a:ln>
          <a:effectLst>
            <a:outerShdw blurRad="76200" dist="19050" dir="5400000" algn="ctr" rotWithShape="0">
              <a:srgbClr val="2C2C2C">
                <a:alpha val="4500"/>
              </a:srgbClr>
            </a:outerShdw>
          </a:effectLst>
        </p:spPr>
      </p:sp>
      <p:sp>
        <p:nvSpPr>
          <p:cNvPr id="71" name="Rectangle 71"/>
          <p:cNvSpPr/>
          <p:nvPr/>
        </p:nvSpPr>
        <p:spPr>
          <a:xfrm>
            <a:off x="9001125" y="4019550"/>
            <a:ext cx="2619375" cy="57150"/>
          </a:xfrm>
          <a:prstGeom prst="roundRect">
            <a:avLst>
              <a:gd name="adj" fmla="val 50000"/>
            </a:avLst>
          </a:prstGeom>
          <a:gradFill>
            <a:gsLst>
              <a:gs pos="0">
                <a:srgbClr val="8E44AD"/>
              </a:gs>
              <a:gs pos="100000">
                <a:srgbClr val="BB8FCE"/>
              </a:gs>
            </a:gsLst>
            <a:lin ang="5400000" scaled="1"/>
          </a:gradFill>
          <a:ln>
            <a:noFill/>
          </a:ln>
        </p:spPr>
      </p:sp>
      <p:sp>
        <p:nvSpPr>
          <p:cNvPr id="72" name="TextBox 72"/>
          <p:cNvSpPr txBox="1"/>
          <p:nvPr/>
        </p:nvSpPr>
        <p:spPr>
          <a:xfrm>
            <a:off x="9195435" y="4271010"/>
            <a:ext cx="702564" cy="243840"/>
          </a:xfrm>
          <a:prstGeom prst="rect">
            <a:avLst/>
          </a:prstGeom>
          <a:noFill/>
          <a:ln>
            <a:noFill/>
          </a:ln>
        </p:spPr>
        <p:txBody>
          <a:bodyPr wrap="none" lIns="0" tIns="0" rIns="0" bIns="0" anchor="t" anchorCtr="0">
            <a:spAutoFit/>
          </a:bodyPr>
          <a:lstStyle/>
          <a:p>
            <a:pPr algn="l"/>
            <a:r>
              <a:rPr lang="zh-CN" sz="1200" b="1" dirty="0">
                <a:solidFill>
                  <a:srgbClr val="8E44AD"/>
                </a:solidFill>
                <a:latin typeface="Arial"/>
                <a:ea typeface="Microsoft YaHei"/>
                <a:cs typeface="Arial"/>
              </a:rPr>
              <a:t>知识库类</a:t>
            </a:r>
          </a:p>
        </p:txBody>
      </p:sp>
      <p:sp>
        <p:nvSpPr>
          <p:cNvPr id="73" name="TextBox 73"/>
          <p:cNvSpPr txBox="1"/>
          <p:nvPr/>
        </p:nvSpPr>
        <p:spPr>
          <a:xfrm>
            <a:off x="9198292" y="4523899"/>
            <a:ext cx="1207913"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Obsidian知识库体系</a:t>
            </a:r>
          </a:p>
        </p:txBody>
      </p:sp>
      <p:sp>
        <p:nvSpPr>
          <p:cNvPr id="74" name="TextBox 74"/>
          <p:cNvSpPr txBox="1"/>
          <p:nvPr/>
        </p:nvSpPr>
        <p:spPr>
          <a:xfrm>
            <a:off x="9198292" y="4714399"/>
            <a:ext cx="941380" cy="198120"/>
          </a:xfrm>
          <a:prstGeom prst="rect">
            <a:avLst/>
          </a:prstGeom>
          <a:noFill/>
          <a:ln>
            <a:noFill/>
          </a:ln>
        </p:spPr>
        <p:txBody>
          <a:bodyPr wrap="none" lIns="0" tIns="0" rIns="0" bIns="0" anchor="t" anchorCtr="0">
            <a:spAutoFit/>
          </a:bodyPr>
          <a:lstStyle/>
          <a:p>
            <a:pPr algn="l"/>
            <a:r>
              <a:rPr lang="zh-CN" sz="975" dirty="0">
                <a:solidFill>
                  <a:srgbClr val="2C2C2C"/>
                </a:solidFill>
                <a:latin typeface="Arial"/>
                <a:ea typeface="Microsoft YaHei"/>
                <a:cs typeface="Arial"/>
              </a:rPr>
              <a:t>Claude Memory</a:t>
            </a:r>
          </a:p>
        </p:txBody>
      </p:sp>
      <p:sp>
        <p:nvSpPr>
          <p:cNvPr id="75" name="TextBox 75"/>
          <p:cNvSpPr txBox="1"/>
          <p:nvPr/>
        </p:nvSpPr>
        <p:spPr>
          <a:xfrm>
            <a:off x="9198292" y="4904899"/>
            <a:ext cx="57083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170+文件</a:t>
            </a:r>
          </a:p>
        </p:txBody>
      </p:sp>
      <p:sp>
        <p:nvSpPr>
          <p:cNvPr id="76" name="Rectangle 76"/>
          <p:cNvSpPr/>
          <p:nvPr/>
        </p:nvSpPr>
        <p:spPr>
          <a:xfrm>
            <a:off x="571500" y="6076950"/>
            <a:ext cx="11049000" cy="247650"/>
          </a:xfrm>
          <a:prstGeom prst="roundRect">
            <a:avLst>
              <a:gd name="adj" fmla="val 23077"/>
            </a:avLst>
          </a:prstGeom>
          <a:solidFill>
            <a:srgbClr val="1A5276">
              <a:alpha val="10000"/>
            </a:srgbClr>
          </a:solidFill>
          <a:ln>
            <a:noFill/>
          </a:ln>
        </p:spPr>
      </p:sp>
      <p:sp>
        <p:nvSpPr>
          <p:cNvPr id="77" name="TextBox 77"/>
          <p:cNvSpPr txBox="1"/>
          <p:nvPr/>
        </p:nvSpPr>
        <p:spPr>
          <a:xfrm>
            <a:off x="3320772" y="6143149"/>
            <a:ext cx="5550456" cy="198120"/>
          </a:xfrm>
          <a:prstGeom prst="rect">
            <a:avLst/>
          </a:prstGeom>
          <a:noFill/>
          <a:ln>
            <a:noFill/>
          </a:ln>
        </p:spPr>
        <p:txBody>
          <a:bodyPr wrap="none" lIns="0" tIns="0" rIns="0" bIns="0" anchor="t" anchorCtr="0">
            <a:spAutoFit/>
          </a:bodyPr>
          <a:lstStyle/>
          <a:p>
            <a:pPr algn="ctr"/>
            <a:r>
              <a:rPr lang="zh-CN" sz="975" dirty="0">
                <a:solidFill>
                  <a:srgbClr val="1A5276"/>
                </a:solidFill>
                <a:latin typeface="Arial"/>
                <a:ea typeface="Microsoft YaHei"/>
                <a:cs typeface="Arial"/>
              </a:rPr>
              <a:t>12大类 · 26脚本 · 170+文件 · 5代品牌命名 · 8维度竞品 · 16项合规映射 — 战略资产矩阵已完成</a:t>
            </a:r>
          </a:p>
        </p:txBody>
      </p:sp>
      <p:sp>
        <p:nvSpPr>
          <p:cNvPr id="78" name="TextBox 78"/>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51</a:t>
            </a:r>
          </a:p>
        </p:txBody>
      </p:sp>
      <p:sp>
        <p:nvSpPr>
          <p:cNvPr id="79" name="TextBox 79"/>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571500" y="495300"/>
            <a:ext cx="57150" cy="381000"/>
          </a:xfrm>
          <a:prstGeom prst="roundRect">
            <a:avLst>
              <a:gd name="adj" fmla="val 50000"/>
            </a:avLst>
          </a:prstGeom>
          <a:solidFill>
            <a:srgbClr val="E67E22"/>
          </a:solidFill>
          <a:ln>
            <a:noFill/>
          </a:ln>
        </p:spPr>
      </p:sp>
      <p:sp>
        <p:nvSpPr>
          <p:cNvPr id="4" name="TextBox 4"/>
          <p:cNvSpPr txBox="1"/>
          <p:nvPr/>
        </p:nvSpPr>
        <p:spPr>
          <a:xfrm>
            <a:off x="727710" y="470535"/>
            <a:ext cx="7557516" cy="548640"/>
          </a:xfrm>
          <a:prstGeom prst="rect">
            <a:avLst/>
          </a:prstGeom>
          <a:noFill/>
          <a:ln>
            <a:noFill/>
          </a:ln>
        </p:spPr>
        <p:txBody>
          <a:bodyPr wrap="none" lIns="0" tIns="0" rIns="0" bIns="0" anchor="t" anchorCtr="0">
            <a:spAutoFit/>
          </a:bodyPr>
          <a:lstStyle/>
          <a:p>
            <a:pPr algn="l"/>
            <a:r>
              <a:rPr lang="zh-CN" sz="2700" dirty="0">
                <a:solidFill>
                  <a:srgbClr val="2C2C2C"/>
                </a:solidFill>
                <a:latin typeface="Georgia"/>
                <a:ea typeface="KaiTi"/>
                <a:cs typeface="Georgia"/>
              </a:rPr>
              <a:t>附录F：7项下一步行动 —— 从审阅到知识库同步</a:t>
            </a:r>
          </a:p>
        </p:txBody>
      </p:sp>
      <p:sp>
        <p:nvSpPr>
          <p:cNvPr id="5" name="Rectangle 5"/>
          <p:cNvSpPr/>
          <p:nvPr/>
        </p:nvSpPr>
        <p:spPr>
          <a:xfrm>
            <a:off x="571500" y="1028700"/>
            <a:ext cx="11049000" cy="304800"/>
          </a:xfrm>
          <a:prstGeom prst="roundRect">
            <a:avLst>
              <a:gd name="adj" fmla="val 18750"/>
            </a:avLst>
          </a:prstGeom>
          <a:solidFill>
            <a:srgbClr val="1A5276"/>
          </a:solidFill>
          <a:ln>
            <a:noFill/>
          </a:ln>
        </p:spPr>
      </p:sp>
      <p:sp>
        <p:nvSpPr>
          <p:cNvPr id="6" name="TextBox 6"/>
          <p:cNvSpPr txBox="1"/>
          <p:nvPr/>
        </p:nvSpPr>
        <p:spPr>
          <a:xfrm>
            <a:off x="797242" y="1132999"/>
            <a:ext cx="9984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a:t>
            </a:r>
          </a:p>
        </p:txBody>
      </p:sp>
      <p:sp>
        <p:nvSpPr>
          <p:cNvPr id="7" name="TextBox 7"/>
          <p:cNvSpPr txBox="1"/>
          <p:nvPr/>
        </p:nvSpPr>
        <p:spPr>
          <a:xfrm>
            <a:off x="1273492" y="1132999"/>
            <a:ext cx="2977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行动</a:t>
            </a:r>
          </a:p>
        </p:txBody>
      </p:sp>
      <p:sp>
        <p:nvSpPr>
          <p:cNvPr id="8" name="TextBox 8"/>
          <p:cNvSpPr txBox="1"/>
          <p:nvPr/>
        </p:nvSpPr>
        <p:spPr>
          <a:xfrm>
            <a:off x="5893118" y="1132999"/>
            <a:ext cx="43431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负责人</a:t>
            </a:r>
          </a:p>
        </p:txBody>
      </p:sp>
      <p:sp>
        <p:nvSpPr>
          <p:cNvPr id="9" name="TextBox 9"/>
          <p:cNvSpPr txBox="1"/>
          <p:nvPr/>
        </p:nvSpPr>
        <p:spPr>
          <a:xfrm>
            <a:off x="7512368" y="1132999"/>
            <a:ext cx="2977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时间</a:t>
            </a:r>
          </a:p>
        </p:txBody>
      </p:sp>
      <p:sp>
        <p:nvSpPr>
          <p:cNvPr id="10" name="TextBox 10"/>
          <p:cNvSpPr txBox="1"/>
          <p:nvPr/>
        </p:nvSpPr>
        <p:spPr>
          <a:xfrm>
            <a:off x="8845868" y="1132999"/>
            <a:ext cx="2977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说明</a:t>
            </a:r>
          </a:p>
        </p:txBody>
      </p:sp>
      <p:sp>
        <p:nvSpPr>
          <p:cNvPr id="11" name="Rectangle 11"/>
          <p:cNvSpPr/>
          <p:nvPr/>
        </p:nvSpPr>
        <p:spPr>
          <a:xfrm>
            <a:off x="571500" y="1371600"/>
            <a:ext cx="11049000" cy="666750"/>
          </a:xfrm>
          <a:prstGeom prst="roundRect">
            <a:avLst>
              <a:gd name="adj" fmla="val 8571"/>
            </a:avLst>
          </a:prstGeom>
          <a:solidFill>
            <a:srgbClr val="F5F0EA"/>
          </a:solidFill>
          <a:ln>
            <a:noFill/>
          </a:ln>
          <a:effectLst>
            <a:outerShdw blurRad="76200" dist="19050" dir="5400000" algn="ctr" rotWithShape="0">
              <a:srgbClr val="2C2C2C">
                <a:alpha val="4500"/>
              </a:srgbClr>
            </a:outerShdw>
          </a:effectLst>
        </p:spPr>
      </p:sp>
      <p:sp>
        <p:nvSpPr>
          <p:cNvPr id="12" name="Rectangle 12"/>
          <p:cNvSpPr/>
          <p:nvPr/>
        </p:nvSpPr>
        <p:spPr>
          <a:xfrm>
            <a:off x="571500" y="1371600"/>
            <a:ext cx="57150" cy="666750"/>
          </a:xfrm>
          <a:prstGeom prst="roundRect">
            <a:avLst>
              <a:gd name="adj" fmla="val 50000"/>
            </a:avLst>
          </a:prstGeom>
          <a:solidFill>
            <a:srgbClr val="E67E22"/>
          </a:solidFill>
          <a:ln>
            <a:noFill/>
          </a:ln>
        </p:spPr>
      </p:sp>
      <p:sp>
        <p:nvSpPr>
          <p:cNvPr id="13" name="TextBox 13"/>
          <p:cNvSpPr txBox="1"/>
          <p:nvPr/>
        </p:nvSpPr>
        <p:spPr>
          <a:xfrm>
            <a:off x="788670" y="1498282"/>
            <a:ext cx="168976" cy="335280"/>
          </a:xfrm>
          <a:prstGeom prst="rect">
            <a:avLst/>
          </a:prstGeom>
          <a:noFill/>
          <a:ln>
            <a:noFill/>
          </a:ln>
        </p:spPr>
        <p:txBody>
          <a:bodyPr wrap="none" lIns="0" tIns="0" rIns="0" bIns="0" anchor="t" anchorCtr="0">
            <a:spAutoFit/>
          </a:bodyPr>
          <a:lstStyle/>
          <a:p>
            <a:pPr algn="l"/>
            <a:r>
              <a:rPr lang="zh-CN" sz="1650" b="1" dirty="0">
                <a:solidFill>
                  <a:srgbClr val="E67E22"/>
                </a:solidFill>
                <a:latin typeface="Arial"/>
                <a:ea typeface="Microsoft YaHei"/>
                <a:cs typeface="Arial"/>
              </a:rPr>
              <a:t>1</a:t>
            </a:r>
          </a:p>
        </p:txBody>
      </p:sp>
      <p:sp>
        <p:nvSpPr>
          <p:cNvPr id="14" name="TextBox 14"/>
          <p:cNvSpPr txBox="1"/>
          <p:nvPr/>
        </p:nvSpPr>
        <p:spPr>
          <a:xfrm>
            <a:off x="1268730" y="1549718"/>
            <a:ext cx="979408"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审阅本总案</a:t>
            </a:r>
          </a:p>
        </p:txBody>
      </p:sp>
      <p:sp>
        <p:nvSpPr>
          <p:cNvPr id="15" name="TextBox 15"/>
          <p:cNvSpPr txBox="1"/>
          <p:nvPr/>
        </p:nvSpPr>
        <p:spPr>
          <a:xfrm>
            <a:off x="1273492" y="1799749"/>
            <a:ext cx="188399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通读全文 · 标记疑问 · 确认方向</a:t>
            </a:r>
          </a:p>
        </p:txBody>
      </p:sp>
      <p:sp>
        <p:nvSpPr>
          <p:cNvPr id="16" name="TextBox 16"/>
          <p:cNvSpPr txBox="1"/>
          <p:nvPr/>
        </p:nvSpPr>
        <p:spPr>
          <a:xfrm>
            <a:off x="5891212" y="1593056"/>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创始人</a:t>
            </a:r>
          </a:p>
        </p:txBody>
      </p:sp>
      <p:sp>
        <p:nvSpPr>
          <p:cNvPr id="17" name="TextBox 17"/>
          <p:cNvSpPr txBox="1"/>
          <p:nvPr/>
        </p:nvSpPr>
        <p:spPr>
          <a:xfrm>
            <a:off x="7510462" y="1593056"/>
            <a:ext cx="272731"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3天</a:t>
            </a:r>
          </a:p>
        </p:txBody>
      </p:sp>
      <p:sp>
        <p:nvSpPr>
          <p:cNvPr id="18" name="TextBox 18"/>
          <p:cNvSpPr txBox="1"/>
          <p:nvPr/>
        </p:nvSpPr>
        <p:spPr>
          <a:xfrm>
            <a:off x="8845868" y="1609249"/>
            <a:ext cx="67484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最高优先级</a:t>
            </a:r>
          </a:p>
        </p:txBody>
      </p:sp>
      <p:sp>
        <p:nvSpPr>
          <p:cNvPr id="19" name="Rectangle 19"/>
          <p:cNvSpPr/>
          <p:nvPr/>
        </p:nvSpPr>
        <p:spPr>
          <a:xfrm>
            <a:off x="571500" y="2095500"/>
            <a:ext cx="11049000" cy="666750"/>
          </a:xfrm>
          <a:prstGeom prst="roundRect">
            <a:avLst>
              <a:gd name="adj" fmla="val 8571"/>
            </a:avLst>
          </a:prstGeom>
          <a:solidFill>
            <a:srgbClr val="FFFFFF"/>
          </a:solidFill>
          <a:ln>
            <a:noFill/>
          </a:ln>
          <a:effectLst>
            <a:outerShdw blurRad="76200" dist="19050" dir="5400000" algn="ctr" rotWithShape="0">
              <a:srgbClr val="2C2C2C">
                <a:alpha val="4500"/>
              </a:srgbClr>
            </a:outerShdw>
          </a:effectLst>
        </p:spPr>
      </p:sp>
      <p:sp>
        <p:nvSpPr>
          <p:cNvPr id="20" name="Rectangle 20"/>
          <p:cNvSpPr/>
          <p:nvPr/>
        </p:nvSpPr>
        <p:spPr>
          <a:xfrm>
            <a:off x="571500" y="2095500"/>
            <a:ext cx="57150" cy="666750"/>
          </a:xfrm>
          <a:prstGeom prst="roundRect">
            <a:avLst>
              <a:gd name="adj" fmla="val 50000"/>
            </a:avLst>
          </a:prstGeom>
          <a:solidFill>
            <a:srgbClr val="E67E22"/>
          </a:solidFill>
          <a:ln>
            <a:noFill/>
          </a:ln>
        </p:spPr>
      </p:sp>
      <p:sp>
        <p:nvSpPr>
          <p:cNvPr id="21" name="TextBox 21"/>
          <p:cNvSpPr txBox="1"/>
          <p:nvPr/>
        </p:nvSpPr>
        <p:spPr>
          <a:xfrm>
            <a:off x="788670" y="2222182"/>
            <a:ext cx="168976" cy="335280"/>
          </a:xfrm>
          <a:prstGeom prst="rect">
            <a:avLst/>
          </a:prstGeom>
          <a:noFill/>
          <a:ln>
            <a:noFill/>
          </a:ln>
        </p:spPr>
        <p:txBody>
          <a:bodyPr wrap="none" lIns="0" tIns="0" rIns="0" bIns="0" anchor="t" anchorCtr="0">
            <a:spAutoFit/>
          </a:bodyPr>
          <a:lstStyle/>
          <a:p>
            <a:pPr algn="l"/>
            <a:r>
              <a:rPr lang="zh-CN" sz="1650" b="1" dirty="0">
                <a:solidFill>
                  <a:srgbClr val="E67E22"/>
                </a:solidFill>
                <a:latin typeface="Arial"/>
                <a:ea typeface="Microsoft YaHei"/>
                <a:cs typeface="Arial"/>
              </a:rPr>
              <a:t>2</a:t>
            </a:r>
          </a:p>
        </p:txBody>
      </p:sp>
      <p:sp>
        <p:nvSpPr>
          <p:cNvPr id="22" name="TextBox 22"/>
          <p:cNvSpPr txBox="1"/>
          <p:nvPr/>
        </p:nvSpPr>
        <p:spPr>
          <a:xfrm>
            <a:off x="1268730" y="2273618"/>
            <a:ext cx="1168432"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确认品牌故事</a:t>
            </a:r>
          </a:p>
        </p:txBody>
      </p:sp>
      <p:sp>
        <p:nvSpPr>
          <p:cNvPr id="23" name="TextBox 23"/>
          <p:cNvSpPr txBox="1"/>
          <p:nvPr/>
        </p:nvSpPr>
        <p:spPr>
          <a:xfrm>
            <a:off x="1273492" y="2523649"/>
            <a:ext cx="197500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选择故事原点或提供真实故事素材</a:t>
            </a:r>
          </a:p>
        </p:txBody>
      </p:sp>
      <p:sp>
        <p:nvSpPr>
          <p:cNvPr id="24" name="TextBox 24"/>
          <p:cNvSpPr txBox="1"/>
          <p:nvPr/>
        </p:nvSpPr>
        <p:spPr>
          <a:xfrm>
            <a:off x="5891212" y="2316956"/>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创始人</a:t>
            </a:r>
          </a:p>
        </p:txBody>
      </p:sp>
      <p:sp>
        <p:nvSpPr>
          <p:cNvPr id="25" name="TextBox 25"/>
          <p:cNvSpPr txBox="1"/>
          <p:nvPr/>
        </p:nvSpPr>
        <p:spPr>
          <a:xfrm>
            <a:off x="7510462" y="2316956"/>
            <a:ext cx="272731"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1周</a:t>
            </a:r>
          </a:p>
        </p:txBody>
      </p:sp>
      <p:sp>
        <p:nvSpPr>
          <p:cNvPr id="26" name="TextBox 26"/>
          <p:cNvSpPr txBox="1"/>
          <p:nvPr/>
        </p:nvSpPr>
        <p:spPr>
          <a:xfrm>
            <a:off x="8845868" y="2333149"/>
            <a:ext cx="93487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依赖创始人输入</a:t>
            </a:r>
          </a:p>
        </p:txBody>
      </p:sp>
      <p:sp>
        <p:nvSpPr>
          <p:cNvPr id="27" name="Rectangle 27"/>
          <p:cNvSpPr/>
          <p:nvPr/>
        </p:nvSpPr>
        <p:spPr>
          <a:xfrm>
            <a:off x="571500" y="2819400"/>
            <a:ext cx="11049000" cy="666750"/>
          </a:xfrm>
          <a:prstGeom prst="roundRect">
            <a:avLst>
              <a:gd name="adj" fmla="val 8571"/>
            </a:avLst>
          </a:prstGeom>
          <a:solidFill>
            <a:srgbClr val="F5F0EA"/>
          </a:solidFill>
          <a:ln>
            <a:noFill/>
          </a:ln>
          <a:effectLst>
            <a:outerShdw blurRad="76200" dist="19050" dir="5400000" algn="ctr" rotWithShape="0">
              <a:srgbClr val="2C2C2C">
                <a:alpha val="4500"/>
              </a:srgbClr>
            </a:outerShdw>
          </a:effectLst>
        </p:spPr>
      </p:sp>
      <p:sp>
        <p:nvSpPr>
          <p:cNvPr id="28" name="Rectangle 28"/>
          <p:cNvSpPr/>
          <p:nvPr/>
        </p:nvSpPr>
        <p:spPr>
          <a:xfrm>
            <a:off x="571500" y="2819400"/>
            <a:ext cx="57150" cy="666750"/>
          </a:xfrm>
          <a:prstGeom prst="roundRect">
            <a:avLst>
              <a:gd name="adj" fmla="val 50000"/>
            </a:avLst>
          </a:prstGeom>
          <a:solidFill>
            <a:srgbClr val="1A5276"/>
          </a:solidFill>
          <a:ln>
            <a:noFill/>
          </a:ln>
        </p:spPr>
      </p:sp>
      <p:sp>
        <p:nvSpPr>
          <p:cNvPr id="29" name="TextBox 29"/>
          <p:cNvSpPr txBox="1"/>
          <p:nvPr/>
        </p:nvSpPr>
        <p:spPr>
          <a:xfrm>
            <a:off x="788670" y="2946082"/>
            <a:ext cx="168976" cy="335280"/>
          </a:xfrm>
          <a:prstGeom prst="rect">
            <a:avLst/>
          </a:prstGeom>
          <a:noFill/>
          <a:ln>
            <a:noFill/>
          </a:ln>
        </p:spPr>
        <p:txBody>
          <a:bodyPr wrap="none" lIns="0" tIns="0" rIns="0" bIns="0" anchor="t" anchorCtr="0">
            <a:spAutoFit/>
          </a:bodyPr>
          <a:lstStyle/>
          <a:p>
            <a:pPr algn="l"/>
            <a:r>
              <a:rPr lang="zh-CN" sz="1650" b="1" dirty="0">
                <a:solidFill>
                  <a:srgbClr val="1A5276"/>
                </a:solidFill>
                <a:latin typeface="Arial"/>
                <a:ea typeface="Microsoft YaHei"/>
                <a:cs typeface="Arial"/>
              </a:rPr>
              <a:t>3</a:t>
            </a:r>
          </a:p>
        </p:txBody>
      </p:sp>
      <p:sp>
        <p:nvSpPr>
          <p:cNvPr id="30" name="TextBox 30"/>
          <p:cNvSpPr txBox="1"/>
          <p:nvPr/>
        </p:nvSpPr>
        <p:spPr>
          <a:xfrm>
            <a:off x="1268730" y="2997518"/>
            <a:ext cx="1735503"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启动第零段信息补全</a:t>
            </a:r>
          </a:p>
        </p:txBody>
      </p:sp>
      <p:sp>
        <p:nvSpPr>
          <p:cNvPr id="31" name="TextBox 31"/>
          <p:cNvSpPr txBox="1"/>
          <p:nvPr/>
        </p:nvSpPr>
        <p:spPr>
          <a:xfrm>
            <a:off x="1273492" y="3247549"/>
            <a:ext cx="1207913"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12个问题全部有答案</a:t>
            </a:r>
          </a:p>
        </p:txBody>
      </p:sp>
      <p:sp>
        <p:nvSpPr>
          <p:cNvPr id="32" name="TextBox 32"/>
          <p:cNvSpPr txBox="1"/>
          <p:nvPr/>
        </p:nvSpPr>
        <p:spPr>
          <a:xfrm>
            <a:off x="5891212" y="3040856"/>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梁君衡</a:t>
            </a:r>
          </a:p>
        </p:txBody>
      </p:sp>
      <p:sp>
        <p:nvSpPr>
          <p:cNvPr id="33" name="TextBox 33"/>
          <p:cNvSpPr txBox="1"/>
          <p:nvPr/>
        </p:nvSpPr>
        <p:spPr>
          <a:xfrm>
            <a:off x="7510462" y="3040856"/>
            <a:ext cx="272731"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5天</a:t>
            </a:r>
          </a:p>
        </p:txBody>
      </p:sp>
      <p:sp>
        <p:nvSpPr>
          <p:cNvPr id="34" name="TextBox 34"/>
          <p:cNvSpPr txBox="1"/>
          <p:nvPr/>
        </p:nvSpPr>
        <p:spPr>
          <a:xfrm>
            <a:off x="8845868" y="3057049"/>
            <a:ext cx="674846"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可并行进行</a:t>
            </a:r>
          </a:p>
        </p:txBody>
      </p:sp>
      <p:sp>
        <p:nvSpPr>
          <p:cNvPr id="35" name="Rectangle 35"/>
          <p:cNvSpPr/>
          <p:nvPr/>
        </p:nvSpPr>
        <p:spPr>
          <a:xfrm>
            <a:off x="571500" y="3543300"/>
            <a:ext cx="11049000" cy="666750"/>
          </a:xfrm>
          <a:prstGeom prst="roundRect">
            <a:avLst>
              <a:gd name="adj" fmla="val 8571"/>
            </a:avLst>
          </a:prstGeom>
          <a:solidFill>
            <a:srgbClr val="FFFFFF"/>
          </a:solidFill>
          <a:ln>
            <a:noFill/>
          </a:ln>
          <a:effectLst>
            <a:outerShdw blurRad="76200" dist="19050" dir="5400000" algn="ctr" rotWithShape="0">
              <a:srgbClr val="2C2C2C">
                <a:alpha val="4500"/>
              </a:srgbClr>
            </a:outerShdw>
          </a:effectLst>
        </p:spPr>
      </p:sp>
      <p:sp>
        <p:nvSpPr>
          <p:cNvPr id="36" name="Rectangle 36"/>
          <p:cNvSpPr/>
          <p:nvPr/>
        </p:nvSpPr>
        <p:spPr>
          <a:xfrm>
            <a:off x="571500" y="3543300"/>
            <a:ext cx="57150" cy="666750"/>
          </a:xfrm>
          <a:prstGeom prst="roundRect">
            <a:avLst>
              <a:gd name="adj" fmla="val 50000"/>
            </a:avLst>
          </a:prstGeom>
          <a:solidFill>
            <a:srgbClr val="1A5276"/>
          </a:solidFill>
          <a:ln>
            <a:noFill/>
          </a:ln>
        </p:spPr>
      </p:sp>
      <p:sp>
        <p:nvSpPr>
          <p:cNvPr id="37" name="TextBox 37"/>
          <p:cNvSpPr txBox="1"/>
          <p:nvPr/>
        </p:nvSpPr>
        <p:spPr>
          <a:xfrm>
            <a:off x="788670" y="3669982"/>
            <a:ext cx="168976" cy="335280"/>
          </a:xfrm>
          <a:prstGeom prst="rect">
            <a:avLst/>
          </a:prstGeom>
          <a:noFill/>
          <a:ln>
            <a:noFill/>
          </a:ln>
        </p:spPr>
        <p:txBody>
          <a:bodyPr wrap="none" lIns="0" tIns="0" rIns="0" bIns="0" anchor="t" anchorCtr="0">
            <a:spAutoFit/>
          </a:bodyPr>
          <a:lstStyle/>
          <a:p>
            <a:pPr algn="l"/>
            <a:r>
              <a:rPr lang="zh-CN" sz="1650" b="1" dirty="0">
                <a:solidFill>
                  <a:srgbClr val="1A5276"/>
                </a:solidFill>
                <a:latin typeface="Arial"/>
                <a:ea typeface="Microsoft YaHei"/>
                <a:cs typeface="Arial"/>
              </a:rPr>
              <a:t>4</a:t>
            </a:r>
          </a:p>
        </p:txBody>
      </p:sp>
      <p:sp>
        <p:nvSpPr>
          <p:cNvPr id="38" name="TextBox 38"/>
          <p:cNvSpPr txBox="1"/>
          <p:nvPr/>
        </p:nvSpPr>
        <p:spPr>
          <a:xfrm>
            <a:off x="1268730" y="3721418"/>
            <a:ext cx="1546479"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试点社区实地考察</a:t>
            </a:r>
          </a:p>
        </p:txBody>
      </p:sp>
      <p:sp>
        <p:nvSpPr>
          <p:cNvPr id="39" name="TextBox 39"/>
          <p:cNvSpPr txBox="1"/>
          <p:nvPr/>
        </p:nvSpPr>
        <p:spPr>
          <a:xfrm>
            <a:off x="1273492" y="3971449"/>
            <a:ext cx="235855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3个候选社区 · 10家商户交谈 · 选定试点</a:t>
            </a:r>
          </a:p>
        </p:txBody>
      </p:sp>
      <p:sp>
        <p:nvSpPr>
          <p:cNvPr id="40" name="TextBox 40"/>
          <p:cNvSpPr txBox="1"/>
          <p:nvPr/>
        </p:nvSpPr>
        <p:spPr>
          <a:xfrm>
            <a:off x="5891212" y="3764756"/>
            <a:ext cx="95119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运营 + 梁君衡</a:t>
            </a:r>
          </a:p>
        </p:txBody>
      </p:sp>
      <p:sp>
        <p:nvSpPr>
          <p:cNvPr id="41" name="TextBox 41"/>
          <p:cNvSpPr txBox="1"/>
          <p:nvPr/>
        </p:nvSpPr>
        <p:spPr>
          <a:xfrm>
            <a:off x="7510462" y="3764756"/>
            <a:ext cx="272731"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1周</a:t>
            </a:r>
          </a:p>
        </p:txBody>
      </p:sp>
      <p:sp>
        <p:nvSpPr>
          <p:cNvPr id="42" name="TextBox 42"/>
          <p:cNvSpPr txBox="1"/>
          <p:nvPr/>
        </p:nvSpPr>
        <p:spPr>
          <a:xfrm>
            <a:off x="8845868" y="3780949"/>
            <a:ext cx="94138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Type 1决策执行</a:t>
            </a:r>
          </a:p>
        </p:txBody>
      </p:sp>
      <p:sp>
        <p:nvSpPr>
          <p:cNvPr id="43" name="Rectangle 43"/>
          <p:cNvSpPr/>
          <p:nvPr/>
        </p:nvSpPr>
        <p:spPr>
          <a:xfrm>
            <a:off x="571500" y="4267200"/>
            <a:ext cx="11049000" cy="666750"/>
          </a:xfrm>
          <a:prstGeom prst="roundRect">
            <a:avLst>
              <a:gd name="adj" fmla="val 8571"/>
            </a:avLst>
          </a:prstGeom>
          <a:solidFill>
            <a:srgbClr val="F5F0EA"/>
          </a:solidFill>
          <a:ln>
            <a:noFill/>
          </a:ln>
          <a:effectLst>
            <a:outerShdw blurRad="76200" dist="19050" dir="5400000" algn="ctr" rotWithShape="0">
              <a:srgbClr val="2C2C2C">
                <a:alpha val="4500"/>
              </a:srgbClr>
            </a:outerShdw>
          </a:effectLst>
        </p:spPr>
      </p:sp>
      <p:sp>
        <p:nvSpPr>
          <p:cNvPr id="44" name="Rectangle 44"/>
          <p:cNvSpPr/>
          <p:nvPr/>
        </p:nvSpPr>
        <p:spPr>
          <a:xfrm>
            <a:off x="571500" y="4267200"/>
            <a:ext cx="57150" cy="666750"/>
          </a:xfrm>
          <a:prstGeom prst="roundRect">
            <a:avLst>
              <a:gd name="adj" fmla="val 50000"/>
            </a:avLst>
          </a:prstGeom>
          <a:solidFill>
            <a:srgbClr val="1A5276"/>
          </a:solidFill>
          <a:ln>
            <a:noFill/>
          </a:ln>
        </p:spPr>
      </p:sp>
      <p:sp>
        <p:nvSpPr>
          <p:cNvPr id="45" name="TextBox 45"/>
          <p:cNvSpPr txBox="1"/>
          <p:nvPr/>
        </p:nvSpPr>
        <p:spPr>
          <a:xfrm>
            <a:off x="788670" y="4393882"/>
            <a:ext cx="168976" cy="335280"/>
          </a:xfrm>
          <a:prstGeom prst="rect">
            <a:avLst/>
          </a:prstGeom>
          <a:noFill/>
          <a:ln>
            <a:noFill/>
          </a:ln>
        </p:spPr>
        <p:txBody>
          <a:bodyPr wrap="none" lIns="0" tIns="0" rIns="0" bIns="0" anchor="t" anchorCtr="0">
            <a:spAutoFit/>
          </a:bodyPr>
          <a:lstStyle/>
          <a:p>
            <a:pPr algn="l"/>
            <a:r>
              <a:rPr lang="zh-CN" sz="1650" b="1" dirty="0">
                <a:solidFill>
                  <a:srgbClr val="1A5276"/>
                </a:solidFill>
                <a:latin typeface="Arial"/>
                <a:ea typeface="Microsoft YaHei"/>
                <a:cs typeface="Arial"/>
              </a:rPr>
              <a:t>5</a:t>
            </a:r>
          </a:p>
        </p:txBody>
      </p:sp>
      <p:sp>
        <p:nvSpPr>
          <p:cNvPr id="46" name="TextBox 46"/>
          <p:cNvSpPr txBox="1"/>
          <p:nvPr/>
        </p:nvSpPr>
        <p:spPr>
          <a:xfrm>
            <a:off x="1268730" y="4445318"/>
            <a:ext cx="1206236"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冻结V1.0总案</a:t>
            </a:r>
          </a:p>
        </p:txBody>
      </p:sp>
      <p:sp>
        <p:nvSpPr>
          <p:cNvPr id="47" name="TextBox 47"/>
          <p:cNvSpPr txBox="1"/>
          <p:nvPr/>
        </p:nvSpPr>
        <p:spPr>
          <a:xfrm>
            <a:off x="1273492" y="4695349"/>
            <a:ext cx="1363932"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修改 → 定稿 → 版本归档</a:t>
            </a:r>
          </a:p>
        </p:txBody>
      </p:sp>
      <p:sp>
        <p:nvSpPr>
          <p:cNvPr id="48" name="TextBox 48"/>
          <p:cNvSpPr txBox="1"/>
          <p:nvPr/>
        </p:nvSpPr>
        <p:spPr>
          <a:xfrm>
            <a:off x="5891212" y="4488656"/>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梁君衡</a:t>
            </a:r>
          </a:p>
        </p:txBody>
      </p:sp>
      <p:sp>
        <p:nvSpPr>
          <p:cNvPr id="49" name="TextBox 49"/>
          <p:cNvSpPr txBox="1"/>
          <p:nvPr/>
        </p:nvSpPr>
        <p:spPr>
          <a:xfrm>
            <a:off x="7510462" y="4488656"/>
            <a:ext cx="501134"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a:ea typeface="Microsoft YaHei"/>
                <a:cs typeface="Arial"/>
              </a:rPr>
              <a:t>审阅后</a:t>
            </a:r>
          </a:p>
        </p:txBody>
      </p:sp>
      <p:sp>
        <p:nvSpPr>
          <p:cNvPr id="50" name="TextBox 50"/>
          <p:cNvSpPr txBox="1"/>
          <p:nvPr/>
        </p:nvSpPr>
        <p:spPr>
          <a:xfrm>
            <a:off x="8845868" y="4504849"/>
            <a:ext cx="75935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待1·2完成后</a:t>
            </a:r>
          </a:p>
        </p:txBody>
      </p:sp>
      <p:sp>
        <p:nvSpPr>
          <p:cNvPr id="51" name="Rectangle 51"/>
          <p:cNvSpPr/>
          <p:nvPr/>
        </p:nvSpPr>
        <p:spPr>
          <a:xfrm>
            <a:off x="571500" y="4991100"/>
            <a:ext cx="11049000" cy="666750"/>
          </a:xfrm>
          <a:prstGeom prst="roundRect">
            <a:avLst>
              <a:gd name="adj" fmla="val 8571"/>
            </a:avLst>
          </a:prstGeom>
          <a:solidFill>
            <a:srgbClr val="FFFFFF"/>
          </a:solidFill>
          <a:ln>
            <a:noFill/>
          </a:ln>
          <a:effectLst>
            <a:outerShdw blurRad="76200" dist="19050" dir="5400000" algn="ctr" rotWithShape="0">
              <a:srgbClr val="2C2C2C">
                <a:alpha val="4500"/>
              </a:srgbClr>
            </a:outerShdw>
          </a:effectLst>
        </p:spPr>
      </p:sp>
      <p:sp>
        <p:nvSpPr>
          <p:cNvPr id="52" name="Rectangle 52"/>
          <p:cNvSpPr/>
          <p:nvPr/>
        </p:nvSpPr>
        <p:spPr>
          <a:xfrm>
            <a:off x="571500" y="4991100"/>
            <a:ext cx="57150" cy="666750"/>
          </a:xfrm>
          <a:prstGeom prst="roundRect">
            <a:avLst>
              <a:gd name="adj" fmla="val 50000"/>
            </a:avLst>
          </a:prstGeom>
          <a:solidFill>
            <a:srgbClr val="1E8449"/>
          </a:solidFill>
          <a:ln>
            <a:noFill/>
          </a:ln>
        </p:spPr>
      </p:sp>
      <p:sp>
        <p:nvSpPr>
          <p:cNvPr id="53" name="TextBox 53"/>
          <p:cNvSpPr txBox="1"/>
          <p:nvPr/>
        </p:nvSpPr>
        <p:spPr>
          <a:xfrm>
            <a:off x="788670" y="5117782"/>
            <a:ext cx="168976" cy="335280"/>
          </a:xfrm>
          <a:prstGeom prst="rect">
            <a:avLst/>
          </a:prstGeom>
          <a:noFill/>
          <a:ln>
            <a:noFill/>
          </a:ln>
        </p:spPr>
        <p:txBody>
          <a:bodyPr wrap="none" lIns="0" tIns="0" rIns="0" bIns="0" anchor="t" anchorCtr="0">
            <a:spAutoFit/>
          </a:bodyPr>
          <a:lstStyle/>
          <a:p>
            <a:pPr algn="l"/>
            <a:r>
              <a:rPr lang="zh-CN" sz="1650" b="1" dirty="0">
                <a:solidFill>
                  <a:srgbClr val="1E8449"/>
                </a:solidFill>
                <a:latin typeface="Arial"/>
                <a:ea typeface="Microsoft YaHei"/>
                <a:cs typeface="Arial"/>
              </a:rPr>
              <a:t>6</a:t>
            </a:r>
          </a:p>
        </p:txBody>
      </p:sp>
      <p:sp>
        <p:nvSpPr>
          <p:cNvPr id="54" name="TextBox 54"/>
          <p:cNvSpPr txBox="1"/>
          <p:nvPr/>
        </p:nvSpPr>
        <p:spPr>
          <a:xfrm>
            <a:off x="1268730" y="5169218"/>
            <a:ext cx="1206236"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生成完整PPTX</a:t>
            </a:r>
          </a:p>
        </p:txBody>
      </p:sp>
      <p:sp>
        <p:nvSpPr>
          <p:cNvPr id="55" name="TextBox 55"/>
          <p:cNvSpPr txBox="1"/>
          <p:nvPr/>
        </p:nvSpPr>
        <p:spPr>
          <a:xfrm>
            <a:off x="1273492" y="5419249"/>
            <a:ext cx="151345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53页完整PPTX + 演讲备注</a:t>
            </a:r>
          </a:p>
        </p:txBody>
      </p:sp>
      <p:sp>
        <p:nvSpPr>
          <p:cNvPr id="56" name="TextBox 56"/>
          <p:cNvSpPr txBox="1"/>
          <p:nvPr/>
        </p:nvSpPr>
        <p:spPr>
          <a:xfrm>
            <a:off x="5891212" y="5212556"/>
            <a:ext cx="1108710"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Claude + 梁君衡</a:t>
            </a:r>
          </a:p>
        </p:txBody>
      </p:sp>
      <p:sp>
        <p:nvSpPr>
          <p:cNvPr id="57" name="TextBox 57"/>
          <p:cNvSpPr txBox="1"/>
          <p:nvPr/>
        </p:nvSpPr>
        <p:spPr>
          <a:xfrm>
            <a:off x="7510462" y="5212556"/>
            <a:ext cx="501134"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定稿后</a:t>
            </a:r>
          </a:p>
        </p:txBody>
      </p:sp>
      <p:sp>
        <p:nvSpPr>
          <p:cNvPr id="58" name="TextBox 58"/>
          <p:cNvSpPr txBox="1"/>
          <p:nvPr/>
        </p:nvSpPr>
        <p:spPr>
          <a:xfrm>
            <a:off x="8845868" y="5228749"/>
            <a:ext cx="61633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依赖5完成</a:t>
            </a:r>
          </a:p>
        </p:txBody>
      </p:sp>
      <p:sp>
        <p:nvSpPr>
          <p:cNvPr id="59" name="Rectangle 59"/>
          <p:cNvSpPr/>
          <p:nvPr/>
        </p:nvSpPr>
        <p:spPr>
          <a:xfrm>
            <a:off x="571500" y="5715000"/>
            <a:ext cx="11049000" cy="666750"/>
          </a:xfrm>
          <a:prstGeom prst="roundRect">
            <a:avLst>
              <a:gd name="adj" fmla="val 8571"/>
            </a:avLst>
          </a:prstGeom>
          <a:solidFill>
            <a:srgbClr val="F5F0EA"/>
          </a:solidFill>
          <a:ln>
            <a:noFill/>
          </a:ln>
          <a:effectLst>
            <a:outerShdw blurRad="76200" dist="19050" dir="5400000" algn="ctr" rotWithShape="0">
              <a:srgbClr val="2C2C2C">
                <a:alpha val="4500"/>
              </a:srgbClr>
            </a:outerShdw>
          </a:effectLst>
        </p:spPr>
      </p:sp>
      <p:sp>
        <p:nvSpPr>
          <p:cNvPr id="60" name="Rectangle 60"/>
          <p:cNvSpPr/>
          <p:nvPr/>
        </p:nvSpPr>
        <p:spPr>
          <a:xfrm>
            <a:off x="571500" y="5715000"/>
            <a:ext cx="57150" cy="666750"/>
          </a:xfrm>
          <a:prstGeom prst="roundRect">
            <a:avLst>
              <a:gd name="adj" fmla="val 50000"/>
            </a:avLst>
          </a:prstGeom>
          <a:solidFill>
            <a:srgbClr val="1E8449"/>
          </a:solidFill>
          <a:ln>
            <a:noFill/>
          </a:ln>
        </p:spPr>
      </p:sp>
      <p:sp>
        <p:nvSpPr>
          <p:cNvPr id="61" name="TextBox 61"/>
          <p:cNvSpPr txBox="1"/>
          <p:nvPr/>
        </p:nvSpPr>
        <p:spPr>
          <a:xfrm>
            <a:off x="788670" y="5841682"/>
            <a:ext cx="168976" cy="335280"/>
          </a:xfrm>
          <a:prstGeom prst="rect">
            <a:avLst/>
          </a:prstGeom>
          <a:noFill/>
          <a:ln>
            <a:noFill/>
          </a:ln>
        </p:spPr>
        <p:txBody>
          <a:bodyPr wrap="none" lIns="0" tIns="0" rIns="0" bIns="0" anchor="t" anchorCtr="0">
            <a:spAutoFit/>
          </a:bodyPr>
          <a:lstStyle/>
          <a:p>
            <a:pPr algn="l"/>
            <a:r>
              <a:rPr lang="zh-CN" sz="1650" b="1" dirty="0">
                <a:solidFill>
                  <a:srgbClr val="1E8449"/>
                </a:solidFill>
                <a:latin typeface="Arial"/>
                <a:ea typeface="Microsoft YaHei"/>
                <a:cs typeface="Arial"/>
              </a:rPr>
              <a:t>7</a:t>
            </a:r>
          </a:p>
        </p:txBody>
      </p:sp>
      <p:sp>
        <p:nvSpPr>
          <p:cNvPr id="62" name="TextBox 62"/>
          <p:cNvSpPr txBox="1"/>
          <p:nvPr/>
        </p:nvSpPr>
        <p:spPr>
          <a:xfrm>
            <a:off x="1268730" y="5893118"/>
            <a:ext cx="979408" cy="274320"/>
          </a:xfrm>
          <a:prstGeom prst="rect">
            <a:avLst/>
          </a:prstGeom>
          <a:noFill/>
          <a:ln>
            <a:noFill/>
          </a:ln>
        </p:spPr>
        <p:txBody>
          <a:bodyPr wrap="none" lIns="0" tIns="0" rIns="0" bIns="0" anchor="t" anchorCtr="0">
            <a:spAutoFit/>
          </a:bodyPr>
          <a:lstStyle/>
          <a:p>
            <a:pPr algn="l"/>
            <a:r>
              <a:rPr lang="zh-CN" sz="1350" b="1" dirty="0">
                <a:solidFill>
                  <a:srgbClr val="2C2C2C"/>
                </a:solidFill>
                <a:latin typeface="Arial"/>
                <a:ea typeface="Microsoft YaHei"/>
                <a:cs typeface="Arial"/>
              </a:rPr>
              <a:t>同步知识库</a:t>
            </a:r>
          </a:p>
        </p:txBody>
      </p:sp>
      <p:sp>
        <p:nvSpPr>
          <p:cNvPr id="63" name="TextBox 63"/>
          <p:cNvSpPr txBox="1"/>
          <p:nvPr/>
        </p:nvSpPr>
        <p:spPr>
          <a:xfrm>
            <a:off x="1273492" y="6143149"/>
            <a:ext cx="294363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CLAUDE.md · Memory · Obsidian · references/</a:t>
            </a:r>
          </a:p>
        </p:txBody>
      </p:sp>
      <p:sp>
        <p:nvSpPr>
          <p:cNvPr id="64" name="TextBox 64"/>
          <p:cNvSpPr txBox="1"/>
          <p:nvPr/>
        </p:nvSpPr>
        <p:spPr>
          <a:xfrm>
            <a:off x="5891212" y="5936456"/>
            <a:ext cx="478631" cy="228600"/>
          </a:xfrm>
          <a:prstGeom prst="rect">
            <a:avLst/>
          </a:prstGeom>
          <a:noFill/>
          <a:ln>
            <a:noFill/>
          </a:ln>
        </p:spPr>
        <p:txBody>
          <a:bodyPr wrap="none" lIns="0" tIns="0" rIns="0" bIns="0" anchor="t" anchorCtr="0">
            <a:spAutoFit/>
          </a:bodyPr>
          <a:lstStyle/>
          <a:p>
            <a:pPr algn="l"/>
            <a:r>
              <a:rPr lang="zh-CN" sz="1125" dirty="0">
                <a:solidFill>
                  <a:srgbClr val="2C2C2C"/>
                </a:solidFill>
                <a:latin typeface="Arial"/>
                <a:ea typeface="Microsoft YaHei"/>
                <a:cs typeface="Arial"/>
              </a:rPr>
              <a:t>梁君衡</a:t>
            </a:r>
          </a:p>
        </p:txBody>
      </p:sp>
      <p:sp>
        <p:nvSpPr>
          <p:cNvPr id="65" name="TextBox 65"/>
          <p:cNvSpPr txBox="1"/>
          <p:nvPr/>
        </p:nvSpPr>
        <p:spPr>
          <a:xfrm>
            <a:off x="7510462" y="5936456"/>
            <a:ext cx="343614" cy="228600"/>
          </a:xfrm>
          <a:prstGeom prst="rect">
            <a:avLst/>
          </a:prstGeom>
          <a:noFill/>
          <a:ln>
            <a:noFill/>
          </a:ln>
        </p:spPr>
        <p:txBody>
          <a:bodyPr wrap="none" lIns="0" tIns="0" rIns="0" bIns="0" anchor="t" anchorCtr="0">
            <a:spAutoFit/>
          </a:bodyPr>
          <a:lstStyle/>
          <a:p>
            <a:pPr algn="l"/>
            <a:r>
              <a:rPr lang="zh-CN" sz="1125" b="1" dirty="0">
                <a:solidFill>
                  <a:srgbClr val="1E8449"/>
                </a:solidFill>
                <a:latin typeface="Arial"/>
                <a:ea typeface="Microsoft YaHei"/>
                <a:cs typeface="Arial"/>
              </a:rPr>
              <a:t>持续</a:t>
            </a:r>
          </a:p>
        </p:txBody>
      </p:sp>
      <p:sp>
        <p:nvSpPr>
          <p:cNvPr id="66" name="TextBox 66"/>
          <p:cNvSpPr txBox="1"/>
          <p:nvPr/>
        </p:nvSpPr>
        <p:spPr>
          <a:xfrm>
            <a:off x="8845868" y="5952649"/>
            <a:ext cx="544830"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a:ea typeface="Microsoft YaHei"/>
                <a:cs typeface="Arial"/>
              </a:rPr>
              <a:t>贯穿始终</a:t>
            </a:r>
          </a:p>
        </p:txBody>
      </p:sp>
      <p:sp>
        <p:nvSpPr>
          <p:cNvPr id="67" name="TextBox 67"/>
          <p:cNvSpPr txBox="1"/>
          <p:nvPr/>
        </p:nvSpPr>
        <p:spPr>
          <a:xfrm>
            <a:off x="11477054" y="6284595"/>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52</a:t>
            </a:r>
          </a:p>
        </p:txBody>
      </p:sp>
      <p:sp>
        <p:nvSpPr>
          <p:cNvPr id="68" name="TextBox 68"/>
          <p:cNvSpPr txBox="1"/>
          <p:nvPr/>
        </p:nvSpPr>
        <p:spPr>
          <a:xfrm>
            <a:off x="560070" y="6284595"/>
            <a:ext cx="2249138" cy="182880"/>
          </a:xfrm>
          <a:prstGeom prst="rect">
            <a:avLst/>
          </a:prstGeom>
          <a:noFill/>
          <a:ln>
            <a:noFill/>
          </a:ln>
        </p:spPr>
        <p:txBody>
          <a:bodyPr wrap="none" lIns="0" tIns="0" rIns="0" bIns="0" anchor="t" anchorCtr="0">
            <a:spAutoFit/>
          </a:bodyPr>
          <a:lstStyle/>
          <a:p>
            <a:pPr algn="l"/>
            <a:r>
              <a:rPr lang="zh-CN" sz="900" dirty="0">
                <a:solidFill>
                  <a:srgbClr val="A0A0A0"/>
                </a:solidFill>
                <a:latin typeface="Arial"/>
                <a:ea typeface="Microsoft YaHei"/>
                <a:cs typeface="Arial"/>
              </a:rPr>
              <a:t>链邦赋商通 · 链生活 | 品牌战略总案 V1.0</a:t>
            </a:r>
          </a:p>
        </p:txBody>
      </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5"/>
          </a:solidFill>
          <a:ln>
            <a:noFill/>
          </a:ln>
        </p:spPr>
      </p:sp>
      <p:sp>
        <p:nvSpPr>
          <p:cNvPr id="3" name="Rectangle 3"/>
          <p:cNvSpPr/>
          <p:nvPr/>
        </p:nvSpPr>
        <p:spPr>
          <a:xfrm>
            <a:off x="0" y="0"/>
            <a:ext cx="12192000" cy="6858000"/>
          </a:xfrm>
          <a:prstGeom prst="rect">
            <a:avLst/>
          </a:prstGeom>
          <a:gradFill>
            <a:gsLst>
              <a:gs pos="0">
                <a:srgbClr val="1A5276">
                  <a:alpha val="10000"/>
                </a:srgbClr>
              </a:gs>
              <a:gs pos="50000">
                <a:srgbClr val="FAFAF5">
                  <a:alpha val="0"/>
                </a:srgbClr>
              </a:gs>
              <a:gs pos="100000">
                <a:srgbClr val="E67E22">
                  <a:alpha val="8000"/>
                </a:srgbClr>
              </a:gs>
            </a:gsLst>
            <a:lin ang="2700000" scaled="1"/>
          </a:gradFill>
          <a:ln>
            <a:noFill/>
          </a:ln>
        </p:spPr>
      </p:sp>
      <p:grpSp>
        <p:nvGrpSpPr>
          <p:cNvPr id="6" name="Group 6"/>
          <p:cNvGrpSpPr/>
          <p:nvPr/>
        </p:nvGrpSpPr>
        <p:grpSpPr>
          <a:xfrm>
            <a:off x="3352224" y="2023110"/>
            <a:ext cx="5487553" cy="853440"/>
            <a:chOff x="3352224" y="2023110"/>
            <a:chExt cx="5487553" cy="853440"/>
          </a:xfrm>
        </p:grpSpPr>
        <p:sp>
          <p:nvSpPr>
            <p:cNvPr id="4" name="TextBox 4"/>
            <p:cNvSpPr txBox="1"/>
            <p:nvPr/>
          </p:nvSpPr>
          <p:spPr>
            <a:xfrm>
              <a:off x="3352224" y="2023110"/>
              <a:ext cx="5487553" cy="853440"/>
            </a:xfrm>
            <a:prstGeom prst="rect">
              <a:avLst/>
            </a:prstGeom>
            <a:noFill/>
            <a:ln>
              <a:noFill/>
            </a:ln>
          </p:spPr>
          <p:txBody>
            <a:bodyPr wrap="none" lIns="0" tIns="0" rIns="0" bIns="0" anchor="t" anchorCtr="0">
              <a:spAutoFit/>
            </a:bodyPr>
            <a:lstStyle/>
            <a:p>
              <a:pPr algn="ctr"/>
              <a:r>
                <a:rPr lang="zh-CN" sz="4200" b="1" dirty="0">
                  <a:solidFill>
                    <a:srgbClr val="2C2C2C"/>
                  </a:solidFill>
                  <a:latin typeface="Georgia"/>
                  <a:ea typeface="KaiTi"/>
                  <a:cs typeface="Georgia"/>
                </a:rPr>
                <a:t>链邦赋商通 · 链生活</a:t>
              </a:r>
            </a:p>
          </p:txBody>
        </p:sp>
        <p:sp>
          <p:nvSpPr>
            <p:cNvPr id="5" name="Rectangle 5"/>
            <p:cNvSpPr/>
            <p:nvPr/>
          </p:nvSpPr>
          <p:spPr>
            <a:xfrm>
              <a:off x="4667250" y="2762250"/>
              <a:ext cx="2857500" cy="38100"/>
            </a:xfrm>
            <a:prstGeom prst="roundRect">
              <a:avLst>
                <a:gd name="adj" fmla="val 50000"/>
              </a:avLst>
            </a:prstGeom>
            <a:gradFill>
              <a:gsLst>
                <a:gs pos="0">
                  <a:srgbClr val="E67E22"/>
                </a:gs>
                <a:gs pos="100000">
                  <a:srgbClr val="1A5276"/>
                </a:gs>
              </a:gsLst>
              <a:lin ang="0" scaled="1"/>
            </a:gradFill>
            <a:ln>
              <a:noFill/>
            </a:ln>
          </p:spPr>
        </p:sp>
      </p:grpSp>
      <p:grpSp>
        <p:nvGrpSpPr>
          <p:cNvPr id="9" name="Group 9"/>
          <p:cNvGrpSpPr/>
          <p:nvPr/>
        </p:nvGrpSpPr>
        <p:grpSpPr>
          <a:xfrm>
            <a:off x="4145280" y="3360420"/>
            <a:ext cx="3901440" cy="963930"/>
            <a:chOff x="4145280" y="3360420"/>
            <a:chExt cx="3901440" cy="963930"/>
          </a:xfrm>
        </p:grpSpPr>
        <p:sp>
          <p:nvSpPr>
            <p:cNvPr id="7" name="TextBox 7"/>
            <p:cNvSpPr txBox="1"/>
            <p:nvPr/>
          </p:nvSpPr>
          <p:spPr>
            <a:xfrm>
              <a:off x="4145280" y="3360420"/>
              <a:ext cx="3901440" cy="487680"/>
            </a:xfrm>
            <a:prstGeom prst="rect">
              <a:avLst/>
            </a:prstGeom>
            <a:noFill/>
            <a:ln>
              <a:noFill/>
            </a:ln>
          </p:spPr>
          <p:txBody>
            <a:bodyPr wrap="none" lIns="0" tIns="0" rIns="0" bIns="0" anchor="t" anchorCtr="0">
              <a:spAutoFit/>
            </a:bodyPr>
            <a:lstStyle/>
            <a:p>
              <a:pPr algn="ctr"/>
              <a:r>
                <a:rPr lang="zh-CN" sz="2400" dirty="0">
                  <a:solidFill>
                    <a:srgbClr val="E67E22"/>
                  </a:solidFill>
                  <a:latin typeface="Georgia"/>
                  <a:ea typeface="KaiTi"/>
                  <a:cs typeface="Georgia"/>
                </a:rPr>
                <a:t>让每一家认真经营的小店，</a:t>
              </a:r>
            </a:p>
          </p:txBody>
        </p:sp>
        <p:sp>
          <p:nvSpPr>
            <p:cNvPr id="8" name="TextBox 8"/>
            <p:cNvSpPr txBox="1"/>
            <p:nvPr/>
          </p:nvSpPr>
          <p:spPr>
            <a:xfrm>
              <a:off x="4145280" y="3836670"/>
              <a:ext cx="3901440" cy="487680"/>
            </a:xfrm>
            <a:prstGeom prst="rect">
              <a:avLst/>
            </a:prstGeom>
            <a:noFill/>
            <a:ln>
              <a:noFill/>
            </a:ln>
          </p:spPr>
          <p:txBody>
            <a:bodyPr wrap="none" lIns="0" tIns="0" rIns="0" bIns="0" anchor="t" anchorCtr="0">
              <a:spAutoFit/>
            </a:bodyPr>
            <a:lstStyle/>
            <a:p>
              <a:pPr algn="ctr"/>
              <a:r>
                <a:rPr lang="zh-CN" sz="2400" dirty="0">
                  <a:solidFill>
                    <a:srgbClr val="E67E22"/>
                  </a:solidFill>
                  <a:latin typeface="Georgia"/>
                  <a:ea typeface="KaiTi"/>
                  <a:cs typeface="Georgia"/>
                </a:rPr>
                <a:t>不再从零开始经营每一天。</a:t>
              </a:r>
            </a:p>
          </p:txBody>
        </p:sp>
      </p:grpSp>
      <p:grpSp>
        <p:nvGrpSpPr>
          <p:cNvPr id="14" name="Group 14"/>
          <p:cNvGrpSpPr/>
          <p:nvPr/>
        </p:nvGrpSpPr>
        <p:grpSpPr>
          <a:xfrm>
            <a:off x="4191000" y="5143500"/>
            <a:ext cx="3810000" cy="1147762"/>
            <a:chOff x="4191000" y="5143500"/>
            <a:chExt cx="3810000" cy="1147762"/>
          </a:xfrm>
        </p:grpSpPr>
        <p:sp>
          <p:nvSpPr>
            <p:cNvPr id="10" name="Line 10"/>
            <p:cNvSpPr/>
            <p:nvPr/>
          </p:nvSpPr>
          <p:spPr>
            <a:xfrm>
              <a:off x="4191000" y="5143500"/>
              <a:ext cx="3810000" cy="9525"/>
            </a:xfrm>
            <a:custGeom>
              <a:avLst/>
              <a:gdLst/>
              <a:ahLst/>
              <a:cxnLst/>
              <a:rect l="l" t="t" r="r" b="b"/>
              <a:pathLst>
                <a:path w="3810000" h="9525">
                  <a:moveTo>
                    <a:pt x="0" y="0"/>
                  </a:moveTo>
                  <a:lnTo>
                    <a:pt x="3810000" y="0"/>
                  </a:lnTo>
                </a:path>
              </a:pathLst>
            </a:custGeom>
            <a:noFill/>
            <a:ln w="9525">
              <a:solidFill>
                <a:srgbClr val="D4A574"/>
              </a:solidFill>
            </a:ln>
          </p:spPr>
        </p:sp>
        <p:sp>
          <p:nvSpPr>
            <p:cNvPr id="11" name="TextBox 11"/>
            <p:cNvSpPr txBox="1"/>
            <p:nvPr/>
          </p:nvSpPr>
          <p:spPr>
            <a:xfrm>
              <a:off x="5108638" y="5394960"/>
              <a:ext cx="1974723" cy="243840"/>
            </a:xfrm>
            <a:prstGeom prst="rect">
              <a:avLst/>
            </a:prstGeom>
            <a:noFill/>
            <a:ln>
              <a:noFill/>
            </a:ln>
          </p:spPr>
          <p:txBody>
            <a:bodyPr wrap="none" lIns="0" tIns="0" rIns="0" bIns="0" anchor="t" anchorCtr="0">
              <a:spAutoFit/>
            </a:bodyPr>
            <a:lstStyle/>
            <a:p>
              <a:pPr algn="ctr"/>
              <a:r>
                <a:rPr lang="zh-CN" sz="1200" dirty="0">
                  <a:solidFill>
                    <a:srgbClr val="7F8C8D"/>
                  </a:solidFill>
                  <a:latin typeface="Arial"/>
                  <a:ea typeface="Microsoft YaHei"/>
                  <a:cs typeface="Arial"/>
                </a:rPr>
                <a:t>梁君衡 · 企业宣传策划专员</a:t>
              </a:r>
            </a:p>
          </p:txBody>
        </p:sp>
        <p:sp>
          <p:nvSpPr>
            <p:cNvPr id="12" name="TextBox 12"/>
            <p:cNvSpPr txBox="1"/>
            <p:nvPr/>
          </p:nvSpPr>
          <p:spPr>
            <a:xfrm>
              <a:off x="5331619" y="5688806"/>
              <a:ext cx="1528762" cy="228600"/>
            </a:xfrm>
            <a:prstGeom prst="rect">
              <a:avLst/>
            </a:prstGeom>
            <a:noFill/>
            <a:ln>
              <a:noFill/>
            </a:ln>
          </p:spPr>
          <p:txBody>
            <a:bodyPr wrap="none" lIns="0" tIns="0" rIns="0" bIns="0" anchor="t" anchorCtr="0">
              <a:spAutoFit/>
            </a:bodyPr>
            <a:lstStyle/>
            <a:p>
              <a:pPr algn="ctr"/>
              <a:r>
                <a:rPr lang="zh-CN" sz="1125" dirty="0">
                  <a:solidFill>
                    <a:srgbClr val="A0A0A0"/>
                  </a:solidFill>
                  <a:latin typeface="Arial"/>
                  <a:ea typeface="Microsoft YaHei"/>
                  <a:cs typeface="Arial"/>
                </a:rPr>
                <a:t>广东链邦科技有限公司</a:t>
              </a:r>
            </a:p>
          </p:txBody>
        </p:sp>
        <p:sp>
          <p:nvSpPr>
            <p:cNvPr id="13" name="TextBox 13"/>
            <p:cNvSpPr txBox="1"/>
            <p:nvPr/>
          </p:nvSpPr>
          <p:spPr>
            <a:xfrm>
              <a:off x="4962525" y="6077902"/>
              <a:ext cx="2266950" cy="213360"/>
            </a:xfrm>
            <a:prstGeom prst="rect">
              <a:avLst/>
            </a:prstGeom>
            <a:noFill/>
            <a:ln>
              <a:noFill/>
            </a:ln>
          </p:spPr>
          <p:txBody>
            <a:bodyPr wrap="none" lIns="0" tIns="0" rIns="0" bIns="0" anchor="t" anchorCtr="0">
              <a:spAutoFit/>
            </a:bodyPr>
            <a:lstStyle/>
            <a:p>
              <a:pPr algn="ctr"/>
              <a:r>
                <a:rPr lang="zh-CN" sz="1050" dirty="0">
                  <a:solidFill>
                    <a:srgbClr val="A0A0A0"/>
                  </a:solidFill>
                  <a:latin typeface="Arial"/>
                  <a:ea typeface="Microsoft YaHei"/>
                  <a:cs typeface="Arial"/>
                </a:rPr>
                <a:t>2026-06-18 · V1.0 · 内部战略文件</a:t>
              </a:r>
            </a:p>
          </p:txBody>
        </p:sp>
      </p:grpSp>
      <p:sp>
        <p:nvSpPr>
          <p:cNvPr id="15" name="TextBox 15"/>
          <p:cNvSpPr txBox="1"/>
          <p:nvPr/>
        </p:nvSpPr>
        <p:spPr>
          <a:xfrm>
            <a:off x="11477054" y="6522720"/>
            <a:ext cx="154877" cy="182880"/>
          </a:xfrm>
          <a:prstGeom prst="rect">
            <a:avLst/>
          </a:prstGeom>
          <a:noFill/>
          <a:ln>
            <a:noFill/>
          </a:ln>
        </p:spPr>
        <p:txBody>
          <a:bodyPr wrap="none" lIns="0" tIns="0" rIns="0" bIns="0" anchor="t" anchorCtr="0">
            <a:spAutoFit/>
          </a:bodyPr>
          <a:lstStyle/>
          <a:p>
            <a:pPr algn="r"/>
            <a:r>
              <a:rPr lang="zh-CN" sz="900" dirty="0">
                <a:solidFill>
                  <a:srgbClr val="A0A0A0"/>
                </a:solidFill>
                <a:latin typeface="Arial"/>
                <a:ea typeface="Microsoft YaHei"/>
                <a:cs typeface="Arial"/>
              </a:rPr>
              <a:t>53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Bottom)">
                                      <p:cBhvr>
                                        <p:cTn id="11" dur="400"/>
                                        <p:tgtEl>
                                          <p:spTgt spid="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imag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2026-06-18T10:02:07Z</dcterms:created>
  <dcterms:modified xsi:type="dcterms:W3CDTF">2026-06-18T10:02:07Z</dcterms:modified>
  <cp:category/>
  <cp:contentStatus/>
</cp:coreProperties>
</file>